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8E224E-6425-42BE-83D4-7046A166A2B3}">
  <a:tblStyle styleId="{F68E224E-6425-42BE-83D4-7046A166A2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693827abab8df3b8_4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693827abab8df3b8_4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slide. Frame the talk: this is a domain investigation, not a product pitch. We're using Jobs to Be Done and User Process mapping to find where the cold chain's real bottleneck sits -- and it isn't where most people assume (more sensors). Preview: background on why cold chain matters, what today's technology already solves, the JTBD and process analysis, and the central finding: an alert without an owner.</a:t>
            </a:r>
            <a:endParaRPr/>
          </a:p>
        </p:txBody>
      </p:sp>
      <p:sp>
        <p:nvSpPr>
          <p:cNvPr id="55" name="Google Shape;55;h693827abab8df3b8_4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693827abab8df3b8_4_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h693827abab8df3b8_4_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the scale of the problem before narrowing to the specific gap. Emphasize that the cold chain is not one undifferentiated pipe -- dairy, produce, meat, and seafood have different temperature bands and risk profiles, which matters later when we get to 'An Alert Without an Owner.' The 14% and 12% figures both come from FAO; note the figures measure different things (all post-harvest loss vs. loss attributable specifically to inadequate refrigeration) so don't present them as additive.</a:t>
            </a:r>
            <a:endParaRPr/>
          </a:p>
        </p:txBody>
      </p:sp>
      <p:sp>
        <p:nvSpPr>
          <p:cNvPr id="69" name="Google Shape;69;h693827abab8df3b8_4_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93827abab8df3b8_4_4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h693827abab8df3b8_4_4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the four-step chain left to right. The point is not that detection technology is bad -- it's mature and widely deployed. The point is that detection is only step 1 of 4, and the later steps (who decides, who acts, in time) are where the literature and vendor behavior both point to the real difficulty.</a:t>
            </a:r>
            <a:endParaRPr/>
          </a:p>
        </p:txBody>
      </p:sp>
      <p:sp>
        <p:nvSpPr>
          <p:cNvPr id="100" name="Google Shape;100;h693827abab8df3b8_4_4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93827abab8df3b8_4_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h693827abab8df3b8_4_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Distinguish job from current solution explicitly here: the job is NOT 'monitor temperature' -- it's 'deliver acceptable food and protect the people and relationships around that delivery.' Monitoring is just today's tool for the job. The functional/emotional/social split sets up why the alert-without-owner problem matters beyond pure logistics -- it's also a confidence and accountability problem.</a:t>
            </a:r>
            <a:endParaRPr/>
          </a:p>
        </p:txBody>
      </p:sp>
      <p:sp>
        <p:nvSpPr>
          <p:cNvPr id="135" name="Google Shape;135;h693827abab8df3b8_4_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693827abab8df3b8_4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693827abab8df3b8_4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left to right, then slow down at steps 5-7 -- that's the whole thesis of the deck in diagram form. Flag explicitly that this 9-step map is a hypothesis built from FSMA responsibilities and industry writing, not from interviews, and that the worksheet's own importance/satisfaction numbers (from the precision-farming example) do not apply here and were deliberately not reused.</a:t>
            </a:r>
            <a:endParaRPr/>
          </a:p>
        </p:txBody>
      </p:sp>
      <p:sp>
        <p:nvSpPr>
          <p:cNvPr id="160" name="Google Shape;160;h693827abab8df3b8_4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693827abab8df3b8_4_1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h693827abab8df3b8_4_1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explicit and repeat out loud: these numbers are not from a survey. They're structured hypotheses based on the research in this deck, meant to be falsified by real interviews. The quadrant chart and the table should tell the same story -- steps 6 and 7 cluster in the high-importance/low-satisfaction corner. That's the bridge into the next slide.</a:t>
            </a:r>
            <a:endParaRPr/>
          </a:p>
        </p:txBody>
      </p:sp>
      <p:sp>
        <p:nvSpPr>
          <p:cNvPr id="217" name="Google Shape;217;h693827abab8df3b8_4_1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693827abab8df3b8_4_1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693827abab8df3b8_4_1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slide to slow down on. Walk the six-step flow and point at steps 3-5 (notification, interpretation, decision authority) in red. Read the pull quote. Then be careful to separate the illustrative scenario (which is not a documented case) from the two real industry data points (the $35B/20% figure and the 60% improvement from removing manual coordination) -- both are about pharma/general cold chain, not food specifically, so flag that as a limit of the evidence.</a:t>
            </a:r>
            <a:endParaRPr/>
          </a:p>
        </p:txBody>
      </p:sp>
      <p:sp>
        <p:nvSpPr>
          <p:cNvPr id="252" name="Google Shape;252;h693827abab8df3b8_4_1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693827abab8df3b8_4_2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h693827abab8df3b8_4_2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all three but spend most of the time on the primary opportunity. These are framed as problems, explicitly not as product pitches -- resist the urge to describe 'a platform that...' Keep each to job / who / problem / why / evidence-needed so the next slide's Real/Important/Addressable test has something concrete to evaluate.</a:t>
            </a:r>
            <a:endParaRPr/>
          </a:p>
        </p:txBody>
      </p:sp>
      <p:sp>
        <p:nvSpPr>
          <p:cNvPr id="283" name="Google Shape;283;h693827abab8df3b8_4_2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693827abab8df3b8_4_2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h693827abab8df3b8_4_2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honest about the gap in evidence -- most of the hard numbers (35B, 20%, 60%) come from pharma or general cold-chain sources, not food-specific case studies. That's the single biggest research gap to flag if asked.</a:t>
            </a:r>
            <a:endParaRPr/>
          </a:p>
        </p:txBody>
      </p:sp>
      <p:sp>
        <p:nvSpPr>
          <p:cNvPr id="302" name="Google Shape;302;h693827abab8df3b8_4_2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693827abab8df3b8_4_2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h693827abab8df3b8_4_2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by explicitly tying back to both frameworks in one breath, then stop -- don't preview a solution. The professor's rubric rewards ending on the problem, not a pitch.</a:t>
            </a:r>
            <a:endParaRPr/>
          </a:p>
        </p:txBody>
      </p:sp>
      <p:sp>
        <p:nvSpPr>
          <p:cNvPr id="325" name="Google Shape;325;h693827abab8df3b8_4_2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693827abab8df3b8_4_2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h693827abab8df3b8_4_2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slide. All sources are cited inline on their respective slides as well; this consolidates them with full context for grading.</a:t>
            </a:r>
            <a:endParaRPr/>
          </a:p>
        </p:txBody>
      </p:sp>
      <p:sp>
        <p:nvSpPr>
          <p:cNvPr id="337" name="Google Shape;337;h693827abab8df3b8_4_2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B3D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122B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0" y="-1508760"/>
            <a:ext cx="4800600" cy="4800600"/>
          </a:xfrm>
          <a:prstGeom prst="ellipse">
            <a:avLst/>
          </a:prstGeom>
          <a:solidFill>
            <a:srgbClr val="173A4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269480" y="-822960"/>
            <a:ext cx="3429000" cy="3429000"/>
          </a:xfrm>
          <a:prstGeom prst="ellipse">
            <a:avLst/>
          </a:prstGeom>
          <a:solidFill>
            <a:srgbClr val="1A465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955280" y="-137160"/>
            <a:ext cx="2057400" cy="20574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617220" y="1165860"/>
            <a:ext cx="7200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A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A9C6AE"/>
                </a:solidFill>
                <a:latin typeface="Calibri"/>
                <a:ea typeface="Calibri"/>
                <a:cs typeface="Calibri"/>
                <a:sym typeface="Calibri"/>
              </a:rPr>
              <a:t>FOOD SYSTEMS AND AGRICULTURE TECHNOLOGY  |  WEEK 6 DOMAIN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617220" y="1508760"/>
            <a:ext cx="740664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Cold Chain Monitoring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617220" y="2434590"/>
            <a:ext cx="72694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700"/>
              <a:buFont typeface="Cambria"/>
              <a:buNone/>
            </a:pPr>
            <a:r>
              <a:rPr b="0" i="1" lang="en" sz="1700" u="none" cap="none" strike="noStrike">
                <a:solidFill>
                  <a:srgbClr val="CFE3DD"/>
                </a:solidFill>
                <a:latin typeface="Cambria"/>
                <a:ea typeface="Cambria"/>
                <a:cs typeface="Cambria"/>
                <a:sym typeface="Cambria"/>
              </a:rPr>
              <a:t>When Detecting a Problem Isn't Enough to Prevent Food Loss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651510" y="3120390"/>
            <a:ext cx="1508760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/>
        </p:nvSpPr>
        <p:spPr>
          <a:xfrm>
            <a:off x="617220" y="449199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Domain: Food Systems and Agriculture Technology  —  Topic: Cold Chain Monitoring and the Challenges of Preventing Food Loss During Transportation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Why the Cold Chain Matters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11480" y="1062990"/>
            <a:ext cx="48693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food cold chain is an integrated, temperature-controlled system — pre-cooling, refrigerated storage, refrigerated transport, and temperature-controlled retail display — that </a:t>
            </a:r>
            <a:r>
              <a:rPr b="1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keeps perishable and temperature-sensitive products within their required range</a:t>
            </a: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from harvest or production to the point of sale.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Every stage shortens or extends shelf life: a few hours outside the target range can turn a safe, sellable product into one that must be discounted, held, or discarded.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products on this chain are not interchangeable. Fresh produce, dairy, meat and poultry, and seafood each carry distinct temperature bands, shelf-life windows, and food-safety handling rules — a monitoring approach tuned to one does not necessarily fit another.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Globally, about </a:t>
            </a:r>
            <a:r>
              <a:rPr b="1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of food produced is lost between harvest and the retail level — before it ever reaches a consumer (FAO, The State of Food and Agriculture 2019).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absence of effective refrigeration is one of the largest single contributors to that loss: an estimated </a:t>
            </a:r>
            <a:r>
              <a:rPr b="1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526 million tonnes</a:t>
            </a: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of food production — about </a:t>
            </a:r>
            <a:r>
              <a:rPr b="1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of the global total — was lost in 2017 due to inadequate cold-chain capacity (FAO/UNEP, Sustainable Food Cold Chains).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Char char="●"/>
            </a:pP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 the U.S., dairy products and fresh fruits and vegetables together account for roughly half of all retail-level food loss, and USDA data put average supermarket loss rates for fresh vegetables at </a:t>
            </a:r>
            <a:r>
              <a:rPr b="1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11.6%</a:t>
            </a:r>
            <a:r>
              <a:rPr b="0" i="0" lang="en" sz="10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(USDA ERS, Food Availability and Loss-Adjusted Food Availability data).</a:t>
            </a:r>
            <a:endParaRPr b="0" i="0" sz="10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452110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5A667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5452110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Farm /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929884" y="1491615"/>
            <a:ext cx="28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025896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025896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Pre-Cool &amp;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503670" y="1491615"/>
            <a:ext cx="28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599682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6599682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Refrigerated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077456" y="1491615"/>
            <a:ext cx="28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173468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173468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7651242" y="1491615"/>
            <a:ext cx="28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747254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747254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8225028" y="1491615"/>
            <a:ext cx="28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321040" y="1303020"/>
            <a:ext cx="491400" cy="582900"/>
          </a:xfrm>
          <a:prstGeom prst="roundRect">
            <a:avLst>
              <a:gd fmla="val 6977" name="adj"/>
            </a:avLst>
          </a:prstGeom>
          <a:solidFill>
            <a:srgbClr val="5A667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8321040" y="1303020"/>
            <a:ext cx="49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452110" y="1968246"/>
            <a:ext cx="336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Temperature-controlled segment (cold chain custody)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452110" y="2125980"/>
            <a:ext cx="3360300" cy="2297400"/>
          </a:xfrm>
          <a:prstGeom prst="roundRect">
            <a:avLst>
              <a:gd fmla="val 1791" name="adj"/>
            </a:avLst>
          </a:prstGeom>
          <a:solidFill>
            <a:srgbClr val="F4F6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657850" y="2297430"/>
            <a:ext cx="29490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2300"/>
              <a:buFont typeface="Calibri"/>
              <a:buNone/>
            </a:pPr>
            <a:r>
              <a:rPr b="1" i="0" lang="en" sz="23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of global food is lost after harvest and before retail (FAO, 2019)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94C3B"/>
              </a:buClr>
              <a:buSzPts val="2300"/>
              <a:buFont typeface="Calibri"/>
              <a:buNone/>
            </a:pPr>
            <a:r>
              <a:rPr b="1" i="0" lang="en" sz="23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of global food production lost in 2017 to inadequate cold-chain capacity (FAO/UNEP)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C7A52"/>
              </a:buClr>
              <a:buSzPts val="2300"/>
              <a:buFont typeface="Calibri"/>
              <a:buNone/>
            </a:pPr>
            <a:r>
              <a:rPr b="1" i="0" lang="en" sz="2300" u="none" cap="none" strike="noStrike">
                <a:solidFill>
                  <a:srgbClr val="4C7A52"/>
                </a:solidFill>
                <a:latin typeface="Calibri"/>
                <a:ea typeface="Calibri"/>
                <a:cs typeface="Calibri"/>
                <a:sym typeface="Calibri"/>
              </a:rPr>
              <a:t>11.6%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average U.S. supermarket loss rate for fresh vegetables (USDA ERS)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Sources: FAO, The State of Food and Agriculture 2019; FAO/UNEP, Sustainable Food Cold Chains: Opportunities, Challenges and the Way Forward; USDA ERS, Food Availability and Loss-Adjusted Food Availability Documentation.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Monitoring Is Not the Same as Intervention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11480" y="1062990"/>
            <a:ext cx="81609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Char char="●"/>
            </a:pPr>
            <a:r>
              <a:rPr b="0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Manual temperature checks and data loggers: a logger rides in the load and is read after arrival. This tells the receiver what happened only after nothing more can be done about it — the cost of a problem is absorbed as rejected product, not corrected in transit.</a:t>
            </a:r>
            <a:endParaRPr b="0" i="0" sz="11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Char char="●"/>
            </a:pPr>
            <a:r>
              <a:rPr b="0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Connected sensors and real-time telematics (e.g., Sensitech, Tive, Emerson/Copeland): wireless, pocket-sized monitors travel with the product and stream condition data continuously, enabling alerts the moment a shipment drifts out of range rather than hours or days later.</a:t>
            </a:r>
            <a:endParaRPr b="0" i="0" sz="11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Char char="●"/>
            </a:pPr>
            <a:r>
              <a:rPr b="0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Corrective-action programs: Sensitech runs continuous-improvement / CAPA (corrective and preventive action) programs with </a:t>
            </a:r>
            <a:r>
              <a:rPr b="1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18 of the top 20</a:t>
            </a:r>
            <a:r>
              <a:rPr b="0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 global food-service and retail companies, pairing sensor data with analytics and field expertise to help customers act on excursions.</a:t>
            </a:r>
            <a:endParaRPr b="0" i="0" sz="11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libri"/>
              <a:buChar char="●"/>
            </a:pPr>
            <a:r>
              <a:rPr b="0" i="0" lang="en" sz="1100" u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That a major vendor has built an entire service line around turning alerts into action is itself evidence the industry already recognizes a gap between detecting a problem and resolving it — the technology for detection is mature; the bottleneck has moved elsewhere.</a:t>
            </a:r>
            <a:endParaRPr b="0" i="0" sz="1100" u="none" strike="noStrike">
              <a:solidFill>
                <a:srgbClr val="1B24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48640" y="3257550"/>
            <a:ext cx="18516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651510" y="3380994"/>
            <a:ext cx="377100" cy="205800"/>
          </a:xfrm>
          <a:prstGeom prst="roundRect">
            <a:avLst>
              <a:gd fmla="val 13333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651510" y="3380994"/>
            <a:ext cx="3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51510" y="3634740"/>
            <a:ext cx="164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DETECT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51510" y="3888486"/>
            <a:ext cx="1645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Sensor reads 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out-of-range condition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434590" y="3669030"/>
            <a:ext cx="27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743200" y="3257550"/>
            <a:ext cx="18516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2846070" y="3380994"/>
            <a:ext cx="377100" cy="205800"/>
          </a:xfrm>
          <a:prstGeom prst="roundRect">
            <a:avLst>
              <a:gd fmla="val 13333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2846070" y="3380994"/>
            <a:ext cx="3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2846070" y="3634740"/>
            <a:ext cx="164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COMMUNICATE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846070" y="3888486"/>
            <a:ext cx="1645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Alert reaches 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human (if routed correctly)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629150" y="3669030"/>
            <a:ext cx="27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937760" y="3257550"/>
            <a:ext cx="18516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040630" y="3380994"/>
            <a:ext cx="377100" cy="205800"/>
          </a:xfrm>
          <a:prstGeom prst="roundRect">
            <a:avLst>
              <a:gd fmla="val 13333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040630" y="3380994"/>
            <a:ext cx="3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040630" y="3634740"/>
            <a:ext cx="164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DECIDE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040630" y="3888486"/>
            <a:ext cx="1645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Someone with authority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interprets and rules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823710" y="3669030"/>
            <a:ext cx="27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132320" y="3257550"/>
            <a:ext cx="18516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7235190" y="3380994"/>
            <a:ext cx="377100" cy="205800"/>
          </a:xfrm>
          <a:prstGeom prst="roundRect">
            <a:avLst>
              <a:gd fmla="val 13333" name="adj"/>
            </a:avLst>
          </a:prstGeom>
          <a:solidFill>
            <a:srgbClr val="5A667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7235190" y="3380994"/>
            <a:ext cx="3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235190" y="3634740"/>
            <a:ext cx="164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7235190" y="3888486"/>
            <a:ext cx="1645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Corrective step 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taken in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48640" y="4594860"/>
            <a:ext cx="8435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Today's technology is strongest at steps 1–2 and weakest at steps 3–4 — the subject of this presentation.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Sources: Sensitech, Food solutions and continuous-improvement/CAPA program materials (sensitech.com); Tive, "When Cold Chain Logistics Break: Responding to Temperature Excursions."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JOBS TO BE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What Is the User Actually Trying to Accomplish?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11480" y="102870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Primary user: Cold-chain logistics manager / shipment operations coordinator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411480" y="1289304"/>
            <a:ext cx="816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at a shipper, 3PL, or regional distributor responsible for refrigerated truckload/LTL shipments. Other stakeholders in the job: shippers, carriers/drivers, receivers, and quality-assurance personnel, whose formal responsibilities are already partly defined by the FDA Sanitary Transportation of Human and Animal Food rule (21 CFR Part 1, Subpart O).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11480" y="1954530"/>
            <a:ext cx="2640300" cy="243450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411480" y="1954530"/>
            <a:ext cx="2640300" cy="3429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14350" y="19545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NEEDS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548640" y="2400300"/>
            <a:ext cx="2366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Deliver shipments that remain safe, usable, and commercially acceptable while minimizing avoidable loss.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Meet shipper/carrier/loader/receiver obligations under the FDA Sanitary Transportation rule — e.g., confirming a refrigerated compartment is pre-cooled and agreeing on a temperature-monitoring mechanism before loading.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Resolve an in-transit exception before it becomes irreversible spoilage.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223260" y="1954530"/>
            <a:ext cx="2640300" cy="243450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223260" y="1954530"/>
            <a:ext cx="2640300" cy="342900"/>
          </a:xfrm>
          <a:prstGeom prst="rect">
            <a:avLst/>
          </a:prstGeom>
          <a:solidFill>
            <a:srgbClr val="4C7A5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3326130" y="19545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EMOTIONAL NEEDS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3360420" y="2400300"/>
            <a:ext cx="2366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Reduce the anxiety of being blindsided — of a shipment arriving compromised with no warning or no time to react.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Gain confidence that an alert will actually resolve into a timely decision, not just more data and more paperwork.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Avoid the stress of 2 a.m. calls with unclear authority to 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035040" y="1954530"/>
            <a:ext cx="2640300" cy="243450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035040" y="1954530"/>
            <a:ext cx="2640300" cy="342900"/>
          </a:xfrm>
          <a:prstGeom prst="rect">
            <a:avLst/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137910" y="19545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NEEDS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172200" y="2400300"/>
            <a:ext cx="2366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Be seen as accountable and reliable by retailers, regulators, and QA teams.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Protect reputation with carriers and receivers when something goes wrong.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Avoid blame-shifting disputes when responsibility for a loss is unclear across organizational lines.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11480" y="4491990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Desired outcome: 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shipment arrives within spec — or an exception is resolved fast, with defensible documentation.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Current solutions: 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retrospective data loggers; real-time IoT/telematics monitoring; manual compliance under FSMA.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Unmet need: 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translating a detected exception into a timely, authorized, coordinated response across company lines.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Source: FDA, Sanitary Transportation of Human and Animal Food, 21 CFR Part 1, Subpart O (FSMA).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USER 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How a Shipment Is Managed Today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39471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394335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94335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Establish requirements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94335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Shipper / QA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217295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285875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340739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340739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Pre-cool &amp; prepare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340739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Shipper / Loader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163699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232279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287143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287143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&amp; verify equipment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2287143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Loader / Carrier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110103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178683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233547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233547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 in transit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3233547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Carrier / Sensor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056507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125087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179951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179951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&amp; interpret excursion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4179951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Monitoring system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002911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071491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126355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126355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Notify &amp; assign responsibility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126355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Carrier → Shipper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949315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017895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072759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72759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Authorize corrective action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072759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Shipper / QA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895719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964299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019163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019163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&amp; disposition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7019163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Receiver / QA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7842123" y="1440180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22B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910703" y="1062990"/>
            <a:ext cx="891600" cy="1028700"/>
          </a:xfrm>
          <a:prstGeom prst="roundRect">
            <a:avLst>
              <a:gd fmla="val 4615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965567" y="1104138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965567" y="1309878"/>
            <a:ext cx="78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&amp; improve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7965567" y="1844802"/>
            <a:ext cx="78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All parties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9"/>
          <p:cNvCxnSpPr/>
          <p:nvPr/>
        </p:nvCxnSpPr>
        <p:spPr>
          <a:xfrm>
            <a:off x="5044059" y="980694"/>
            <a:ext cx="0" cy="1337400"/>
          </a:xfrm>
          <a:prstGeom prst="straightConnector1">
            <a:avLst/>
          </a:prstGeom>
          <a:noFill/>
          <a:ln cap="flat" cmpd="sng" w="19050">
            <a:solidFill>
              <a:srgbClr val="C94C3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9" name="Google Shape;209;p19"/>
          <p:cNvSpPr txBox="1"/>
          <p:nvPr/>
        </p:nvSpPr>
        <p:spPr>
          <a:xfrm>
            <a:off x="339471" y="2263140"/>
            <a:ext cx="8462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900"/>
              <a:buFont typeface="Calibri"/>
              <a:buNone/>
            </a:pPr>
            <a:r>
              <a:rPr b="1" i="1" lang="en" sz="9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Detection becomes coordinated action here — steps 5–7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11480" y="2674620"/>
            <a:ext cx="81609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Nine stages, drawn from FSMA shipper/carrier/receiver responsibilities and industry practice (Sensitech, Tive), then adjusted toward cold-chain-specific research during drafting — not copied from the precision-farming example in the course worksheet.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Steps 1–4 are well-established, procedural, and largely solved by existing regulation and monitoring technology.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Steps 5–7 are where a detected problem has to become a decision and an action, across organizational boundaries (carrier → shipper → receiver) and often without a pre-agreed protocol for who has authority to act.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Step 8 (disposition) depends directly on how well 5–7 went: a late or unclear corrective-action decision forces a conservative reject, even when the product may still be acceptable.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12050" y="4663321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Process derived from FDA Sanitary Transportation Rule (21 CFR Part 1, Subpart O) and industry incident-response literature (Tive, Navixy); stage count and structure are preliminary and should be validated against real operator workflows.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USER PROCESS RATINGS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Importance vs. Satisfaction by Process Step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11480" y="9944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Preliminary analytical estimates — not derived from user interviews or survey data. Labeled hypotheses to be validated with real operators.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20"/>
          <p:cNvGraphicFramePr/>
          <p:nvPr/>
        </p:nvGraphicFramePr>
        <p:xfrm>
          <a:off x="411480" y="13030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{F68E224E-6425-42BE-83D4-7046A166A2B3}</a:tableStyleId>
              </a:tblPr>
              <a:tblGrid>
                <a:gridCol w="240025"/>
                <a:gridCol w="1474450"/>
                <a:gridCol w="377175"/>
                <a:gridCol w="377175"/>
                <a:gridCol w="2400300"/>
              </a:tblGrid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sz="8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</a:rPr>
                        <a:t>Process Step</a:t>
                      </a:r>
                      <a:endParaRPr sz="8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</a:rPr>
                        <a:t>Imp.</a:t>
                      </a:r>
                      <a:endParaRPr sz="8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</a:rPr>
                        <a:t>Sat.</a:t>
                      </a:r>
                      <a:endParaRPr sz="8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</a:rPr>
                        <a:t>Notes</a:t>
                      </a:r>
                      <a:endParaRPr sz="8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B3D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1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Establish requirements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Governed by FSMA + SOPs; well understood.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2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Pre-cool &amp; prepare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Routine but occasionally skipped under time pressure.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3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Load &amp; verify equipment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Procedural; equipment checks are mature.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Monitor in transit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Real-time sensor tech (Sensitech, Tive) is mature and effective.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Detect &amp; interpret excursion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3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Generic thresholds; product-specific interpretation is inconsistent.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6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Notify &amp; assign responsibility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B2430"/>
                          </a:solidFill>
                        </a:rPr>
                        <a:t>2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The alert-without-owner gap: routing and ownership are unclear.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7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Authorize corrective action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B2430"/>
                          </a:solidFill>
                        </a:rPr>
                        <a:t>5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B2430"/>
                          </a:solidFill>
                        </a:rPr>
                        <a:t>2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Cross-organizational authority is often undefined in the moment.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8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Inspect &amp; disposition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4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3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Conservative rejection is common when 6–7 were slow.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9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Review &amp; improve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3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3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1B2430"/>
                          </a:solidFill>
                        </a:rPr>
                        <a:t>Done periodically; rarely feeds back into real-time response.</a:t>
                      </a:r>
                      <a:endParaRPr sz="7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20"/>
          <p:cNvSpPr/>
          <p:nvPr/>
        </p:nvSpPr>
        <p:spPr>
          <a:xfrm>
            <a:off x="5452110" y="1303020"/>
            <a:ext cx="3257700" cy="30174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20"/>
          <p:cNvCxnSpPr/>
          <p:nvPr/>
        </p:nvCxnSpPr>
        <p:spPr>
          <a:xfrm>
            <a:off x="5829300" y="2691765"/>
            <a:ext cx="2640300" cy="0"/>
          </a:xfrm>
          <a:prstGeom prst="straightConnector1">
            <a:avLst/>
          </a:prstGeom>
          <a:noFill/>
          <a:ln cap="flat" cmpd="sng" w="12700">
            <a:solidFill>
              <a:srgbClr val="C7D1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7149465" y="1474470"/>
            <a:ext cx="0" cy="2434500"/>
          </a:xfrm>
          <a:prstGeom prst="straightConnector1">
            <a:avLst/>
          </a:prstGeom>
          <a:noFill/>
          <a:ln cap="flat" cmpd="sng" w="12700">
            <a:solidFill>
              <a:srgbClr val="C7D1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0"/>
          <p:cNvSpPr txBox="1"/>
          <p:nvPr/>
        </p:nvSpPr>
        <p:spPr>
          <a:xfrm>
            <a:off x="5829300" y="1460754"/>
            <a:ext cx="13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High importance, low satisfaction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747826" y="2021396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7878128" y="2000822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747826" y="1412748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878128" y="1392174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2, 3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747826" y="1412748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8407908" y="1412748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538210" y="1392174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087743" y="1412748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218045" y="1392174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427661" y="1412748"/>
            <a:ext cx="123300" cy="123300"/>
          </a:xfrm>
          <a:prstGeom prst="ellipse">
            <a:avLst/>
          </a:prstGeom>
          <a:solidFill>
            <a:srgbClr val="C94C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557963" y="1392174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6, 7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427661" y="1412748"/>
            <a:ext cx="123300" cy="123300"/>
          </a:xfrm>
          <a:prstGeom prst="ellipse">
            <a:avLst/>
          </a:prstGeom>
          <a:solidFill>
            <a:srgbClr val="C94C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7087743" y="2021396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18045" y="2000822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087743" y="2630043"/>
            <a:ext cx="123300" cy="123300"/>
          </a:xfrm>
          <a:prstGeom prst="ellipse">
            <a:avLst/>
          </a:prstGeom>
          <a:solidFill>
            <a:srgbClr val="0E7C7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218045" y="2609469"/>
            <a:ext cx="2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 rot="-5400000">
            <a:off x="5486505" y="2057355"/>
            <a:ext cx="82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Importance 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6806565" y="4114800"/>
            <a:ext cx="82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Satisfaction 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5520690" y="4409694"/>
            <a:ext cx="31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C94C3B"/>
                </a:solidFill>
                <a:latin typeface="Calibri"/>
                <a:ea typeface="Calibri"/>
                <a:cs typeface="Calibri"/>
                <a:sym typeface="Calibri"/>
              </a:rPr>
              <a:t>Steps 6 &amp; 7 (red) are the clearest candidate opportunity: critical to the job, and the least satisfied today.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Ratings are preliminary hypotheses by the author, not measured satisfaction scores; scale 1 (low) to 5 (high) per course worksheet convention.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B3D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0" y="0"/>
            <a:ext cx="9141600" cy="925800"/>
          </a:xfrm>
          <a:prstGeom prst="rect">
            <a:avLst/>
          </a:prstGeom>
          <a:solidFill>
            <a:srgbClr val="122B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BOTTLENECK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 Alert Without an Owner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56057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456057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711071" y="1453896"/>
            <a:ext cx="32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848231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848231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3103245" y="1453896"/>
            <a:ext cx="32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240405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3240405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495419" y="1453896"/>
            <a:ext cx="32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632579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632579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887593" y="1453896"/>
            <a:ext cx="32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024753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024753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7279767" y="1453896"/>
            <a:ext cx="32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7416927" y="1234440"/>
            <a:ext cx="1268700" cy="651600"/>
          </a:xfrm>
          <a:prstGeom prst="roundRect">
            <a:avLst>
              <a:gd fmla="val 6316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416927" y="1234440"/>
            <a:ext cx="126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56057" y="1954530"/>
            <a:ext cx="82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9B91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E39B91"/>
                </a:solidFill>
                <a:latin typeface="Calibri"/>
                <a:ea typeface="Calibri"/>
                <a:cs typeface="Calibri"/>
                <a:sym typeface="Calibri"/>
              </a:rPr>
              <a:t>Where coordination most often breaks down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17220" y="2228850"/>
            <a:ext cx="7886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00"/>
              <a:buFont typeface="Cambria"/>
              <a:buNone/>
            </a:pPr>
            <a:r>
              <a:rPr b="0" i="1" lang="en" sz="1200" u="none" cap="none" strike="noStrike">
                <a:solidFill>
                  <a:srgbClr val="E8EEEC"/>
                </a:solidFill>
                <a:latin typeface="Cambria"/>
                <a:ea typeface="Cambria"/>
                <a:cs typeface="Cambria"/>
                <a:sym typeface="Cambria"/>
              </a:rPr>
              <a:t>“An alert can tell us that something is wrong. It cannot, by itself, ensure that the right person takes the right action in time.”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17220" y="2846070"/>
            <a:ext cx="78867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Hypothetical scenario (illustrative, not documented): a mixed load of dairy and produce experiences a temperature rise at 2 a.m. The driver has no authority to decide whether the product is still saleable; the shipper's QA team is offline; the carrier's dispatcher does not know the receiver's rejection criteria. By the time someone with authority responds, the window to intervene has closed.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E8EEEC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Documented industry evidence supports the pattern, if not this exact scenario: cold-chain logistics failures cost the pharmaceutical industry an estimated $35 billion annually, and roughly 20% of temperature-sensitive shipments still arrive compromised (Tive). Practitioners report that “bad communication is what turns a recoverable excursion into a rejected shipment” and that response-time variation across regions traces to manual coordination, not system delay — one mid-sized European operator cut incident response time over 60% primarily by removing manual coordination steps (Navixy).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E8EEEC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E8EEEC"/>
                </a:solidFill>
                <a:latin typeface="Calibri"/>
                <a:ea typeface="Calibri"/>
                <a:cs typeface="Calibri"/>
                <a:sym typeface="Calibri"/>
              </a:rPr>
              <a:t>Important nuance: cold-chain shipments are not without a responsible party — FSMA and commercial contracts already assign formal responsibilities. The gap is between formal accountability and practical, timely coordination in the moment an alert fires.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Sources: Tive, "Temperature Excursion Emergency: A Cold Chain Rescue Guide" and "When Cold Chain Logistics Break"; Navixy, "Reducing Spoilage Risk by Standardizing Incident Response in Cold Chain Logistics."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Problems Worth Solving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11480" y="1062990"/>
            <a:ext cx="8160900" cy="1337400"/>
          </a:xfrm>
          <a:prstGeom prst="roundRect">
            <a:avLst>
              <a:gd fmla="val 4103" name="adj"/>
            </a:avLst>
          </a:prstGeom>
          <a:solidFill>
            <a:srgbClr val="FBF3E8"/>
          </a:solidFill>
          <a:ln cap="flat" cmpd="sng" w="15875">
            <a:solidFill>
              <a:srgbClr val="E8C2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582930" y="1131570"/>
            <a:ext cx="781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3B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C94C3B"/>
                </a:solidFill>
                <a:latin typeface="Cambria"/>
                <a:ea typeface="Cambria"/>
                <a:cs typeface="Cambria"/>
                <a:sym typeface="Cambria"/>
              </a:rPr>
              <a:t>★ PRIMARY — An Alert Without an 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582930" y="1351026"/>
            <a:ext cx="78180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Job: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Coordinate a timely, authorized response once a temperature exception is detected.   </a:t>
            </a:r>
            <a:r>
              <a:rPr b="1" i="0" lang="en" sz="8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Who: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Cold-chain logistics managers, carriers, and receivers handling refrigerated shipments across organizational boundaries.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rgbClr val="0E7C7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Alerts reach systems and dashboards reliably; they do not reliably reach a person with the authority, context, and time to act.   </a:t>
            </a:r>
            <a:r>
              <a:rPr b="1" i="0" lang="en" sz="8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Why it matters: </a:t>
            </a: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Current solutions excel at detection (Sensitech, Tive, telematics) but stop short of guaranteeing coordinated action — the step most correlated with avoidable loss.</a:t>
            </a:r>
            <a:r>
              <a:rPr b="1" i="1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Evidence still needed: </a:t>
            </a:r>
            <a:r>
              <a:rPr b="0" i="1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Needs: real operator interviews on actual response times and authority structures; data on how often alerts go unactioned in time.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11480" y="2503170"/>
            <a:ext cx="8160900" cy="9945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82930" y="2571750"/>
            <a:ext cx="781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Product-Specific Interpretation of Excursions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582930" y="2791206"/>
            <a:ext cx="7818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Job: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Know whether a specific temperature deviation is actually dangerous for this specific product.   </a:t>
            </a: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Who: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QA personnel and shipment coordinators deciding whether to accept, hold, or reject a load.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Many monitoring systems alert on generic thresholds; a deviation tolerable for hardy produce may be unacceptable for dairy or seafood.   </a:t>
            </a: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Why it matters: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Generic alerting creates both false alarms (wasted response effort) and missed risk (product-specific spoilage not flagged).</a:t>
            </a:r>
            <a:r>
              <a:rPr b="1" i="1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Evidence still needed: </a:t>
            </a:r>
            <a:r>
              <a:rPr b="0" i="1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Needs: validation of how often today's systems use product-specific vs. generic thresholds in practice.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11480" y="3600450"/>
            <a:ext cx="8160900" cy="9945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582930" y="3669030"/>
            <a:ext cx="781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Cross-Boundary Authority for Corrective 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2930" y="3888486"/>
            <a:ext cx="7818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Job: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Pre-establish who can authorize a corrective action before a shipment is ever on the road.   </a:t>
            </a: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Who: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Shippers and carriers negotiating responsibility under FSMA and commercial contracts.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Authority to re-route, re-ice, or disposition a shipment is often not defined in advance across shipper/carrier/receiver lines.   </a:t>
            </a:r>
            <a:r>
              <a:rPr b="1" i="0" lang="en" sz="7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Why it matters: </a:t>
            </a:r>
            <a:r>
              <a:rPr b="0" i="0" lang="en" sz="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Pre-authorized decision rules could collapse the notification-to-action gap seen in steps 6–7 of the process map.</a:t>
            </a:r>
            <a:r>
              <a:rPr b="1" i="1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Evidence still needed: </a:t>
            </a:r>
            <a:r>
              <a:rPr b="0" i="1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Needs: review of existing shipper-carrier contract language to see how (or whether) this is already addressed.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342900" y="4882896"/>
            <a:ext cx="77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These are starting hypotheses to be refined through further research, not finished product proposals.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/>
          <p:nvPr/>
        </p:nvSpPr>
        <p:spPr>
          <a:xfrm>
            <a:off x="411480" y="24003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OPPORTUNITY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411480" y="466344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Is This Opportunity Worth Pursuing?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411480" y="102870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Primary opportunity: An Alert Without an Owner — the gap between detection and coordinated corrective action.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411480" y="1611630"/>
            <a:ext cx="2640300" cy="27432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411480" y="1611630"/>
            <a:ext cx="2640300" cy="3429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514350" y="16116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548640" y="2057400"/>
            <a:ext cx="23661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Documented pattern in adjacent cold-chain sectors: ~20% of temperature-sensitive shipments arrive compromised, and failures are attributed more to communication and coordination than to sensing (Tive).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FSMA's own flexibility on monitoring mechanisms (shipper/carrier agree on an approach) implies the regulation itself anticipates coordination, not just detection, as the harder problem.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Not yet confirmed specifically for U.S. food (vs. pharma) shipments — a key open question.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3223260" y="1611630"/>
            <a:ext cx="2640300" cy="27432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3223260" y="1611630"/>
            <a:ext cx="2640300" cy="342900"/>
          </a:xfrm>
          <a:prstGeom prst="rect">
            <a:avLst/>
          </a:prstGeom>
          <a:solidFill>
            <a:srgbClr val="4C7A5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3326130" y="16116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3360420" y="2057400"/>
            <a:ext cx="23661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Food loss has direct economic cost (USDA, FAO figures on Slide 2) and food-safety consequences when a borderline product is accepted rather than rejected.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Falls hardest on growers, shippers, and receivers with the least ability to absorb the loss — and on consumers through price and availability.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Matters to regulators (FDA) and to every stakeholder in the FSMA responsibility chain.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6035040" y="1611630"/>
            <a:ext cx="2640300" cy="27432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430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6035040" y="1611630"/>
            <a:ext cx="2640300" cy="342900"/>
          </a:xfrm>
          <a:prstGeom prst="rect">
            <a:avLst/>
          </a:prstGeom>
          <a:solidFill>
            <a:srgbClr val="C94C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137910" y="1611630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6172200" y="2057400"/>
            <a:ext cx="23661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problem is organizational and procedural as much as technical — pre-defined authority and response protocols are plausible without new sensing hardware.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Existing vendors (Sensitech CAPA programs) show the market already pays for help closing this gap — a signal of addressability, not just need.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Char char="▪"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Not yet addressed: whether a workable intervention changes contractual incentives, not just information flow.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411480" y="4457700"/>
            <a:ext cx="816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Open uncertainty: how often the gap is real-time (minutes/hours) versus a documentation/dispute problem discovered after the fact — this changes what "addressable" looks like, and can only be resolved with operator interviews.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B3D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-1371600" y="3086100"/>
            <a:ext cx="4114800" cy="4114800"/>
          </a:xfrm>
          <a:prstGeom prst="ellipse">
            <a:avLst/>
          </a:prstGeom>
          <a:solidFill>
            <a:srgbClr val="173A4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617220" y="109728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617220" y="1474470"/>
            <a:ext cx="774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next challenge in cold-chain logistics may not be collecting more temperature data.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617220" y="2263140"/>
            <a:ext cx="774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9C4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7FD9C4"/>
                </a:solidFill>
                <a:latin typeface="Cambria"/>
                <a:ea typeface="Cambria"/>
                <a:cs typeface="Cambria"/>
                <a:sym typeface="Cambria"/>
              </a:rPr>
              <a:t>It may be turning the information we already collect into timely, accountable action.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617220" y="3257550"/>
            <a:ext cx="77496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Jobs to Be Done: </a:t>
            </a:r>
            <a:r>
              <a:rPr b="0" i="0" lang="en" sz="1000" u="none" cap="none" strike="noStrike">
                <a:solidFill>
                  <a:srgbClr val="AEC3C9"/>
                </a:solidFill>
                <a:latin typeface="Calibri"/>
                <a:ea typeface="Calibri"/>
                <a:cs typeface="Calibri"/>
                <a:sym typeface="Calibri"/>
              </a:rPr>
              <a:t>the real job was never “monitor temperature” — it was delivering acceptable food while protecting the relationships and accountability around that delivery.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FE3D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FE3DD"/>
                </a:solidFill>
                <a:latin typeface="Calibri"/>
                <a:ea typeface="Calibri"/>
                <a:cs typeface="Calibri"/>
                <a:sym typeface="Calibri"/>
              </a:rPr>
              <a:t>User Process: </a:t>
            </a:r>
            <a:r>
              <a:rPr b="0" i="0" lang="en" sz="1000" u="none" cap="none" strike="noStrike">
                <a:solidFill>
                  <a:srgbClr val="AEC3C9"/>
                </a:solidFill>
                <a:latin typeface="Calibri"/>
                <a:ea typeface="Calibri"/>
                <a:cs typeface="Calibri"/>
                <a:sym typeface="Calibri"/>
              </a:rPr>
              <a:t>the process map shows exactly where that job breaks down today — not at detection, but at the handoff from alert to authorized action.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 txBox="1"/>
          <p:nvPr/>
        </p:nvSpPr>
        <p:spPr>
          <a:xfrm>
            <a:off x="411480" y="288036"/>
            <a:ext cx="8298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B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22B3D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411480" y="1028700"/>
            <a:ext cx="8160900" cy="3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FAO. The State of Food and Agriculture 2019 — Moving Forward on Food Loss and Waste Reduction. (~14% of global food lost post-harvest, before retail.)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FAO / UNEP. Sustainable Food Cold Chains: Opportunities, Challenges and the Way Forward. (526 million tonnes / ~12% of global food production lost in 2017 to inadequate refrigeration.)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USDA Economic Research Service. Food Availability and Loss-Adjusted Food Availability Documentation; retail loss and fresh-vegetable loss-rate data. ers.usda.gov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U.S. FDA. Sanitary Transportation of Human and Animal Food, 21 CFR Part 1, Subpart O (FSMA final rule) — shipper/loader/carrier/receiver requirements and temperature-monitoring provisions. fda.gov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Sensitech Inc. Cold chain monitoring solutions and continuous-improvement / CAPA program materials. sensitech.com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Tive. "Temperature Excursion Emergency: A Cold Chain Rescue Guide" and "When Cold Chain Logistics Break: Responding to Temperature Excursions." tive.com/blog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900"/>
              <a:buFont typeface="Calibri"/>
              <a:buChar char="▪"/>
            </a:pPr>
            <a:r>
              <a:rPr b="0" i="0" lang="en" sz="9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Navixy. "Reducing Spoilage Risk by Standardizing Incident Response in Cold Chain Logistics." navixy.com/blog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342900" y="4882896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Cold Chain Monitoring | Week 6 Domain Presentation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8709660" y="4882896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6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