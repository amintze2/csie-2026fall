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bb6118e56_0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fbb6118e56_0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fbb6118e56_0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bb6118e56_0_1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fbb6118e56_0_1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fbb6118e56_0_1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bb6118e56_0_3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fbb6118e56_0_3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bb6118e56_0_3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bb6118e56_0_5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fbb6118e56_0_5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fbb6118e56_0_5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bb6118e56_0_7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fbb6118e56_0_7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bb6118e56_0_7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bb6118e56_0_10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fbb6118e56_0_10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fbb6118e56_0_10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bb6118e56_0_12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fbb6118e56_0_12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bb6118e56_0_12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bb6118e56_0_15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fbb6118e56_0_15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fbb6118e56_0_15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bb6118e56_0_17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fbb6118e56_0_17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fbb6118e56_0_17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bb6118e56_0_18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fbb6118e56_0_18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fbb6118e56_0_18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bb6118e56_0_22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fbb6118e56_0_22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bb6118e56_0_22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73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/>
        </p:nvSpPr>
        <p:spPr>
          <a:xfrm>
            <a:off x="480060" y="174879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292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06292"/>
                </a:solidFill>
                <a:latin typeface="Calibri"/>
                <a:ea typeface="Calibri"/>
                <a:cs typeface="Calibri"/>
                <a:sym typeface="Calibri"/>
              </a:rPr>
              <a:t>WEEK 2 · GROUP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480060" y="2023110"/>
            <a:ext cx="78867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GB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Addictive and Opaque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GB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Social Media Algorithms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480060" y="3257550"/>
            <a:ext cx="720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0DE"/>
              </a:buClr>
              <a:buSzPts val="1100"/>
              <a:buFont typeface="Calibri"/>
              <a:buNone/>
            </a:pPr>
            <a:r>
              <a:rPr b="0" i="1" lang="en-GB" sz="1100" u="none" cap="none" strike="noStrike">
                <a:solidFill>
                  <a:srgbClr val="A9B0DE"/>
                </a:solidFill>
                <a:latin typeface="Calibri"/>
                <a:ea typeface="Calibri"/>
                <a:cs typeface="Calibri"/>
                <a:sym typeface="Calibri"/>
              </a:rPr>
              <a:t>How Recommendation Systems Are Being Redesigned by Courts, Regulators, and Competitors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480060" y="45262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D9F2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D6D9F2"/>
                </a:solidFill>
                <a:latin typeface="Calibri"/>
                <a:ea typeface="Calibri"/>
                <a:cs typeface="Calibri"/>
                <a:sym typeface="Calibri"/>
              </a:rPr>
              <a:t>Jason  ·  Sahana  ·  Sophia  ·  Sylvia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0" y="4841748"/>
            <a:ext cx="9141714" cy="301752"/>
          </a:xfrm>
          <a:prstGeom prst="rect">
            <a:avLst/>
          </a:prstGeom>
          <a:solidFill>
            <a:srgbClr val="18205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480060" y="4841748"/>
            <a:ext cx="54864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0DE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A9B0DE"/>
                </a:solidFill>
                <a:latin typeface="Calibri"/>
                <a:ea typeface="Calibri"/>
                <a:cs typeface="Calibri"/>
                <a:sym typeface="Calibri"/>
              </a:rPr>
              <a:t>Computer Science Innovation and Entrepreneurship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411480" y="260604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DOMAIN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11480" y="44577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mbria"/>
              <a:buNone/>
            </a:pPr>
            <a:r>
              <a:rPr b="1" i="0" lang="en-GB" sz="2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Background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411480" y="1062990"/>
            <a:ext cx="48006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This domain covers the recommendation systems that decide what users see on social platforms, and the engagement-maximizing features built around them</a:t>
            </a:r>
            <a:r>
              <a:rPr lang="en-GB" sz="10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, i</a:t>
            </a:r>
            <a:r>
              <a:rPr b="0" i="0" lang="en-GB" sz="10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nfinite scroll, autoplay, push notifications, streaks, variable-reward mechanics. Two questions are now being fought over in courts and legislatures: are these designs defective products, and do users have any right to understand or turn them off?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411480" y="2331720"/>
            <a:ext cx="480060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Why now: </a:t>
            </a:r>
            <a:r>
              <a:rPr b="0" i="0" lang="en-GB" sz="9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On March 25, 2026, a Los Angeles jury found Meta and Google's YouTube negligent in the first social-media-addiction bellwether trial — TikTok and Snap had already settled days before trial, and Mark Zuckerberg testified before a jury for the first time. The verdict rests on a design-defect theory that routes around Section 230; post-trial motions to overturn it were denied in June 2026.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411480" y="346329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Regulatory pressure: </a:t>
            </a:r>
            <a:r>
              <a:rPr b="0" i="0" lang="en-GB" sz="9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Australia announced draft “Digital Duty of Care” legislation on Sept 8–9, 2026 requiring platforms to give users a repeated, prominent algorithm opt-out — going further than the EU's DSA, which requires a non-profiled feed option but doesn't require platforms to surface it. New York's SAFE for Kids Act had final rules issued in July 2026, taking effect Jan 25, 2027.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486400" y="1062990"/>
            <a:ext cx="3257550" cy="877824"/>
          </a:xfrm>
          <a:prstGeom prst="roundRect">
            <a:avLst>
              <a:gd fmla="val 625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657850" y="1131570"/>
            <a:ext cx="291465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$6M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657850" y="1515618"/>
            <a:ext cx="291465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4E6F7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E4E6F7"/>
                </a:solidFill>
                <a:latin typeface="Calibri"/>
                <a:ea typeface="Calibri"/>
                <a:cs typeface="Calibri"/>
                <a:sym typeface="Calibri"/>
              </a:rPr>
              <a:t>LA jury verdict vs. Meta (70%) &amp; Google (30%) — first bellwether trial, Mar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5486400" y="2064258"/>
            <a:ext cx="3257550" cy="877824"/>
          </a:xfrm>
          <a:prstGeom prst="roundRect">
            <a:avLst>
              <a:gd fmla="val 6250" name="adj"/>
            </a:avLst>
          </a:prstGeom>
          <a:solidFill>
            <a:srgbClr val="9C254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657850" y="2132838"/>
            <a:ext cx="291465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$375M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5657850" y="2516886"/>
            <a:ext cx="291465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4E6F7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E4E6F7"/>
                </a:solidFill>
                <a:latin typeface="Calibri"/>
                <a:ea typeface="Calibri"/>
                <a:cs typeface="Calibri"/>
                <a:sym typeface="Calibri"/>
              </a:rPr>
              <a:t>New Mexico consumer-protection verdict against Meta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5486400" y="3065526"/>
            <a:ext cx="3257550" cy="877824"/>
          </a:xfrm>
          <a:prstGeom prst="roundRect">
            <a:avLst>
              <a:gd fmla="val 625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657850" y="3134106"/>
            <a:ext cx="291465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$12B → $17B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5657850" y="3518154"/>
            <a:ext cx="291465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4E6F7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E4E6F7"/>
                </a:solidFill>
                <a:latin typeface="Calibri"/>
                <a:ea typeface="Calibri"/>
                <a:cs typeface="Calibri"/>
                <a:sym typeface="Calibri"/>
              </a:rPr>
              <a:t>Meta's settlement with 29 state AGs, Aug 2026, over 10 years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5486400" y="4066794"/>
            <a:ext cx="3257550" cy="877824"/>
          </a:xfrm>
          <a:prstGeom prst="roundRect">
            <a:avLst>
              <a:gd fmla="val 6250" name="adj"/>
            </a:avLst>
          </a:prstGeom>
          <a:solidFill>
            <a:srgbClr val="9C254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657850" y="4135374"/>
            <a:ext cx="291465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3,000+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657850" y="4519422"/>
            <a:ext cx="291465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4E6F7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E4E6F7"/>
                </a:solidFill>
                <a:latin typeface="Calibri"/>
                <a:ea typeface="Calibri"/>
                <a:cs typeface="Calibri"/>
                <a:sym typeface="Calibri"/>
              </a:rPr>
              <a:t>cases pending in federal MDL 3047, plus a parallel CA state proceeding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8435340" y="4882896"/>
            <a:ext cx="5486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9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6B709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411480" y="260604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SCALE &amp; TRAJECTORY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411480" y="44577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mbria"/>
              <a:buNone/>
            </a:pPr>
            <a:r>
              <a:rPr b="1" i="0" lang="en-GB" sz="2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Who's Involved, and What's Changed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411480" y="1131570"/>
            <a:ext cx="2729484" cy="3566160"/>
          </a:xfrm>
          <a:prstGeom prst="roundRect">
            <a:avLst>
              <a:gd fmla="val 2010" name="adj"/>
            </a:avLst>
          </a:prstGeom>
          <a:solidFill>
            <a:srgbClr val="F3F4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62356" y="1241298"/>
            <a:ext cx="24277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62356" y="1488186"/>
            <a:ext cx="2427732" cy="3127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The first federal bellwether (Breathitt County School District) settled before trial in May 2026 for a reported $27M. School-district bellwethers are now set for Feb 2027. A large volume of mass-arbitration claims has also been filed against Meta.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3278124" y="1131570"/>
            <a:ext cx="2729484" cy="3566160"/>
          </a:xfrm>
          <a:prstGeom prst="roundRect">
            <a:avLst>
              <a:gd fmla="val 2010" name="adj"/>
            </a:avLst>
          </a:prstGeom>
          <a:solidFill>
            <a:srgbClr val="ECED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3429000" y="1241298"/>
            <a:ext cx="24277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KEY PLAYERS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3429000" y="1488186"/>
            <a:ext cx="2427732" cy="3127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Defendants: Meta, Google/YouTube, TikTok, Snap.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Plaintiffs' bar: Social Media Victims Law Center, Lanier Law Firm, MDL leadership, school districts, state AGs.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Regulators: Australian eSafety Commissioner, European Commission (DSA), NY AG, UK Ofcom.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Alt. architectures: Bluesky, Mastodon/fediverse, X, platform "following" tabs.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6144768" y="1131570"/>
            <a:ext cx="2729484" cy="3566160"/>
          </a:xfrm>
          <a:prstGeom prst="roundRect">
            <a:avLst>
              <a:gd fmla="val 2010" name="adj"/>
            </a:avLst>
          </a:prstGeom>
          <a:solidFill>
            <a:srgbClr val="F3F4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295644" y="1241298"/>
            <a:ext cx="24277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WHAT'S CHANGED (2021–2026)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6295644" y="1488186"/>
            <a:ext cx="2427732" cy="3127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2021 — Facebook Files reveal Meta knew of teen harm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2022–24 — plaintiffs' theory shifts from content to design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2023 — DSA creates first legal right to a non-profiled feed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2024–26 — cases reach trials, settlements, a verdict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2025–26 — Australia moves from under-16 ban to opt-out proposal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8435340" y="4882896"/>
            <a:ext cx="5486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9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6B709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/>
        </p:nvSpPr>
        <p:spPr>
          <a:xfrm>
            <a:off x="411480" y="260604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OPEN PROBLEMS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411480" y="44577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mbria"/>
              <a:buNone/>
            </a:pPr>
            <a:r>
              <a:rPr b="1" i="0" lang="en-GB" sz="2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Where Are the Cracks?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411480" y="1097280"/>
            <a:ext cx="2729484" cy="1474470"/>
          </a:xfrm>
          <a:prstGeom prst="roundRect">
            <a:avLst>
              <a:gd fmla="val 3721" name="adj"/>
            </a:avLst>
          </a:prstGeom>
          <a:solidFill>
            <a:srgbClr val="F3F4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62356" y="1207008"/>
            <a:ext cx="24277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Opt-out feeds exist, nobody uses them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62356" y="1549908"/>
            <a:ext cx="2427732" cy="93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DSA chronological options see modest take-up because the default is what people use. Australia's answer: force the choice repeatedly — untested.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3278124" y="1097280"/>
            <a:ext cx="2729484" cy="1474470"/>
          </a:xfrm>
          <a:prstGeom prst="roundRect">
            <a:avLst>
              <a:gd fmla="val 3721" name="adj"/>
            </a:avLst>
          </a:prstGeom>
          <a:solidFill>
            <a:srgbClr val="ECED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3429000" y="1207008"/>
            <a:ext cx="24277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Transparency tools explain nothing useful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3429000" y="1549908"/>
            <a:ext cx="2427732" cy="93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"Why am I seeing this?" panels describe signals in general terms. No platform shows actual weights or lets users audit their feed history.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6144768" y="1097280"/>
            <a:ext cx="2729484" cy="1474470"/>
          </a:xfrm>
          <a:prstGeom prst="roundRect">
            <a:avLst>
              <a:gd fmla="val 3721" name="adj"/>
            </a:avLst>
          </a:prstGeom>
          <a:solidFill>
            <a:srgbClr val="F3F4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295644" y="1207008"/>
            <a:ext cx="24277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Settlements move money, not 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6295644" y="1549908"/>
            <a:ext cx="2427732" cy="93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Most settlements don't mandate changes to autoplay, notifications, or ranking. Meta's Aug 2026 teen-time-limit clause is the exception so far.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11480" y="2708910"/>
            <a:ext cx="2729484" cy="1474470"/>
          </a:xfrm>
          <a:prstGeom prst="roundRect">
            <a:avLst>
              <a:gd fmla="val 3721" name="adj"/>
            </a:avLst>
          </a:prstGeom>
          <a:solidFill>
            <a:srgbClr val="ECED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62356" y="2818638"/>
            <a:ext cx="24277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Age verification is the bottleneck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562356" y="3161538"/>
            <a:ext cx="2427732" cy="93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SAFE for Kids, Australia, and the DSA all depend on knowing who's a minor. Accurate, privacy-preserving age assurance doesn't exist yet.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278124" y="2708910"/>
            <a:ext cx="2729484" cy="1474470"/>
          </a:xfrm>
          <a:prstGeom prst="roundRect">
            <a:avLst>
              <a:gd fmla="val 3721" name="adj"/>
            </a:avLst>
          </a:prstGeom>
          <a:solidFill>
            <a:srgbClr val="F3F4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3429000" y="2818638"/>
            <a:ext cx="24277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same mechanics are moving to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3429000" y="3161538"/>
            <a:ext cx="2427732" cy="93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Streaks, notifications, and engagement optimization are being built into chatbots and companions with none of the scrutiny social feeds now get — and the first lawsuits over chatbot design harms have already been filed.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144768" y="2708910"/>
            <a:ext cx="2729484" cy="1474470"/>
          </a:xfrm>
          <a:prstGeom prst="roundRect">
            <a:avLst>
              <a:gd fmla="val 3721" name="adj"/>
            </a:avLst>
          </a:prstGeom>
          <a:solidFill>
            <a:srgbClr val="ECED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295644" y="2818638"/>
            <a:ext cx="24277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There's no market for a good algorithm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6295644" y="3161538"/>
            <a:ext cx="2427732" cy="93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Users can't buy, subscribe to, or bring their own ranking model. Bluesky's custom feeds are the closest thing — still small and unpaid.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8435340" y="4882896"/>
            <a:ext cx="5486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9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6B709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/>
        </p:nvSpPr>
        <p:spPr>
          <a:xfrm>
            <a:off x="411480" y="260604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DOMINANT DESIGN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411480" y="44577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mbria"/>
              <a:buNone/>
            </a:pPr>
            <a:r>
              <a:rPr b="1" i="0" lang="en-GB" sz="2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Platform-Controlled Feeds Are Under Pressure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411480" y="1028700"/>
            <a:ext cx="829818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Today, most platforms run a platform-controlled personalized feed: the company observes behavior, controls the ranking algorithm, and decides what each user sees. Users influence it through behavior, but have little direct control over what it optimizes for.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411480" y="1714500"/>
            <a:ext cx="2729484" cy="1062990"/>
          </a:xfrm>
          <a:prstGeom prst="roundRect">
            <a:avLst>
              <a:gd fmla="val 5161" name="adj"/>
            </a:avLst>
          </a:prstGeom>
          <a:solidFill>
            <a:srgbClr val="F3F4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62356" y="1824228"/>
            <a:ext cx="24277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1. The design itself is being questioned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562356" y="2201418"/>
            <a:ext cx="242773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Section 230 protected platforms from content-based claims. Recent lawsuits target design choices instead — recommendation systems, infinite scroll, autoplay, notifications.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3278124" y="1714500"/>
            <a:ext cx="2729484" cy="1062990"/>
          </a:xfrm>
          <a:prstGeom prst="roundRect">
            <a:avLst>
              <a:gd fmla="val 5161" name="adj"/>
            </a:avLst>
          </a:prstGeom>
          <a:solidFill>
            <a:srgbClr val="F3F4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3429000" y="1824228"/>
            <a:ext cx="24277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2. Regulation is pushing user control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3429000" y="2201418"/>
            <a:ext cx="242773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NY's SAFE for Kids Act restricts personalized feeds for minors starting Jan 2027. Australia has proposed a default feed choice for all users.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6144768" y="1714500"/>
            <a:ext cx="2729484" cy="1062990"/>
          </a:xfrm>
          <a:prstGeom prst="roundRect">
            <a:avLst>
              <a:gd fmla="val 5161" name="adj"/>
            </a:avLst>
          </a:prstGeom>
          <a:solidFill>
            <a:srgbClr val="F3F4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295644" y="1824228"/>
            <a:ext cx="24277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3. Alternative designs are emerging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6295644" y="2201418"/>
            <a:ext cx="242773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Bluesky lets users pick their own feed algorithm. It grew from 10M to 43.5M users in under two years, with 50,000+ user-made feeds.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411480" y="3086100"/>
            <a:ext cx="2263140" cy="891540"/>
          </a:xfrm>
          <a:prstGeom prst="roundRect">
            <a:avLst>
              <a:gd fmla="val 6154" name="adj"/>
            </a:avLst>
          </a:prstGeom>
          <a:solidFill>
            <a:srgbClr val="ECED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411480" y="3209544"/>
            <a:ext cx="22631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TODAY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582930" y="34975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Platform decides what the algorithm optimizes for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2715768" y="3422142"/>
            <a:ext cx="288036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2336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3051810" y="3086100"/>
            <a:ext cx="2263140" cy="891540"/>
          </a:xfrm>
          <a:prstGeom prst="roundRect">
            <a:avLst>
              <a:gd fmla="val 6154" name="adj"/>
            </a:avLst>
          </a:prstGeom>
          <a:solidFill>
            <a:srgbClr val="9C254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3051810" y="3209544"/>
            <a:ext cx="22631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PRESSURE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3223260" y="34975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9DDE3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E9DDE3"/>
                </a:solidFill>
                <a:latin typeface="Calibri"/>
                <a:ea typeface="Calibri"/>
                <a:cs typeface="Calibri"/>
                <a:sym typeface="Calibri"/>
              </a:rPr>
              <a:t>Lawsuits + regulation + alternative feeds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5356098" y="3422142"/>
            <a:ext cx="288036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2336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692140" y="3086100"/>
            <a:ext cx="2263140" cy="891540"/>
          </a:xfrm>
          <a:prstGeom prst="roundRect">
            <a:avLst>
              <a:gd fmla="val 615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5692140" y="3209544"/>
            <a:ext cx="22631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POSSIBLE NEXT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5863590" y="34975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BCFEE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CBCFEE"/>
                </a:solidFill>
                <a:latin typeface="Calibri"/>
                <a:ea typeface="Calibri"/>
                <a:cs typeface="Calibri"/>
                <a:sym typeface="Calibri"/>
              </a:rPr>
              <a:t>Users get more control over how their feed is ranked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411480" y="4080510"/>
            <a:ext cx="82981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094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6B7094"/>
                </a:solidFill>
                <a:latin typeface="Calibri"/>
                <a:ea typeface="Calibri"/>
                <a:cs typeface="Calibri"/>
                <a:sym typeface="Calibri"/>
              </a:rPr>
              <a:t>Possible inflection point: legal pressure, regulation, and alternative architectures are challenging the platform-controlled feed's core assumptions.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8435340" y="4882896"/>
            <a:ext cx="5486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9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6B709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/>
        </p:nvSpPr>
        <p:spPr>
          <a:xfrm>
            <a:off x="411480" y="260604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HOW WE GOT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411480" y="44577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mbria"/>
              <a:buNone/>
            </a:pPr>
            <a:r>
              <a:rPr b="1" i="0" lang="en-GB" sz="2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From Social Graph to Short-Form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411480" y="1097280"/>
            <a:ext cx="2729484" cy="3154680"/>
          </a:xfrm>
          <a:prstGeom prst="roundRect">
            <a:avLst>
              <a:gd fmla="val 2010" name="adj"/>
            </a:avLst>
          </a:prstGeom>
          <a:solidFill>
            <a:srgbClr val="F3F4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582930" y="1248156"/>
            <a:ext cx="238658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THE PAST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582930" y="1474470"/>
            <a:ext cx="238658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1500"/>
              <a:buFont typeface="Cambria"/>
              <a:buNone/>
            </a:pPr>
            <a:r>
              <a:rPr b="1" i="0" lang="en-GB" sz="1500" u="none" cap="none" strike="noStrike">
                <a:solidFill>
                  <a:srgbClr val="22284A"/>
                </a:solidFill>
                <a:latin typeface="Cambria"/>
                <a:ea typeface="Cambria"/>
                <a:cs typeface="Cambria"/>
                <a:sym typeface="Cambria"/>
              </a:rPr>
              <a:t>2011–2019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582930" y="1885950"/>
            <a:ext cx="2386584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Social-graph feed</a:t>
            </a:r>
            <a:r>
              <a:rPr lang="en-GB" sz="8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 you chose who to follow, the algorithm only reordered that list. Instagram said users missed ~70% of posts (2016); even in 2022, only ~15% of Facebook feed content came from accounts you didn't follow.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582930" y="3874770"/>
            <a:ext cx="2386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94"/>
              </a:buClr>
              <a:buSzPts val="700"/>
              <a:buFont typeface="Calibri"/>
              <a:buNone/>
            </a:pPr>
            <a:r>
              <a:rPr b="0" i="1" lang="en-GB" sz="700" u="none" cap="none" strike="noStrike">
                <a:solidFill>
                  <a:srgbClr val="6B7094"/>
                </a:solidFill>
                <a:latin typeface="Calibri"/>
                <a:ea typeface="Calibri"/>
                <a:cs typeface="Calibri"/>
                <a:sym typeface="Calibri"/>
              </a:rPr>
              <a:t>Engadget 2017; Nieman Lab 2016; Meta Q2 2022 call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3154680" y="2564892"/>
            <a:ext cx="10972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2336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3278124" y="1097280"/>
            <a:ext cx="2729484" cy="3154680"/>
          </a:xfrm>
          <a:prstGeom prst="roundRect">
            <a:avLst>
              <a:gd fmla="val 2010" name="adj"/>
            </a:avLst>
          </a:prstGeom>
          <a:solidFill>
            <a:srgbClr val="F3F4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3449574" y="1248156"/>
            <a:ext cx="238658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THE DISCONTINUITY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3449574" y="1474470"/>
            <a:ext cx="238658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1500"/>
              <a:buFont typeface="Cambria"/>
              <a:buNone/>
            </a:pPr>
            <a:r>
              <a:rPr b="1" i="0" lang="en-GB" sz="1500" u="none" cap="none" strike="noStrike">
                <a:solidFill>
                  <a:srgbClr val="22284A"/>
                </a:solidFill>
                <a:latin typeface="Cambria"/>
                <a:ea typeface="Cambria"/>
                <a:cs typeface="Cambria"/>
                <a:sym typeface="Cambria"/>
              </a:rPr>
              <a:t>2018–2023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3449574" y="1885950"/>
            <a:ext cx="2386584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TikTok hit 1B monthly users in 5.1 years</a:t>
            </a:r>
            <a:r>
              <a:rPr lang="en-GB" sz="8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 2nd fastest ever. It replaced the follow list with an interest graph; every swipe is a fresh signal. Reels hit 140B plays/day by Q3 2022; Meta credited AI recs for a 24% rise in Instagram time.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449574" y="3874770"/>
            <a:ext cx="2386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94"/>
              </a:buClr>
              <a:buSzPts val="700"/>
              <a:buFont typeface="Calibri"/>
              <a:buNone/>
            </a:pPr>
            <a:r>
              <a:rPr b="0" i="1" lang="en-GB" sz="700" u="none" cap="none" strike="noStrike">
                <a:solidFill>
                  <a:srgbClr val="6B7094"/>
                </a:solidFill>
                <a:latin typeface="Calibri"/>
                <a:ea typeface="Calibri"/>
                <a:cs typeface="Calibri"/>
                <a:sym typeface="Calibri"/>
              </a:rPr>
              <a:t>Finmasters; Tubefilter 2023; Meta Q1 2023 call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6021324" y="2564892"/>
            <a:ext cx="109728" cy="2194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2336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6144768" y="1097280"/>
            <a:ext cx="2729484" cy="3154680"/>
          </a:xfrm>
          <a:prstGeom prst="roundRect">
            <a:avLst>
              <a:gd fmla="val 201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316218" y="1248156"/>
            <a:ext cx="238658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292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06292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6316218" y="1474470"/>
            <a:ext cx="238658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GB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2023–2026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6316218" y="1885950"/>
            <a:ext cx="2386584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Short-form is dominant everywhere. US TikTok users: 35.7M (2019) → 103.3M (2025), growth down to ~3%/yr. YouTube Shorts: 70B→200B daily views in 15 months. New curves: AI-generated feeds, kids under 8 (1→14 min/day), news (3%→20% of US adults).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6316218" y="3874770"/>
            <a:ext cx="2386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E6"/>
              </a:buClr>
              <a:buSzPts val="700"/>
              <a:buFont typeface="Calibri"/>
              <a:buNone/>
            </a:pPr>
            <a:r>
              <a:rPr b="0" i="1" lang="en-GB" sz="700" u="none" cap="none" strike="noStrike">
                <a:solidFill>
                  <a:srgbClr val="AEB4E6"/>
                </a:solidFill>
                <a:latin typeface="Calibri"/>
                <a:ea typeface="Calibri"/>
                <a:cs typeface="Calibri"/>
                <a:sym typeface="Calibri"/>
              </a:rPr>
              <a:t>Finmasters; The Wrap; Common Sense 2025; Pew 2025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8435340" y="4882896"/>
            <a:ext cx="5486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9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6B709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 txBox="1"/>
          <p:nvPr/>
        </p:nvSpPr>
        <p:spPr>
          <a:xfrm>
            <a:off x="411480" y="260604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1" sz="900">
              <a:solidFill>
                <a:srgbClr val="9C25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411480" y="44577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mbria"/>
              <a:buNone/>
            </a:pPr>
            <a:r>
              <a:rPr b="1" i="0" lang="en-GB" sz="2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Trending to the Absurd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411480" y="1062990"/>
            <a:ext cx="8298180" cy="925830"/>
          </a:xfrm>
          <a:prstGeom prst="roundRect">
            <a:avLst>
              <a:gd fmla="val 5926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17220" y="1179576"/>
            <a:ext cx="7886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These algorithms are already being used for cognitive warfare: </a:t>
            </a:r>
            <a:r>
              <a:rPr b="0" i="0" lang="en-GB" sz="1000" u="none" cap="none" strike="noStrike">
                <a:solidFill>
                  <a:srgbClr val="D6D9F2"/>
                </a:solidFill>
                <a:latin typeface="Calibri"/>
                <a:ea typeface="Calibri"/>
                <a:cs typeface="Calibri"/>
                <a:sym typeface="Calibri"/>
              </a:rPr>
              <a:t>influencing elections and shaping public perception of active conflicts, including Hamas vs. Israel and Russia vs. Ukraine. Whoever controls the ranking controls which version of events people see.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411480" y="2263140"/>
            <a:ext cx="2729484" cy="1165860"/>
          </a:xfrm>
          <a:prstGeom prst="roundRect">
            <a:avLst>
              <a:gd fmla="val 4706" name="adj"/>
            </a:avLst>
          </a:prstGeom>
          <a:solidFill>
            <a:srgbClr val="F3F4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582930" y="2434590"/>
            <a:ext cx="342900" cy="342900"/>
          </a:xfrm>
          <a:prstGeom prst="ellipse">
            <a:avLst/>
          </a:prstGeom>
          <a:solidFill>
            <a:srgbClr val="9C254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582930" y="243459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582930" y="2880360"/>
            <a:ext cx="2386584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if TikTok starts influencing politics?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3278124" y="2263140"/>
            <a:ext cx="2729484" cy="1165860"/>
          </a:xfrm>
          <a:prstGeom prst="roundRect">
            <a:avLst>
              <a:gd fmla="val 4706" name="adj"/>
            </a:avLst>
          </a:prstGeom>
          <a:solidFill>
            <a:srgbClr val="ECED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3449574" y="2434590"/>
            <a:ext cx="342900" cy="342900"/>
          </a:xfrm>
          <a:prstGeom prst="ellipse">
            <a:avLst/>
          </a:prstGeom>
          <a:solidFill>
            <a:srgbClr val="9C254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3449574" y="243459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3449574" y="2880360"/>
            <a:ext cx="2386584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if everyone scrolls 15 hours a day?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6144768" y="2263140"/>
            <a:ext cx="2729484" cy="1165860"/>
          </a:xfrm>
          <a:prstGeom prst="roundRect">
            <a:avLst>
              <a:gd fmla="val 4706" name="adj"/>
            </a:avLst>
          </a:prstGeom>
          <a:solidFill>
            <a:srgbClr val="F3F4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6316218" y="2434590"/>
            <a:ext cx="342900" cy="342900"/>
          </a:xfrm>
          <a:prstGeom prst="ellipse">
            <a:avLst/>
          </a:prstGeom>
          <a:solidFill>
            <a:srgbClr val="9C254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6316218" y="243459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6316218" y="2880360"/>
            <a:ext cx="2386584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if kids see the world only through the feed?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411480" y="360045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94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6B7094"/>
                </a:solidFill>
                <a:latin typeface="Calibri"/>
                <a:ea typeface="Calibri"/>
                <a:cs typeface="Calibri"/>
                <a:sym typeface="Calibri"/>
              </a:rPr>
              <a:t>Pushed to their limits, next.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8435340" y="4882896"/>
            <a:ext cx="5486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9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6B709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/>
          <p:nvPr/>
        </p:nvSpPr>
        <p:spPr>
          <a:xfrm>
            <a:off x="411480" y="260604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PUSHED TO THE LIMIT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11480" y="44577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mbria"/>
              <a:buNone/>
            </a:pPr>
            <a:r>
              <a:rPr b="1" i="0" lang="en-GB" sz="2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Three Scenarios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411480" y="1097280"/>
            <a:ext cx="2729484" cy="3566160"/>
          </a:xfrm>
          <a:prstGeom prst="roundRect">
            <a:avLst>
              <a:gd fmla="val 2010" name="adj"/>
            </a:avLst>
          </a:prstGeom>
          <a:solidFill>
            <a:srgbClr val="F3F4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562356" y="1234440"/>
            <a:ext cx="2427732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1. TikTok Influencing Politics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562356" y="1748790"/>
            <a:ext cx="2427732" cy="253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US adults regularly getting news on TikTok: 3% (2020) → 20% (2025); under-30s: 9% → 43%. Push that to its limit and all political information arrives as ranked 30-second clips — whoever sets the ranking weights sets the agenda. Romania annulled its Dec 2024 presidential vote after an alleged TikTok campaign; the US algorithm is now being retrained by an Oracle-led venture (Jan 2026).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562356" y="4286250"/>
            <a:ext cx="24277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94"/>
              </a:buClr>
              <a:buSzPts val="600"/>
              <a:buFont typeface="Calibri"/>
              <a:buNone/>
            </a:pPr>
            <a:r>
              <a:rPr b="0" i="1" lang="en-GB" sz="600" u="none" cap="none" strike="noStrike">
                <a:solidFill>
                  <a:srgbClr val="6B7094"/>
                </a:solidFill>
                <a:latin typeface="Calibri"/>
                <a:ea typeface="Calibri"/>
                <a:cs typeface="Calibri"/>
                <a:sym typeface="Calibri"/>
              </a:rPr>
              <a:t>Pew Sep 2025; Verfassungsblog; AP; Fortune; Gazette NGR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3278124" y="1097280"/>
            <a:ext cx="2729484" cy="3566160"/>
          </a:xfrm>
          <a:prstGeom prst="roundRect">
            <a:avLst>
              <a:gd fmla="val 2010" name="adj"/>
            </a:avLst>
          </a:prstGeom>
          <a:solidFill>
            <a:srgbClr val="ECED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3429000" y="1234440"/>
            <a:ext cx="2427732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2. Everyone Scrolls 15 Hrs/Day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3429000" y="1748790"/>
            <a:ext cx="2427732" cy="253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At ~30 sec/clip and 8 hrs of sleep, that's ~1,800 swipes/day and 228 full days/year</a:t>
            </a:r>
            <a:r>
              <a:rPr lang="en-GB" sz="8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 our own extrapolation. Today's baseline: ~44 min/day on TikTok, 27 on Reels, 21 on Shorts; 36% of US teens are on a platform "almost constantly." A day has ~16 waking hours — growth has to come from sleep, parallel attention, or non-humans.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3429000" y="4286250"/>
            <a:ext cx="24277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94"/>
              </a:buClr>
              <a:buSzPts val="600"/>
              <a:buFont typeface="Calibri"/>
              <a:buNone/>
            </a:pPr>
            <a:r>
              <a:rPr b="0" i="1" lang="en-GB" sz="600" u="none" cap="none" strike="noStrike">
                <a:solidFill>
                  <a:srgbClr val="6B7094"/>
                </a:solidFill>
                <a:latin typeface="Calibri"/>
                <a:ea typeface="Calibri"/>
                <a:cs typeface="Calibri"/>
                <a:sym typeface="Calibri"/>
              </a:rPr>
              <a:t>Sensor Tower via WSJ Jan 2026; Pew Dec 2025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6144768" y="1097280"/>
            <a:ext cx="2729484" cy="3566160"/>
          </a:xfrm>
          <a:prstGeom prst="roundRect">
            <a:avLst>
              <a:gd fmla="val 2010" name="adj"/>
            </a:avLst>
          </a:prstGeom>
          <a:solidFill>
            <a:srgbClr val="F3F4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6295644" y="1234440"/>
            <a:ext cx="2427732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3. Kids See Only the Feed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6295644" y="1748790"/>
            <a:ext cx="2427732" cy="2537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Short-form video for kids 0–8 went from ~1 to 14 min/day (2020–25); lower-income homes average 24 min vs. 7 in higher-income homes. If that 14x jump repeats, short-form alone reaches ~196 min/day by 2030</a:t>
            </a:r>
            <a:r>
              <a:rPr lang="en-GB" sz="8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 more than today's total kid screen time. At the limit, a child's model of the world is a sample picked to hold attention, not a typical one.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6295644" y="4286250"/>
            <a:ext cx="24277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094"/>
              </a:buClr>
              <a:buSzPts val="600"/>
              <a:buFont typeface="Calibri"/>
              <a:buNone/>
            </a:pPr>
            <a:r>
              <a:rPr b="0" i="1" lang="en-GB" sz="600" u="none" cap="none" strike="noStrike">
                <a:solidFill>
                  <a:srgbClr val="6B7094"/>
                </a:solidFill>
                <a:latin typeface="Calibri"/>
                <a:ea typeface="Calibri"/>
                <a:cs typeface="Calibri"/>
                <a:sym typeface="Calibri"/>
              </a:rPr>
              <a:t>Common Sense Census 2025 (extrapolation, not forecast)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8435340" y="4882896"/>
            <a:ext cx="5486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9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6B709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 txBox="1"/>
          <p:nvPr/>
        </p:nvSpPr>
        <p:spPr>
          <a:xfrm>
            <a:off x="411480" y="260604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OPPORTUNITIES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411480" y="44577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100"/>
              <a:buFont typeface="Cambria"/>
              <a:buNone/>
            </a:pPr>
            <a:r>
              <a:rPr b="1" i="0" lang="en-GB" sz="2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Making the 15 Hours Better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411480" y="1165860"/>
            <a:ext cx="809244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Since everyone's already on TikTok and Reels, the question isn't how to pull people off — it's how to make that time better. How do we make it more productive? Can short-form content be interactive or actionable instead of purely passive?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411480" y="2194560"/>
            <a:ext cx="4046220" cy="1714500"/>
          </a:xfrm>
          <a:prstGeom prst="roundRect">
            <a:avLst>
              <a:gd fmla="val 32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617220" y="2366010"/>
            <a:ext cx="36347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292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F06292"/>
                </a:solidFill>
                <a:latin typeface="Calibri"/>
                <a:ea typeface="Calibri"/>
                <a:cs typeface="Calibri"/>
                <a:sym typeface="Calibri"/>
              </a:rPr>
              <a:t>OPPORTUNITY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617220" y="2606040"/>
            <a:ext cx="36347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Let Users Choose What Their Feed Optimizes For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617220" y="3326130"/>
            <a:ext cx="36347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6F7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4E6F7"/>
                </a:solidFill>
                <a:latin typeface="Calibri"/>
                <a:ea typeface="Calibri"/>
                <a:cs typeface="Calibri"/>
                <a:sym typeface="Calibri"/>
              </a:rPr>
              <a:t>Give people explicit goals for their own feed instead of only inferring from engagement.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4663440" y="2194560"/>
            <a:ext cx="4046220" cy="1714500"/>
          </a:xfrm>
          <a:prstGeom prst="roundRect">
            <a:avLst>
              <a:gd fmla="val 3200" name="adj"/>
            </a:avLst>
          </a:prstGeom>
          <a:solidFill>
            <a:srgbClr val="9C254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4869180" y="2366010"/>
            <a:ext cx="36347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292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F06292"/>
                </a:solidFill>
                <a:latin typeface="Calibri"/>
                <a:ea typeface="Calibri"/>
                <a:cs typeface="Calibri"/>
                <a:sym typeface="Calibri"/>
              </a:rPr>
              <a:t>OPPORTUNITY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4869180" y="2606040"/>
            <a:ext cx="36347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Make Short-Form Content Actionable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4869180" y="3326130"/>
            <a:ext cx="36347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6F7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E4E6F7"/>
                </a:solidFill>
                <a:latin typeface="Calibri"/>
                <a:ea typeface="Calibri"/>
                <a:cs typeface="Calibri"/>
                <a:sym typeface="Calibri"/>
              </a:rPr>
              <a:t>Attach a lightweight action layer to clips so scrolling leaves something behind.</a:t>
            </a:r>
            <a:endParaRPr b="0" i="0" sz="900" u="none" cap="none" strike="noStrike">
              <a:solidFill>
                <a:srgbClr val="E4E6F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6F7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E4E6F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6F7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E4E6F7"/>
                </a:solidFill>
                <a:latin typeface="Calibri"/>
                <a:ea typeface="Calibri"/>
                <a:cs typeface="Calibri"/>
                <a:sym typeface="Calibri"/>
              </a:rPr>
              <a:t>Additionally</a:t>
            </a:r>
            <a:r>
              <a:rPr lang="en-GB" sz="900">
                <a:solidFill>
                  <a:srgbClr val="E4E6F7"/>
                </a:solidFill>
                <a:latin typeface="Calibri"/>
                <a:ea typeface="Calibri"/>
                <a:cs typeface="Calibri"/>
                <a:sym typeface="Calibri"/>
              </a:rPr>
              <a:t>, tackling creator motive transparency when putting out potentially biased news.</a:t>
            </a:r>
            <a:endParaRPr sz="900">
              <a:solidFill>
                <a:srgbClr val="E4E6F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8435340" y="4882896"/>
            <a:ext cx="5486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9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6B709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 txBox="1"/>
          <p:nvPr/>
        </p:nvSpPr>
        <p:spPr>
          <a:xfrm>
            <a:off x="411480" y="260604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OPPORTUNITY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411480" y="44577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GB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Let Users Choose What Their Feed Optimizes For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411480" y="1062990"/>
            <a:ext cx="4046220" cy="1303020"/>
          </a:xfrm>
          <a:prstGeom prst="roundRect">
            <a:avLst>
              <a:gd fmla="val 4211" name="adj"/>
            </a:avLst>
          </a:prstGeom>
          <a:solidFill>
            <a:srgbClr val="F3F4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562356" y="1172718"/>
            <a:ext cx="37444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562356" y="1419606"/>
            <a:ext cx="3744468" cy="864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Recommendation algorithms learn from what users click, watch, and engage with</a:t>
            </a:r>
            <a:r>
              <a:rPr lang="en-GB" sz="8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 but engagement doesn't always represent what a user actually wants. People keep watching upsetting or repetitive content even when they'd prefer something different.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4594860" y="1062990"/>
            <a:ext cx="4114800" cy="1303020"/>
          </a:xfrm>
          <a:prstGeom prst="roundRect">
            <a:avLst>
              <a:gd fmla="val 4211" name="adj"/>
            </a:avLst>
          </a:prstGeom>
          <a:solidFill>
            <a:srgbClr val="ECED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4745736" y="1172718"/>
            <a:ext cx="3813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THE OPPORTUNITY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4745736" y="1419606"/>
            <a:ext cx="3813048" cy="864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What if users could directly tell their recommendation algorithm what they want, instead of the platform inferring everything from behavior? The algorithm still personalizes</a:t>
            </a:r>
            <a:r>
              <a:rPr lang="en-GB" sz="8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guided by explicit goals, not just observed engagement.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411480" y="2503170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Users could choose or adjust goals such as: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411480" y="2777490"/>
            <a:ext cx="2729484" cy="377190"/>
          </a:xfrm>
          <a:prstGeom prst="roundRect">
            <a:avLst>
              <a:gd fmla="val 5090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411480" y="2777490"/>
            <a:ext cx="2729484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Discover new interests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3278124" y="2777490"/>
            <a:ext cx="2729484" cy="377190"/>
          </a:xfrm>
          <a:prstGeom prst="roundRect">
            <a:avLst>
              <a:gd fmla="val 5090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3278124" y="2777490"/>
            <a:ext cx="2729484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Prioritize friends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6144768" y="2777490"/>
            <a:ext cx="2729484" cy="377190"/>
          </a:xfrm>
          <a:prstGeom prst="roundRect">
            <a:avLst>
              <a:gd fmla="val 5090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6144768" y="2777490"/>
            <a:ext cx="2729484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 about a topic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411480" y="3257550"/>
            <a:ext cx="2729484" cy="377190"/>
          </a:xfrm>
          <a:prstGeom prst="roundRect">
            <a:avLst>
              <a:gd fmla="val 5090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411480" y="3257550"/>
            <a:ext cx="2729484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Show more diverse content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3278124" y="3257550"/>
            <a:ext cx="2729484" cy="377190"/>
          </a:xfrm>
          <a:prstGeom prst="roundRect">
            <a:avLst>
              <a:gd fmla="val 5090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3278124" y="3257550"/>
            <a:ext cx="2729484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Reduce repetitive content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6144768" y="3257550"/>
            <a:ext cx="2729484" cy="377190"/>
          </a:xfrm>
          <a:prstGeom prst="roundRect">
            <a:avLst>
              <a:gd fmla="val 5090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6144768" y="3257550"/>
            <a:ext cx="2729484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 highly engaging content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411480" y="3600450"/>
            <a:ext cx="2729484" cy="788670"/>
          </a:xfrm>
          <a:prstGeom prst="roundRect">
            <a:avLst>
              <a:gd fmla="val 6957" name="adj"/>
            </a:avLst>
          </a:prstGeom>
          <a:solidFill>
            <a:srgbClr val="ECED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548640" y="3682746"/>
            <a:ext cx="24551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REAL?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 txBox="1"/>
          <p:nvPr/>
        </p:nvSpPr>
        <p:spPr>
          <a:xfrm>
            <a:off x="548640" y="3888486"/>
            <a:ext cx="2455164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Feeds already infer preferences from behavior, while feed-choice options (Bluesky, following tabs) show a single ranking method isn't the only architecture.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3278124" y="3600450"/>
            <a:ext cx="2729484" cy="788670"/>
          </a:xfrm>
          <a:prstGeom prst="roundRect">
            <a:avLst>
              <a:gd fmla="val 6957" name="adj"/>
            </a:avLst>
          </a:prstGeom>
          <a:solidFill>
            <a:srgbClr val="ECED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3415284" y="3682746"/>
            <a:ext cx="24551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IMPORTANT?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 txBox="1"/>
          <p:nvPr/>
        </p:nvSpPr>
        <p:spPr>
          <a:xfrm>
            <a:off x="3415284" y="3888486"/>
            <a:ext cx="2455164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What keeps attention isn't necessarily what someone actually wants to see. More control could align personalization with intent.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6144768" y="3600450"/>
            <a:ext cx="2729484" cy="788670"/>
          </a:xfrm>
          <a:prstGeom prst="roundRect">
            <a:avLst>
              <a:gd fmla="val 6957" name="adj"/>
            </a:avLst>
          </a:prstGeom>
          <a:solidFill>
            <a:srgbClr val="ECED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6281928" y="3682746"/>
            <a:ext cx="24551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ADDRESSABLE?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 txBox="1"/>
          <p:nvPr/>
        </p:nvSpPr>
        <p:spPr>
          <a:xfrm>
            <a:off x="6281928" y="3888486"/>
            <a:ext cx="2455164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Recommendation systems already optimize around different signals. The opportunity is a simple way to communicate goals and see the effect.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 txBox="1"/>
          <p:nvPr/>
        </p:nvSpPr>
        <p:spPr>
          <a:xfrm>
            <a:off x="8435340" y="4882896"/>
            <a:ext cx="5486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9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6B709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"/>
          <p:cNvSpPr txBox="1"/>
          <p:nvPr/>
        </p:nvSpPr>
        <p:spPr>
          <a:xfrm>
            <a:off x="411480" y="260604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OPPORTUNITY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411480" y="44577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GB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Make Short-Form Content Actionable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411480" y="1062990"/>
            <a:ext cx="4046220" cy="1303020"/>
          </a:xfrm>
          <a:prstGeom prst="roundRect">
            <a:avLst>
              <a:gd fmla="val 4211" name="adj"/>
            </a:avLst>
          </a:prstGeom>
          <a:solidFill>
            <a:srgbClr val="F3F4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562356" y="1172718"/>
            <a:ext cx="37444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 txBox="1"/>
          <p:nvPr/>
        </p:nvSpPr>
        <p:spPr>
          <a:xfrm>
            <a:off x="562356" y="1419606"/>
            <a:ext cx="3744468" cy="864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People spend 15+ hours a week on short-form video, and almost none of it produces anything beyond an ad impression. That's especially true for news and politics: a clip from a partisan outlet, a paid political ad, and an advocacy campaign all look identical in the </a:t>
            </a: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feed</a:t>
            </a:r>
            <a:r>
              <a:rPr lang="en-GB" sz="8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no source, no funding, no disclosed motive.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4594860" y="1062990"/>
            <a:ext cx="4114800" cy="1303020"/>
          </a:xfrm>
          <a:prstGeom prst="roundRect">
            <a:avLst>
              <a:gd fmla="val 4211" name="adj"/>
            </a:avLst>
          </a:prstGeom>
          <a:solidFill>
            <a:srgbClr val="ECED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4745736" y="1172718"/>
            <a:ext cx="3813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THE OPPORTUNITY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 txBox="1"/>
          <p:nvPr/>
        </p:nvSpPr>
        <p:spPr>
          <a:xfrm>
            <a:off x="4745736" y="1419606"/>
            <a:ext cx="3813048" cy="864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An optional action layer on clips: a recall check after an educational clip, "add to grocery list" on a recipe</a:t>
            </a:r>
            <a:r>
              <a:rPr lang="en-GB" sz="8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and for news/political content specifically, a verified-source and motive label shown before the clip plays, e.g. "right-leaning outlet," "paid political ad," or "advocacy campaign</a:t>
            </a:r>
            <a:r>
              <a:rPr lang="en-GB" sz="8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GB" sz="8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 pro-gun-rights."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 txBox="1"/>
          <p:nvPr/>
        </p:nvSpPr>
        <p:spPr>
          <a:xfrm>
            <a:off x="411480" y="2503170"/>
            <a:ext cx="54864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that could look like: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411480" y="2777490"/>
            <a:ext cx="2729484" cy="377190"/>
          </a:xfrm>
          <a:prstGeom prst="roundRect">
            <a:avLst>
              <a:gd fmla="val 50909" name="adj"/>
            </a:avLst>
          </a:prstGeom>
          <a:solidFill>
            <a:srgbClr val="9C254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411480" y="2777490"/>
            <a:ext cx="2729484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Language clip → 5-sec recall prompt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3278124" y="2777490"/>
            <a:ext cx="2729484" cy="377190"/>
          </a:xfrm>
          <a:prstGeom prst="roundRect">
            <a:avLst>
              <a:gd fmla="val 50909" name="adj"/>
            </a:avLst>
          </a:prstGeom>
          <a:solidFill>
            <a:srgbClr val="9C254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3278124" y="2777490"/>
            <a:ext cx="2729484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Recipe clip → auto-add to grocery list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6144768" y="2777490"/>
            <a:ext cx="2729484" cy="377190"/>
          </a:xfrm>
          <a:prstGeom prst="roundRect">
            <a:avLst>
              <a:gd fmla="val 50909" name="adj"/>
            </a:avLst>
          </a:prstGeom>
          <a:solidFill>
            <a:srgbClr val="9C254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6144768" y="2777490"/>
            <a:ext cx="2729484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Workout clip → add to today's routine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411480" y="3257550"/>
            <a:ext cx="2729484" cy="377190"/>
          </a:xfrm>
          <a:prstGeom prst="roundRect">
            <a:avLst>
              <a:gd fmla="val 50909" name="adj"/>
            </a:avLst>
          </a:prstGeom>
          <a:solidFill>
            <a:srgbClr val="9C254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4"/>
          <p:cNvSpPr txBox="1"/>
          <p:nvPr/>
        </p:nvSpPr>
        <p:spPr>
          <a:xfrm>
            <a:off x="411480" y="3257550"/>
            <a:ext cx="2729484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News clip → verified source + stance label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3278124" y="3257550"/>
            <a:ext cx="2729484" cy="377190"/>
          </a:xfrm>
          <a:prstGeom prst="roundRect">
            <a:avLst>
              <a:gd fmla="val 50909" name="adj"/>
            </a:avLst>
          </a:prstGeom>
          <a:solidFill>
            <a:srgbClr val="9C254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4"/>
          <p:cNvSpPr txBox="1"/>
          <p:nvPr/>
        </p:nvSpPr>
        <p:spPr>
          <a:xfrm>
            <a:off x="3278124" y="3257550"/>
            <a:ext cx="2729484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Political ad → sponsor &amp; motive disclosed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6144768" y="3257550"/>
            <a:ext cx="2729484" cy="377190"/>
          </a:xfrm>
          <a:prstGeom prst="roundRect">
            <a:avLst>
              <a:gd fmla="val 50909" name="adj"/>
            </a:avLst>
          </a:prstGeom>
          <a:solidFill>
            <a:srgbClr val="9C254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6144768" y="3257550"/>
            <a:ext cx="2729484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How-to clip → save as a task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411480" y="3600450"/>
            <a:ext cx="2729484" cy="788670"/>
          </a:xfrm>
          <a:prstGeom prst="roundRect">
            <a:avLst>
              <a:gd fmla="val 6957" name="adj"/>
            </a:avLst>
          </a:prstGeom>
          <a:solidFill>
            <a:srgbClr val="ECED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548640" y="3682746"/>
            <a:ext cx="24551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REAL?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4"/>
          <p:cNvSpPr txBox="1"/>
          <p:nvPr/>
        </p:nvSpPr>
        <p:spPr>
          <a:xfrm>
            <a:off x="548640" y="3888486"/>
            <a:ext cx="2455164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TikTok, Reels, and Shorts already carry "shop now," save, and quiz-sticker primitives, and some platforms label political ads — the pieces exist, no one has unified them into a source-verified layer.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3278124" y="3600450"/>
            <a:ext cx="2729484" cy="788670"/>
          </a:xfrm>
          <a:prstGeom prst="roundRect">
            <a:avLst>
              <a:gd fmla="val 6957" name="adj"/>
            </a:avLst>
          </a:prstGeom>
          <a:solidFill>
            <a:srgbClr val="ECED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3415284" y="3600446"/>
            <a:ext cx="2455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IMPORTANT?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 txBox="1"/>
          <p:nvPr/>
        </p:nvSpPr>
        <p:spPr>
          <a:xfrm>
            <a:off x="3415284" y="3799336"/>
            <a:ext cx="24552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News and political clips are consumed with zero context on who made them or why. A visible source and motive label </a:t>
            </a:r>
            <a:r>
              <a:rPr lang="en-GB" sz="7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GB" sz="7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cross the spectrum, left, right, or single-issue</a:t>
            </a:r>
            <a:r>
              <a:rPr lang="en-GB" sz="7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GB" sz="7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lets people weigh what they're watching. Easily can have options not interested, show less of this content, more of it, access to </a:t>
            </a:r>
            <a:r>
              <a:rPr lang="en-GB" sz="7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related</a:t>
            </a:r>
            <a:r>
              <a:rPr lang="en-GB" sz="7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 verified sources to  get real </a:t>
            </a:r>
            <a:r>
              <a:rPr lang="en-GB" sz="7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unbiased</a:t>
            </a:r>
            <a:r>
              <a:rPr lang="en-GB" sz="7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 information about topics </a:t>
            </a:r>
            <a:r>
              <a:rPr lang="en-GB" sz="7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they are</a:t>
            </a:r>
            <a:r>
              <a:rPr lang="en-GB" sz="700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 interested in.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6144768" y="3600450"/>
            <a:ext cx="2729484" cy="788670"/>
          </a:xfrm>
          <a:prstGeom prst="roundRect">
            <a:avLst>
              <a:gd fmla="val 6957" name="adj"/>
            </a:avLst>
          </a:prstGeom>
          <a:solidFill>
            <a:srgbClr val="ECED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6281928" y="3682746"/>
            <a:ext cx="245516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54D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9C254D"/>
                </a:solidFill>
                <a:latin typeface="Calibri"/>
                <a:ea typeface="Calibri"/>
                <a:cs typeface="Calibri"/>
                <a:sym typeface="Calibri"/>
              </a:rPr>
              <a:t>ADDRESSABLE?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4"/>
          <p:cNvSpPr txBox="1"/>
          <p:nvPr/>
        </p:nvSpPr>
        <p:spPr>
          <a:xfrm>
            <a:off x="6281928" y="3888486"/>
            <a:ext cx="2455164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2284A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22284A"/>
                </a:solidFill>
                <a:latin typeface="Calibri"/>
                <a:ea typeface="Calibri"/>
                <a:cs typeface="Calibri"/>
                <a:sym typeface="Calibri"/>
              </a:rPr>
              <a:t>A companion layer (browser extension, or hooks into existing app share/save APIs) could attach action prompts and, for news/political clips, a verified-source and motive tag — no platform buy-in needed for v1.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4"/>
          <p:cNvSpPr txBox="1"/>
          <p:nvPr/>
        </p:nvSpPr>
        <p:spPr>
          <a:xfrm>
            <a:off x="8435340" y="4882896"/>
            <a:ext cx="5486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094"/>
              </a:buClr>
              <a:buSzPts val="700"/>
              <a:buFont typeface="Calibri"/>
              <a:buNone/>
            </a:pPr>
            <a:r>
              <a:rPr b="0" i="0" lang="en-GB" sz="700" u="none" cap="none" strike="noStrike">
                <a:solidFill>
                  <a:srgbClr val="6B7094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