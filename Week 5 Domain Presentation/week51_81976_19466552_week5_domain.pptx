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2c46d77-f5e9-1199-bf07-9fddc756de7b}">
          <p14:sldIdLst>
            <p14:sldId id="256"/>
          </p14:sldIdLst>
        </p14:section>
        <p14:section name="Background" id="{a2ab637a-3188-a22f-56c3-09528d84c25e}">
          <p14:sldIdLst>
            <p14:sldId id="257"/>
          </p14:sldIdLst>
        </p14:section>
        <p14:section name="Analysis" id="{639e0d11-d6d7-107c-4313-584d81bafbcf}">
          <p14:sldIdLst>
            <p14:sldId id="258"/>
            <p14:sldId id="259"/>
            <p14:sldId id="260"/>
          </p14:sldIdLst>
        </p14:section>
        <p14:section name="Opportunity" id="{220327f5-1131-30a0-8da0-0c53b29fb2de}">
          <p14:sldIdLst>
            <p14:sldId id="261"/>
          </p14:sldIdLst>
        </p14:section>
        <p14:section name="Sources" id="{324d9f5f-971c-ef53-e4d4-5930c2497130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when everyone delegates communication to AI agents, what does a message still tell us? This deck defines that as an ill-defined problem and maps the gaps it opens.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 aloud. Then walk through why it is ill-defined rather than merely hard: no agreed formulation, conflicting stakeholders, no stopping rule, and solutions that reshape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gaps, not businesses. If asked to prioritize: Gap 2 (a replacement signal for 'this matters') is the most original; Gap 4 (the reader's burden) has the strongest data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17220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2960" y="1874520"/>
            <a:ext cx="1054577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2286000"/>
            <a:ext cx="777240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6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6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45262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2960" y="18745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DEFINING AN ILL-DEFINED PROBLEM  ·  COMMUNICATION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22960" y="228600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</a:t>
            </a:r>
            <a:pPr algn="l" indent="0" marL="0">
              <a:lnSpc>
                <a:spcPct val="90000"/>
              </a:lnSpc>
              <a:buNone/>
            </a:pPr>
            <a:r>
              <a:rPr lang="en-US" sz="6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</a:t>
            </a:r>
            <a:pPr algn="l" indent="0" marL="0">
              <a:lnSpc>
                <a:spcPct val="90000"/>
              </a:lnSpc>
              <a:buNone/>
            </a:pPr>
            <a:endParaRPr lang="en-US" sz="6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6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writes.</a:t>
            </a:r>
            <a:endParaRPr lang="en-US" sz="66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45262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collapse in AI-mediated corporate communication. What a message means once agents do the talking, writing and work.</a:t>
            </a:r>
            <a:endParaRPr lang="en-US" sz="2200" dirty="0"/>
          </a:p>
        </p:txBody>
      </p:sp>
      <p:sp>
        <p:nvSpPr>
          <p:cNvPr id="5" name="Cover epigraph"/>
          <p:cNvSpPr txBox="1"/>
          <p:nvPr/>
        </p:nvSpPr>
        <p:spPr>
          <a:xfrm>
            <a:off x="7680960" y="685800"/>
            <a:ext cx="3685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“Thanks for your thoughtful note.”</a:t>
            </a:r>
            <a:endParaRPr lang="en-US" sz="1500" dirty="0"/>
          </a:p>
          <a:p>
            <a:pPr algn="r" indent="0" marL="0">
              <a:buNone/>
            </a:pPr>
            <a:r>
              <a:rPr lang="en-US" sz="1500" i="1" strike="sngStrike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a person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BACKGROUND &amp; RELEVANT DATA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workplace is moving from AI that </a:t>
            </a:r>
            <a:pPr algn="l"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helps</a:t>
            </a:r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people write to agents that write </a:t>
            </a:r>
            <a:pPr algn="l"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read</a:t>
            </a:r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them</a:t>
            </a:r>
            <a:endParaRPr lang="en-US" sz="3200" dirty="0"/>
          </a:p>
        </p:txBody>
      </p:sp>
      <p:sp>
        <p:nvSpPr>
          <p:cNvPr id="4" name="Stat card 1"/>
          <p:cNvSpPr/>
          <p:nvPr/>
        </p:nvSpPr>
        <p:spPr>
          <a:xfrm>
            <a:off x="822960" y="2103120"/>
            <a:ext cx="2430704" cy="2514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Stat 1 value"/>
          <p:cNvSpPr txBox="1"/>
          <p:nvPr/>
        </p:nvSpPr>
        <p:spPr>
          <a:xfrm>
            <a:off x="1051560" y="2286000"/>
            <a:ext cx="1973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800" dirty="0"/>
          </a:p>
        </p:txBody>
      </p:sp>
      <p:sp>
        <p:nvSpPr>
          <p:cNvPr id="6" name="Stat 1 label"/>
          <p:cNvSpPr txBox="1"/>
          <p:nvPr/>
        </p:nvSpPr>
        <p:spPr>
          <a:xfrm>
            <a:off x="1051560" y="3108960"/>
            <a:ext cx="1973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knowledge workers use generative AI at work; usage nearly doubled in six months.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at 1 meta"/>
          <p:cNvSpPr txBox="1"/>
          <p:nvPr/>
        </p:nvSpPr>
        <p:spPr>
          <a:xfrm>
            <a:off x="1051560" y="4233672"/>
            <a:ext cx="197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 · 31 COUNTRIES</a:t>
            </a:r>
            <a:endParaRPr lang="en-US" sz="1000" dirty="0"/>
          </a:p>
        </p:txBody>
      </p:sp>
      <p:sp>
        <p:nvSpPr>
          <p:cNvPr id="8" name="Stat card 2"/>
          <p:cNvSpPr/>
          <p:nvPr/>
        </p:nvSpPr>
        <p:spPr>
          <a:xfrm>
            <a:off x="3527984" y="2103120"/>
            <a:ext cx="2430704" cy="2514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Stat 2 value"/>
          <p:cNvSpPr txBox="1"/>
          <p:nvPr/>
        </p:nvSpPr>
        <p:spPr>
          <a:xfrm>
            <a:off x="3756584" y="2286000"/>
            <a:ext cx="1973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800" dirty="0"/>
          </a:p>
        </p:txBody>
      </p:sp>
      <p:sp>
        <p:nvSpPr>
          <p:cNvPr id="10" name="Stat 2 label"/>
          <p:cNvSpPr txBox="1"/>
          <p:nvPr/>
        </p:nvSpPr>
        <p:spPr>
          <a:xfrm>
            <a:off x="3756584" y="3108960"/>
            <a:ext cx="1973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enterprise software apps projected to include agentic AI by 2028, up from &lt;1% in 2024.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at 2 meta"/>
          <p:cNvSpPr txBox="1"/>
          <p:nvPr/>
        </p:nvSpPr>
        <p:spPr>
          <a:xfrm>
            <a:off x="3756584" y="4233672"/>
            <a:ext cx="197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· 2028</a:t>
            </a:r>
            <a:endParaRPr lang="en-US" sz="1000" dirty="0"/>
          </a:p>
        </p:txBody>
      </p:sp>
      <p:sp>
        <p:nvSpPr>
          <p:cNvPr id="12" name="Stat card 3"/>
          <p:cNvSpPr/>
          <p:nvPr/>
        </p:nvSpPr>
        <p:spPr>
          <a:xfrm>
            <a:off x="6233008" y="2103120"/>
            <a:ext cx="2430704" cy="2514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Stat 3 value"/>
          <p:cNvSpPr txBox="1"/>
          <p:nvPr/>
        </p:nvSpPr>
        <p:spPr>
          <a:xfrm>
            <a:off x="6461608" y="2286000"/>
            <a:ext cx="1973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%+</a:t>
            </a:r>
            <a:endParaRPr lang="en-US" sz="4800" dirty="0"/>
          </a:p>
        </p:txBody>
      </p:sp>
      <p:sp>
        <p:nvSpPr>
          <p:cNvPr id="14" name="Stat 3 label"/>
          <p:cNvSpPr txBox="1"/>
          <p:nvPr/>
        </p:nvSpPr>
        <p:spPr>
          <a:xfrm>
            <a:off x="6461608" y="3108960"/>
            <a:ext cx="1973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day-to-day work decisions projected to be made autonomously by AI agents by 2028.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Stat 3 meta"/>
          <p:cNvSpPr txBox="1"/>
          <p:nvPr/>
        </p:nvSpPr>
        <p:spPr>
          <a:xfrm>
            <a:off x="6461608" y="4233672"/>
            <a:ext cx="197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 · 2028</a:t>
            </a:r>
            <a:endParaRPr lang="en-US" sz="1000" dirty="0"/>
          </a:p>
        </p:txBody>
      </p:sp>
      <p:sp>
        <p:nvSpPr>
          <p:cNvPr id="16" name="Stat card 4"/>
          <p:cNvSpPr/>
          <p:nvPr/>
        </p:nvSpPr>
        <p:spPr>
          <a:xfrm>
            <a:off x="8938031" y="2103120"/>
            <a:ext cx="2430704" cy="25146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Stat 4 value"/>
          <p:cNvSpPr txBox="1"/>
          <p:nvPr/>
        </p:nvSpPr>
        <p:spPr>
          <a:xfrm>
            <a:off x="9166631" y="2286000"/>
            <a:ext cx="1973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pPr indent="0" marL="0">
              <a:buNone/>
            </a:pPr>
            <a:r>
              <a:rPr lang="en-US" sz="24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4800" dirty="0"/>
          </a:p>
        </p:txBody>
      </p:sp>
      <p:sp>
        <p:nvSpPr>
          <p:cNvPr id="18" name="Stat 4 label"/>
          <p:cNvSpPr txBox="1"/>
          <p:nvPr/>
        </p:nvSpPr>
        <p:spPr>
          <a:xfrm>
            <a:off x="9166631" y="3108960"/>
            <a:ext cx="1973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U.S. desk workers received AI “workslop” in the past month, costing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~1 h 56 min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each.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at 4 meta"/>
          <p:cNvSpPr txBox="1"/>
          <p:nvPr/>
        </p:nvSpPr>
        <p:spPr>
          <a:xfrm>
            <a:off x="9166631" y="4233672"/>
            <a:ext cx="1973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 · N = 1,150</a:t>
            </a:r>
            <a:endParaRPr lang="en-US" sz="1000" dirty="0"/>
          </a:p>
        </p:txBody>
      </p:sp>
      <p:sp>
        <p:nvSpPr>
          <p:cNvPr id="20" name="Context left"/>
          <p:cNvSpPr txBox="1"/>
          <p:nvPr/>
        </p:nvSpPr>
        <p:spPr>
          <a:xfrm>
            <a:off x="822960" y="4846320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2"/>
                </a:solidFill>
              </a:rPr>
              <a:t>Researchers call this </a:t>
            </a:r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AI-mediated communication</a:t>
            </a:r>
            <a:pPr indent="0" marL="0">
              <a:buNone/>
            </a:pPr>
            <a:r>
              <a:rPr lang="en-US" sz="1450" dirty="0">
                <a:solidFill>
                  <a:schemeClr val="tx2"/>
                </a:solidFill>
              </a:rPr>
              <a:t>: an intelligent agent acting on behalf of a communicator by modifying, augmenting or generating their messages.</a:t>
            </a:r>
            <a:pPr indent="0" marL="0">
              <a:buNone/>
            </a:pPr>
            <a:r>
              <a:rPr lang="en-US" sz="1450" baseline="30000" dirty="0">
                <a:solidFill>
                  <a:schemeClr val="accent1"/>
                </a:solidFill>
              </a:rPr>
              <a:t>4</a:t>
            </a:r>
            <a:pPr indent="0" marL="0">
              <a:buNone/>
            </a:pPr>
            <a:r>
              <a:rPr lang="en-US" sz="1450" dirty="0">
                <a:solidFill>
                  <a:schemeClr val="tx2"/>
                </a:solidFill>
              </a:rPr>
              <a:t> It already includes autocomplete, smart replies and drafting assistants.</a:t>
            </a:r>
            <a:endParaRPr lang="en-US" sz="1450" dirty="0"/>
          </a:p>
        </p:txBody>
      </p:sp>
      <p:sp>
        <p:nvSpPr>
          <p:cNvPr id="21" name="Context right"/>
          <p:cNvSpPr txBox="1"/>
          <p:nvPr/>
        </p:nvSpPr>
        <p:spPr>
          <a:xfrm>
            <a:off x="6370168" y="4846320"/>
            <a:ext cx="499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2"/>
                </a:solidFill>
              </a:rPr>
              <a:t>Communication theory has long assumed that a message reflects its sender's goals and effort.</a:t>
            </a:r>
            <a:pPr indent="0" marL="0">
              <a:buNone/>
            </a:pPr>
            <a:r>
              <a:rPr lang="en-US" sz="1450" baseline="30000" dirty="0">
                <a:solidFill>
                  <a:schemeClr val="accent1"/>
                </a:solidFill>
              </a:rPr>
              <a:t>4</a:t>
            </a:r>
            <a:pPr indent="0" marL="0">
              <a:buNone/>
            </a:pPr>
            <a:r>
              <a:rPr lang="en-US" sz="1450" dirty="0">
                <a:solidFill>
                  <a:schemeClr val="tx2"/>
                </a:solidFill>
              </a:rPr>
              <a:t> As agents take over both ends of the exchange, that assumption no longer holds, and nobody has agreed on what should replace it.</a:t>
            </a:r>
            <a:endParaRPr lang="en-US" sz="1450" dirty="0"/>
          </a:p>
        </p:txBody>
      </p:sp>
      <p:sp>
        <p:nvSpPr>
          <p:cNvPr id="22" name="Footnote rule"/>
          <p:cNvSpPr/>
          <p:nvPr/>
        </p:nvSpPr>
        <p:spPr>
          <a:xfrm>
            <a:off x="822960" y="603504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3" name="Footnotes"/>
          <p:cNvSpPr txBox="1"/>
          <p:nvPr/>
        </p:nvSpPr>
        <p:spPr>
          <a:xfrm>
            <a:off x="822960" y="614476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Microsoft &amp; LinkedIn (2024)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Gartner (2024)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Niederhoffer et al.,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HBR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(2025)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Hancock, Naaman &amp; Levy,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JCMC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(2020)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ANALYSIS I · DEFINING 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writing costs nothing, a message </a:t>
            </a:r>
            <a:pPr algn="l"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stops telling you</a:t>
            </a:r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what it used to</a:t>
            </a:r>
            <a:endParaRPr lang="en-US" sz="3200" dirty="0"/>
          </a:p>
        </p:txBody>
      </p:sp>
      <p:sp>
        <p:nvSpPr>
          <p:cNvPr id="4" name="Problem statement panel"/>
          <p:cNvSpPr/>
          <p:nvPr/>
        </p:nvSpPr>
        <p:spPr>
          <a:xfrm>
            <a:off x="822960" y="2011680"/>
            <a:ext cx="10545775" cy="18288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" name="Problem tag"/>
          <p:cNvSpPr txBox="1"/>
          <p:nvPr/>
        </p:nvSpPr>
        <p:spPr>
          <a:xfrm>
            <a:off x="1188720" y="22128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ILL-DEFINED PROBLEM</a:t>
            </a:r>
            <a:endParaRPr lang="en-US" sz="1100" dirty="0"/>
          </a:p>
        </p:txBody>
      </p:sp>
      <p:sp>
        <p:nvSpPr>
          <p:cNvPr id="6" name="Problem statement"/>
          <p:cNvSpPr txBox="1"/>
          <p:nvPr/>
        </p:nvSpPr>
        <p:spPr>
          <a:xfrm>
            <a:off x="1188720" y="2542032"/>
            <a:ext cx="9814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AI agents produce and consume a growing share of workplace communication, the cues people have always used to judge a message are dissolving: the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behind it, the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of its sender, and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accountable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it. Organizations don't yet know what a message means, whom to trust, or who is responsible when no human actually wrote or read it.</a:t>
            </a:r>
            <a:endParaRPr lang="en-US" sz="1700" dirty="0"/>
          </a:p>
        </p:txBody>
      </p:sp>
      <p:sp>
        <p:nvSpPr>
          <p:cNvPr id="7" name="Reason 01 heading"/>
          <p:cNvSpPr txBox="1"/>
          <p:nvPr/>
        </p:nvSpPr>
        <p:spPr>
          <a:xfrm>
            <a:off x="822960" y="4114800"/>
            <a:ext cx="239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agreed formulation</a:t>
            </a:r>
            <a:endParaRPr lang="en-US" sz="1500" dirty="0"/>
          </a:p>
        </p:txBody>
      </p:sp>
      <p:sp>
        <p:nvSpPr>
          <p:cNvPr id="8" name="Reason 01 body"/>
          <p:cNvSpPr txBox="1"/>
          <p:nvPr/>
        </p:nvSpPr>
        <p:spPr>
          <a:xfrm>
            <a:off x="822960" y="4498848"/>
            <a:ext cx="23964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 it a trust problem, a productivity problem or an ethics problem? How you frame it decides which solutions you see.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9" name="Reason 02 heading"/>
          <p:cNvSpPr txBox="1"/>
          <p:nvPr/>
        </p:nvSpPr>
        <p:spPr>
          <a:xfrm>
            <a:off x="3539414" y="4114800"/>
            <a:ext cx="239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Conflicting stakeholders</a:t>
            </a:r>
            <a:endParaRPr lang="en-US" sz="1500" dirty="0"/>
          </a:p>
        </p:txBody>
      </p:sp>
      <p:sp>
        <p:nvSpPr>
          <p:cNvPr id="10" name="Reason 02 body"/>
          <p:cNvSpPr txBox="1"/>
          <p:nvPr/>
        </p:nvSpPr>
        <p:spPr>
          <a:xfrm>
            <a:off x="3539414" y="4498848"/>
            <a:ext cx="23964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Senders gain speed while receivers absorb the cost of interpreting, checking and redoing the work.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Reason 03 heading"/>
          <p:cNvSpPr txBox="1"/>
          <p:nvPr/>
        </p:nvSpPr>
        <p:spPr>
          <a:xfrm>
            <a:off x="6255868" y="4114800"/>
            <a:ext cx="239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stopping rule</a:t>
            </a:r>
            <a:endParaRPr lang="en-US" sz="1500" dirty="0"/>
          </a:p>
        </p:txBody>
      </p:sp>
      <p:sp>
        <p:nvSpPr>
          <p:cNvPr id="12" name="Reason 03 body"/>
          <p:cNvSpPr txBox="1"/>
          <p:nvPr/>
        </p:nvSpPr>
        <p:spPr>
          <a:xfrm>
            <a:off x="6255868" y="4498848"/>
            <a:ext cx="23964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There is no point at which communication counts as “trustworthy enough.” Answers are better or worse, never true or false.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13" name="Reason 04 heading"/>
          <p:cNvSpPr txBox="1"/>
          <p:nvPr/>
        </p:nvSpPr>
        <p:spPr>
          <a:xfrm>
            <a:off x="8972321" y="4114800"/>
            <a:ext cx="23964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Fixes shift the problem</a:t>
            </a:r>
            <a:endParaRPr lang="en-US" sz="1500" dirty="0"/>
          </a:p>
        </p:txBody>
      </p:sp>
      <p:sp>
        <p:nvSpPr>
          <p:cNvPr id="14" name="Reason 04 body"/>
          <p:cNvSpPr txBox="1"/>
          <p:nvPr/>
        </p:nvSpPr>
        <p:spPr>
          <a:xfrm>
            <a:off x="8972321" y="4498848"/>
            <a:ext cx="239641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Its structure only becomes clear as people try to solve it, and each new tool changes the norms it set out to repair.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15" name="Footnote rule"/>
          <p:cNvSpPr/>
          <p:nvPr/>
        </p:nvSpPr>
        <p:spPr>
          <a:xfrm>
            <a:off x="822960" y="603504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Footnotes"/>
          <p:cNvSpPr txBox="1"/>
          <p:nvPr/>
        </p:nvSpPr>
        <p:spPr>
          <a:xfrm>
            <a:off x="822960" y="614476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Niederhoffer et al. (2025)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Rittel &amp; Webber,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Policy Sciences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(1973)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Simon,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Artificial Intelligence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(1973)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ANALYSIS II · THE MECHANISM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signal collapses: three forces in the research</a:t>
            </a:r>
            <a:endParaRPr lang="en-US" sz="3200" dirty="0"/>
          </a:p>
        </p:txBody>
      </p:sp>
      <p:sp>
        <p:nvSpPr>
          <p:cNvPr id="4" name="Columns top rule"/>
          <p:cNvSpPr/>
          <p:nvPr/>
        </p:nvSpPr>
        <p:spPr>
          <a:xfrm>
            <a:off x="822960" y="201168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" name="Force 1 numeral"/>
          <p:cNvSpPr txBox="1"/>
          <p:nvPr/>
        </p:nvSpPr>
        <p:spPr>
          <a:xfrm>
            <a:off x="822960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</a:t>
            </a:r>
            <a:endParaRPr lang="en-US" sz="2600" dirty="0"/>
          </a:p>
        </p:txBody>
      </p:sp>
      <p:sp>
        <p:nvSpPr>
          <p:cNvPr id="6" name="Force 1 heading"/>
          <p:cNvSpPr txBox="1"/>
          <p:nvPr/>
        </p:nvSpPr>
        <p:spPr>
          <a:xfrm>
            <a:off x="822960" y="2697480"/>
            <a:ext cx="31952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was a costly signal</a:t>
            </a:r>
            <a:endParaRPr lang="en-US" sz="1900" dirty="0"/>
          </a:p>
        </p:txBody>
      </p:sp>
      <p:sp>
        <p:nvSpPr>
          <p:cNvPr id="7" name="Force 1 body"/>
          <p:cNvSpPr txBox="1"/>
          <p:nvPr/>
        </p:nvSpPr>
        <p:spPr>
          <a:xfrm>
            <a:off x="822960" y="3154680"/>
            <a:ext cx="31952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signal is credible when it is costly to send.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A carefully written note used to prove care and attention. When generating text costs nothing, effort no longer separates a sender who cares from one who doesn't.</a:t>
            </a:r>
            <a:endParaRPr lang="en-US" sz="1400" dirty="0"/>
          </a:p>
        </p:txBody>
      </p:sp>
      <p:sp>
        <p:nvSpPr>
          <p:cNvPr id="8" name="Column divider 1"/>
          <p:cNvSpPr/>
          <p:nvPr/>
        </p:nvSpPr>
        <p:spPr>
          <a:xfrm>
            <a:off x="4338218" y="2011680"/>
            <a:ext cx="0" cy="269748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Force 2 numeral"/>
          <p:cNvSpPr txBox="1"/>
          <p:nvPr/>
        </p:nvSpPr>
        <p:spPr>
          <a:xfrm>
            <a:off x="4658258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</a:t>
            </a:r>
            <a:endParaRPr lang="en-US" sz="2600" dirty="0"/>
          </a:p>
        </p:txBody>
      </p:sp>
      <p:sp>
        <p:nvSpPr>
          <p:cNvPr id="10" name="Force 2 heading"/>
          <p:cNvSpPr txBox="1"/>
          <p:nvPr/>
        </p:nvSpPr>
        <p:spPr>
          <a:xfrm>
            <a:off x="4658258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Suspicion erodes trust</a:t>
            </a:r>
            <a:endParaRPr lang="en-US" sz="1900" dirty="0"/>
          </a:p>
        </p:txBody>
      </p:sp>
      <p:sp>
        <p:nvSpPr>
          <p:cNvPr id="11" name="Force 2 body"/>
          <p:cNvSpPr txBox="1"/>
          <p:nvPr/>
        </p:nvSpPr>
        <p:spPr>
          <a:xfrm>
            <a:off x="4658258" y="3154680"/>
            <a:ext cx="28751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When people see a mix of human and AI text, they distrust anything they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suspect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is AI-written: the “replicant effect.”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The doubt spreads to every message, including the genuine ones.</a:t>
            </a:r>
            <a:endParaRPr lang="en-US" sz="1400" dirty="0"/>
          </a:p>
        </p:txBody>
      </p:sp>
      <p:sp>
        <p:nvSpPr>
          <p:cNvPr id="12" name="Column divider 2"/>
          <p:cNvSpPr/>
          <p:nvPr/>
        </p:nvSpPr>
        <p:spPr>
          <a:xfrm>
            <a:off x="7853477" y="2011680"/>
            <a:ext cx="0" cy="269748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Force 3 numeral"/>
          <p:cNvSpPr txBox="1"/>
          <p:nvPr/>
        </p:nvSpPr>
        <p:spPr>
          <a:xfrm>
            <a:off x="8173517" y="2194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</a:t>
            </a:r>
            <a:endParaRPr lang="en-US" sz="2600" dirty="0"/>
          </a:p>
        </p:txBody>
      </p:sp>
      <p:sp>
        <p:nvSpPr>
          <p:cNvPr id="14" name="Force 3 heading"/>
          <p:cNvSpPr txBox="1"/>
          <p:nvPr/>
        </p:nvSpPr>
        <p:spPr>
          <a:xfrm>
            <a:off x="8173517" y="2697480"/>
            <a:ext cx="2875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reshapes relationships</a:t>
            </a:r>
            <a:endParaRPr lang="en-US" sz="1900" dirty="0"/>
          </a:p>
        </p:txBody>
      </p:sp>
      <p:sp>
        <p:nvSpPr>
          <p:cNvPr id="15" name="Force 3 body"/>
          <p:cNvSpPr txBox="1"/>
          <p:nvPr/>
        </p:nvSpPr>
        <p:spPr>
          <a:xfrm>
            <a:off x="8173517" y="3154680"/>
            <a:ext cx="28751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Smart replies made conversations faster and more positive, and partners rated each other as more cooperative. Yet people suspected of using AI were judged more negatively.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9</a:t>
            </a:r>
            <a:endParaRPr lang="en-US" sz="1400" dirty="0"/>
          </a:p>
        </p:txBody>
      </p:sp>
      <p:sp>
        <p:nvSpPr>
          <p:cNvPr id="16" name="Takeaway"/>
          <p:cNvSpPr txBox="1"/>
          <p:nvPr/>
        </p:nvSpPr>
        <p:spPr>
          <a:xfrm>
            <a:off x="822960" y="493776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net effect: AI makes messages </a:t>
            </a:r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better while making them </a:t>
            </a:r>
            <a:pPr indent="0" marL="0">
              <a:buNone/>
            </a:pPr>
            <a:r>
              <a:rPr lang="en-US" sz="17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less, and the cost moves to the reader. About half of workslop recipients came to see the sender as less capable and reliable.</a:t>
            </a:r>
            <a:pPr indent="0" marL="0">
              <a:buNone/>
            </a:pPr>
            <a:r>
              <a:rPr lang="en-US" sz="1700" baseline="300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Footnote rule"/>
          <p:cNvSpPr/>
          <p:nvPr/>
        </p:nvSpPr>
        <p:spPr>
          <a:xfrm>
            <a:off x="822960" y="603504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Footnotes"/>
          <p:cNvSpPr txBox="1"/>
          <p:nvPr/>
        </p:nvSpPr>
        <p:spPr>
          <a:xfrm>
            <a:off x="822960" y="614476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Niederhoffer et al. (2025)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Spence,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QJE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(1973)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Jakesch et al.,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CHI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(2019)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Hohenstein et al., </a:t>
            </a:r>
            <a:pPr indent="0" marL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Scientific Reports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(2023)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ANALYSIS III · TENSIONS &amp; OPEN QUESTIONS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there is no single right answer: each fix trades one value for another</a:t>
            </a:r>
            <a:endParaRPr lang="en-US" sz="3200" dirty="0"/>
          </a:p>
        </p:txBody>
      </p:sp>
      <p:sp>
        <p:nvSpPr>
          <p:cNvPr id="4" name="Tension card 1"/>
          <p:cNvSpPr/>
          <p:nvPr/>
        </p:nvSpPr>
        <p:spPr>
          <a:xfrm>
            <a:off x="822960" y="2011680"/>
            <a:ext cx="5135728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Tension 1 label"/>
          <p:cNvSpPr txBox="1"/>
          <p:nvPr/>
        </p:nvSpPr>
        <p:spPr>
          <a:xfrm>
            <a:off x="1097280" y="2194560"/>
            <a:ext cx="458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</a:t>
            </a:r>
            <a:pPr indent="0" marL="0">
              <a:buNone/>
            </a:pPr>
            <a:r>
              <a:rPr lang="en-US" sz="11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VS  </a:t>
            </a:r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READER</a:t>
            </a:r>
            <a:endParaRPr lang="en-US" sz="1100" dirty="0"/>
          </a:p>
        </p:txBody>
      </p:sp>
      <p:sp>
        <p:nvSpPr>
          <p:cNvPr id="6" name="Tension 1 question"/>
          <p:cNvSpPr txBox="1"/>
          <p:nvPr/>
        </p:nvSpPr>
        <p:spPr>
          <a:xfrm>
            <a:off x="1097280" y="248716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should carry the cost of communication?</a:t>
            </a:r>
            <a:endParaRPr lang="en-US" sz="1800" dirty="0"/>
          </a:p>
        </p:txBody>
      </p:sp>
      <p:sp>
        <p:nvSpPr>
          <p:cNvPr id="7" name="Tension 1 body"/>
          <p:cNvSpPr txBox="1"/>
          <p:nvPr/>
        </p:nvSpPr>
        <p:spPr>
          <a:xfrm>
            <a:off x="1097280" y="2907792"/>
            <a:ext cx="458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18% of AI users admit sending low-quality AI output.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What saves the sender time costs the reader time.</a:t>
            </a:r>
            <a:endParaRPr lang="en-US" sz="1400" dirty="0"/>
          </a:p>
        </p:txBody>
      </p:sp>
      <p:sp>
        <p:nvSpPr>
          <p:cNvPr id="8" name="Tension card 2"/>
          <p:cNvSpPr/>
          <p:nvPr/>
        </p:nvSpPr>
        <p:spPr>
          <a:xfrm>
            <a:off x="6233008" y="2011680"/>
            <a:ext cx="5135728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Tension 2 label"/>
          <p:cNvSpPr txBox="1"/>
          <p:nvPr/>
        </p:nvSpPr>
        <p:spPr>
          <a:xfrm>
            <a:off x="6507328" y="2194560"/>
            <a:ext cx="458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DISCLOSURE</a:t>
            </a:r>
            <a:pPr indent="0" marL="0">
              <a:buNone/>
            </a:pPr>
            <a:r>
              <a:rPr lang="en-US" sz="11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VS  </a:t>
            </a:r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TRUST</a:t>
            </a:r>
            <a:endParaRPr lang="en-US" sz="1100" dirty="0"/>
          </a:p>
        </p:txBody>
      </p:sp>
      <p:sp>
        <p:nvSpPr>
          <p:cNvPr id="10" name="Tension 2 question"/>
          <p:cNvSpPr txBox="1"/>
          <p:nvPr/>
        </p:nvSpPr>
        <p:spPr>
          <a:xfrm>
            <a:off x="6507328" y="248716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labeling AI help or hurt?</a:t>
            </a:r>
            <a:endParaRPr lang="en-US" sz="1800" dirty="0"/>
          </a:p>
        </p:txBody>
      </p:sp>
      <p:sp>
        <p:nvSpPr>
          <p:cNvPr id="11" name="Tension 2 body"/>
          <p:cNvSpPr txBox="1"/>
          <p:nvPr/>
        </p:nvSpPr>
        <p:spPr>
          <a:xfrm>
            <a:off x="6507328" y="2907792"/>
            <a:ext cx="458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Being transparent invites the AI penalty, and staying silent invites suspicion.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8,9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Neither option restores trust.</a:t>
            </a:r>
            <a:endParaRPr lang="en-US" sz="1400" dirty="0"/>
          </a:p>
        </p:txBody>
      </p:sp>
      <p:sp>
        <p:nvSpPr>
          <p:cNvPr id="12" name="Tension card 3"/>
          <p:cNvSpPr/>
          <p:nvPr/>
        </p:nvSpPr>
        <p:spPr>
          <a:xfrm>
            <a:off x="822960" y="3749040"/>
            <a:ext cx="5135728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Tension 3 label"/>
          <p:cNvSpPr txBox="1"/>
          <p:nvPr/>
        </p:nvSpPr>
        <p:spPr>
          <a:xfrm>
            <a:off x="1097280" y="3931920"/>
            <a:ext cx="458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DELEGATION</a:t>
            </a:r>
            <a:pPr indent="0" marL="0">
              <a:buNone/>
            </a:pPr>
            <a:r>
              <a:rPr lang="en-US" sz="11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VS  </a:t>
            </a:r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14" name="Tension 3 question"/>
          <p:cNvSpPr txBox="1"/>
          <p:nvPr/>
        </p:nvSpPr>
        <p:spPr>
          <a:xfrm>
            <a:off x="1097280" y="422452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 two agents agreed to?</a:t>
            </a:r>
            <a:endParaRPr lang="en-US" sz="1800" dirty="0"/>
          </a:p>
        </p:txBody>
      </p:sp>
      <p:sp>
        <p:nvSpPr>
          <p:cNvPr id="15" name="Tension 3 body"/>
          <p:cNvSpPr txBox="1"/>
          <p:nvPr/>
        </p:nvSpPr>
        <p:spPr>
          <a:xfrm>
            <a:off x="1097280" y="4645152"/>
            <a:ext cx="458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 agents make decisions on their own,</a:t>
            </a:r>
            <a:pPr indent="0" marL="0">
              <a:buNone/>
            </a:pPr>
            <a:r>
              <a:rPr lang="en-US" sz="1400" baseline="30000" dirty="0">
                <a:solidFill>
                  <a:schemeClr val="accent1"/>
                </a:solidFill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commitments can be made that no human actually read.</a:t>
            </a:r>
            <a:endParaRPr lang="en-US" sz="1400" dirty="0"/>
          </a:p>
        </p:txBody>
      </p:sp>
      <p:sp>
        <p:nvSpPr>
          <p:cNvPr id="16" name="Tension card 4"/>
          <p:cNvSpPr/>
          <p:nvPr/>
        </p:nvSpPr>
        <p:spPr>
          <a:xfrm>
            <a:off x="6233008" y="3749040"/>
            <a:ext cx="5135728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Tension 4 label"/>
          <p:cNvSpPr txBox="1"/>
          <p:nvPr/>
        </p:nvSpPr>
        <p:spPr>
          <a:xfrm>
            <a:off x="6507328" y="3931920"/>
            <a:ext cx="458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EFFICIENCY</a:t>
            </a:r>
            <a:pPr indent="0" marL="0">
              <a:buNone/>
            </a:pPr>
            <a:r>
              <a:rPr lang="en-US" sz="1100" spc="2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VS  </a:t>
            </a:r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18" name="Tension 4 question"/>
          <p:cNvSpPr txBox="1"/>
          <p:nvPr/>
        </p:nvSpPr>
        <p:spPr>
          <a:xfrm>
            <a:off x="6507328" y="422452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people never learn to write?</a:t>
            </a:r>
            <a:endParaRPr lang="en-US" sz="1800" dirty="0"/>
          </a:p>
        </p:txBody>
      </p:sp>
      <p:sp>
        <p:nvSpPr>
          <p:cNvPr id="19" name="Tension 4 body"/>
          <p:cNvSpPr txBox="1"/>
          <p:nvPr/>
        </p:nvSpPr>
        <p:spPr>
          <a:xfrm>
            <a:off x="6507328" y="4645152"/>
            <a:ext cx="458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Writing is how people work out what they think. Hand it off, and organizations may lose that judgment.</a:t>
            </a:r>
            <a:endParaRPr lang="en-US" sz="1400" dirty="0"/>
          </a:p>
        </p:txBody>
      </p:sp>
      <p:sp>
        <p:nvSpPr>
          <p:cNvPr id="20" name="Pull quote"/>
          <p:cNvSpPr txBox="1"/>
          <p:nvPr/>
        </p:nvSpPr>
        <p:spPr>
          <a:xfrm>
            <a:off x="822960" y="553212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pPr algn="ctr" indent="0" marL="0">
              <a:buNone/>
            </a:pPr>
            <a:r>
              <a:rPr lang="en-US" sz="19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message mean when no one wrote it, and no one reads it?</a:t>
            </a:r>
            <a:pPr algn="ctr" indent="0" marL="0">
              <a:buNone/>
            </a:pPr>
            <a:r>
              <a:rPr lang="en-US" sz="19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1900" dirty="0"/>
          </a:p>
        </p:txBody>
      </p:sp>
      <p:sp>
        <p:nvSpPr>
          <p:cNvPr id="21" name="Footnote rule"/>
          <p:cNvSpPr/>
          <p:nvPr/>
        </p:nvSpPr>
        <p:spPr>
          <a:xfrm>
            <a:off x="822960" y="603504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Footnotes"/>
          <p:cNvSpPr txBox="1"/>
          <p:nvPr/>
        </p:nvSpPr>
        <p:spPr>
          <a:xfrm>
            <a:off x="822960" y="614476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Gartner (2024)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Niederhoffer et al. (2025)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Jakesch et al. (2019)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      </a:t>
            </a:r>
            <a:pPr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Hohenstein et al. (2023)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OPPORTUNITY · GAPS IN THE SPACE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opportunity lies: </a:t>
            </a:r>
            <a:pPr algn="l" indent="0" marL="0">
              <a:lnSpc>
                <a:spcPct val="95000"/>
              </a:lnSpc>
              <a:buNone/>
            </a:pPr>
            <a:r>
              <a:rPr lang="en-US" sz="3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gaps</a:t>
            </a:r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that nothing fills yet</a:t>
            </a:r>
            <a:endParaRPr lang="en-US" sz="3200" dirty="0"/>
          </a:p>
        </p:txBody>
      </p:sp>
      <p:sp>
        <p:nvSpPr>
          <p:cNvPr id="4" name="Gap 1 rule"/>
          <p:cNvSpPr/>
          <p:nvPr/>
        </p:nvSpPr>
        <p:spPr>
          <a:xfrm>
            <a:off x="822960" y="201168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" name="Gap 1 label"/>
          <p:cNvSpPr txBox="1"/>
          <p:nvPr/>
        </p:nvSpPr>
        <p:spPr>
          <a:xfrm>
            <a:off x="82296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01</a:t>
            </a:r>
            <a:endParaRPr lang="en-US" sz="1100" dirty="0"/>
          </a:p>
        </p:txBody>
      </p:sp>
      <p:sp>
        <p:nvSpPr>
          <p:cNvPr id="6" name="Gap 1 title"/>
          <p:cNvSpPr txBox="1"/>
          <p:nvPr/>
        </p:nvSpPr>
        <p:spPr>
          <a:xfrm>
            <a:off x="1965960" y="208483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&amp; authorship</a:t>
            </a:r>
            <a:endParaRPr lang="en-US" sz="1800" dirty="0"/>
          </a:p>
        </p:txBody>
      </p:sp>
      <p:sp>
        <p:nvSpPr>
          <p:cNvPr id="7" name="Gap 1 body"/>
          <p:cNvSpPr txBox="1"/>
          <p:nvPr/>
        </p:nvSpPr>
        <p:spPr>
          <a:xfrm>
            <a:off x="5532120" y="2103120"/>
            <a:ext cx="5836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There is no shared norm or signal for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who or what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wrote a message, or how much of it a human actually stands behind.</a:t>
            </a:r>
            <a:endParaRPr lang="en-US" sz="1400" dirty="0"/>
          </a:p>
        </p:txBody>
      </p:sp>
      <p:sp>
        <p:nvSpPr>
          <p:cNvPr id="8" name="Gap 2 rule"/>
          <p:cNvSpPr/>
          <p:nvPr/>
        </p:nvSpPr>
        <p:spPr>
          <a:xfrm>
            <a:off x="822960" y="2761488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Gap 2 label"/>
          <p:cNvSpPr txBox="1"/>
          <p:nvPr/>
        </p:nvSpPr>
        <p:spPr>
          <a:xfrm>
            <a:off x="822960" y="2871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02</a:t>
            </a:r>
            <a:endParaRPr lang="en-US" sz="1100" dirty="0"/>
          </a:p>
        </p:txBody>
      </p:sp>
      <p:sp>
        <p:nvSpPr>
          <p:cNvPr id="10" name="Gap 2 title"/>
          <p:cNvSpPr txBox="1"/>
          <p:nvPr/>
        </p:nvSpPr>
        <p:spPr>
          <a:xfrm>
            <a:off x="1965960" y="283464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signal for “this matters”</a:t>
            </a:r>
            <a:endParaRPr lang="en-US" sz="1800" dirty="0"/>
          </a:p>
        </p:txBody>
      </p:sp>
      <p:sp>
        <p:nvSpPr>
          <p:cNvPr id="11" name="Gap 2 body"/>
          <p:cNvSpPr txBox="1"/>
          <p:nvPr/>
        </p:nvSpPr>
        <p:spPr>
          <a:xfrm>
            <a:off x="5532120" y="2852928"/>
            <a:ext cx="5836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Effort used to mark importance and intent. Nothing has replaced it as a credible, hard-to-fake signal of priority.</a:t>
            </a:r>
            <a:endParaRPr lang="en-US" sz="1400" dirty="0"/>
          </a:p>
        </p:txBody>
      </p:sp>
      <p:sp>
        <p:nvSpPr>
          <p:cNvPr id="12" name="Gap 3 rule"/>
          <p:cNvSpPr/>
          <p:nvPr/>
        </p:nvSpPr>
        <p:spPr>
          <a:xfrm>
            <a:off x="822960" y="3511296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Gap 3 label"/>
          <p:cNvSpPr txBox="1"/>
          <p:nvPr/>
        </p:nvSpPr>
        <p:spPr>
          <a:xfrm>
            <a:off x="822960" y="36210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03</a:t>
            </a:r>
            <a:endParaRPr lang="en-US" sz="1100" dirty="0"/>
          </a:p>
        </p:txBody>
      </p:sp>
      <p:sp>
        <p:nvSpPr>
          <p:cNvPr id="14" name="Gap 3 title"/>
          <p:cNvSpPr txBox="1"/>
          <p:nvPr/>
        </p:nvSpPr>
        <p:spPr>
          <a:xfrm>
            <a:off x="1965960" y="3584448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Accountability for agent actions</a:t>
            </a:r>
            <a:endParaRPr lang="en-US" sz="1800" dirty="0"/>
          </a:p>
        </p:txBody>
      </p:sp>
      <p:sp>
        <p:nvSpPr>
          <p:cNvPr id="15" name="Gap 3 body"/>
          <p:cNvSpPr txBox="1"/>
          <p:nvPr/>
        </p:nvSpPr>
        <p:spPr>
          <a:xfrm>
            <a:off x="5532120" y="3602736"/>
            <a:ext cx="5836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There is no clear chain of responsibility when agents negotiate, commit or decide on someone's behalf.</a:t>
            </a:r>
            <a:endParaRPr lang="en-US" sz="1400" dirty="0"/>
          </a:p>
        </p:txBody>
      </p:sp>
      <p:sp>
        <p:nvSpPr>
          <p:cNvPr id="16" name="Gap 4 rule"/>
          <p:cNvSpPr/>
          <p:nvPr/>
        </p:nvSpPr>
        <p:spPr>
          <a:xfrm>
            <a:off x="822960" y="4261104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Gap 4 label"/>
          <p:cNvSpPr txBox="1"/>
          <p:nvPr/>
        </p:nvSpPr>
        <p:spPr>
          <a:xfrm>
            <a:off x="822960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04</a:t>
            </a:r>
            <a:endParaRPr lang="en-US" sz="1100" dirty="0"/>
          </a:p>
        </p:txBody>
      </p:sp>
      <p:sp>
        <p:nvSpPr>
          <p:cNvPr id="18" name="Gap 4 title"/>
          <p:cNvSpPr txBox="1"/>
          <p:nvPr/>
        </p:nvSpPr>
        <p:spPr>
          <a:xfrm>
            <a:off x="1965960" y="433425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reader's burden</a:t>
            </a:r>
            <a:endParaRPr lang="en-US" sz="1800" dirty="0"/>
          </a:p>
        </p:txBody>
      </p:sp>
      <p:sp>
        <p:nvSpPr>
          <p:cNvPr id="19" name="Gap 4 body"/>
          <p:cNvSpPr txBox="1"/>
          <p:nvPr/>
        </p:nvSpPr>
        <p:spPr>
          <a:xfrm>
            <a:off x="5532120" y="4352544"/>
            <a:ext cx="5836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cost of interpreting, verifying and filtering AI-generated content falls on receivers, and nothing yet helps them carry it.</a:t>
            </a:r>
            <a:endParaRPr lang="en-US" sz="1400" dirty="0"/>
          </a:p>
        </p:txBody>
      </p:sp>
      <p:sp>
        <p:nvSpPr>
          <p:cNvPr id="20" name="Gap 5 rule"/>
          <p:cNvSpPr/>
          <p:nvPr/>
        </p:nvSpPr>
        <p:spPr>
          <a:xfrm>
            <a:off x="822960" y="5010912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Gap 5 label"/>
          <p:cNvSpPr txBox="1"/>
          <p:nvPr/>
        </p:nvSpPr>
        <p:spPr>
          <a:xfrm>
            <a:off x="822960" y="5120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05</a:t>
            </a:r>
            <a:endParaRPr lang="en-US" sz="1100" dirty="0"/>
          </a:p>
        </p:txBody>
      </p:sp>
      <p:sp>
        <p:nvSpPr>
          <p:cNvPr id="22" name="Gap 5 title"/>
          <p:cNvSpPr txBox="1"/>
          <p:nvPr/>
        </p:nvSpPr>
        <p:spPr>
          <a:xfrm>
            <a:off x="1965960" y="508406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judgment &amp; relationships</a:t>
            </a:r>
            <a:endParaRPr lang="en-US" sz="1800" dirty="0"/>
          </a:p>
        </p:txBody>
      </p:sp>
      <p:sp>
        <p:nvSpPr>
          <p:cNvPr id="23" name="Gap 5 body"/>
          <p:cNvSpPr txBox="1"/>
          <p:nvPr/>
        </p:nvSpPr>
        <p:spPr>
          <a:xfrm>
            <a:off x="5532120" y="5102352"/>
            <a:ext cx="583661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preserves the skills and trust that once came from people thinking, writing and talking for themselves.</a:t>
            </a:r>
            <a:endParaRPr lang="en-US" sz="1400" dirty="0"/>
          </a:p>
        </p:txBody>
      </p:sp>
      <p:sp>
        <p:nvSpPr>
          <p:cNvPr id="24" name="Gaps bottom rule"/>
          <p:cNvSpPr/>
          <p:nvPr/>
        </p:nvSpPr>
        <p:spPr>
          <a:xfrm>
            <a:off x="822960" y="5760720"/>
            <a:ext cx="1054577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Gaps note"/>
          <p:cNvSpPr txBox="1"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are gaps to explore, not business proposals.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457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 SOURCES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822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References column 1"/>
          <p:cNvSpPr txBox="1"/>
          <p:nvPr/>
        </p:nvSpPr>
        <p:spPr>
          <a:xfrm>
            <a:off x="822960" y="1828800"/>
            <a:ext cx="504428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Microsoft &amp; LinkedIn. (2024, May 8).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2024 Work Trend Index annual report: AI at work is here. Now comes the hard part.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Microsoft WorkLab.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Gartner. (2024, October 21).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Gartner identifies the top 10 strategic technology trends for 2025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[Press release].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Niederhoffer, K., Rosen Kellerman, G., Lee, A., Liebscher, A., Rapuano, K., &amp; Hancock, J. T. (2025, September 22). AI-generated “workslop” is destroying productivity.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Harvard Business Review.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Hancock, J. T., Naaman, M., &amp; Levy, K. (2020). AI-mediated communication: Definition, research agenda, and ethical considerations.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Journal of Computer-Mediated Communication, 25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(1), 89–100. https://doi.org/10.1093/jcmc/zmz022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Rittel, H. W. J., &amp; Webber, M. M. (1973). Dilemmas in a general theory of planning.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Policy Sciences, 4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(2), 155–169. https://doi.org/10.1007/BF01405730</a:t>
            </a:r>
            <a:endParaRPr lang="en-US" sz="1150" dirty="0"/>
          </a:p>
        </p:txBody>
      </p:sp>
      <p:sp>
        <p:nvSpPr>
          <p:cNvPr id="5" name="References column 2"/>
          <p:cNvSpPr txBox="1"/>
          <p:nvPr/>
        </p:nvSpPr>
        <p:spPr>
          <a:xfrm>
            <a:off x="6324448" y="1828800"/>
            <a:ext cx="5044288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Simon, H. A. (1973). The structure of ill structured problems.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Artificial Intelligence, 4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(3–4), 181–201. https://doi.org/10.1016/0004-3702(73)90011-8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Spence, M. (1973). Job market signaling.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The Quarterly Journal of Economics, 87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(3), 355–374. https://doi.org/10.2307/1882010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Jakesch, M., French, M., Ma, X., Hancock, J. T., &amp; Naaman, M. (2019). AI-mediated communication: How the perception that profile text was written by AI affects trustworthiness.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Proceedings of CHI 2019.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 https://doi.org/10.1145/3290605.3300469</a:t>
            </a:r>
            <a:endParaRPr lang="en-US" sz="11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15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 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Hohenstein, J., Kizilcec, R. F., DiFranzo, D., Aghajari, Z., Mieczkowski, H., Levy, K., Naaman, M., Hancock, J., &amp; Jung, M. F. (2023). Artificial intelligence in communication impacts language and social relationships. </a:t>
            </a:r>
            <a:pPr indent="0" marL="0">
              <a:spcAft>
                <a:spcPts val="900"/>
              </a:spcAft>
              <a:buNone/>
            </a:pPr>
            <a:r>
              <a:rPr lang="en-US" sz="1150" i="1" dirty="0">
                <a:solidFill>
                  <a:schemeClr val="tx2"/>
                </a:solidFill>
              </a:rPr>
              <a:t>Scientific Reports, 13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chemeClr val="tx2"/>
                </a:solidFill>
              </a:rPr>
              <a:t>, 5487. https://doi.org/10.1038/s41598-023-30938-9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al Collapse">
  <a:themeElements>
    <a:clrScheme name="Signal Collapse">
      <a:dk1>
        <a:srgbClr val="EDE8DE"/>
      </a:dk1>
      <a:lt1>
        <a:srgbClr val="111110"/>
      </a:lt1>
      <a:dk2>
        <a:srgbClr val="A39D90"/>
      </a:dk2>
      <a:lt2>
        <a:srgbClr val="1F1E1B"/>
      </a:lt2>
      <a:accent1>
        <a:srgbClr val="E0A64A"/>
      </a:accent1>
      <a:accent2>
        <a:srgbClr val="6F6A60"/>
      </a:accent2>
      <a:accent3>
        <a:srgbClr val="34322D"/>
      </a:accent3>
      <a:accent4>
        <a:srgbClr val="2A2620"/>
      </a:accent4>
      <a:accent5>
        <a:srgbClr val="C98F38"/>
      </a:accent5>
      <a:accent6>
        <a:srgbClr val="8A8478"/>
      </a:accent6>
      <a:hlink>
        <a:srgbClr val="E0A64A"/>
      </a:hlink>
      <a:folHlink>
        <a:srgbClr val="C98F38"/>
      </a:folHlink>
    </a:clrScheme>
    <a:fontScheme name="Signal Collap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No One Writes: Signal Collapse in AI-Mediated Corporate Communication</dc:title>
  <dc:subject>PptxGenJS Presentation</dc:subject>
  <dc:creator>PptxGenJS</dc:creator>
  <cp:lastModifiedBy>PptxGenJS</cp:lastModifiedBy>
  <cp:revision>1</cp:revision>
  <dcterms:created xsi:type="dcterms:W3CDTF">2026-10-11T20:39:21Z</dcterms:created>
  <dcterms:modified xsi:type="dcterms:W3CDTF">2026-10-11T20:39:21Z</dcterms:modified>
</cp:coreProperties>
</file>