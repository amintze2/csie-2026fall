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5.xml"/><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116f806c81ffea19_3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116f806c81ffea19_3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Frame the week: nested hierarchies force you to look up and down before deciding where to focus. Our domain's obsession is with better machines, and that is the level where improvement has already happened without result.</a:t>
            </a:r>
            <a:endParaRPr/>
          </a:p>
        </p:txBody>
      </p:sp>
      <p:sp>
        <p:nvSpPr>
          <p:cNvPr id="55" name="Google Shape;55;h116f806c81ffea19_3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116f806c81ffea19_3_1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h116f806c81ffea19_3_1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Two shortage figures circulate. ABC's 349,000 is the primary-source, conservative number. Deloitte says 499,000. Lead with ABC and mention Deloitte as the higher estimate if challenged.</a:t>
            </a:r>
            <a:endParaRPr/>
          </a:p>
        </p:txBody>
      </p:sp>
      <p:sp>
        <p:nvSpPr>
          <p:cNvPr id="66" name="Google Shape;66;h116f806c81ffea19_3_1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116f806c81ffea19_3_3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h116f806c81ffea19_3_3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The worksheet's own premise: a better motor does not help if the constraint is in the delivery system. Level 1 has already been transformed and productivity did not move, which is the evidence that the constraint is higher up.</a:t>
            </a:r>
            <a:endParaRPr/>
          </a:p>
        </p:txBody>
      </p:sp>
      <p:sp>
        <p:nvSpPr>
          <p:cNvPr id="92" name="Google Shape;92;h116f806c81ffea19_3_3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116f806c81ffea19_3_6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h116f806c81ffea19_3_6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This is the argument in one case. Two billion dollars bought a complete Level 1 and 2 solution. It failed on contracting relationships and jurisdictional code variation, both Level 4. Nobody has spent two billion dollars on Level 4.</a:t>
            </a:r>
            <a:endParaRPr/>
          </a:p>
        </p:txBody>
      </p:sp>
      <p:sp>
        <p:nvSpPr>
          <p:cNvPr id="122" name="Google Shape;122;h116f806c81ffea19_3_6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116f806c81ffea19_3_9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h116f806c81ffea19_3_9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If asked which is most addressable, say 02. Integrated delivery contracts already exist in other sectors, so it is a contracting problem rather than a technology problem.</a:t>
            </a:r>
            <a:endParaRPr/>
          </a:p>
        </p:txBody>
      </p:sp>
      <p:sp>
        <p:nvSpPr>
          <p:cNvPr id="148" name="Google Shape;148;h116f806c81ffea19_3_9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91D"/>
        </a:solidFill>
      </p:bgPr>
    </p:bg>
    <p:spTree>
      <p:nvGrpSpPr>
        <p:cNvPr id="56" name="Shape 56"/>
        <p:cNvGrpSpPr/>
        <p:nvPr/>
      </p:nvGrpSpPr>
      <p:grpSpPr>
        <a:xfrm>
          <a:off x="0" y="0"/>
          <a:ext cx="0" cy="0"/>
          <a:chOff x="0" y="0"/>
          <a:chExt cx="0" cy="0"/>
        </a:xfrm>
      </p:grpSpPr>
      <p:sp>
        <p:nvSpPr>
          <p:cNvPr id="57" name="Google Shape;57;p15"/>
          <p:cNvSpPr txBox="1"/>
          <p:nvPr/>
        </p:nvSpPr>
        <p:spPr>
          <a:xfrm>
            <a:off x="617220" y="582930"/>
            <a:ext cx="54864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WEEK 4  ·  NESTED HIERARCHIES</a:t>
            </a:r>
            <a:endParaRPr b="0" i="0" sz="900" u="none" cap="none" strike="noStrike">
              <a:solidFill>
                <a:schemeClr val="dk1"/>
              </a:solidFill>
              <a:latin typeface="Calibri"/>
              <a:ea typeface="Calibri"/>
              <a:cs typeface="Calibri"/>
              <a:sym typeface="Calibri"/>
            </a:endParaRPr>
          </a:p>
        </p:txBody>
      </p:sp>
      <p:sp>
        <p:nvSpPr>
          <p:cNvPr id="58" name="Google Shape;58;p15"/>
          <p:cNvSpPr txBox="1"/>
          <p:nvPr/>
        </p:nvSpPr>
        <p:spPr>
          <a:xfrm>
            <a:off x="617220" y="1165860"/>
            <a:ext cx="7886700" cy="891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0" i="0" lang="zh-CN" sz="4800" u="none" cap="none" strike="noStrike">
                <a:solidFill>
                  <a:srgbClr val="FFFFFF"/>
                </a:solidFill>
                <a:latin typeface="Cambria"/>
                <a:ea typeface="Cambria"/>
                <a:cs typeface="Cambria"/>
                <a:sym typeface="Cambria"/>
              </a:rPr>
              <a:t>Construction Inefficiencies</a:t>
            </a:r>
            <a:endParaRPr b="0" i="0" sz="4800" u="none" cap="none" strike="noStrike">
              <a:solidFill>
                <a:schemeClr val="dk1"/>
              </a:solidFill>
              <a:latin typeface="Calibri"/>
              <a:ea typeface="Calibri"/>
              <a:cs typeface="Calibri"/>
              <a:sym typeface="Calibri"/>
            </a:endParaRPr>
          </a:p>
        </p:txBody>
      </p:sp>
      <p:sp>
        <p:nvSpPr>
          <p:cNvPr id="59" name="Google Shape;59;p15"/>
          <p:cNvSpPr txBox="1"/>
          <p:nvPr/>
        </p:nvSpPr>
        <p:spPr>
          <a:xfrm>
            <a:off x="617220" y="2160270"/>
            <a:ext cx="72009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CD2"/>
              </a:buClr>
              <a:buSzPts val="2000"/>
              <a:buFont typeface="Cambria"/>
              <a:buNone/>
            </a:pPr>
            <a:r>
              <a:rPr b="0" i="0" lang="zh-CN" sz="2000" u="none" cap="none" strike="noStrike">
                <a:solidFill>
                  <a:srgbClr val="C7CCD2"/>
                </a:solidFill>
                <a:latin typeface="Cambria"/>
                <a:ea typeface="Cambria"/>
                <a:cs typeface="Cambria"/>
                <a:sym typeface="Cambria"/>
              </a:rPr>
              <a:t>The tools got better for twenty years. The industry did not.</a:t>
            </a:r>
            <a:endParaRPr b="0" i="0" sz="2000" u="none" cap="none" strike="noStrike">
              <a:solidFill>
                <a:schemeClr val="dk1"/>
              </a:solidFill>
              <a:latin typeface="Calibri"/>
              <a:ea typeface="Calibri"/>
              <a:cs typeface="Calibri"/>
              <a:sym typeface="Calibri"/>
            </a:endParaRPr>
          </a:p>
        </p:txBody>
      </p:sp>
      <p:sp>
        <p:nvSpPr>
          <p:cNvPr id="60" name="Google Shape;60;p15"/>
          <p:cNvSpPr txBox="1"/>
          <p:nvPr/>
        </p:nvSpPr>
        <p:spPr>
          <a:xfrm>
            <a:off x="617220" y="2811780"/>
            <a:ext cx="6858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59C"/>
              </a:buClr>
              <a:buSzPts val="1300"/>
              <a:buFont typeface="Calibri"/>
              <a:buNone/>
            </a:pPr>
            <a:r>
              <a:rPr b="0" i="0" lang="zh-CN" sz="1300" u="none" cap="none" strike="noStrike">
                <a:solidFill>
                  <a:srgbClr val="8E959C"/>
                </a:solidFill>
                <a:latin typeface="Calibri"/>
                <a:ea typeface="Calibri"/>
                <a:cs typeface="Calibri"/>
                <a:sym typeface="Calibri"/>
              </a:rPr>
              <a:t>We mapped five levels and found the constraint is not where anyone is working on it.</a:t>
            </a:r>
            <a:endParaRPr b="0" i="0" sz="1300" u="none" cap="none" strike="noStrike">
              <a:solidFill>
                <a:schemeClr val="dk1"/>
              </a:solidFill>
              <a:latin typeface="Calibri"/>
              <a:ea typeface="Calibri"/>
              <a:cs typeface="Calibri"/>
              <a:sym typeface="Calibri"/>
            </a:endParaRPr>
          </a:p>
        </p:txBody>
      </p:sp>
      <p:sp>
        <p:nvSpPr>
          <p:cNvPr id="61" name="Google Shape;61;p15"/>
          <p:cNvSpPr/>
          <p:nvPr/>
        </p:nvSpPr>
        <p:spPr>
          <a:xfrm>
            <a:off x="617220" y="3703320"/>
            <a:ext cx="1097280" cy="24003"/>
          </a:xfrm>
          <a:prstGeom prst="rect">
            <a:avLst/>
          </a:prstGeom>
          <a:solidFill>
            <a:srgbClr val="B85C1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 name="Google Shape;62;p15"/>
          <p:cNvSpPr txBox="1"/>
          <p:nvPr/>
        </p:nvSpPr>
        <p:spPr>
          <a:xfrm>
            <a:off x="617220" y="3943350"/>
            <a:ext cx="54864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59C"/>
              </a:buClr>
              <a:buSzPts val="1100"/>
              <a:buFont typeface="Calibri"/>
              <a:buNone/>
            </a:pPr>
            <a:r>
              <a:rPr lang="zh-CN" sz="1100">
                <a:solidFill>
                  <a:srgbClr val="8E959C"/>
                </a:solidFill>
                <a:latin typeface="Calibri"/>
                <a:ea typeface="Calibri"/>
                <a:cs typeface="Calibri"/>
                <a:sym typeface="Calibri"/>
              </a:rPr>
              <a:t>Sissi Lai, Yash Chadda, Flora Huang, Steven Li, Evan Batten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67" name="Shape 67"/>
        <p:cNvGrpSpPr/>
        <p:nvPr/>
      </p:nvGrpSpPr>
      <p:grpSpPr>
        <a:xfrm>
          <a:off x="0" y="0"/>
          <a:ext cx="0" cy="0"/>
          <a:chOff x="0" y="0"/>
          <a:chExt cx="0" cy="0"/>
        </a:xfrm>
      </p:grpSpPr>
      <p:sp>
        <p:nvSpPr>
          <p:cNvPr id="68" name="Google Shape;68;p16"/>
          <p:cNvSpPr txBox="1"/>
          <p:nvPr/>
        </p:nvSpPr>
        <p:spPr>
          <a:xfrm>
            <a:off x="411480" y="342900"/>
            <a:ext cx="83187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600"/>
              <a:buFont typeface="Cambria"/>
              <a:buNone/>
            </a:pPr>
            <a:r>
              <a:rPr b="0" i="0" lang="zh-CN" sz="2600" u="none" cap="none" strike="noStrike">
                <a:solidFill>
                  <a:srgbClr val="16191D"/>
                </a:solidFill>
                <a:latin typeface="Cambria"/>
                <a:ea typeface="Cambria"/>
                <a:cs typeface="Cambria"/>
                <a:sym typeface="Cambria"/>
              </a:rPr>
              <a:t>Twenty years of better tools, no better output</a:t>
            </a:r>
            <a:endParaRPr b="0" i="0" sz="2600" u="none" cap="none" strike="noStrike">
              <a:solidFill>
                <a:schemeClr val="dk1"/>
              </a:solidFill>
              <a:latin typeface="Calibri"/>
              <a:ea typeface="Calibri"/>
              <a:cs typeface="Calibri"/>
              <a:sym typeface="Calibri"/>
            </a:endParaRPr>
          </a:p>
        </p:txBody>
      </p:sp>
      <p:sp>
        <p:nvSpPr>
          <p:cNvPr id="69" name="Google Shape;69;p16"/>
          <p:cNvSpPr txBox="1"/>
          <p:nvPr/>
        </p:nvSpPr>
        <p:spPr>
          <a:xfrm>
            <a:off x="411480" y="877824"/>
            <a:ext cx="7818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zh-CN" sz="1100" u="none" cap="none" strike="noStrike">
                <a:solidFill>
                  <a:srgbClr val="6B7178"/>
                </a:solidFill>
                <a:latin typeface="Calibri"/>
                <a:ea typeface="Calibri"/>
                <a:cs typeface="Calibri"/>
                <a:sym typeface="Calibri"/>
              </a:rPr>
              <a:t>Machines, materials and software all improved sharply since 2000. Productivity did not move. That gap is the whole reason to map the hierarchy rather than optimise the jobsite.</a:t>
            </a:r>
            <a:endParaRPr b="0" i="0" sz="1100" u="none" cap="none" strike="noStrike">
              <a:solidFill>
                <a:schemeClr val="dk1"/>
              </a:solidFill>
              <a:latin typeface="Calibri"/>
              <a:ea typeface="Calibri"/>
              <a:cs typeface="Calibri"/>
              <a:sym typeface="Calibri"/>
            </a:endParaRPr>
          </a:p>
        </p:txBody>
      </p:sp>
      <p:sp>
        <p:nvSpPr>
          <p:cNvPr id="70" name="Google Shape;70;p16"/>
          <p:cNvSpPr/>
          <p:nvPr/>
        </p:nvSpPr>
        <p:spPr>
          <a:xfrm>
            <a:off x="411480" y="1474470"/>
            <a:ext cx="1920240" cy="1371600"/>
          </a:xfrm>
          <a:prstGeom prst="roundRect">
            <a:avLst>
              <a:gd fmla="val 400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 name="Google Shape;71;p16"/>
          <p:cNvSpPr txBox="1"/>
          <p:nvPr/>
        </p:nvSpPr>
        <p:spPr>
          <a:xfrm>
            <a:off x="582930" y="1611630"/>
            <a:ext cx="15773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2900"/>
              <a:buFont typeface="Cambria"/>
              <a:buNone/>
            </a:pPr>
            <a:r>
              <a:rPr b="1" i="0" lang="zh-CN" sz="2900" u="none" cap="none" strike="noStrike">
                <a:solidFill>
                  <a:srgbClr val="B85C1A"/>
                </a:solidFill>
                <a:latin typeface="Cambria"/>
                <a:ea typeface="Cambria"/>
                <a:cs typeface="Cambria"/>
                <a:sym typeface="Cambria"/>
              </a:rPr>
              <a:t>~1%</a:t>
            </a:r>
            <a:endParaRPr b="0" i="0" sz="2900" u="none" cap="none" strike="noStrike">
              <a:solidFill>
                <a:schemeClr val="dk1"/>
              </a:solidFill>
              <a:latin typeface="Calibri"/>
              <a:ea typeface="Calibri"/>
              <a:cs typeface="Calibri"/>
              <a:sym typeface="Calibri"/>
            </a:endParaRPr>
          </a:p>
        </p:txBody>
      </p:sp>
      <p:sp>
        <p:nvSpPr>
          <p:cNvPr id="72" name="Google Shape;72;p16"/>
          <p:cNvSpPr txBox="1"/>
          <p:nvPr/>
        </p:nvSpPr>
        <p:spPr>
          <a:xfrm>
            <a:off x="582930" y="2125980"/>
            <a:ext cx="1611630" cy="65151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annual productivity growth</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for two decades, about a</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third of manufacturing</a:t>
            </a:r>
            <a:endParaRPr b="0" i="0" sz="900" u="none" cap="none" strike="noStrike">
              <a:solidFill>
                <a:schemeClr val="dk1"/>
              </a:solidFill>
              <a:latin typeface="Calibri"/>
              <a:ea typeface="Calibri"/>
              <a:cs typeface="Calibri"/>
              <a:sym typeface="Calibri"/>
            </a:endParaRPr>
          </a:p>
        </p:txBody>
      </p:sp>
      <p:sp>
        <p:nvSpPr>
          <p:cNvPr id="73" name="Google Shape;73;p16"/>
          <p:cNvSpPr/>
          <p:nvPr/>
        </p:nvSpPr>
        <p:spPr>
          <a:xfrm>
            <a:off x="2544318" y="1474470"/>
            <a:ext cx="1920240" cy="1371600"/>
          </a:xfrm>
          <a:prstGeom prst="roundRect">
            <a:avLst>
              <a:gd fmla="val 400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6"/>
          <p:cNvSpPr txBox="1"/>
          <p:nvPr/>
        </p:nvSpPr>
        <p:spPr>
          <a:xfrm>
            <a:off x="2715768" y="1611630"/>
            <a:ext cx="15773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2900"/>
              <a:buFont typeface="Cambria"/>
              <a:buNone/>
            </a:pPr>
            <a:r>
              <a:rPr b="1" i="0" lang="zh-CN" sz="2900" u="none" cap="none" strike="noStrike">
                <a:solidFill>
                  <a:srgbClr val="B85C1A"/>
                </a:solidFill>
                <a:latin typeface="Cambria"/>
                <a:ea typeface="Cambria"/>
                <a:cs typeface="Cambria"/>
                <a:sym typeface="Cambria"/>
              </a:rPr>
              <a:t>80%</a:t>
            </a:r>
            <a:endParaRPr b="0" i="0" sz="2900" u="none" cap="none" strike="noStrike">
              <a:solidFill>
                <a:schemeClr val="dk1"/>
              </a:solidFill>
              <a:latin typeface="Calibri"/>
              <a:ea typeface="Calibri"/>
              <a:cs typeface="Calibri"/>
              <a:sym typeface="Calibri"/>
            </a:endParaRPr>
          </a:p>
        </p:txBody>
      </p:sp>
      <p:sp>
        <p:nvSpPr>
          <p:cNvPr id="75" name="Google Shape;75;p16"/>
          <p:cNvSpPr txBox="1"/>
          <p:nvPr/>
        </p:nvSpPr>
        <p:spPr>
          <a:xfrm>
            <a:off x="2715768" y="2125980"/>
            <a:ext cx="1611630" cy="65151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cost overrun on large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projects, which also run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roughly 20% late</a:t>
            </a:r>
            <a:endParaRPr b="0" i="0" sz="900" u="none" cap="none" strike="noStrike">
              <a:solidFill>
                <a:schemeClr val="dk1"/>
              </a:solidFill>
              <a:latin typeface="Calibri"/>
              <a:ea typeface="Calibri"/>
              <a:cs typeface="Calibri"/>
              <a:sym typeface="Calibri"/>
            </a:endParaRPr>
          </a:p>
        </p:txBody>
      </p:sp>
      <p:sp>
        <p:nvSpPr>
          <p:cNvPr id="76" name="Google Shape;76;p16"/>
          <p:cNvSpPr/>
          <p:nvPr/>
        </p:nvSpPr>
        <p:spPr>
          <a:xfrm>
            <a:off x="4677156" y="1474470"/>
            <a:ext cx="1920240" cy="1371600"/>
          </a:xfrm>
          <a:prstGeom prst="roundRect">
            <a:avLst>
              <a:gd fmla="val 400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6"/>
          <p:cNvSpPr txBox="1"/>
          <p:nvPr/>
        </p:nvSpPr>
        <p:spPr>
          <a:xfrm>
            <a:off x="4848606" y="1611630"/>
            <a:ext cx="15773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2900"/>
              <a:buFont typeface="Cambria"/>
              <a:buNone/>
            </a:pPr>
            <a:r>
              <a:rPr b="1" i="0" lang="zh-CN" sz="2900" u="none" cap="none" strike="noStrike">
                <a:solidFill>
                  <a:srgbClr val="B85C1A"/>
                </a:solidFill>
                <a:latin typeface="Cambria"/>
                <a:ea typeface="Cambria"/>
                <a:cs typeface="Cambria"/>
                <a:sym typeface="Cambria"/>
              </a:rPr>
              <a:t>349k</a:t>
            </a:r>
            <a:endParaRPr b="0" i="0" sz="2900" u="none" cap="none" strike="noStrike">
              <a:solidFill>
                <a:schemeClr val="dk1"/>
              </a:solidFill>
              <a:latin typeface="Calibri"/>
              <a:ea typeface="Calibri"/>
              <a:cs typeface="Calibri"/>
              <a:sym typeface="Calibri"/>
            </a:endParaRPr>
          </a:p>
        </p:txBody>
      </p:sp>
      <p:sp>
        <p:nvSpPr>
          <p:cNvPr id="78" name="Google Shape;78;p16"/>
          <p:cNvSpPr txBox="1"/>
          <p:nvPr/>
        </p:nvSpPr>
        <p:spPr>
          <a:xfrm>
            <a:off x="4848606" y="2125980"/>
            <a:ext cx="1611630" cy="65151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net new workers needed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in 2026, rising to</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456k in 2027</a:t>
            </a:r>
            <a:endParaRPr b="0" i="0" sz="900" u="none" cap="none" strike="noStrike">
              <a:solidFill>
                <a:schemeClr val="dk1"/>
              </a:solidFill>
              <a:latin typeface="Calibri"/>
              <a:ea typeface="Calibri"/>
              <a:cs typeface="Calibri"/>
              <a:sym typeface="Calibri"/>
            </a:endParaRPr>
          </a:p>
        </p:txBody>
      </p:sp>
      <p:sp>
        <p:nvSpPr>
          <p:cNvPr id="79" name="Google Shape;79;p16"/>
          <p:cNvSpPr/>
          <p:nvPr/>
        </p:nvSpPr>
        <p:spPr>
          <a:xfrm>
            <a:off x="6809994" y="1474470"/>
            <a:ext cx="1920240" cy="1371600"/>
          </a:xfrm>
          <a:prstGeom prst="roundRect">
            <a:avLst>
              <a:gd fmla="val 400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16"/>
          <p:cNvSpPr txBox="1"/>
          <p:nvPr/>
        </p:nvSpPr>
        <p:spPr>
          <a:xfrm>
            <a:off x="6981444" y="1611630"/>
            <a:ext cx="15773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2900"/>
              <a:buFont typeface="Cambria"/>
              <a:buNone/>
            </a:pPr>
            <a:r>
              <a:rPr b="1" i="0" lang="zh-CN" sz="2900" u="none" cap="none" strike="noStrike">
                <a:solidFill>
                  <a:srgbClr val="B85C1A"/>
                </a:solidFill>
                <a:latin typeface="Cambria"/>
                <a:ea typeface="Cambria"/>
                <a:cs typeface="Cambria"/>
                <a:sym typeface="Cambria"/>
              </a:rPr>
              <a:t>41%</a:t>
            </a:r>
            <a:endParaRPr b="0" i="0" sz="2900" u="none" cap="none" strike="noStrike">
              <a:solidFill>
                <a:schemeClr val="dk1"/>
              </a:solidFill>
              <a:latin typeface="Calibri"/>
              <a:ea typeface="Calibri"/>
              <a:cs typeface="Calibri"/>
              <a:sym typeface="Calibri"/>
            </a:endParaRPr>
          </a:p>
        </p:txBody>
      </p:sp>
      <p:sp>
        <p:nvSpPr>
          <p:cNvPr id="81" name="Google Shape;81;p16"/>
          <p:cNvSpPr txBox="1"/>
          <p:nvPr/>
        </p:nvSpPr>
        <p:spPr>
          <a:xfrm>
            <a:off x="6981444" y="2125980"/>
            <a:ext cx="1611630" cy="65151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of the workforce is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projected to retire by</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2031; 10% are under 25</a:t>
            </a:r>
            <a:endParaRPr b="0" i="0" sz="900" u="none" cap="none" strike="noStrike">
              <a:solidFill>
                <a:schemeClr val="dk1"/>
              </a:solidFill>
              <a:latin typeface="Calibri"/>
              <a:ea typeface="Calibri"/>
              <a:cs typeface="Calibri"/>
              <a:sym typeface="Calibri"/>
            </a:endParaRPr>
          </a:p>
        </p:txBody>
      </p:sp>
      <p:sp>
        <p:nvSpPr>
          <p:cNvPr id="82" name="Google Shape;82;p16"/>
          <p:cNvSpPr/>
          <p:nvPr/>
        </p:nvSpPr>
        <p:spPr>
          <a:xfrm>
            <a:off x="411480" y="3086100"/>
            <a:ext cx="4018788" cy="1543050"/>
          </a:xfrm>
          <a:prstGeom prst="roundRect">
            <a:avLst>
              <a:gd fmla="val 3556" name="adj"/>
            </a:avLst>
          </a:prstGeom>
          <a:solidFill>
            <a:srgbClr val="E8E5DE"/>
          </a:solidFill>
          <a:ln cap="flat" cmpd="sng" w="12700">
            <a:solidFill>
              <a:srgbClr val="E8E5D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6"/>
          <p:cNvSpPr txBox="1"/>
          <p:nvPr/>
        </p:nvSpPr>
        <p:spPr>
          <a:xfrm>
            <a:off x="651510" y="3257550"/>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300"/>
              <a:buFont typeface="Cambria"/>
              <a:buNone/>
            </a:pPr>
            <a:r>
              <a:rPr b="1" i="0" lang="zh-CN" sz="1300" u="none" cap="none" strike="noStrike">
                <a:solidFill>
                  <a:srgbClr val="16191D"/>
                </a:solidFill>
                <a:latin typeface="Cambria"/>
                <a:ea typeface="Cambria"/>
                <a:cs typeface="Cambria"/>
                <a:sym typeface="Cambria"/>
              </a:rPr>
              <a:t>The labor story is replacement, not growth</a:t>
            </a:r>
            <a:endParaRPr b="0" i="0" sz="1300" u="none" cap="none" strike="noStrike">
              <a:solidFill>
                <a:schemeClr val="dk1"/>
              </a:solidFill>
              <a:latin typeface="Calibri"/>
              <a:ea typeface="Calibri"/>
              <a:cs typeface="Calibri"/>
              <a:sym typeface="Calibri"/>
            </a:endParaRPr>
          </a:p>
        </p:txBody>
      </p:sp>
      <p:sp>
        <p:nvSpPr>
          <p:cNvPr id="84" name="Google Shape;84;p16"/>
          <p:cNvSpPr txBox="1"/>
          <p:nvPr/>
        </p:nvSpPr>
        <p:spPr>
          <a:xfrm>
            <a:off x="651510" y="3566160"/>
            <a:ext cx="3566160" cy="96012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3E434A"/>
              </a:buClr>
              <a:buSzPts val="1000"/>
              <a:buFont typeface="Calibri"/>
              <a:buNone/>
            </a:pPr>
            <a:r>
              <a:rPr b="0" i="0" lang="zh-CN" sz="1000" u="none" cap="none" strike="noStrike">
                <a:solidFill>
                  <a:srgbClr val="3E434A"/>
                </a:solidFill>
                <a:latin typeface="Calibri"/>
                <a:ea typeface="Calibri"/>
                <a:cs typeface="Calibri"/>
                <a:sym typeface="Calibri"/>
              </a:rPr>
              <a:t>ABC's chief economist notes that a majority of 2026 worker demand comes from retirement rather than from more building. One in five workers is already over 55, and a new tradesperson takes years to reach full productivity. Deloitte's higher estimate puts the 2026 need at 499,000.</a:t>
            </a:r>
            <a:endParaRPr b="0" i="0" sz="1000" u="none" cap="none" strike="noStrike">
              <a:solidFill>
                <a:schemeClr val="dk1"/>
              </a:solidFill>
              <a:latin typeface="Calibri"/>
              <a:ea typeface="Calibri"/>
              <a:cs typeface="Calibri"/>
              <a:sym typeface="Calibri"/>
            </a:endParaRPr>
          </a:p>
        </p:txBody>
      </p:sp>
      <p:sp>
        <p:nvSpPr>
          <p:cNvPr id="85" name="Google Shape;85;p16"/>
          <p:cNvSpPr/>
          <p:nvPr/>
        </p:nvSpPr>
        <p:spPr>
          <a:xfrm>
            <a:off x="4711446" y="3086100"/>
            <a:ext cx="4018788" cy="1543050"/>
          </a:xfrm>
          <a:prstGeom prst="roundRect">
            <a:avLst>
              <a:gd fmla="val 3556" name="adj"/>
            </a:avLst>
          </a:prstGeom>
          <a:solidFill>
            <a:srgbClr val="E8E5DE"/>
          </a:solidFill>
          <a:ln cap="flat" cmpd="sng" w="12700">
            <a:solidFill>
              <a:srgbClr val="E8E5D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16"/>
          <p:cNvSpPr txBox="1"/>
          <p:nvPr/>
        </p:nvSpPr>
        <p:spPr>
          <a:xfrm>
            <a:off x="4951476" y="3257550"/>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300"/>
              <a:buFont typeface="Cambria"/>
              <a:buNone/>
            </a:pPr>
            <a:r>
              <a:rPr b="1" i="0" lang="zh-CN" sz="1300" u="none" cap="none" strike="noStrike">
                <a:solidFill>
                  <a:srgbClr val="16191D"/>
                </a:solidFill>
                <a:latin typeface="Cambria"/>
                <a:ea typeface="Cambria"/>
                <a:cs typeface="Cambria"/>
                <a:sym typeface="Cambria"/>
              </a:rPr>
              <a:t>The money at stake</a:t>
            </a:r>
            <a:endParaRPr b="0" i="0" sz="1300" u="none" cap="none" strike="noStrike">
              <a:solidFill>
                <a:schemeClr val="dk1"/>
              </a:solidFill>
              <a:latin typeface="Calibri"/>
              <a:ea typeface="Calibri"/>
              <a:cs typeface="Calibri"/>
              <a:sym typeface="Calibri"/>
            </a:endParaRPr>
          </a:p>
        </p:txBody>
      </p:sp>
      <p:sp>
        <p:nvSpPr>
          <p:cNvPr id="87" name="Google Shape;87;p16"/>
          <p:cNvSpPr txBox="1"/>
          <p:nvPr/>
        </p:nvSpPr>
        <p:spPr>
          <a:xfrm>
            <a:off x="4951476" y="3566160"/>
            <a:ext cx="3566160" cy="96012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3E434A"/>
              </a:buClr>
              <a:buSzPts val="1000"/>
              <a:buFont typeface="Calibri"/>
              <a:buNone/>
            </a:pPr>
            <a:r>
              <a:rPr b="0" i="0" lang="zh-CN" sz="1000" u="none" cap="none" strike="noStrike">
                <a:solidFill>
                  <a:srgbClr val="3E434A"/>
                </a:solidFill>
                <a:latin typeface="Calibri"/>
                <a:ea typeface="Calibri"/>
                <a:cs typeface="Calibri"/>
                <a:sym typeface="Calibri"/>
              </a:rPr>
              <a:t>McKinsey Global Institute has put the annual cost of construction's productivity gap at roughly $1.6 trillion, and estimates global output could fall short of demand by $40 trillion cumulatively by 2040 if the trend holds. Net margins in the sector typically sit between 3% and 7%.</a:t>
            </a:r>
            <a:endParaRPr b="0" i="0" sz="1000" u="none" cap="none" strike="noStrike">
              <a:solidFill>
                <a:schemeClr val="dk1"/>
              </a:solidFill>
              <a:latin typeface="Calibri"/>
              <a:ea typeface="Calibri"/>
              <a:cs typeface="Calibri"/>
              <a:sym typeface="Calibri"/>
            </a:endParaRPr>
          </a:p>
        </p:txBody>
      </p:sp>
      <p:sp>
        <p:nvSpPr>
          <p:cNvPr id="88" name="Google Shape;88;p16"/>
          <p:cNvSpPr txBox="1"/>
          <p:nvPr/>
        </p:nvSpPr>
        <p:spPr>
          <a:xfrm>
            <a:off x="411480" y="4814316"/>
            <a:ext cx="831875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700"/>
              <a:buFont typeface="Calibri"/>
              <a:buNone/>
            </a:pPr>
            <a:r>
              <a:rPr b="0" i="0" lang="zh-CN" sz="700" u="none" cap="none" strike="noStrike">
                <a:solidFill>
                  <a:srgbClr val="6B7178"/>
                </a:solidFill>
                <a:latin typeface="Calibri"/>
                <a:ea typeface="Calibri"/>
                <a:cs typeface="Calibri"/>
                <a:sym typeface="Calibri"/>
              </a:rPr>
              <a:t>Sources: McKinsey Global Institute, Reinventing Construction · Associated Builders and Contractors workforce model, 15 Jan 2026 · Deloitte 2026 Engineering and Construction Outlook · Bureau of Labor Statistics</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93" name="Shape 93"/>
        <p:cNvGrpSpPr/>
        <p:nvPr/>
      </p:nvGrpSpPr>
      <p:grpSpPr>
        <a:xfrm>
          <a:off x="0" y="0"/>
          <a:ext cx="0" cy="0"/>
          <a:chOff x="0" y="0"/>
          <a:chExt cx="0" cy="0"/>
        </a:xfrm>
      </p:grpSpPr>
      <p:sp>
        <p:nvSpPr>
          <p:cNvPr id="94" name="Google Shape;94;p17"/>
          <p:cNvSpPr txBox="1"/>
          <p:nvPr/>
        </p:nvSpPr>
        <p:spPr>
          <a:xfrm>
            <a:off x="411480" y="308610"/>
            <a:ext cx="831875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600"/>
              <a:buFont typeface="Cambria"/>
              <a:buNone/>
            </a:pPr>
            <a:r>
              <a:rPr b="0" i="0" lang="zh-CN" sz="2600" u="none" cap="none" strike="noStrike">
                <a:solidFill>
                  <a:srgbClr val="16191D"/>
                </a:solidFill>
                <a:latin typeface="Cambria"/>
                <a:ea typeface="Cambria"/>
                <a:cs typeface="Cambria"/>
                <a:sym typeface="Cambria"/>
              </a:rPr>
              <a:t>Mapping the levels</a:t>
            </a:r>
            <a:endParaRPr b="0" i="0" sz="2600" u="none" cap="none" strike="noStrike">
              <a:solidFill>
                <a:schemeClr val="dk1"/>
              </a:solidFill>
              <a:latin typeface="Calibri"/>
              <a:ea typeface="Calibri"/>
              <a:cs typeface="Calibri"/>
              <a:sym typeface="Calibri"/>
            </a:endParaRPr>
          </a:p>
        </p:txBody>
      </p:sp>
      <p:sp>
        <p:nvSpPr>
          <p:cNvPr id="95" name="Google Shape;95;p17"/>
          <p:cNvSpPr txBox="1"/>
          <p:nvPr/>
        </p:nvSpPr>
        <p:spPr>
          <a:xfrm>
            <a:off x="411480" y="768096"/>
            <a:ext cx="7818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zh-CN" sz="1100" u="none" cap="none" strike="noStrike">
                <a:solidFill>
                  <a:srgbClr val="6B7178"/>
                </a:solidFill>
                <a:latin typeface="Calibri"/>
                <a:ea typeface="Calibri"/>
                <a:cs typeface="Calibri"/>
                <a:sym typeface="Calibri"/>
              </a:rPr>
              <a:t>Focal point: the project. The level above it is where the constraint sits, and almost nobody is working there.</a:t>
            </a:r>
            <a:endParaRPr b="0" i="0" sz="1100" u="none" cap="none" strike="noStrike">
              <a:solidFill>
                <a:schemeClr val="dk1"/>
              </a:solidFill>
              <a:latin typeface="Calibri"/>
              <a:ea typeface="Calibri"/>
              <a:cs typeface="Calibri"/>
              <a:sym typeface="Calibri"/>
            </a:endParaRPr>
          </a:p>
        </p:txBody>
      </p:sp>
      <p:sp>
        <p:nvSpPr>
          <p:cNvPr id="96" name="Google Shape;96;p17"/>
          <p:cNvSpPr txBox="1"/>
          <p:nvPr/>
        </p:nvSpPr>
        <p:spPr>
          <a:xfrm>
            <a:off x="411480" y="1495044"/>
            <a:ext cx="5829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800"/>
              <a:buFont typeface="Calibri"/>
              <a:buNone/>
            </a:pPr>
            <a:r>
              <a:rPr b="1" i="0" lang="zh-CN" sz="800" u="none" cap="none" strike="noStrike">
                <a:solidFill>
                  <a:srgbClr val="6B7178"/>
                </a:solidFill>
                <a:latin typeface="Calibri"/>
                <a:ea typeface="Calibri"/>
                <a:cs typeface="Calibri"/>
                <a:sym typeface="Calibri"/>
              </a:rPr>
              <a:t>LEVEL 5</a:t>
            </a:r>
            <a:endParaRPr b="0" i="0" sz="800" u="none" cap="none" strike="noStrike">
              <a:solidFill>
                <a:schemeClr val="dk1"/>
              </a:solidFill>
              <a:latin typeface="Calibri"/>
              <a:ea typeface="Calibri"/>
              <a:cs typeface="Calibri"/>
              <a:sym typeface="Calibri"/>
            </a:endParaRPr>
          </a:p>
        </p:txBody>
      </p:sp>
      <p:sp>
        <p:nvSpPr>
          <p:cNvPr id="97" name="Google Shape;97;p17"/>
          <p:cNvSpPr/>
          <p:nvPr/>
        </p:nvSpPr>
        <p:spPr>
          <a:xfrm>
            <a:off x="1062990" y="1303020"/>
            <a:ext cx="7667244" cy="562356"/>
          </a:xfrm>
          <a:prstGeom prst="roundRect">
            <a:avLst>
              <a:gd fmla="val 8537"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7"/>
          <p:cNvSpPr txBox="1"/>
          <p:nvPr/>
        </p:nvSpPr>
        <p:spPr>
          <a:xfrm>
            <a:off x="1268730" y="1385316"/>
            <a:ext cx="507492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200"/>
              <a:buFont typeface="Cambria"/>
              <a:buNone/>
            </a:pPr>
            <a:r>
              <a:rPr b="1" i="0" lang="zh-CN" sz="1200" u="none" cap="none" strike="noStrike">
                <a:solidFill>
                  <a:srgbClr val="16191D"/>
                </a:solidFill>
                <a:latin typeface="Cambria"/>
                <a:ea typeface="Cambria"/>
                <a:cs typeface="Cambria"/>
                <a:sym typeface="Cambria"/>
              </a:rPr>
              <a:t>Construction economics and city planning</a:t>
            </a:r>
            <a:endParaRPr b="0" i="0" sz="1200" u="none" cap="none" strike="noStrike">
              <a:solidFill>
                <a:schemeClr val="dk1"/>
              </a:solidFill>
              <a:latin typeface="Calibri"/>
              <a:ea typeface="Calibri"/>
              <a:cs typeface="Calibri"/>
              <a:sym typeface="Calibri"/>
            </a:endParaRPr>
          </a:p>
        </p:txBody>
      </p:sp>
      <p:sp>
        <p:nvSpPr>
          <p:cNvPr id="99" name="Google Shape;99;p17"/>
          <p:cNvSpPr txBox="1"/>
          <p:nvPr/>
        </p:nvSpPr>
        <p:spPr>
          <a:xfrm>
            <a:off x="1268730" y="1611630"/>
            <a:ext cx="54864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Capital cost, zoning, land, where demand comes from and who is allowed to build</a:t>
            </a:r>
            <a:endParaRPr b="0" i="0" sz="900" u="none" cap="none" strike="noStrike">
              <a:solidFill>
                <a:schemeClr val="dk1"/>
              </a:solidFill>
              <a:latin typeface="Calibri"/>
              <a:ea typeface="Calibri"/>
              <a:cs typeface="Calibri"/>
              <a:sym typeface="Calibri"/>
            </a:endParaRPr>
          </a:p>
        </p:txBody>
      </p:sp>
      <p:sp>
        <p:nvSpPr>
          <p:cNvPr id="100" name="Google Shape;100;p17"/>
          <p:cNvSpPr txBox="1"/>
          <p:nvPr/>
        </p:nvSpPr>
        <p:spPr>
          <a:xfrm>
            <a:off x="411480" y="2153412"/>
            <a:ext cx="5829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800"/>
              <a:buFont typeface="Calibri"/>
              <a:buNone/>
            </a:pPr>
            <a:r>
              <a:rPr b="1" i="0" lang="zh-CN" sz="800" u="none" cap="none" strike="noStrike">
                <a:solidFill>
                  <a:srgbClr val="6B7178"/>
                </a:solidFill>
                <a:latin typeface="Calibri"/>
                <a:ea typeface="Calibri"/>
                <a:cs typeface="Calibri"/>
                <a:sym typeface="Calibri"/>
              </a:rPr>
              <a:t>LEVEL 4</a:t>
            </a:r>
            <a:endParaRPr b="0" i="0" sz="800" u="none" cap="none" strike="noStrike">
              <a:solidFill>
                <a:schemeClr val="dk1"/>
              </a:solidFill>
              <a:latin typeface="Calibri"/>
              <a:ea typeface="Calibri"/>
              <a:cs typeface="Calibri"/>
              <a:sym typeface="Calibri"/>
            </a:endParaRPr>
          </a:p>
        </p:txBody>
      </p:sp>
      <p:sp>
        <p:nvSpPr>
          <p:cNvPr id="101" name="Google Shape;101;p17"/>
          <p:cNvSpPr/>
          <p:nvPr/>
        </p:nvSpPr>
        <p:spPr>
          <a:xfrm>
            <a:off x="1062990" y="1961388"/>
            <a:ext cx="7667244" cy="562356"/>
          </a:xfrm>
          <a:prstGeom prst="roundRect">
            <a:avLst>
              <a:gd fmla="val 8537" name="adj"/>
            </a:avLst>
          </a:prstGeom>
          <a:solidFill>
            <a:srgbClr val="B85C1A"/>
          </a:solidFill>
          <a:ln cap="flat" cmpd="sng" w="9525">
            <a:solidFill>
              <a:srgbClr val="B85C1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7"/>
          <p:cNvSpPr txBox="1"/>
          <p:nvPr/>
        </p:nvSpPr>
        <p:spPr>
          <a:xfrm>
            <a:off x="1268730" y="2043684"/>
            <a:ext cx="507492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mbria"/>
              <a:buNone/>
            </a:pPr>
            <a:r>
              <a:rPr b="1" i="0" lang="zh-CN" sz="1200" u="none" cap="none" strike="noStrike">
                <a:solidFill>
                  <a:srgbClr val="FFFFFF"/>
                </a:solidFill>
                <a:latin typeface="Cambria"/>
                <a:ea typeface="Cambria"/>
                <a:cs typeface="Cambria"/>
                <a:sym typeface="Cambria"/>
              </a:rPr>
              <a:t>Project delivery: design, permits, contracts</a:t>
            </a:r>
            <a:endParaRPr b="0" i="0" sz="1200" u="none" cap="none" strike="noStrike">
              <a:solidFill>
                <a:schemeClr val="dk1"/>
              </a:solidFill>
              <a:latin typeface="Calibri"/>
              <a:ea typeface="Calibri"/>
              <a:cs typeface="Calibri"/>
              <a:sym typeface="Calibri"/>
            </a:endParaRPr>
          </a:p>
        </p:txBody>
      </p:sp>
      <p:sp>
        <p:nvSpPr>
          <p:cNvPr id="103" name="Google Shape;103;p17"/>
          <p:cNvSpPr txBox="1"/>
          <p:nvPr/>
        </p:nvSpPr>
        <p:spPr>
          <a:xfrm>
            <a:off x="1268730" y="2269998"/>
            <a:ext cx="54864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E3D4"/>
              </a:buClr>
              <a:buSzPts val="900"/>
              <a:buFont typeface="Calibri"/>
              <a:buNone/>
            </a:pPr>
            <a:r>
              <a:rPr b="0" i="0" lang="zh-CN" sz="900" u="none" cap="none" strike="noStrike">
                <a:solidFill>
                  <a:srgbClr val="F4E3D4"/>
                </a:solidFill>
                <a:latin typeface="Calibri"/>
                <a:ea typeface="Calibri"/>
                <a:cs typeface="Calibri"/>
                <a:sym typeface="Calibri"/>
              </a:rPr>
              <a:t>Every building a one-off prototype. Sequential handoffs, dozens of separate contracts, codes that change by jurisdiction</a:t>
            </a:r>
            <a:endParaRPr b="0" i="0" sz="900" u="none" cap="none" strike="noStrike">
              <a:solidFill>
                <a:schemeClr val="dk1"/>
              </a:solidFill>
              <a:latin typeface="Calibri"/>
              <a:ea typeface="Calibri"/>
              <a:cs typeface="Calibri"/>
              <a:sym typeface="Calibri"/>
            </a:endParaRPr>
          </a:p>
        </p:txBody>
      </p:sp>
      <p:sp>
        <p:nvSpPr>
          <p:cNvPr id="104" name="Google Shape;104;p17"/>
          <p:cNvSpPr txBox="1"/>
          <p:nvPr/>
        </p:nvSpPr>
        <p:spPr>
          <a:xfrm>
            <a:off x="6858000" y="2153412"/>
            <a:ext cx="168021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800"/>
              <a:buFont typeface="Calibri"/>
              <a:buNone/>
            </a:pPr>
            <a:r>
              <a:rPr b="1" i="0" lang="zh-CN" sz="800" u="none" cap="none" strike="noStrike">
                <a:solidFill>
                  <a:srgbClr val="FFFFFF"/>
                </a:solidFill>
                <a:latin typeface="Calibri"/>
                <a:ea typeface="Calibri"/>
                <a:cs typeface="Calibri"/>
                <a:sym typeface="Calibri"/>
              </a:rPr>
              <a:t>THE CONSTRAINT</a:t>
            </a:r>
            <a:endParaRPr b="0" i="0" sz="800" u="none" cap="none" strike="noStrike">
              <a:solidFill>
                <a:schemeClr val="dk1"/>
              </a:solidFill>
              <a:latin typeface="Calibri"/>
              <a:ea typeface="Calibri"/>
              <a:cs typeface="Calibri"/>
              <a:sym typeface="Calibri"/>
            </a:endParaRPr>
          </a:p>
        </p:txBody>
      </p:sp>
      <p:sp>
        <p:nvSpPr>
          <p:cNvPr id="105" name="Google Shape;105;p17"/>
          <p:cNvSpPr txBox="1"/>
          <p:nvPr/>
        </p:nvSpPr>
        <p:spPr>
          <a:xfrm>
            <a:off x="411480" y="2811780"/>
            <a:ext cx="5829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800"/>
              <a:buFont typeface="Calibri"/>
              <a:buNone/>
            </a:pPr>
            <a:r>
              <a:rPr b="1" i="0" lang="zh-CN" sz="800" u="none" cap="none" strike="noStrike">
                <a:solidFill>
                  <a:srgbClr val="6B7178"/>
                </a:solidFill>
                <a:latin typeface="Calibri"/>
                <a:ea typeface="Calibri"/>
                <a:cs typeface="Calibri"/>
                <a:sym typeface="Calibri"/>
              </a:rPr>
              <a:t>LEVEL 3</a:t>
            </a:r>
            <a:endParaRPr b="0" i="0" sz="800" u="none" cap="none" strike="noStrike">
              <a:solidFill>
                <a:schemeClr val="dk1"/>
              </a:solidFill>
              <a:latin typeface="Calibri"/>
              <a:ea typeface="Calibri"/>
              <a:cs typeface="Calibri"/>
              <a:sym typeface="Calibri"/>
            </a:endParaRPr>
          </a:p>
        </p:txBody>
      </p:sp>
      <p:sp>
        <p:nvSpPr>
          <p:cNvPr id="106" name="Google Shape;106;p17"/>
          <p:cNvSpPr/>
          <p:nvPr/>
        </p:nvSpPr>
        <p:spPr>
          <a:xfrm>
            <a:off x="1062990" y="2619756"/>
            <a:ext cx="7667244" cy="562356"/>
          </a:xfrm>
          <a:prstGeom prst="roundRect">
            <a:avLst>
              <a:gd fmla="val 8537" name="adj"/>
            </a:avLst>
          </a:prstGeom>
          <a:solidFill>
            <a:srgbClr val="16191D"/>
          </a:solidFill>
          <a:ln cap="flat" cmpd="sng" w="9525">
            <a:solidFill>
              <a:srgbClr val="16191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7"/>
          <p:cNvSpPr txBox="1"/>
          <p:nvPr/>
        </p:nvSpPr>
        <p:spPr>
          <a:xfrm>
            <a:off x="1268730" y="2702052"/>
            <a:ext cx="507492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mbria"/>
              <a:buNone/>
            </a:pPr>
            <a:r>
              <a:rPr b="1" i="0" lang="zh-CN" sz="1200" u="none" cap="none" strike="noStrike">
                <a:solidFill>
                  <a:srgbClr val="FFFFFF"/>
                </a:solidFill>
                <a:latin typeface="Cambria"/>
                <a:ea typeface="Cambria"/>
                <a:cs typeface="Cambria"/>
                <a:sym typeface="Cambria"/>
              </a:rPr>
              <a:t>The project</a:t>
            </a:r>
            <a:endParaRPr b="0" i="0" sz="1200" u="none" cap="none" strike="noStrike">
              <a:solidFill>
                <a:schemeClr val="dk1"/>
              </a:solidFill>
              <a:latin typeface="Calibri"/>
              <a:ea typeface="Calibri"/>
              <a:cs typeface="Calibri"/>
              <a:sym typeface="Calibri"/>
            </a:endParaRPr>
          </a:p>
        </p:txBody>
      </p:sp>
      <p:sp>
        <p:nvSpPr>
          <p:cNvPr id="108" name="Google Shape;108;p17"/>
          <p:cNvSpPr txBox="1"/>
          <p:nvPr/>
        </p:nvSpPr>
        <p:spPr>
          <a:xfrm>
            <a:off x="1268730" y="2928366"/>
            <a:ext cx="54864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C8CE"/>
              </a:buClr>
              <a:buSzPts val="900"/>
              <a:buFont typeface="Calibri"/>
              <a:buNone/>
            </a:pPr>
            <a:r>
              <a:rPr b="0" i="0" lang="zh-CN" sz="900" u="none" cap="none" strike="noStrike">
                <a:solidFill>
                  <a:srgbClr val="C3C8CE"/>
                </a:solidFill>
                <a:latin typeface="Calibri"/>
                <a:ea typeface="Calibri"/>
                <a:cs typeface="Calibri"/>
                <a:sym typeface="Calibri"/>
              </a:rPr>
              <a:t>Budget, schedule, scope. The unit everyone is accountable to and nobody owns end to end</a:t>
            </a:r>
            <a:endParaRPr b="0" i="0" sz="900" u="none" cap="none" strike="noStrike">
              <a:solidFill>
                <a:schemeClr val="dk1"/>
              </a:solidFill>
              <a:latin typeface="Calibri"/>
              <a:ea typeface="Calibri"/>
              <a:cs typeface="Calibri"/>
              <a:sym typeface="Calibri"/>
            </a:endParaRPr>
          </a:p>
        </p:txBody>
      </p:sp>
      <p:sp>
        <p:nvSpPr>
          <p:cNvPr id="109" name="Google Shape;109;p17"/>
          <p:cNvSpPr txBox="1"/>
          <p:nvPr/>
        </p:nvSpPr>
        <p:spPr>
          <a:xfrm>
            <a:off x="6858000" y="2811780"/>
            <a:ext cx="168021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800"/>
              <a:buFont typeface="Calibri"/>
              <a:buNone/>
            </a:pPr>
            <a:r>
              <a:rPr b="1" i="0" lang="zh-CN" sz="800" u="none" cap="none" strike="noStrike">
                <a:solidFill>
                  <a:srgbClr val="FFFFFF"/>
                </a:solidFill>
                <a:latin typeface="Calibri"/>
                <a:ea typeface="Calibri"/>
                <a:cs typeface="Calibri"/>
                <a:sym typeface="Calibri"/>
              </a:rPr>
              <a:t>FOCAL POINT</a:t>
            </a:r>
            <a:endParaRPr b="0" i="0" sz="800" u="none" cap="none" strike="noStrike">
              <a:solidFill>
                <a:schemeClr val="dk1"/>
              </a:solidFill>
              <a:latin typeface="Calibri"/>
              <a:ea typeface="Calibri"/>
              <a:cs typeface="Calibri"/>
              <a:sym typeface="Calibri"/>
            </a:endParaRPr>
          </a:p>
        </p:txBody>
      </p:sp>
      <p:sp>
        <p:nvSpPr>
          <p:cNvPr id="110" name="Google Shape;110;p17"/>
          <p:cNvSpPr txBox="1"/>
          <p:nvPr/>
        </p:nvSpPr>
        <p:spPr>
          <a:xfrm>
            <a:off x="411480" y="3470148"/>
            <a:ext cx="5829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800"/>
              <a:buFont typeface="Calibri"/>
              <a:buNone/>
            </a:pPr>
            <a:r>
              <a:rPr b="1" i="0" lang="zh-CN" sz="800" u="none" cap="none" strike="noStrike">
                <a:solidFill>
                  <a:srgbClr val="6B7178"/>
                </a:solidFill>
                <a:latin typeface="Calibri"/>
                <a:ea typeface="Calibri"/>
                <a:cs typeface="Calibri"/>
                <a:sym typeface="Calibri"/>
              </a:rPr>
              <a:t>LEVEL 2</a:t>
            </a:r>
            <a:endParaRPr b="0" i="0" sz="800" u="none" cap="none" strike="noStrike">
              <a:solidFill>
                <a:schemeClr val="dk1"/>
              </a:solidFill>
              <a:latin typeface="Calibri"/>
              <a:ea typeface="Calibri"/>
              <a:cs typeface="Calibri"/>
              <a:sym typeface="Calibri"/>
            </a:endParaRPr>
          </a:p>
        </p:txBody>
      </p:sp>
      <p:sp>
        <p:nvSpPr>
          <p:cNvPr id="111" name="Google Shape;111;p17"/>
          <p:cNvSpPr/>
          <p:nvPr/>
        </p:nvSpPr>
        <p:spPr>
          <a:xfrm>
            <a:off x="1062990" y="3278124"/>
            <a:ext cx="7667244" cy="562356"/>
          </a:xfrm>
          <a:prstGeom prst="roundRect">
            <a:avLst>
              <a:gd fmla="val 8537"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7"/>
          <p:cNvSpPr txBox="1"/>
          <p:nvPr/>
        </p:nvSpPr>
        <p:spPr>
          <a:xfrm>
            <a:off x="1268730" y="3360420"/>
            <a:ext cx="50748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200"/>
              <a:buFont typeface="Cambria"/>
              <a:buNone/>
            </a:pPr>
            <a:r>
              <a:rPr b="1" i="0" lang="zh-CN" sz="1200" u="none" cap="none" strike="noStrike">
                <a:solidFill>
                  <a:srgbClr val="16191D"/>
                </a:solidFill>
                <a:latin typeface="Cambria"/>
                <a:ea typeface="Cambria"/>
                <a:cs typeface="Cambria"/>
                <a:sym typeface="Cambria"/>
              </a:rPr>
              <a:t>Crews</a:t>
            </a:r>
            <a:r>
              <a:rPr b="1" lang="zh-CN" sz="1200">
                <a:solidFill>
                  <a:srgbClr val="16191D"/>
                </a:solidFill>
                <a:latin typeface="Cambria"/>
                <a:ea typeface="Cambria"/>
                <a:cs typeface="Cambria"/>
                <a:sym typeface="Cambria"/>
              </a:rPr>
              <a:t> and </a:t>
            </a:r>
            <a:r>
              <a:rPr b="1" i="0" lang="zh-CN" sz="1200" u="none" cap="none" strike="noStrike">
                <a:solidFill>
                  <a:srgbClr val="16191D"/>
                </a:solidFill>
                <a:latin typeface="Cambria"/>
                <a:ea typeface="Cambria"/>
                <a:cs typeface="Cambria"/>
                <a:sym typeface="Cambria"/>
              </a:rPr>
              <a:t>machines</a:t>
            </a:r>
            <a:endParaRPr b="0" i="0" sz="1200" u="none" cap="none" strike="noStrike">
              <a:solidFill>
                <a:schemeClr val="dk1"/>
              </a:solidFill>
              <a:latin typeface="Calibri"/>
              <a:ea typeface="Calibri"/>
              <a:cs typeface="Calibri"/>
              <a:sym typeface="Calibri"/>
            </a:endParaRPr>
          </a:p>
        </p:txBody>
      </p:sp>
      <p:sp>
        <p:nvSpPr>
          <p:cNvPr id="113" name="Google Shape;113;p17"/>
          <p:cNvSpPr txBox="1"/>
          <p:nvPr/>
        </p:nvSpPr>
        <p:spPr>
          <a:xfrm>
            <a:off x="1268730" y="3586734"/>
            <a:ext cx="54864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Dozers, cranes, drills, robots</a:t>
            </a:r>
            <a:r>
              <a:rPr lang="zh-CN" sz="900">
                <a:solidFill>
                  <a:srgbClr val="3E434A"/>
                </a:solidFill>
                <a:latin typeface="Calibri"/>
                <a:ea typeface="Calibri"/>
                <a:cs typeface="Calibri"/>
                <a:sym typeface="Calibri"/>
              </a:rPr>
              <a:t>, </a:t>
            </a:r>
            <a:r>
              <a:rPr b="0" i="0" lang="zh-CN" sz="900" u="none" cap="none" strike="noStrike">
                <a:solidFill>
                  <a:srgbClr val="3E434A"/>
                </a:solidFill>
                <a:latin typeface="Calibri"/>
                <a:ea typeface="Calibri"/>
                <a:cs typeface="Calibri"/>
                <a:sym typeface="Calibri"/>
              </a:rPr>
              <a:t>trades, inspections. Where coordination failures surface as rework</a:t>
            </a:r>
            <a:endParaRPr b="0" i="0" sz="900" u="none" cap="none" strike="noStrike">
              <a:solidFill>
                <a:schemeClr val="dk1"/>
              </a:solidFill>
              <a:latin typeface="Calibri"/>
              <a:ea typeface="Calibri"/>
              <a:cs typeface="Calibri"/>
              <a:sym typeface="Calibri"/>
            </a:endParaRPr>
          </a:p>
        </p:txBody>
      </p:sp>
      <p:sp>
        <p:nvSpPr>
          <p:cNvPr id="114" name="Google Shape;114;p17"/>
          <p:cNvSpPr txBox="1"/>
          <p:nvPr/>
        </p:nvSpPr>
        <p:spPr>
          <a:xfrm>
            <a:off x="411480" y="4128516"/>
            <a:ext cx="5829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800"/>
              <a:buFont typeface="Calibri"/>
              <a:buNone/>
            </a:pPr>
            <a:r>
              <a:rPr b="1" i="0" lang="zh-CN" sz="800" u="none" cap="none" strike="noStrike">
                <a:solidFill>
                  <a:srgbClr val="6B7178"/>
                </a:solidFill>
                <a:latin typeface="Calibri"/>
                <a:ea typeface="Calibri"/>
                <a:cs typeface="Calibri"/>
                <a:sym typeface="Calibri"/>
              </a:rPr>
              <a:t>LEVEL 1</a:t>
            </a:r>
            <a:endParaRPr b="0" i="0" sz="800" u="none" cap="none" strike="noStrike">
              <a:solidFill>
                <a:schemeClr val="dk1"/>
              </a:solidFill>
              <a:latin typeface="Calibri"/>
              <a:ea typeface="Calibri"/>
              <a:cs typeface="Calibri"/>
              <a:sym typeface="Calibri"/>
            </a:endParaRPr>
          </a:p>
        </p:txBody>
      </p:sp>
      <p:sp>
        <p:nvSpPr>
          <p:cNvPr id="115" name="Google Shape;115;p17"/>
          <p:cNvSpPr/>
          <p:nvPr/>
        </p:nvSpPr>
        <p:spPr>
          <a:xfrm>
            <a:off x="1062990" y="3936492"/>
            <a:ext cx="7667244" cy="562356"/>
          </a:xfrm>
          <a:prstGeom prst="roundRect">
            <a:avLst>
              <a:gd fmla="val 8537"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7"/>
          <p:cNvSpPr txBox="1"/>
          <p:nvPr/>
        </p:nvSpPr>
        <p:spPr>
          <a:xfrm>
            <a:off x="1268730" y="4018788"/>
            <a:ext cx="507492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200"/>
              <a:buFont typeface="Cambria"/>
              <a:buNone/>
            </a:pPr>
            <a:r>
              <a:rPr b="1" i="0" lang="zh-CN" sz="1200" u="none" cap="none" strike="noStrike">
                <a:solidFill>
                  <a:srgbClr val="16191D"/>
                </a:solidFill>
                <a:latin typeface="Cambria"/>
                <a:ea typeface="Cambria"/>
                <a:cs typeface="Cambria"/>
                <a:sym typeface="Cambria"/>
              </a:rPr>
              <a:t>Tools and raw materials</a:t>
            </a:r>
            <a:endParaRPr b="0" i="0" sz="1200" u="none" cap="none" strike="noStrike">
              <a:solidFill>
                <a:schemeClr val="dk1"/>
              </a:solidFill>
              <a:latin typeface="Calibri"/>
              <a:ea typeface="Calibri"/>
              <a:cs typeface="Calibri"/>
              <a:sym typeface="Calibri"/>
            </a:endParaRPr>
          </a:p>
        </p:txBody>
      </p:sp>
      <p:sp>
        <p:nvSpPr>
          <p:cNvPr id="117" name="Google Shape;117;p17"/>
          <p:cNvSpPr txBox="1"/>
          <p:nvPr/>
        </p:nvSpPr>
        <p:spPr>
          <a:xfrm>
            <a:off x="1268730" y="4245102"/>
            <a:ext cx="54864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Already transformed since 2000. This is where our first instincts pointed</a:t>
            </a:r>
            <a:endParaRPr b="0" i="0" sz="900" u="none" cap="none" strike="noStrike">
              <a:solidFill>
                <a:schemeClr val="dk1"/>
              </a:solidFill>
              <a:latin typeface="Calibri"/>
              <a:ea typeface="Calibri"/>
              <a:cs typeface="Calibri"/>
              <a:sym typeface="Calibri"/>
            </a:endParaRPr>
          </a:p>
        </p:txBody>
      </p:sp>
      <p:sp>
        <p:nvSpPr>
          <p:cNvPr id="118" name="Google Shape;118;p17"/>
          <p:cNvSpPr txBox="1"/>
          <p:nvPr/>
        </p:nvSpPr>
        <p:spPr>
          <a:xfrm>
            <a:off x="1062990" y="4649724"/>
            <a:ext cx="766724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1000"/>
              <a:buFont typeface="Calibri"/>
              <a:buNone/>
            </a:pPr>
            <a:r>
              <a:rPr b="1" i="0" lang="zh-CN" sz="1000" u="none" cap="none" strike="noStrike">
                <a:solidFill>
                  <a:srgbClr val="B85C1A"/>
                </a:solidFill>
                <a:latin typeface="Calibri"/>
                <a:ea typeface="Calibri"/>
                <a:cs typeface="Calibri"/>
                <a:sym typeface="Calibri"/>
              </a:rPr>
              <a:t>Manufacturing got its gains from repetition. Construction redesigns, repermits and recontracts every single time, so nothing compounds.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123" name="Shape 123"/>
        <p:cNvGrpSpPr/>
        <p:nvPr/>
      </p:nvGrpSpPr>
      <p:grpSpPr>
        <a:xfrm>
          <a:off x="0" y="0"/>
          <a:ext cx="0" cy="0"/>
          <a:chOff x="0" y="0"/>
          <a:chExt cx="0" cy="0"/>
        </a:xfrm>
      </p:grpSpPr>
      <p:sp>
        <p:nvSpPr>
          <p:cNvPr id="124" name="Google Shape;124;p18"/>
          <p:cNvSpPr txBox="1"/>
          <p:nvPr/>
        </p:nvSpPr>
        <p:spPr>
          <a:xfrm>
            <a:off x="411480" y="342900"/>
            <a:ext cx="83187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600"/>
              <a:buFont typeface="Cambria"/>
              <a:buNone/>
            </a:pPr>
            <a:r>
              <a:rPr b="0" i="0" lang="zh-CN" sz="2600" u="none" cap="none" strike="noStrike">
                <a:solidFill>
                  <a:srgbClr val="16191D"/>
                </a:solidFill>
                <a:latin typeface="Cambria"/>
                <a:ea typeface="Cambria"/>
                <a:cs typeface="Cambria"/>
                <a:sym typeface="Cambria"/>
              </a:rPr>
              <a:t>The test case: somebody already tried</a:t>
            </a:r>
            <a:endParaRPr b="0" i="0" sz="2600" u="none" cap="none" strike="noStrike">
              <a:solidFill>
                <a:schemeClr val="dk1"/>
              </a:solidFill>
              <a:latin typeface="Calibri"/>
              <a:ea typeface="Calibri"/>
              <a:cs typeface="Calibri"/>
              <a:sym typeface="Calibri"/>
            </a:endParaRPr>
          </a:p>
        </p:txBody>
      </p:sp>
      <p:sp>
        <p:nvSpPr>
          <p:cNvPr id="125" name="Google Shape;125;p18"/>
          <p:cNvSpPr txBox="1"/>
          <p:nvPr/>
        </p:nvSpPr>
        <p:spPr>
          <a:xfrm>
            <a:off x="411480" y="877824"/>
            <a:ext cx="7818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zh-CN" sz="1100" u="none" cap="none" strike="noStrike">
                <a:solidFill>
                  <a:srgbClr val="6B7178"/>
                </a:solidFill>
                <a:latin typeface="Calibri"/>
                <a:ea typeface="Calibri"/>
                <a:cs typeface="Calibri"/>
                <a:sym typeface="Calibri"/>
              </a:rPr>
              <a:t>Katerra set out to turn construction into manufacturing. It is the cleanest natural experiment we have for which level the constraint sits on.</a:t>
            </a:r>
            <a:endParaRPr b="0" i="0" sz="1100" u="none" cap="none" strike="noStrike">
              <a:solidFill>
                <a:schemeClr val="dk1"/>
              </a:solidFill>
              <a:latin typeface="Calibri"/>
              <a:ea typeface="Calibri"/>
              <a:cs typeface="Calibri"/>
              <a:sym typeface="Calibri"/>
            </a:endParaRPr>
          </a:p>
        </p:txBody>
      </p:sp>
      <p:sp>
        <p:nvSpPr>
          <p:cNvPr id="126" name="Google Shape;126;p18"/>
          <p:cNvSpPr/>
          <p:nvPr/>
        </p:nvSpPr>
        <p:spPr>
          <a:xfrm>
            <a:off x="411480" y="1268730"/>
            <a:ext cx="1920240" cy="754380"/>
          </a:xfrm>
          <a:prstGeom prst="roundRect">
            <a:avLst>
              <a:gd fmla="val 72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8"/>
          <p:cNvSpPr txBox="1"/>
          <p:nvPr/>
        </p:nvSpPr>
        <p:spPr>
          <a:xfrm>
            <a:off x="582930" y="1371600"/>
            <a:ext cx="15773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1800"/>
              <a:buFont typeface="Cambria"/>
              <a:buNone/>
            </a:pPr>
            <a:r>
              <a:rPr b="1" i="0" lang="zh-CN" sz="1800" u="none" cap="none" strike="noStrike">
                <a:solidFill>
                  <a:srgbClr val="B85C1A"/>
                </a:solidFill>
                <a:latin typeface="Cambria"/>
                <a:ea typeface="Cambria"/>
                <a:cs typeface="Cambria"/>
                <a:sym typeface="Cambria"/>
              </a:rPr>
              <a:t>2015</a:t>
            </a:r>
            <a:endParaRPr b="0" i="0" sz="1800" u="none" cap="none" strike="noStrike">
              <a:solidFill>
                <a:schemeClr val="dk1"/>
              </a:solidFill>
              <a:latin typeface="Calibri"/>
              <a:ea typeface="Calibri"/>
              <a:cs typeface="Calibri"/>
              <a:sym typeface="Calibri"/>
            </a:endParaRPr>
          </a:p>
        </p:txBody>
      </p:sp>
      <p:sp>
        <p:nvSpPr>
          <p:cNvPr id="128" name="Google Shape;128;p18"/>
          <p:cNvSpPr txBox="1"/>
          <p:nvPr/>
        </p:nvSpPr>
        <p:spPr>
          <a:xfrm>
            <a:off x="582930" y="1693926"/>
            <a:ext cx="161163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founded</a:t>
            </a:r>
            <a:endParaRPr b="0" i="0" sz="900" u="none" cap="none" strike="noStrike">
              <a:solidFill>
                <a:schemeClr val="dk1"/>
              </a:solidFill>
              <a:latin typeface="Calibri"/>
              <a:ea typeface="Calibri"/>
              <a:cs typeface="Calibri"/>
              <a:sym typeface="Calibri"/>
            </a:endParaRPr>
          </a:p>
        </p:txBody>
      </p:sp>
      <p:sp>
        <p:nvSpPr>
          <p:cNvPr id="129" name="Google Shape;129;p18"/>
          <p:cNvSpPr/>
          <p:nvPr/>
        </p:nvSpPr>
        <p:spPr>
          <a:xfrm>
            <a:off x="2544318" y="1268730"/>
            <a:ext cx="1920240" cy="754380"/>
          </a:xfrm>
          <a:prstGeom prst="roundRect">
            <a:avLst>
              <a:gd fmla="val 72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18"/>
          <p:cNvSpPr txBox="1"/>
          <p:nvPr/>
        </p:nvSpPr>
        <p:spPr>
          <a:xfrm>
            <a:off x="2715768" y="1371600"/>
            <a:ext cx="15773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1800"/>
              <a:buFont typeface="Cambria"/>
              <a:buNone/>
            </a:pPr>
            <a:r>
              <a:rPr b="1" i="0" lang="zh-CN" sz="1800" u="none" cap="none" strike="noStrike">
                <a:solidFill>
                  <a:srgbClr val="B85C1A"/>
                </a:solidFill>
                <a:latin typeface="Cambria"/>
                <a:ea typeface="Cambria"/>
                <a:cs typeface="Cambria"/>
                <a:sym typeface="Cambria"/>
              </a:rPr>
              <a:t>$2B+</a:t>
            </a:r>
            <a:endParaRPr b="0" i="0" sz="1800" u="none" cap="none" strike="noStrike">
              <a:solidFill>
                <a:schemeClr val="dk1"/>
              </a:solidFill>
              <a:latin typeface="Calibri"/>
              <a:ea typeface="Calibri"/>
              <a:cs typeface="Calibri"/>
              <a:sym typeface="Calibri"/>
            </a:endParaRPr>
          </a:p>
        </p:txBody>
      </p:sp>
      <p:sp>
        <p:nvSpPr>
          <p:cNvPr id="131" name="Google Shape;131;p18"/>
          <p:cNvSpPr txBox="1"/>
          <p:nvPr/>
        </p:nvSpPr>
        <p:spPr>
          <a:xfrm>
            <a:off x="2715768" y="1693926"/>
            <a:ext cx="161163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raised, mostly SoftBank</a:t>
            </a:r>
            <a:endParaRPr b="0" i="0" sz="900" u="none" cap="none" strike="noStrike">
              <a:solidFill>
                <a:schemeClr val="dk1"/>
              </a:solidFill>
              <a:latin typeface="Calibri"/>
              <a:ea typeface="Calibri"/>
              <a:cs typeface="Calibri"/>
              <a:sym typeface="Calibri"/>
            </a:endParaRPr>
          </a:p>
        </p:txBody>
      </p:sp>
      <p:sp>
        <p:nvSpPr>
          <p:cNvPr id="132" name="Google Shape;132;p18"/>
          <p:cNvSpPr/>
          <p:nvPr/>
        </p:nvSpPr>
        <p:spPr>
          <a:xfrm>
            <a:off x="4677156" y="1268730"/>
            <a:ext cx="1920240" cy="754380"/>
          </a:xfrm>
          <a:prstGeom prst="roundRect">
            <a:avLst>
              <a:gd fmla="val 72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18"/>
          <p:cNvSpPr txBox="1"/>
          <p:nvPr/>
        </p:nvSpPr>
        <p:spPr>
          <a:xfrm>
            <a:off x="4848606" y="1371600"/>
            <a:ext cx="15773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1800"/>
              <a:buFont typeface="Cambria"/>
              <a:buNone/>
            </a:pPr>
            <a:r>
              <a:rPr b="1" i="0" lang="zh-CN" sz="1800" u="none" cap="none" strike="noStrike">
                <a:solidFill>
                  <a:srgbClr val="B85C1A"/>
                </a:solidFill>
                <a:latin typeface="Cambria"/>
                <a:ea typeface="Cambria"/>
                <a:cs typeface="Cambria"/>
                <a:sym typeface="Cambria"/>
              </a:rPr>
              <a:t>Jun 2021</a:t>
            </a:r>
            <a:endParaRPr b="0" i="0" sz="1800" u="none" cap="none" strike="noStrike">
              <a:solidFill>
                <a:schemeClr val="dk1"/>
              </a:solidFill>
              <a:latin typeface="Calibri"/>
              <a:ea typeface="Calibri"/>
              <a:cs typeface="Calibri"/>
              <a:sym typeface="Calibri"/>
            </a:endParaRPr>
          </a:p>
        </p:txBody>
      </p:sp>
      <p:sp>
        <p:nvSpPr>
          <p:cNvPr id="134" name="Google Shape;134;p18"/>
          <p:cNvSpPr txBox="1"/>
          <p:nvPr/>
        </p:nvSpPr>
        <p:spPr>
          <a:xfrm>
            <a:off x="4848606" y="1693926"/>
            <a:ext cx="161163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Chapter 11 bankruptcy</a:t>
            </a:r>
            <a:endParaRPr b="0" i="0" sz="900" u="none" cap="none" strike="noStrike">
              <a:solidFill>
                <a:schemeClr val="dk1"/>
              </a:solidFill>
              <a:latin typeface="Calibri"/>
              <a:ea typeface="Calibri"/>
              <a:cs typeface="Calibri"/>
              <a:sym typeface="Calibri"/>
            </a:endParaRPr>
          </a:p>
        </p:txBody>
      </p:sp>
      <p:sp>
        <p:nvSpPr>
          <p:cNvPr id="135" name="Google Shape;135;p18"/>
          <p:cNvSpPr/>
          <p:nvPr/>
        </p:nvSpPr>
        <p:spPr>
          <a:xfrm>
            <a:off x="6809994" y="1268730"/>
            <a:ext cx="1920240" cy="754380"/>
          </a:xfrm>
          <a:prstGeom prst="roundRect">
            <a:avLst>
              <a:gd fmla="val 72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18"/>
          <p:cNvSpPr txBox="1"/>
          <p:nvPr/>
        </p:nvSpPr>
        <p:spPr>
          <a:xfrm>
            <a:off x="6981444" y="1371600"/>
            <a:ext cx="15773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1800"/>
              <a:buFont typeface="Cambria"/>
              <a:buNone/>
            </a:pPr>
            <a:r>
              <a:rPr b="1" i="0" lang="zh-CN" sz="1800" u="none" cap="none" strike="noStrike">
                <a:solidFill>
                  <a:srgbClr val="B85C1A"/>
                </a:solidFill>
                <a:latin typeface="Cambria"/>
                <a:ea typeface="Cambria"/>
                <a:cs typeface="Cambria"/>
                <a:sym typeface="Cambria"/>
              </a:rPr>
              <a:t>$21.25M</a:t>
            </a:r>
            <a:endParaRPr b="0" i="0" sz="1800" u="none" cap="none" strike="noStrike">
              <a:solidFill>
                <a:schemeClr val="dk1"/>
              </a:solidFill>
              <a:latin typeface="Calibri"/>
              <a:ea typeface="Calibri"/>
              <a:cs typeface="Calibri"/>
              <a:sym typeface="Calibri"/>
            </a:endParaRPr>
          </a:p>
        </p:txBody>
      </p:sp>
      <p:sp>
        <p:nvSpPr>
          <p:cNvPr id="137" name="Google Shape;137;p18"/>
          <p:cNvSpPr txBox="1"/>
          <p:nvPr/>
        </p:nvSpPr>
        <p:spPr>
          <a:xfrm>
            <a:off x="6981444" y="1693926"/>
            <a:ext cx="161163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price of its California factory</a:t>
            </a:r>
            <a:endParaRPr b="0" i="0" sz="900" u="none" cap="none" strike="noStrike">
              <a:solidFill>
                <a:schemeClr val="dk1"/>
              </a:solidFill>
              <a:latin typeface="Calibri"/>
              <a:ea typeface="Calibri"/>
              <a:cs typeface="Calibri"/>
              <a:sym typeface="Calibri"/>
            </a:endParaRPr>
          </a:p>
        </p:txBody>
      </p:sp>
      <p:sp>
        <p:nvSpPr>
          <p:cNvPr id="138" name="Google Shape;138;p18"/>
          <p:cNvSpPr/>
          <p:nvPr/>
        </p:nvSpPr>
        <p:spPr>
          <a:xfrm>
            <a:off x="411480" y="2228850"/>
            <a:ext cx="4018788" cy="2331720"/>
          </a:xfrm>
          <a:prstGeom prst="roundRect">
            <a:avLst>
              <a:gd fmla="val 235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8"/>
          <p:cNvSpPr txBox="1"/>
          <p:nvPr/>
        </p:nvSpPr>
        <p:spPr>
          <a:xfrm>
            <a:off x="651510" y="2400300"/>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200"/>
              <a:buFont typeface="Cambria"/>
              <a:buNone/>
            </a:pPr>
            <a:r>
              <a:rPr b="1" i="0" lang="zh-CN" sz="1200" u="none" cap="none" strike="noStrike">
                <a:solidFill>
                  <a:srgbClr val="6B7178"/>
                </a:solidFill>
                <a:latin typeface="Cambria"/>
                <a:ea typeface="Cambria"/>
                <a:cs typeface="Cambria"/>
                <a:sym typeface="Cambria"/>
              </a:rPr>
              <a:t>What they fixed  ·  levels 1 and 2</a:t>
            </a:r>
            <a:endParaRPr b="0" i="0" sz="1200" u="none" cap="none" strike="noStrike">
              <a:solidFill>
                <a:schemeClr val="dk1"/>
              </a:solidFill>
              <a:latin typeface="Calibri"/>
              <a:ea typeface="Calibri"/>
              <a:cs typeface="Calibri"/>
              <a:sym typeface="Calibri"/>
            </a:endParaRPr>
          </a:p>
        </p:txBody>
      </p:sp>
      <p:sp>
        <p:nvSpPr>
          <p:cNvPr id="140" name="Google Shape;140;p18"/>
          <p:cNvSpPr txBox="1"/>
          <p:nvPr/>
        </p:nvSpPr>
        <p:spPr>
          <a:xfrm>
            <a:off x="651510" y="2743200"/>
            <a:ext cx="3566160" cy="1645920"/>
          </a:xfrm>
          <a:prstGeom prst="rect">
            <a:avLst/>
          </a:prstGeom>
          <a:noFill/>
          <a:ln>
            <a:noFill/>
          </a:ln>
        </p:spPr>
        <p:txBody>
          <a:bodyPr anchorCtr="0" anchor="t" bIns="0" lIns="0" spcFirstLastPara="1" rIns="0" wrap="square" tIns="0">
            <a:noAutofit/>
          </a:bodyPr>
          <a:lstStyle/>
          <a:p>
            <a:pPr indent="-254000" lvl="0" marL="254000" marR="0" rtl="0" algn="l">
              <a:spcBef>
                <a:spcPts val="0"/>
              </a:spcBef>
              <a:spcAft>
                <a:spcPts val="0"/>
              </a:spcAft>
              <a:buClr>
                <a:srgbClr val="3E434A"/>
              </a:buClr>
              <a:buSzPts val="1000"/>
              <a:buFont typeface="Calibri"/>
              <a:buChar char="•"/>
            </a:pPr>
            <a:r>
              <a:rPr b="0" i="0" lang="zh-CN" sz="1000" u="none" cap="none" strike="noStrike">
                <a:solidFill>
                  <a:srgbClr val="3E434A"/>
                </a:solidFill>
                <a:latin typeface="Calibri"/>
                <a:ea typeface="Calibri"/>
                <a:cs typeface="Calibri"/>
                <a:sym typeface="Calibri"/>
              </a:rPr>
              <a:t>Built their own factories for walls, windows, cabinetry and trusses</a:t>
            </a:r>
            <a:endParaRPr b="0" i="0" sz="1000" u="none" cap="none" strike="noStrike">
              <a:solidFill>
                <a:schemeClr val="dk1"/>
              </a:solidFill>
              <a:latin typeface="Calibri"/>
              <a:ea typeface="Calibri"/>
              <a:cs typeface="Calibri"/>
              <a:sym typeface="Calibri"/>
            </a:endParaRPr>
          </a:p>
          <a:p>
            <a:pPr indent="-254000" lvl="0" marL="254000" marR="0" rtl="0" algn="l">
              <a:spcBef>
                <a:spcPts val="700"/>
              </a:spcBef>
              <a:spcAft>
                <a:spcPts val="0"/>
              </a:spcAft>
              <a:buClr>
                <a:srgbClr val="3E434A"/>
              </a:buClr>
              <a:buSzPts val="1000"/>
              <a:buFont typeface="Calibri"/>
              <a:buChar char="•"/>
            </a:pPr>
            <a:r>
              <a:rPr b="0" i="0" lang="zh-CN" sz="1000" u="none" cap="none" strike="noStrike">
                <a:solidFill>
                  <a:srgbClr val="3E434A"/>
                </a:solidFill>
                <a:latin typeface="Calibri"/>
                <a:ea typeface="Calibri"/>
                <a:cs typeface="Calibri"/>
                <a:sym typeface="Calibri"/>
              </a:rPr>
              <a:t>Acquired smaller firms to integrate the whole value chain</a:t>
            </a:r>
            <a:endParaRPr b="0" i="0" sz="1000" u="none" cap="none" strike="noStrike">
              <a:solidFill>
                <a:schemeClr val="dk1"/>
              </a:solidFill>
              <a:latin typeface="Calibri"/>
              <a:ea typeface="Calibri"/>
              <a:cs typeface="Calibri"/>
              <a:sym typeface="Calibri"/>
            </a:endParaRPr>
          </a:p>
          <a:p>
            <a:pPr indent="-254000" lvl="0" marL="254000" marR="0" rtl="0" algn="l">
              <a:spcBef>
                <a:spcPts val="700"/>
              </a:spcBef>
              <a:spcAft>
                <a:spcPts val="0"/>
              </a:spcAft>
              <a:buClr>
                <a:srgbClr val="3E434A"/>
              </a:buClr>
              <a:buSzPts val="1000"/>
              <a:buFont typeface="Calibri"/>
              <a:buChar char="•"/>
            </a:pPr>
            <a:r>
              <a:rPr b="0" i="0" lang="zh-CN" sz="1000" u="none" cap="none" strike="noStrike">
                <a:solidFill>
                  <a:srgbClr val="3E434A"/>
                </a:solidFill>
                <a:latin typeface="Calibri"/>
                <a:ea typeface="Calibri"/>
                <a:cs typeface="Calibri"/>
                <a:sym typeface="Calibri"/>
              </a:rPr>
              <a:t>Designed a standard apartment model to mass-produce</a:t>
            </a:r>
            <a:endParaRPr b="0" i="0" sz="1000" u="none" cap="none" strike="noStrike">
              <a:solidFill>
                <a:schemeClr val="dk1"/>
              </a:solidFill>
              <a:latin typeface="Calibri"/>
              <a:ea typeface="Calibri"/>
              <a:cs typeface="Calibri"/>
              <a:sym typeface="Calibri"/>
            </a:endParaRPr>
          </a:p>
          <a:p>
            <a:pPr indent="-254000" lvl="0" marL="254000" marR="0" rtl="0" algn="l">
              <a:spcBef>
                <a:spcPts val="700"/>
              </a:spcBef>
              <a:spcAft>
                <a:spcPts val="0"/>
              </a:spcAft>
              <a:buClr>
                <a:srgbClr val="3E434A"/>
              </a:buClr>
              <a:buSzPts val="1000"/>
              <a:buFont typeface="Calibri"/>
              <a:buChar char="•"/>
            </a:pPr>
            <a:r>
              <a:rPr b="0" i="0" lang="zh-CN" sz="1000" u="none" cap="none" strike="noStrike">
                <a:solidFill>
                  <a:srgbClr val="3E434A"/>
                </a:solidFill>
                <a:latin typeface="Calibri"/>
                <a:ea typeface="Calibri"/>
                <a:cs typeface="Calibri"/>
                <a:sym typeface="Calibri"/>
              </a:rPr>
              <a:t>Hired manufacturing leadership from the electronics industry</a:t>
            </a:r>
            <a:endParaRPr b="0" i="0" sz="1000" u="none" cap="none" strike="noStrike">
              <a:solidFill>
                <a:schemeClr val="dk1"/>
              </a:solidFill>
              <a:latin typeface="Calibri"/>
              <a:ea typeface="Calibri"/>
              <a:cs typeface="Calibri"/>
              <a:sym typeface="Calibri"/>
            </a:endParaRPr>
          </a:p>
        </p:txBody>
      </p:sp>
      <p:sp>
        <p:nvSpPr>
          <p:cNvPr id="141" name="Google Shape;141;p18"/>
          <p:cNvSpPr/>
          <p:nvPr/>
        </p:nvSpPr>
        <p:spPr>
          <a:xfrm>
            <a:off x="4711446" y="2228850"/>
            <a:ext cx="4018788" cy="2331720"/>
          </a:xfrm>
          <a:prstGeom prst="roundRect">
            <a:avLst>
              <a:gd fmla="val 2353" name="adj"/>
            </a:avLst>
          </a:prstGeom>
          <a:solidFill>
            <a:srgbClr val="16191D"/>
          </a:solidFill>
          <a:ln cap="flat" cmpd="sng" w="12700">
            <a:solidFill>
              <a:srgbClr val="16191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18"/>
          <p:cNvSpPr txBox="1"/>
          <p:nvPr/>
        </p:nvSpPr>
        <p:spPr>
          <a:xfrm>
            <a:off x="4951476" y="2400300"/>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1200"/>
              <a:buFont typeface="Cambria"/>
              <a:buNone/>
            </a:pPr>
            <a:r>
              <a:rPr b="1" i="0" lang="zh-CN" sz="1200" u="none" cap="none" strike="noStrike">
                <a:solidFill>
                  <a:srgbClr val="B85C1A"/>
                </a:solidFill>
                <a:latin typeface="Cambria"/>
                <a:ea typeface="Cambria"/>
                <a:cs typeface="Cambria"/>
                <a:sym typeface="Cambria"/>
              </a:rPr>
              <a:t>What stopped them  ·  levels 4 and 5</a:t>
            </a:r>
            <a:endParaRPr b="0" i="0" sz="1200" u="none" cap="none" strike="noStrike">
              <a:solidFill>
                <a:schemeClr val="dk1"/>
              </a:solidFill>
              <a:latin typeface="Calibri"/>
              <a:ea typeface="Calibri"/>
              <a:cs typeface="Calibri"/>
              <a:sym typeface="Calibri"/>
            </a:endParaRPr>
          </a:p>
        </p:txBody>
      </p:sp>
      <p:sp>
        <p:nvSpPr>
          <p:cNvPr id="143" name="Google Shape;143;p18"/>
          <p:cNvSpPr txBox="1"/>
          <p:nvPr/>
        </p:nvSpPr>
        <p:spPr>
          <a:xfrm>
            <a:off x="4951476" y="2743200"/>
            <a:ext cx="3566160" cy="1645920"/>
          </a:xfrm>
          <a:prstGeom prst="rect">
            <a:avLst/>
          </a:prstGeom>
          <a:noFill/>
          <a:ln>
            <a:noFill/>
          </a:ln>
        </p:spPr>
        <p:txBody>
          <a:bodyPr anchorCtr="0" anchor="t" bIns="0" lIns="0" spcFirstLastPara="1" rIns="0" wrap="square" tIns="0">
            <a:noAutofit/>
          </a:bodyPr>
          <a:lstStyle/>
          <a:p>
            <a:pPr indent="-254000" lvl="0" marL="254000" marR="0" rtl="0" algn="l">
              <a:spcBef>
                <a:spcPts val="0"/>
              </a:spcBef>
              <a:spcAft>
                <a:spcPts val="0"/>
              </a:spcAft>
              <a:buClr>
                <a:srgbClr val="C3C8CE"/>
              </a:buClr>
              <a:buSzPts val="1000"/>
              <a:buFont typeface="Calibri"/>
              <a:buChar char="•"/>
            </a:pPr>
            <a:r>
              <a:rPr b="0" i="0" lang="zh-CN" sz="1000" u="none" cap="none" strike="noStrike">
                <a:solidFill>
                  <a:srgbClr val="C3C8CE"/>
                </a:solidFill>
                <a:latin typeface="Calibri"/>
                <a:ea typeface="Calibri"/>
                <a:cs typeface="Calibri"/>
                <a:sym typeface="Calibri"/>
              </a:rPr>
              <a:t>Every state treats modular codes and regulation differently, so one product could not be shipped nationally</a:t>
            </a:r>
            <a:endParaRPr b="0" i="0" sz="1000" u="none" cap="none" strike="noStrike">
              <a:solidFill>
                <a:schemeClr val="dk1"/>
              </a:solidFill>
              <a:latin typeface="Calibri"/>
              <a:ea typeface="Calibri"/>
              <a:cs typeface="Calibri"/>
              <a:sym typeface="Calibri"/>
            </a:endParaRPr>
          </a:p>
          <a:p>
            <a:pPr indent="-254000" lvl="0" marL="254000" marR="0" rtl="0" algn="l">
              <a:spcBef>
                <a:spcPts val="700"/>
              </a:spcBef>
              <a:spcAft>
                <a:spcPts val="0"/>
              </a:spcAft>
              <a:buClr>
                <a:srgbClr val="C3C8CE"/>
              </a:buClr>
              <a:buSzPts val="1000"/>
              <a:buFont typeface="Calibri"/>
              <a:buChar char="•"/>
            </a:pPr>
            <a:r>
              <a:rPr b="0" i="0" lang="zh-CN" sz="1000" u="none" cap="none" strike="noStrike">
                <a:solidFill>
                  <a:srgbClr val="C3C8CE"/>
                </a:solidFill>
                <a:latin typeface="Calibri"/>
                <a:ea typeface="Calibri"/>
                <a:cs typeface="Calibri"/>
                <a:sym typeface="Calibri"/>
              </a:rPr>
              <a:t>Developers and contractors would not leave their existing subcontractors</a:t>
            </a:r>
            <a:endParaRPr b="0" i="0" sz="1000" u="none" cap="none" strike="noStrike">
              <a:solidFill>
                <a:schemeClr val="dk1"/>
              </a:solidFill>
              <a:latin typeface="Calibri"/>
              <a:ea typeface="Calibri"/>
              <a:cs typeface="Calibri"/>
              <a:sym typeface="Calibri"/>
            </a:endParaRPr>
          </a:p>
          <a:p>
            <a:pPr indent="-254000" lvl="0" marL="254000" marR="0" rtl="0" algn="l">
              <a:spcBef>
                <a:spcPts val="700"/>
              </a:spcBef>
              <a:spcAft>
                <a:spcPts val="0"/>
              </a:spcAft>
              <a:buClr>
                <a:srgbClr val="C3C8CE"/>
              </a:buClr>
              <a:buSzPts val="1000"/>
              <a:buFont typeface="Calibri"/>
              <a:buChar char="•"/>
            </a:pPr>
            <a:r>
              <a:rPr b="0" i="0" lang="zh-CN" sz="1000" u="none" cap="none" strike="noStrike">
                <a:solidFill>
                  <a:srgbClr val="C3C8CE"/>
                </a:solidFill>
                <a:latin typeface="Calibri"/>
                <a:ea typeface="Calibri"/>
                <a:cs typeface="Calibri"/>
                <a:sym typeface="Calibri"/>
              </a:rPr>
              <a:t>Architects designed around Katerra parts that then were not ready</a:t>
            </a:r>
            <a:endParaRPr b="0" i="0" sz="1000" u="none" cap="none" strike="noStrike">
              <a:solidFill>
                <a:schemeClr val="dk1"/>
              </a:solidFill>
              <a:latin typeface="Calibri"/>
              <a:ea typeface="Calibri"/>
              <a:cs typeface="Calibri"/>
              <a:sym typeface="Calibri"/>
            </a:endParaRPr>
          </a:p>
          <a:p>
            <a:pPr indent="-254000" lvl="0" marL="254000" marR="0" rtl="0" algn="l">
              <a:spcBef>
                <a:spcPts val="700"/>
              </a:spcBef>
              <a:spcAft>
                <a:spcPts val="0"/>
              </a:spcAft>
              <a:buClr>
                <a:srgbClr val="C3C8CE"/>
              </a:buClr>
              <a:buSzPts val="1000"/>
              <a:buFont typeface="Calibri"/>
              <a:buChar char="•"/>
            </a:pPr>
            <a:r>
              <a:rPr b="0" i="0" lang="zh-CN" sz="1000" u="none" cap="none" strike="noStrike">
                <a:solidFill>
                  <a:srgbClr val="C3C8CE"/>
                </a:solidFill>
                <a:latin typeface="Calibri"/>
                <a:ea typeface="Calibri"/>
                <a:cs typeface="Calibri"/>
                <a:sym typeface="Calibri"/>
              </a:rPr>
              <a:t>The California factory built for the standard model was never activated</a:t>
            </a:r>
            <a:endParaRPr b="0" i="0" sz="1000" u="none" cap="none" strike="noStrike">
              <a:solidFill>
                <a:schemeClr val="dk1"/>
              </a:solidFill>
              <a:latin typeface="Calibri"/>
              <a:ea typeface="Calibri"/>
              <a:cs typeface="Calibri"/>
              <a:sym typeface="Calibri"/>
            </a:endParaRPr>
          </a:p>
        </p:txBody>
      </p:sp>
      <p:sp>
        <p:nvSpPr>
          <p:cNvPr id="144" name="Google Shape;144;p18"/>
          <p:cNvSpPr txBox="1"/>
          <p:nvPr/>
        </p:nvSpPr>
        <p:spPr>
          <a:xfrm>
            <a:off x="411480" y="4814316"/>
            <a:ext cx="831875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700"/>
              <a:buFont typeface="Calibri"/>
              <a:buNone/>
            </a:pPr>
            <a:r>
              <a:rPr b="0" i="0" lang="zh-CN" sz="700" u="none" cap="none" strike="noStrike">
                <a:solidFill>
                  <a:srgbClr val="6B7178"/>
                </a:solidFill>
                <a:latin typeface="Calibri"/>
                <a:ea typeface="Calibri"/>
                <a:cs typeface="Calibri"/>
                <a:sym typeface="Calibri"/>
              </a:rPr>
              <a:t>Sources: Construction Dive (2021) · Fast Company (2021) · Modular Building Institute commentary via Pro Builder (2021) · Wall Street Journal reporting via SBCA (2021)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149" name="Shape 149"/>
        <p:cNvGrpSpPr/>
        <p:nvPr/>
      </p:nvGrpSpPr>
      <p:grpSpPr>
        <a:xfrm>
          <a:off x="0" y="0"/>
          <a:ext cx="0" cy="0"/>
          <a:chOff x="0" y="0"/>
          <a:chExt cx="0" cy="0"/>
        </a:xfrm>
      </p:grpSpPr>
      <p:sp>
        <p:nvSpPr>
          <p:cNvPr id="150" name="Google Shape;150;p19"/>
          <p:cNvSpPr txBox="1"/>
          <p:nvPr/>
        </p:nvSpPr>
        <p:spPr>
          <a:xfrm>
            <a:off x="411480" y="342900"/>
            <a:ext cx="83187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600"/>
              <a:buFont typeface="Cambria"/>
              <a:buNone/>
            </a:pPr>
            <a:r>
              <a:rPr b="0" i="0" lang="zh-CN" sz="2600" u="none" cap="none" strike="noStrike">
                <a:solidFill>
                  <a:srgbClr val="16191D"/>
                </a:solidFill>
                <a:latin typeface="Cambria"/>
                <a:ea typeface="Cambria"/>
                <a:cs typeface="Cambria"/>
                <a:sym typeface="Cambria"/>
              </a:rPr>
              <a:t>Opportunities at level 4</a:t>
            </a:r>
            <a:endParaRPr b="0" i="0" sz="2600" u="none" cap="none" strike="noStrike">
              <a:solidFill>
                <a:schemeClr val="dk1"/>
              </a:solidFill>
              <a:latin typeface="Calibri"/>
              <a:ea typeface="Calibri"/>
              <a:cs typeface="Calibri"/>
              <a:sym typeface="Calibri"/>
            </a:endParaRPr>
          </a:p>
        </p:txBody>
      </p:sp>
      <p:sp>
        <p:nvSpPr>
          <p:cNvPr id="151" name="Google Shape;151;p19"/>
          <p:cNvSpPr txBox="1"/>
          <p:nvPr/>
        </p:nvSpPr>
        <p:spPr>
          <a:xfrm>
            <a:off x="411480" y="850392"/>
            <a:ext cx="78181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zh-CN" sz="1100" u="none" cap="none" strike="noStrike">
                <a:solidFill>
                  <a:srgbClr val="6B7178"/>
                </a:solidFill>
                <a:latin typeface="Calibri"/>
                <a:ea typeface="Calibri"/>
                <a:cs typeface="Calibri"/>
                <a:sym typeface="Calibri"/>
              </a:rPr>
              <a:t>Problems, not solutions. Each one is above the jobsite, which is why the machines have not solved them.</a:t>
            </a:r>
            <a:endParaRPr b="0" i="0" sz="1100" u="none" cap="none" strike="noStrike">
              <a:solidFill>
                <a:schemeClr val="dk1"/>
              </a:solidFill>
              <a:latin typeface="Calibri"/>
              <a:ea typeface="Calibri"/>
              <a:cs typeface="Calibri"/>
              <a:sym typeface="Calibri"/>
            </a:endParaRPr>
          </a:p>
        </p:txBody>
      </p:sp>
      <p:sp>
        <p:nvSpPr>
          <p:cNvPr id="152" name="Google Shape;152;p19"/>
          <p:cNvSpPr/>
          <p:nvPr/>
        </p:nvSpPr>
        <p:spPr>
          <a:xfrm>
            <a:off x="411480" y="1220724"/>
            <a:ext cx="2647188" cy="3168396"/>
          </a:xfrm>
          <a:prstGeom prst="roundRect">
            <a:avLst>
              <a:gd fmla="val 20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19"/>
          <p:cNvSpPr/>
          <p:nvPr/>
        </p:nvSpPr>
        <p:spPr>
          <a:xfrm>
            <a:off x="603504" y="1371600"/>
            <a:ext cx="288036" cy="288036"/>
          </a:xfrm>
          <a:prstGeom prst="ellipse">
            <a:avLst/>
          </a:prstGeom>
          <a:solidFill>
            <a:srgbClr val="B85C1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19"/>
          <p:cNvSpPr txBox="1"/>
          <p:nvPr/>
        </p:nvSpPr>
        <p:spPr>
          <a:xfrm>
            <a:off x="603504" y="1419606"/>
            <a:ext cx="288036"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zh-CN" sz="900" u="none" cap="none" strike="noStrike">
                <a:solidFill>
                  <a:srgbClr val="FFFFFF"/>
                </a:solidFill>
                <a:latin typeface="Calibri"/>
                <a:ea typeface="Calibri"/>
                <a:cs typeface="Calibri"/>
                <a:sym typeface="Calibri"/>
              </a:rPr>
              <a:t>01</a:t>
            </a:r>
            <a:endParaRPr b="0" i="0" sz="900" u="none" cap="none" strike="noStrike">
              <a:solidFill>
                <a:schemeClr val="dk1"/>
              </a:solidFill>
              <a:latin typeface="Calibri"/>
              <a:ea typeface="Calibri"/>
              <a:cs typeface="Calibri"/>
              <a:sym typeface="Calibri"/>
            </a:endParaRPr>
          </a:p>
        </p:txBody>
      </p:sp>
      <p:sp>
        <p:nvSpPr>
          <p:cNvPr id="155" name="Google Shape;155;p19"/>
          <p:cNvSpPr txBox="1"/>
          <p:nvPr/>
        </p:nvSpPr>
        <p:spPr>
          <a:xfrm>
            <a:off x="648750" y="1642550"/>
            <a:ext cx="21465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300"/>
              <a:buFont typeface="Cambria"/>
              <a:buNone/>
            </a:pPr>
            <a:r>
              <a:rPr b="1" lang="zh-CN" sz="1300">
                <a:solidFill>
                  <a:srgbClr val="16191D"/>
                </a:solidFill>
                <a:latin typeface="Cambria"/>
                <a:ea typeface="Cambria"/>
                <a:cs typeface="Cambria"/>
                <a:sym typeface="Cambria"/>
              </a:rPr>
              <a:t>Every project starts from scratch</a:t>
            </a:r>
            <a:endParaRPr b="0" i="0" sz="1300" u="none" cap="none" strike="noStrike">
              <a:solidFill>
                <a:schemeClr val="dk1"/>
              </a:solidFill>
              <a:latin typeface="Calibri"/>
              <a:ea typeface="Calibri"/>
              <a:cs typeface="Calibri"/>
              <a:sym typeface="Calibri"/>
            </a:endParaRPr>
          </a:p>
        </p:txBody>
      </p:sp>
      <p:sp>
        <p:nvSpPr>
          <p:cNvPr id="156" name="Google Shape;156;p19"/>
          <p:cNvSpPr txBox="1"/>
          <p:nvPr/>
        </p:nvSpPr>
        <p:spPr>
          <a:xfrm>
            <a:off x="603504" y="2194560"/>
            <a:ext cx="2276856" cy="6172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There will be a need to make repetition possible when the design, the permit and the contract all </a:t>
            </a:r>
            <a:r>
              <a:rPr lang="zh-CN" sz="900">
                <a:solidFill>
                  <a:srgbClr val="3E434A"/>
                </a:solidFill>
                <a:latin typeface="Calibri"/>
                <a:ea typeface="Calibri"/>
                <a:cs typeface="Calibri"/>
                <a:sym typeface="Calibri"/>
              </a:rPr>
              <a:t>change</a:t>
            </a:r>
            <a:r>
              <a:rPr b="0" i="0" lang="zh-CN" sz="900" u="none" cap="none" strike="noStrike">
                <a:solidFill>
                  <a:srgbClr val="3E434A"/>
                </a:solidFill>
                <a:latin typeface="Calibri"/>
                <a:ea typeface="Calibri"/>
                <a:cs typeface="Calibri"/>
                <a:sym typeface="Calibri"/>
              </a:rPr>
              <a:t> on every project</a:t>
            </a:r>
            <a:r>
              <a:rPr lang="zh-CN" sz="900">
                <a:solidFill>
                  <a:srgbClr val="3E434A"/>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7" name="Google Shape;157;p19"/>
          <p:cNvSpPr txBox="1"/>
          <p:nvPr/>
        </p:nvSpPr>
        <p:spPr>
          <a:xfrm>
            <a:off x="603504" y="2811780"/>
            <a:ext cx="2276856" cy="37719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WHO  </a:t>
            </a:r>
            <a:r>
              <a:rPr b="0" i="0" lang="zh-CN" sz="900" u="none" cap="none" strike="noStrike">
                <a:solidFill>
                  <a:srgbClr val="3E434A"/>
                </a:solidFill>
                <a:latin typeface="Calibri"/>
                <a:ea typeface="Calibri"/>
                <a:cs typeface="Calibri"/>
                <a:sym typeface="Calibri"/>
              </a:rPr>
              <a:t>Developers, modular factories, housing agencies</a:t>
            </a:r>
            <a:endParaRPr b="0" i="0" sz="900" u="none" cap="none" strike="noStrike">
              <a:solidFill>
                <a:schemeClr val="dk1"/>
              </a:solidFill>
              <a:latin typeface="Calibri"/>
              <a:ea typeface="Calibri"/>
              <a:cs typeface="Calibri"/>
              <a:sym typeface="Calibri"/>
            </a:endParaRPr>
          </a:p>
        </p:txBody>
      </p:sp>
      <p:sp>
        <p:nvSpPr>
          <p:cNvPr id="158" name="Google Shape;158;p19"/>
          <p:cNvSpPr txBox="1"/>
          <p:nvPr/>
        </p:nvSpPr>
        <p:spPr>
          <a:xfrm>
            <a:off x="603504" y="3202686"/>
            <a:ext cx="2276856" cy="65151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WHY  </a:t>
            </a:r>
            <a:r>
              <a:rPr b="0" i="0" lang="zh-CN" sz="900" u="none" cap="none" strike="noStrike">
                <a:solidFill>
                  <a:srgbClr val="3E434A"/>
                </a:solidFill>
                <a:latin typeface="Calibri"/>
                <a:ea typeface="Calibri"/>
                <a:cs typeface="Calibri"/>
                <a:sym typeface="Calibri"/>
              </a:rPr>
              <a:t>Manufacturing's gains come from doing the same thing twice. Construction never gets to, so learning never compounds into cost.</a:t>
            </a:r>
            <a:endParaRPr b="0" i="0" sz="900" u="none" cap="none" strike="noStrike">
              <a:solidFill>
                <a:schemeClr val="dk1"/>
              </a:solidFill>
              <a:latin typeface="Calibri"/>
              <a:ea typeface="Calibri"/>
              <a:cs typeface="Calibri"/>
              <a:sym typeface="Calibri"/>
            </a:endParaRPr>
          </a:p>
        </p:txBody>
      </p:sp>
      <p:sp>
        <p:nvSpPr>
          <p:cNvPr id="159" name="Google Shape;159;p19"/>
          <p:cNvSpPr txBox="1"/>
          <p:nvPr/>
        </p:nvSpPr>
        <p:spPr>
          <a:xfrm>
            <a:off x="603504" y="3840480"/>
            <a:ext cx="2276856" cy="54864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SIGNAL  </a:t>
            </a:r>
            <a:r>
              <a:rPr b="0" i="0" lang="zh-CN" sz="900" u="none" cap="none" strike="noStrike">
                <a:solidFill>
                  <a:srgbClr val="3E434A"/>
                </a:solidFill>
                <a:latin typeface="Calibri"/>
                <a:ea typeface="Calibri"/>
                <a:cs typeface="Calibri"/>
                <a:sym typeface="Calibri"/>
              </a:rPr>
              <a:t>Katerra spent more than $2B and still could not ship one standard product across state lines.</a:t>
            </a:r>
            <a:endParaRPr b="0" i="0" sz="900" u="none" cap="none" strike="noStrike">
              <a:solidFill>
                <a:schemeClr val="dk1"/>
              </a:solidFill>
              <a:latin typeface="Calibri"/>
              <a:ea typeface="Calibri"/>
              <a:cs typeface="Calibri"/>
              <a:sym typeface="Calibri"/>
            </a:endParaRPr>
          </a:p>
        </p:txBody>
      </p:sp>
      <p:sp>
        <p:nvSpPr>
          <p:cNvPr id="160" name="Google Shape;160;p19"/>
          <p:cNvSpPr/>
          <p:nvPr/>
        </p:nvSpPr>
        <p:spPr>
          <a:xfrm>
            <a:off x="3264408" y="1220724"/>
            <a:ext cx="2647188" cy="3168396"/>
          </a:xfrm>
          <a:prstGeom prst="roundRect">
            <a:avLst>
              <a:gd fmla="val 20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19"/>
          <p:cNvSpPr/>
          <p:nvPr/>
        </p:nvSpPr>
        <p:spPr>
          <a:xfrm>
            <a:off x="3456432" y="1371600"/>
            <a:ext cx="288036" cy="288036"/>
          </a:xfrm>
          <a:prstGeom prst="ellipse">
            <a:avLst/>
          </a:prstGeom>
          <a:solidFill>
            <a:srgbClr val="B85C1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 name="Google Shape;162;p19"/>
          <p:cNvSpPr txBox="1"/>
          <p:nvPr/>
        </p:nvSpPr>
        <p:spPr>
          <a:xfrm>
            <a:off x="3456432" y="1419606"/>
            <a:ext cx="288036"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zh-CN" sz="900" u="none" cap="none" strike="noStrike">
                <a:solidFill>
                  <a:srgbClr val="FFFFFF"/>
                </a:solidFill>
                <a:latin typeface="Calibri"/>
                <a:ea typeface="Calibri"/>
                <a:cs typeface="Calibri"/>
                <a:sym typeface="Calibri"/>
              </a:rPr>
              <a:t>02</a:t>
            </a:r>
            <a:endParaRPr b="0" i="0" sz="900" u="none" cap="none" strike="noStrike">
              <a:solidFill>
                <a:schemeClr val="dk1"/>
              </a:solidFill>
              <a:latin typeface="Calibri"/>
              <a:ea typeface="Calibri"/>
              <a:cs typeface="Calibri"/>
              <a:sym typeface="Calibri"/>
            </a:endParaRPr>
          </a:p>
        </p:txBody>
      </p:sp>
      <p:sp>
        <p:nvSpPr>
          <p:cNvPr id="163" name="Google Shape;163;p19"/>
          <p:cNvSpPr txBox="1"/>
          <p:nvPr/>
        </p:nvSpPr>
        <p:spPr>
          <a:xfrm>
            <a:off x="3456432" y="1755648"/>
            <a:ext cx="22631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300"/>
              <a:buFont typeface="Cambria"/>
              <a:buNone/>
            </a:pPr>
            <a:r>
              <a:rPr b="1" lang="zh-CN" sz="1300">
                <a:solidFill>
                  <a:srgbClr val="16191D"/>
                </a:solidFill>
                <a:latin typeface="Cambria"/>
                <a:ea typeface="Cambria"/>
                <a:cs typeface="Cambria"/>
                <a:sym typeface="Cambria"/>
              </a:rPr>
              <a:t>Fragmented workflows introduce inefficiencies</a:t>
            </a:r>
            <a:endParaRPr b="0" i="0" sz="1300" u="none" cap="none" strike="noStrike">
              <a:solidFill>
                <a:schemeClr val="dk1"/>
              </a:solidFill>
              <a:latin typeface="Calibri"/>
              <a:ea typeface="Calibri"/>
              <a:cs typeface="Calibri"/>
              <a:sym typeface="Calibri"/>
            </a:endParaRPr>
          </a:p>
        </p:txBody>
      </p:sp>
      <p:sp>
        <p:nvSpPr>
          <p:cNvPr id="164" name="Google Shape;164;p19"/>
          <p:cNvSpPr txBox="1"/>
          <p:nvPr/>
        </p:nvSpPr>
        <p:spPr>
          <a:xfrm>
            <a:off x="3456432" y="2194560"/>
            <a:ext cx="2276856" cy="6172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lang="zh-CN" sz="900">
                <a:solidFill>
                  <a:srgbClr val="3E434A"/>
                </a:solidFill>
                <a:latin typeface="Calibri"/>
                <a:ea typeface="Calibri"/>
                <a:cs typeface="Calibri"/>
                <a:sym typeface="Calibri"/>
              </a:rPr>
              <a:t>N</a:t>
            </a:r>
            <a:r>
              <a:rPr b="0" i="0" lang="zh-CN" sz="900" u="none" cap="none" strike="noStrike">
                <a:solidFill>
                  <a:srgbClr val="3E434A"/>
                </a:solidFill>
                <a:latin typeface="Calibri"/>
                <a:ea typeface="Calibri"/>
                <a:cs typeface="Calibri"/>
                <a:sym typeface="Calibri"/>
              </a:rPr>
              <a:t>o single party is accountable for the finished outcome</a:t>
            </a:r>
            <a:r>
              <a:rPr lang="zh-CN" sz="900">
                <a:solidFill>
                  <a:srgbClr val="3E434A"/>
                </a:solidFill>
                <a:latin typeface="Calibri"/>
                <a:ea typeface="Calibri"/>
                <a:cs typeface="Calibri"/>
                <a:sym typeface="Calibri"/>
              </a:rPr>
              <a:t>, creating a delivery chain with frequent hand-offs.</a:t>
            </a:r>
            <a:endParaRPr b="0" i="0" sz="900" u="none" cap="none" strike="noStrike">
              <a:solidFill>
                <a:schemeClr val="dk1"/>
              </a:solidFill>
              <a:latin typeface="Calibri"/>
              <a:ea typeface="Calibri"/>
              <a:cs typeface="Calibri"/>
              <a:sym typeface="Calibri"/>
            </a:endParaRPr>
          </a:p>
        </p:txBody>
      </p:sp>
      <p:sp>
        <p:nvSpPr>
          <p:cNvPr id="165" name="Google Shape;165;p19"/>
          <p:cNvSpPr txBox="1"/>
          <p:nvPr/>
        </p:nvSpPr>
        <p:spPr>
          <a:xfrm>
            <a:off x="3456432" y="2811780"/>
            <a:ext cx="2276856" cy="37719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WHO  </a:t>
            </a:r>
            <a:r>
              <a:rPr b="0" i="0" lang="zh-CN" sz="900" u="none" cap="none" strike="noStrike">
                <a:solidFill>
                  <a:srgbClr val="3E434A"/>
                </a:solidFill>
                <a:latin typeface="Calibri"/>
                <a:ea typeface="Calibri"/>
                <a:cs typeface="Calibri"/>
                <a:sym typeface="Calibri"/>
              </a:rPr>
              <a:t>Owners, general contractors, separately contracted trades, insurers</a:t>
            </a:r>
            <a:endParaRPr b="0" i="0" sz="900" u="none" cap="none" strike="noStrike">
              <a:solidFill>
                <a:schemeClr val="dk1"/>
              </a:solidFill>
              <a:latin typeface="Calibri"/>
              <a:ea typeface="Calibri"/>
              <a:cs typeface="Calibri"/>
              <a:sym typeface="Calibri"/>
            </a:endParaRPr>
          </a:p>
        </p:txBody>
      </p:sp>
      <p:sp>
        <p:nvSpPr>
          <p:cNvPr id="166" name="Google Shape;166;p19"/>
          <p:cNvSpPr txBox="1"/>
          <p:nvPr/>
        </p:nvSpPr>
        <p:spPr>
          <a:xfrm>
            <a:off x="3456432" y="3202686"/>
            <a:ext cx="2276856" cy="65151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WHY  </a:t>
            </a:r>
            <a:r>
              <a:rPr b="0" i="0" lang="zh-CN" sz="900" u="none" cap="none" strike="noStrike">
                <a:solidFill>
                  <a:srgbClr val="3E434A"/>
                </a:solidFill>
                <a:latin typeface="Calibri"/>
                <a:ea typeface="Calibri"/>
                <a:cs typeface="Calibri"/>
                <a:sym typeface="Calibri"/>
              </a:rPr>
              <a:t>Design, permitting and building are contracted separately and run in sequence</a:t>
            </a:r>
            <a:r>
              <a:rPr lang="zh-CN" sz="900">
                <a:solidFill>
                  <a:srgbClr val="3E434A"/>
                </a:solidFill>
                <a:latin typeface="Calibri"/>
                <a:ea typeface="Calibri"/>
                <a:cs typeface="Calibri"/>
                <a:sym typeface="Calibri"/>
              </a:rPr>
              <a:t> - errors or communication mistakes can sneak in at multiple stages.</a:t>
            </a:r>
            <a:endParaRPr b="0" i="0" sz="900" u="none" cap="none" strike="noStrike">
              <a:solidFill>
                <a:schemeClr val="dk1"/>
              </a:solidFill>
              <a:latin typeface="Calibri"/>
              <a:ea typeface="Calibri"/>
              <a:cs typeface="Calibri"/>
              <a:sym typeface="Calibri"/>
            </a:endParaRPr>
          </a:p>
        </p:txBody>
      </p:sp>
      <p:sp>
        <p:nvSpPr>
          <p:cNvPr id="167" name="Google Shape;167;p19"/>
          <p:cNvSpPr txBox="1"/>
          <p:nvPr/>
        </p:nvSpPr>
        <p:spPr>
          <a:xfrm>
            <a:off x="3456432" y="3840480"/>
            <a:ext cx="2276856" cy="54864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SIGNAL  </a:t>
            </a:r>
            <a:r>
              <a:rPr b="0" i="0" lang="zh-CN" sz="900" u="none" cap="none" strike="noStrike">
                <a:solidFill>
                  <a:srgbClr val="3E434A"/>
                </a:solidFill>
                <a:latin typeface="Calibri"/>
                <a:ea typeface="Calibri"/>
                <a:cs typeface="Calibri"/>
                <a:sym typeface="Calibri"/>
              </a:rPr>
              <a:t>Large projects run roughly 20% late and up to 80% over budget, and only about a quarter land within 10% of budget.</a:t>
            </a:r>
            <a:endParaRPr b="0" i="0" sz="900" u="none" cap="none" strike="noStrike">
              <a:solidFill>
                <a:schemeClr val="dk1"/>
              </a:solidFill>
              <a:latin typeface="Calibri"/>
              <a:ea typeface="Calibri"/>
              <a:cs typeface="Calibri"/>
              <a:sym typeface="Calibri"/>
            </a:endParaRPr>
          </a:p>
        </p:txBody>
      </p:sp>
      <p:sp>
        <p:nvSpPr>
          <p:cNvPr id="168" name="Google Shape;168;p19"/>
          <p:cNvSpPr/>
          <p:nvPr/>
        </p:nvSpPr>
        <p:spPr>
          <a:xfrm>
            <a:off x="6117336" y="1220724"/>
            <a:ext cx="2647188" cy="3168396"/>
          </a:xfrm>
          <a:prstGeom prst="roundRect">
            <a:avLst>
              <a:gd fmla="val 20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9" name="Google Shape;169;p19"/>
          <p:cNvSpPr/>
          <p:nvPr/>
        </p:nvSpPr>
        <p:spPr>
          <a:xfrm>
            <a:off x="6309360" y="1371600"/>
            <a:ext cx="288036" cy="288036"/>
          </a:xfrm>
          <a:prstGeom prst="ellipse">
            <a:avLst/>
          </a:prstGeom>
          <a:solidFill>
            <a:srgbClr val="B85C1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19"/>
          <p:cNvSpPr txBox="1"/>
          <p:nvPr/>
        </p:nvSpPr>
        <p:spPr>
          <a:xfrm>
            <a:off x="6309360" y="1419606"/>
            <a:ext cx="288036"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zh-CN" sz="900" u="none" cap="none" strike="noStrike">
                <a:solidFill>
                  <a:srgbClr val="FFFFFF"/>
                </a:solidFill>
                <a:latin typeface="Calibri"/>
                <a:ea typeface="Calibri"/>
                <a:cs typeface="Calibri"/>
                <a:sym typeface="Calibri"/>
              </a:rPr>
              <a:t>03</a:t>
            </a:r>
            <a:endParaRPr b="0" i="0" sz="900" u="none" cap="none" strike="noStrike">
              <a:solidFill>
                <a:schemeClr val="dk1"/>
              </a:solidFill>
              <a:latin typeface="Calibri"/>
              <a:ea typeface="Calibri"/>
              <a:cs typeface="Calibri"/>
              <a:sym typeface="Calibri"/>
            </a:endParaRPr>
          </a:p>
        </p:txBody>
      </p:sp>
      <p:sp>
        <p:nvSpPr>
          <p:cNvPr id="171" name="Google Shape;171;p19"/>
          <p:cNvSpPr txBox="1"/>
          <p:nvPr/>
        </p:nvSpPr>
        <p:spPr>
          <a:xfrm>
            <a:off x="6309360" y="1755648"/>
            <a:ext cx="22631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300"/>
              <a:buFont typeface="Cambria"/>
              <a:buNone/>
            </a:pPr>
            <a:r>
              <a:rPr b="1" lang="zh-CN" sz="1300">
                <a:solidFill>
                  <a:srgbClr val="16191D"/>
                </a:solidFill>
                <a:latin typeface="Cambria"/>
                <a:ea typeface="Cambria"/>
                <a:cs typeface="Cambria"/>
                <a:sym typeface="Cambria"/>
              </a:rPr>
              <a:t>Experienced</a:t>
            </a:r>
            <a:r>
              <a:rPr b="1" lang="zh-CN" sz="1300">
                <a:solidFill>
                  <a:srgbClr val="16191D"/>
                </a:solidFill>
                <a:latin typeface="Cambria"/>
                <a:ea typeface="Cambria"/>
                <a:cs typeface="Cambria"/>
                <a:sym typeface="Cambria"/>
              </a:rPr>
              <a:t> workers are </a:t>
            </a:r>
            <a:r>
              <a:rPr b="1" i="0" lang="zh-CN" sz="1300" u="none" cap="none" strike="noStrike">
                <a:solidFill>
                  <a:srgbClr val="16191D"/>
                </a:solidFill>
                <a:latin typeface="Cambria"/>
                <a:ea typeface="Cambria"/>
                <a:cs typeface="Cambria"/>
                <a:sym typeface="Cambria"/>
              </a:rPr>
              <a:t>leaving faster </a:t>
            </a:r>
            <a:r>
              <a:rPr b="1" lang="zh-CN" sz="1300">
                <a:solidFill>
                  <a:srgbClr val="16191D"/>
                </a:solidFill>
                <a:latin typeface="Cambria"/>
                <a:ea typeface="Cambria"/>
                <a:cs typeface="Cambria"/>
                <a:sym typeface="Cambria"/>
              </a:rPr>
              <a:t>than skills can be transferred</a:t>
            </a:r>
            <a:endParaRPr b="0" i="0" sz="1300" u="none" cap="none" strike="noStrike">
              <a:solidFill>
                <a:schemeClr val="dk1"/>
              </a:solidFill>
              <a:latin typeface="Calibri"/>
              <a:ea typeface="Calibri"/>
              <a:cs typeface="Calibri"/>
              <a:sym typeface="Calibri"/>
            </a:endParaRPr>
          </a:p>
        </p:txBody>
      </p:sp>
      <p:sp>
        <p:nvSpPr>
          <p:cNvPr id="172" name="Google Shape;172;p19"/>
          <p:cNvSpPr txBox="1"/>
          <p:nvPr/>
        </p:nvSpPr>
        <p:spPr>
          <a:xfrm>
            <a:off x="6309360" y="2194560"/>
            <a:ext cx="2276856" cy="6172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zh-CN" sz="900" u="none" cap="none" strike="noStrike">
                <a:solidFill>
                  <a:srgbClr val="3E434A"/>
                </a:solidFill>
                <a:latin typeface="Calibri"/>
                <a:ea typeface="Calibri"/>
                <a:cs typeface="Calibri"/>
                <a:sym typeface="Calibri"/>
              </a:rPr>
              <a:t>The industry will face the challenge of </a:t>
            </a:r>
            <a:r>
              <a:rPr lang="zh-CN" sz="900">
                <a:solidFill>
                  <a:srgbClr val="3E434A"/>
                </a:solidFill>
                <a:latin typeface="Calibri"/>
                <a:ea typeface="Calibri"/>
                <a:cs typeface="Calibri"/>
                <a:sym typeface="Calibri"/>
              </a:rPr>
              <a:t>transferring</a:t>
            </a:r>
            <a:r>
              <a:rPr b="0" i="0" lang="zh-CN" sz="900" u="none" cap="none" strike="noStrike">
                <a:solidFill>
                  <a:srgbClr val="3E434A"/>
                </a:solidFill>
                <a:latin typeface="Calibri"/>
                <a:ea typeface="Calibri"/>
                <a:cs typeface="Calibri"/>
                <a:sym typeface="Calibri"/>
              </a:rPr>
              <a:t> decades of </a:t>
            </a:r>
            <a:r>
              <a:rPr lang="zh-CN" sz="900">
                <a:solidFill>
                  <a:srgbClr val="3E434A"/>
                </a:solidFill>
                <a:latin typeface="Calibri"/>
                <a:ea typeface="Calibri"/>
                <a:cs typeface="Calibri"/>
                <a:sym typeface="Calibri"/>
              </a:rPr>
              <a:t>learned experience </a:t>
            </a:r>
            <a:r>
              <a:rPr b="0" i="0" lang="zh-CN" sz="900" u="none" cap="none" strike="noStrike">
                <a:solidFill>
                  <a:srgbClr val="3E434A"/>
                </a:solidFill>
                <a:latin typeface="Calibri"/>
                <a:ea typeface="Calibri"/>
                <a:cs typeface="Calibri"/>
                <a:sym typeface="Calibri"/>
              </a:rPr>
              <a:t>out of a retiring cohort before it walks off</a:t>
            </a:r>
            <a:r>
              <a:rPr lang="zh-CN" sz="900">
                <a:solidFill>
                  <a:srgbClr val="3E434A"/>
                </a:solidFill>
                <a:latin typeface="Calibri"/>
                <a:ea typeface="Calibri"/>
                <a:cs typeface="Calibri"/>
                <a:sym typeface="Calibri"/>
              </a:rPr>
              <a:t>-</a:t>
            </a:r>
            <a:r>
              <a:rPr b="0" i="0" lang="zh-CN" sz="900" u="none" cap="none" strike="noStrike">
                <a:solidFill>
                  <a:srgbClr val="3E434A"/>
                </a:solidFill>
                <a:latin typeface="Calibri"/>
                <a:ea typeface="Calibri"/>
                <a:cs typeface="Calibri"/>
                <a:sym typeface="Calibri"/>
              </a:rPr>
              <a:t>site.</a:t>
            </a:r>
            <a:endParaRPr b="0" i="0" sz="900" u="none" cap="none" strike="noStrike">
              <a:solidFill>
                <a:schemeClr val="dk1"/>
              </a:solidFill>
              <a:latin typeface="Calibri"/>
              <a:ea typeface="Calibri"/>
              <a:cs typeface="Calibri"/>
              <a:sym typeface="Calibri"/>
            </a:endParaRPr>
          </a:p>
        </p:txBody>
      </p:sp>
      <p:sp>
        <p:nvSpPr>
          <p:cNvPr id="173" name="Google Shape;173;p19"/>
          <p:cNvSpPr txBox="1"/>
          <p:nvPr/>
        </p:nvSpPr>
        <p:spPr>
          <a:xfrm>
            <a:off x="6323075" y="2811775"/>
            <a:ext cx="2263200" cy="3771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WHO  </a:t>
            </a:r>
            <a:r>
              <a:rPr b="0" i="0" lang="zh-CN" sz="900" u="none" cap="none" strike="noStrike">
                <a:solidFill>
                  <a:srgbClr val="3E434A"/>
                </a:solidFill>
                <a:latin typeface="Calibri"/>
                <a:ea typeface="Calibri"/>
                <a:cs typeface="Calibri"/>
                <a:sym typeface="Calibri"/>
              </a:rPr>
              <a:t>Firms, apprentices, project supervisors, safety teams</a:t>
            </a:r>
            <a:endParaRPr b="0" i="0" sz="900" u="none" cap="none" strike="noStrike">
              <a:solidFill>
                <a:schemeClr val="dk1"/>
              </a:solidFill>
              <a:latin typeface="Calibri"/>
              <a:ea typeface="Calibri"/>
              <a:cs typeface="Calibri"/>
              <a:sym typeface="Calibri"/>
            </a:endParaRPr>
          </a:p>
        </p:txBody>
      </p:sp>
      <p:sp>
        <p:nvSpPr>
          <p:cNvPr id="174" name="Google Shape;174;p19"/>
          <p:cNvSpPr txBox="1"/>
          <p:nvPr/>
        </p:nvSpPr>
        <p:spPr>
          <a:xfrm>
            <a:off x="6309360" y="3202686"/>
            <a:ext cx="2276856" cy="65151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WHY  </a:t>
            </a:r>
            <a:r>
              <a:rPr b="0" i="0" lang="zh-CN" sz="900" u="none" cap="none" strike="noStrike">
                <a:solidFill>
                  <a:srgbClr val="3E434A"/>
                </a:solidFill>
                <a:latin typeface="Calibri"/>
                <a:ea typeface="Calibri"/>
                <a:cs typeface="Calibri"/>
                <a:sym typeface="Calibri"/>
              </a:rPr>
              <a:t>The shortage is a replacement problem, not a demand problem. A new tradesperson takes years to reach full productivity, and supervision thins while they get there.</a:t>
            </a:r>
            <a:endParaRPr b="0" i="0" sz="900" u="none" cap="none" strike="noStrike">
              <a:solidFill>
                <a:schemeClr val="dk1"/>
              </a:solidFill>
              <a:latin typeface="Calibri"/>
              <a:ea typeface="Calibri"/>
              <a:cs typeface="Calibri"/>
              <a:sym typeface="Calibri"/>
            </a:endParaRPr>
          </a:p>
        </p:txBody>
      </p:sp>
      <p:sp>
        <p:nvSpPr>
          <p:cNvPr id="175" name="Google Shape;175;p19"/>
          <p:cNvSpPr txBox="1"/>
          <p:nvPr/>
        </p:nvSpPr>
        <p:spPr>
          <a:xfrm>
            <a:off x="6309360" y="3840480"/>
            <a:ext cx="2276856" cy="54864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B85C1A"/>
              </a:buClr>
              <a:buSzPts val="900"/>
              <a:buFont typeface="Calibri"/>
              <a:buNone/>
            </a:pPr>
            <a:r>
              <a:rPr b="1" i="0" lang="zh-CN" sz="900" u="none" cap="none" strike="noStrike">
                <a:solidFill>
                  <a:srgbClr val="B85C1A"/>
                </a:solidFill>
                <a:latin typeface="Calibri"/>
                <a:ea typeface="Calibri"/>
                <a:cs typeface="Calibri"/>
                <a:sym typeface="Calibri"/>
              </a:rPr>
              <a:t>SIGNAL  </a:t>
            </a:r>
            <a:r>
              <a:rPr b="0" i="0" lang="zh-CN" sz="900" u="none" cap="none" strike="noStrike">
                <a:solidFill>
                  <a:srgbClr val="3E434A"/>
                </a:solidFill>
                <a:latin typeface="Calibri"/>
                <a:ea typeface="Calibri"/>
                <a:cs typeface="Calibri"/>
                <a:sym typeface="Calibri"/>
              </a:rPr>
              <a:t>349,000 net new workers needed in 2026 and 456,000 in 2027, with most of that demand driven by retirement.</a:t>
            </a:r>
            <a:endParaRPr b="0" i="0" sz="900" u="none" cap="none" strike="noStrike">
              <a:solidFill>
                <a:schemeClr val="dk1"/>
              </a:solidFill>
              <a:latin typeface="Calibri"/>
              <a:ea typeface="Calibri"/>
              <a:cs typeface="Calibri"/>
              <a:sym typeface="Calibri"/>
            </a:endParaRPr>
          </a:p>
        </p:txBody>
      </p:sp>
      <p:sp>
        <p:nvSpPr>
          <p:cNvPr id="176" name="Google Shape;176;p19"/>
          <p:cNvSpPr txBox="1"/>
          <p:nvPr/>
        </p:nvSpPr>
        <p:spPr>
          <a:xfrm>
            <a:off x="411480" y="4491990"/>
            <a:ext cx="83187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C1A"/>
              </a:buClr>
              <a:buSzPts val="1000"/>
              <a:buFont typeface="Calibri"/>
              <a:buNone/>
            </a:pPr>
            <a:r>
              <a:rPr b="1" i="0" lang="zh-CN" sz="1000" u="none" cap="none" strike="noStrike">
                <a:solidFill>
                  <a:srgbClr val="B85C1A"/>
                </a:solidFill>
                <a:latin typeface="Calibri"/>
                <a:ea typeface="Calibri"/>
                <a:cs typeface="Calibri"/>
                <a:sym typeface="Calibri"/>
              </a:rPr>
              <a:t>Every fix the industry is funding sits at level 1. Every reason those fixes fail sits at level 4.</a:t>
            </a:r>
            <a:endParaRPr b="0" i="0" sz="1000" u="none" cap="none" strike="noStrike">
              <a:solidFill>
                <a:schemeClr val="dk1"/>
              </a:solidFill>
              <a:latin typeface="Calibri"/>
              <a:ea typeface="Calibri"/>
              <a:cs typeface="Calibri"/>
              <a:sym typeface="Calibri"/>
            </a:endParaRPr>
          </a:p>
        </p:txBody>
      </p:sp>
      <p:sp>
        <p:nvSpPr>
          <p:cNvPr id="177" name="Google Shape;177;p19"/>
          <p:cNvSpPr txBox="1"/>
          <p:nvPr/>
        </p:nvSpPr>
        <p:spPr>
          <a:xfrm>
            <a:off x="411480" y="4814316"/>
            <a:ext cx="831875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700"/>
              <a:buFont typeface="Calibri"/>
              <a:buNone/>
            </a:pPr>
            <a:r>
              <a:rPr b="0" i="0" lang="zh-CN" sz="700" u="none" cap="none" strike="noStrike">
                <a:solidFill>
                  <a:srgbClr val="6B7178"/>
                </a:solidFill>
                <a:latin typeface="Calibri"/>
                <a:ea typeface="Calibri"/>
                <a:cs typeface="Calibri"/>
                <a:sym typeface="Calibri"/>
              </a:rPr>
              <a:t>Sources: McKinsey Global Institute, Reinventing Construction · KPMG Global Construction Survey · Associated Builders and Contractors, 15 Jan 2026 · Construction Dive and Fast Company on Katerra (2021)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