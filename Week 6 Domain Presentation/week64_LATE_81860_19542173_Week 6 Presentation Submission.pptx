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4.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h77f94340a6aa836e_6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h77f94340a6aa836e_6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Slide 1: Cover</a:t>
            </a:r>
            <a:br>
              <a:rPr lang="en"/>
            </a:br>
            <a:br>
              <a:rPr lang="en"/>
            </a:br>
            <a:r>
              <a:rPr lang="en"/>
              <a:t>What this slide is doing:</a:t>
            </a:r>
            <a:br>
              <a:rPr lang="en"/>
            </a:br>
            <a:r>
              <a:rPr lang="en"/>
              <a:t>- Introduces the domain, transportation and mobility, and names the single job we chose to analyse: transport with efficiency.</a:t>
            </a:r>
            <a:br>
              <a:rPr lang="en"/>
            </a:br>
            <a:r>
              <a:rPr lang="en"/>
              <a:t>- Signals the method: Jobs to Be Done, which separates the job from the current solution.</a:t>
            </a:r>
            <a:br>
              <a:rPr lang="en"/>
            </a:br>
            <a:br>
              <a:rPr lang="en"/>
            </a:br>
            <a:r>
              <a:rPr lang="en"/>
              <a:t>Core idea to understand:</a:t>
            </a:r>
            <a:br>
              <a:rPr lang="en"/>
            </a:br>
            <a:r>
              <a:rPr lang="en"/>
              <a:t>- A job is the progress someone is trying to make. It stays the same even when the solution changes.</a:t>
            </a:r>
            <a:br>
              <a:rPr lang="en"/>
            </a:br>
            <a:r>
              <a:rPr lang="en"/>
              <a:t>- People do not want a scooter or a map app. They want to get from where they are to where they need to be with as little time, cost and effort as possible.</a:t>
            </a:r>
            <a:br>
              <a:rPr lang="en"/>
            </a:br>
            <a:br>
              <a:rPr lang="en"/>
            </a:br>
            <a:r>
              <a:rPr lang="en"/>
              <a:t>Scope note if asked:</a:t>
            </a:r>
            <a:br>
              <a:rPr lang="en"/>
            </a:br>
            <a:r>
              <a:rPr lang="en"/>
              <a:t>- We mapped the travel itself, door to door. Deciding to go and booking are out of scope, so the steps we rate run from leaving the origin to arriving at the destination.</a:t>
            </a:r>
            <a:br>
              <a:rPr lang="en"/>
            </a:br>
            <a:br>
              <a:rPr lang="en"/>
            </a:br>
            <a:r>
              <a:rPr lang="en"/>
              <a:t>Transition:</a:t>
            </a:r>
            <a:br>
              <a:rPr lang="en"/>
            </a:br>
            <a:r>
              <a:rPr lang="en"/>
              <a:t>- The next slide shows what the job is up against today.</a:t>
            </a:r>
            <a:endParaRPr/>
          </a:p>
        </p:txBody>
      </p:sp>
      <p:sp>
        <p:nvSpPr>
          <p:cNvPr id="55" name="Google Shape;55;h77f94340a6aa836e_6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77f94340a6aa836e_6_3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h77f94340a6aa836e_6_3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Slide 2: Domain + Relevant Data</a:t>
            </a:r>
            <a:br>
              <a:rPr lang="en"/>
            </a:br>
            <a:br>
              <a:rPr lang="en"/>
            </a:br>
            <a:r>
              <a:rPr lang="en"/>
              <a:t>Framing the job:</a:t>
            </a:r>
            <a:br>
              <a:rPr lang="en"/>
            </a:br>
            <a:r>
              <a:rPr lang="en"/>
              <a:t>- We restated the job to strip the solution out of it. The original phrasing, transport with efficiency using scooters and maps, had the answer baked into the question.</a:t>
            </a:r>
            <a:br>
              <a:rPr lang="en"/>
            </a:br>
            <a:r>
              <a:rPr lang="en"/>
              <a:t>- What the job implies we should measure: elapsed door-to-door time rather than vehicle speed, predictability, and footprint per person moved rather than per vehicle.</a:t>
            </a:r>
            <a:br>
              <a:rPr lang="en"/>
            </a:br>
            <a:br>
              <a:rPr lang="en"/>
            </a:br>
            <a:r>
              <a:rPr lang="en"/>
              <a:t>How to read the chart:</a:t>
            </a:r>
            <a:br>
              <a:rPr lang="en"/>
            </a:br>
            <a:r>
              <a:rPr lang="en"/>
              <a:t>- Average one-way commute times by mode: about 25 minutes driving alone, 45 by bus, 47 by subway or streetcar, 69 by commuter rail.</a:t>
            </a:r>
            <a:br>
              <a:rPr lang="en"/>
            </a:br>
            <a:r>
              <a:rPr lang="en"/>
              <a:t>- These are national averages from Census commute data and do not control for distance, so they are an illustration of the door-to-door penalty rather than a controlled comparison.</a:t>
            </a:r>
            <a:br>
              <a:rPr lang="en"/>
            </a:br>
            <a:r>
              <a:rPr lang="en"/>
              <a:t>- The point is that the gap is not explained by vehicle speed. A bus is not half as fast as a car.</a:t>
            </a:r>
            <a:br>
              <a:rPr lang="en"/>
            </a:br>
            <a:br>
              <a:rPr lang="en"/>
            </a:br>
            <a:r>
              <a:rPr lang="en"/>
              <a:t>Why the metric cards matter:</a:t>
            </a:r>
            <a:br>
              <a:rPr lang="en"/>
            </a:br>
            <a:r>
              <a:rPr lang="en"/>
              <a:t>- 49 hours lost per driver in 2025, up six hours in one year, worth about $894 each and $85.8 billion nationally. Congestion rose in 88% of the 290 US cities measured.</a:t>
            </a:r>
            <a:br>
              <a:rPr lang="en"/>
            </a:br>
            <a:r>
              <a:rPr lang="en"/>
              <a:t>- Transit wait averages around ten minutes, and once you add the walk to and from stops, the non-riding portion of the trip is longer than the ride.</a:t>
            </a:r>
            <a:br>
              <a:rPr lang="en"/>
            </a:br>
            <a:r>
              <a:rPr lang="en"/>
              <a:t>- A five-minute transfer window holds only about 80% of the time, so travelers arrive early and pad their schedules. That padding is time spent that no system counts.</a:t>
            </a:r>
            <a:br>
              <a:rPr lang="en"/>
            </a:br>
            <a:r>
              <a:rPr lang="en"/>
              <a:t>- Average occupancy is 1.5 persons per trip. On the environmental half of this job, filling seats matters more than changing what the vehicle burns.</a:t>
            </a:r>
            <a:br>
              <a:rPr lang="en"/>
            </a:br>
            <a:br>
              <a:rPr lang="en"/>
            </a:br>
            <a:r>
              <a:rPr lang="en"/>
              <a:t>Interpretation:</a:t>
            </a:r>
            <a:br>
              <a:rPr lang="en"/>
            </a:br>
            <a:r>
              <a:rPr lang="en"/>
              <a:t>- Every solution the team listed optimizes the moving segment. None of them owns the waiting, transferring or walking.</a:t>
            </a:r>
            <a:br>
              <a:rPr lang="en"/>
            </a:br>
            <a:br>
              <a:rPr lang="en"/>
            </a:br>
            <a:r>
              <a:rPr lang="en"/>
              <a:t>Transition:</a:t>
            </a:r>
            <a:br>
              <a:rPr lang="en"/>
            </a:br>
            <a:r>
              <a:rPr lang="en"/>
              <a:t>- To find where the job is underserved, we mapped how it gets done today and rated each step.</a:t>
            </a:r>
            <a:endParaRPr/>
          </a:p>
        </p:txBody>
      </p:sp>
      <p:sp>
        <p:nvSpPr>
          <p:cNvPr id="88" name="Google Shape;88;h77f94340a6aa836e_6_3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77f94340a6aa836e_6_7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h77f94340a6aa836e_6_7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Slide 3: Analysis — Jobs to Be Done</a:t>
            </a:r>
            <a:br>
              <a:rPr lang="en"/>
            </a:br>
            <a:br>
              <a:rPr lang="en"/>
            </a:br>
            <a:r>
              <a:rPr lang="en"/>
              <a:t>What the method does:</a:t>
            </a:r>
            <a:br>
              <a:rPr lang="en"/>
            </a:br>
            <a:r>
              <a:rPr lang="en"/>
              <a:t>- A job is the progress a person seeks in a circumstance. It is not the product. People do not want a quarter-inch drill, they want a quarter-inch hole.</a:t>
            </a:r>
            <a:br>
              <a:rPr lang="en"/>
            </a:br>
            <a:r>
              <a:rPr lang="en"/>
              <a:t>- Separating the job from the current solution matters because the job stays stable while solutions change. Scooters, map apps and robotaxis are all current solutions to the same job.</a:t>
            </a:r>
            <a:br>
              <a:rPr lang="en"/>
            </a:br>
            <a:r>
              <a:rPr lang="en"/>
              <a:t>- Once the job is clean, you map how it gets done today and rate each step on importance and satisfaction. Steps that are important and unsatisfying are underserved, and that is where the opportunity sits.</a:t>
            </a:r>
            <a:br>
              <a:rPr lang="en"/>
            </a:br>
            <a:br>
              <a:rPr lang="en"/>
            </a:br>
            <a:r>
              <a:rPr lang="en"/>
              <a:t>How we restated the job:</a:t>
            </a:r>
            <a:br>
              <a:rPr lang="en"/>
            </a:br>
            <a:r>
              <a:rPr lang="en"/>
              <a:t>- Our first phrasing was transport with efficiency, with scooters and Google Maps as the current solution. That phrasing had the solution inside it.</a:t>
            </a:r>
            <a:br>
              <a:rPr lang="en"/>
            </a:br>
            <a:r>
              <a:rPr lang="en"/>
              <a:t>- Restated: get from where I am to where I need to be with as little time, cost and effort as possible, without the trip costing more than it should in emissions.</a:t>
            </a:r>
            <a:br>
              <a:rPr lang="en"/>
            </a:br>
            <a:br>
              <a:rPr lang="en"/>
            </a:br>
            <a:r>
              <a:rPr lang="en"/>
              <a:t>Scope of the map:</a:t>
            </a:r>
            <a:br>
              <a:rPr lang="en"/>
            </a:br>
            <a:r>
              <a:rPr lang="en"/>
              <a:t>- We mapped the travel itself, door to door. The traveler has already decided to go and chosen a mode, so the steps run from leaving the origin to arriving.</a:t>
            </a:r>
            <a:br>
              <a:rPr lang="en"/>
            </a:br>
            <a:br>
              <a:rPr lang="en"/>
            </a:br>
            <a:r>
              <a:rPr lang="en"/>
              <a:t>Reading the ratings:</a:t>
            </a:r>
            <a:br>
              <a:rPr lang="en"/>
            </a:br>
            <a:r>
              <a:rPr lang="en"/>
              <a:t>- Importance and satisfaction are rated one to five. The gap between them is what matters, not either number alone.</a:t>
            </a:r>
            <a:br>
              <a:rPr lang="en"/>
            </a:br>
            <a:r>
              <a:rPr lang="en"/>
              <a:t>- Waiting: importance five, satisfaction two. Average transit wait is around ten minutes, and with the walk to and from stops the non-riding portion outlasts the ride.</a:t>
            </a:r>
            <a:br>
              <a:rPr lang="en"/>
            </a:br>
            <a:r>
              <a:rPr lang="en"/>
              <a:t>- Transferring: importance four, satisfaction one. The lowest score on the map. A five-minute transfer window holds only about 80% of the time, and transfers are a major source of travel time variability.</a:t>
            </a:r>
            <a:br>
              <a:rPr lang="en"/>
            </a:br>
            <a:r>
              <a:rPr lang="en"/>
              <a:t>- Parking or returning the vehicle: importance four, satisfaction two. Studies of congested downtowns have found roughly 30% of cars cruising for parking, with search times around eight minutes. Treat that figure carefully; it is for congested downtown traffic, not all urban traffic.</a:t>
            </a:r>
            <a:br>
              <a:rPr lang="en"/>
            </a:br>
            <a:r>
              <a:rPr lang="en"/>
              <a:t>- Board and pay scores well. It is a step the industry has already solved, which is useful contrast: it shows the ratings are discriminating rather than uniformly negative.</a:t>
            </a:r>
            <a:br>
              <a:rPr lang="en"/>
            </a:br>
            <a:br>
              <a:rPr lang="en"/>
            </a:br>
            <a:r>
              <a:rPr lang="en"/>
              <a:t>The main finding:</a:t>
            </a:r>
            <a:br>
              <a:rPr lang="en"/>
            </a:br>
            <a:r>
              <a:rPr lang="en"/>
              <a:t>- All three underserved steps sit between modes rather than inside one. Every current solution owns a single mode, so nobody owns the handoffs. That is the gap the next slide works from.</a:t>
            </a:r>
            <a:endParaRPr/>
          </a:p>
        </p:txBody>
      </p:sp>
      <p:sp>
        <p:nvSpPr>
          <p:cNvPr id="123" name="Google Shape;123;h77f94340a6aa836e_6_7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h77f94340a6aa836e_18_21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h77f94340a6aa836e_18_21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Slide 4: Opportunities</a:t>
            </a:r>
            <a:br>
              <a:rPr lang="en"/>
            </a:br>
            <a:br>
              <a:rPr lang="en"/>
            </a:br>
            <a:r>
              <a:rPr lang="en"/>
              <a:t>What this slide is doing:</a:t>
            </a:r>
            <a:br>
              <a:rPr lang="en"/>
            </a:br>
            <a:r>
              <a:rPr lang="en"/>
              <a:t>- Four problem spaces, not product pitches. Each card names the step on slide 3 it acts on.</a:t>
            </a:r>
            <a:br>
              <a:rPr lang="en"/>
            </a:br>
            <a:r>
              <a:rPr lang="en"/>
              <a:t>- The two top cards act on steps the ratings marked as gaps: parking, and waiting plus transferring. The two bottom cards act on the ride or drive step, which rated better, so present them as supporting ideas.</a:t>
            </a:r>
            <a:br>
              <a:rPr lang="en"/>
            </a:br>
            <a:r>
              <a:rPr lang="en"/>
              <a:t>- They share one fault: routing runs on what already happened, reports the scheduled world, stops at the address, and optimizes a single number.</a:t>
            </a:r>
            <a:br>
              <a:rPr lang="en"/>
            </a:br>
            <a:br>
              <a:rPr lang="en"/>
            </a:br>
            <a:r>
              <a:rPr lang="en"/>
              <a:t>Know the curb before you arrive (step 7, park or return):</a:t>
            </a:r>
            <a:br>
              <a:rPr lang="en"/>
            </a:br>
            <a:r>
              <a:rPr lang="en"/>
              <a:t>- Navigation guides you to an address pin, not to a place where stopping or parking is legal. Drivers learn the curb rules on arrival, when they have the fewest options.</a:t>
            </a:r>
            <a:br>
              <a:rPr lang="en"/>
            </a:br>
            <a:r>
              <a:rPr lang="en"/>
              <a:t>- Google Maps predicts parking difficulty, but does not say whether a space is open or legal. Several cities, such as Boston and Seattle, are only now turning curb rules into machine-readable data using the open Curb Data Specification.</a:t>
            </a:r>
            <a:br>
              <a:rPr lang="en"/>
            </a:br>
            <a:r>
              <a:rPr lang="en"/>
              <a:t>- Evidence that the step can improve: in San Francisco’s SFpark evaluation (June 2014), demand-based curb pricing cut average parking search time by 5 minutes, or 43%, against control areas.</a:t>
            </a:r>
            <a:br>
              <a:rPr lang="en"/>
            </a:br>
            <a:br>
              <a:rPr lang="en"/>
            </a:br>
            <a:r>
              <a:rPr lang="en"/>
              <a:t>The train everyone knows is late (steps 2 and 5, wait and transfer):</a:t>
            </a:r>
            <a:br>
              <a:rPr lang="en"/>
            </a:br>
            <a:r>
              <a:rPr lang="en"/>
              <a:t>- On-time performance counts trains, not riders, so an empty late-night run offsets a packed peak one.</a:t>
            </a:r>
            <a:br>
              <a:rPr lang="en"/>
            </a:br>
            <a:r>
              <a:rPr lang="en"/>
              <a:t>- The definition of on time is a choice: about five minutes in many systems, ten at King County Metro. A ten-minute tolerance on a thirty-minute trip permits a 33% overrun that still counts as on time.</a:t>
            </a:r>
            <a:br>
              <a:rPr lang="en"/>
            </a:br>
            <a:r>
              <a:rPr lang="en"/>
              <a:t>- Metra did not count non-peak trains delayed five to ten minutes in construction zones as late, and automatically counted special-event trains as on time. Dropping both moved one month from 96% to 94.8%.</a:t>
            </a:r>
            <a:br>
              <a:rPr lang="en"/>
            </a:br>
            <a:r>
              <a:rPr lang="en"/>
              <a:t>- The pattern a commuter recognises already exists in historical arrival data. It is simply not in what the app shows.</a:t>
            </a:r>
            <a:br>
              <a:rPr lang="en"/>
            </a:br>
            <a:br>
              <a:rPr lang="en"/>
            </a:br>
            <a:r>
              <a:rPr lang="en"/>
              <a:t>Construction you can see coming (before the drive):</a:t>
            </a:r>
            <a:br>
              <a:rPr lang="en"/>
            </a:br>
            <a:r>
              <a:rPr lang="en"/>
              <a:t>- The Work Zone Data Exchange has existed since 2020 and feeds navigation providers, but only 40 feeds were active as of June 2026.</a:t>
            </a:r>
            <a:br>
              <a:rPr lang="en"/>
            </a:br>
            <a:r>
              <a:rPr lang="en"/>
              <a:t>- A work zone feed describes a zone that is already active, which is roughly when traffic reveals it anyway. The permit authorising the work existed weeks earlier, with a city or state agency, outside the chain.</a:t>
            </a:r>
            <a:br>
              <a:rPr lang="en"/>
            </a:br>
            <a:r>
              <a:rPr lang="en"/>
              <a:t>- Honest difficulty: permit systems are municipal and fragmented, and a permit date is a plan rather than a start date.</a:t>
            </a:r>
            <a:br>
              <a:rPr lang="en"/>
            </a:br>
            <a:br>
              <a:rPr lang="en"/>
            </a:br>
            <a:r>
              <a:rPr lang="en"/>
              <a:t>Routes that weigh more than time (step 4, ride or drive). This card merges the earlier risk and dial ideas:</a:t>
            </a:r>
            <a:br>
              <a:rPr lang="en"/>
            </a:br>
            <a:r>
              <a:rPr lang="en"/>
              <a:t>- Texas A&amp;M compared shortest and safest routes across more than 29,000 road segments in five Texas metro areas. A route with 8% shorter travel time carried 23% higher crash probability.</a:t>
            </a:r>
            <a:br>
              <a:rPr lang="en"/>
            </a:br>
            <a:r>
              <a:rPr lang="en"/>
              <a:t>- Travelers want different weightings at night, with a child or on a bike, but the interface exposes mode choice and little else.</a:t>
            </a:r>
            <a:br>
              <a:rPr lang="en"/>
            </a:br>
            <a:r>
              <a:rPr lang="en"/>
              <a:t>- Caution: a 2012 Microsoft patent for routing around high-crime areas was criticised as digital redlining. Define safety with road-level evidence such as crash risk, lighting and sidewalk presence, not neighborhood crime data.</a:t>
            </a:r>
            <a:br>
              <a:rPr lang="en"/>
            </a:br>
            <a:br>
              <a:rPr lang="en"/>
            </a:br>
            <a:r>
              <a:rPr lang="en"/>
              <a:t>Closing interpretation:</a:t>
            </a:r>
            <a:br>
              <a:rPr lang="en"/>
            </a:br>
            <a:r>
              <a:rPr lang="en"/>
              <a:t>- None of these is solved by a better scooter, a faster bus or a driverless car. They are problems of inputs and objectives in the layer that directs the trip.</a:t>
            </a:r>
            <a:endParaRPr/>
          </a:p>
        </p:txBody>
      </p:sp>
      <p:sp>
        <p:nvSpPr>
          <p:cNvPr id="266" name="Google Shape;266;h77f94340a6aa836e_18_21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4.png"/><Relationship Id="rId7"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sp>
        <p:nvSpPr>
          <p:cNvPr id="57" name="Google Shape;57;p15"/>
          <p:cNvSpPr/>
          <p:nvPr/>
        </p:nvSpPr>
        <p:spPr>
          <a:xfrm>
            <a:off x="4903470" y="0"/>
            <a:ext cx="4240301" cy="5143500"/>
          </a:xfrm>
          <a:prstGeom prst="rect">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58" name="Google Shape;58;p15"/>
          <p:cNvCxnSpPr/>
          <p:nvPr/>
        </p:nvCxnSpPr>
        <p:spPr>
          <a:xfrm flipH="1">
            <a:off x="5657850" y="3771900"/>
            <a:ext cx="617220" cy="685800"/>
          </a:xfrm>
          <a:prstGeom prst="straightConnector1">
            <a:avLst/>
          </a:prstGeom>
          <a:noFill/>
          <a:ln cap="flat" cmpd="sng" w="31750">
            <a:solidFill>
              <a:srgbClr val="2E5490"/>
            </a:solidFill>
            <a:prstDash val="solid"/>
            <a:round/>
            <a:headEnd len="sm" w="sm" type="none"/>
            <a:tailEnd len="sm" w="sm" type="none"/>
          </a:ln>
        </p:spPr>
      </p:cxnSp>
      <p:cxnSp>
        <p:nvCxnSpPr>
          <p:cNvPr id="59" name="Google Shape;59;p15"/>
          <p:cNvCxnSpPr/>
          <p:nvPr/>
        </p:nvCxnSpPr>
        <p:spPr>
          <a:xfrm>
            <a:off x="6000750" y="3086100"/>
            <a:ext cx="274320" cy="685800"/>
          </a:xfrm>
          <a:prstGeom prst="straightConnector1">
            <a:avLst/>
          </a:prstGeom>
          <a:noFill/>
          <a:ln cap="flat" cmpd="sng" w="31750">
            <a:solidFill>
              <a:srgbClr val="2E5490"/>
            </a:solidFill>
            <a:prstDash val="solid"/>
            <a:round/>
            <a:headEnd len="sm" w="sm" type="none"/>
            <a:tailEnd len="sm" w="sm" type="none"/>
          </a:ln>
        </p:spPr>
      </p:cxnSp>
      <p:cxnSp>
        <p:nvCxnSpPr>
          <p:cNvPr id="60" name="Google Shape;60;p15"/>
          <p:cNvCxnSpPr/>
          <p:nvPr/>
        </p:nvCxnSpPr>
        <p:spPr>
          <a:xfrm flipH="1">
            <a:off x="6000750" y="2674620"/>
            <a:ext cx="891540" cy="411480"/>
          </a:xfrm>
          <a:prstGeom prst="straightConnector1">
            <a:avLst/>
          </a:prstGeom>
          <a:noFill/>
          <a:ln cap="flat" cmpd="sng" w="31750">
            <a:solidFill>
              <a:srgbClr val="2E5490"/>
            </a:solidFill>
            <a:prstDash val="solid"/>
            <a:round/>
            <a:headEnd len="sm" w="sm" type="none"/>
            <a:tailEnd len="sm" w="sm" type="none"/>
          </a:ln>
        </p:spPr>
      </p:cxnSp>
      <p:cxnSp>
        <p:nvCxnSpPr>
          <p:cNvPr id="61" name="Google Shape;61;p15"/>
          <p:cNvCxnSpPr/>
          <p:nvPr/>
        </p:nvCxnSpPr>
        <p:spPr>
          <a:xfrm>
            <a:off x="6549390" y="1988820"/>
            <a:ext cx="342900" cy="685800"/>
          </a:xfrm>
          <a:prstGeom prst="straightConnector1">
            <a:avLst/>
          </a:prstGeom>
          <a:noFill/>
          <a:ln cap="flat" cmpd="sng" w="31750">
            <a:solidFill>
              <a:srgbClr val="2E5490"/>
            </a:solidFill>
            <a:prstDash val="solid"/>
            <a:round/>
            <a:headEnd len="sm" w="sm" type="none"/>
            <a:tailEnd len="sm" w="sm" type="none"/>
          </a:ln>
        </p:spPr>
      </p:cxnSp>
      <p:cxnSp>
        <p:nvCxnSpPr>
          <p:cNvPr id="62" name="Google Shape;62;p15"/>
          <p:cNvCxnSpPr/>
          <p:nvPr/>
        </p:nvCxnSpPr>
        <p:spPr>
          <a:xfrm flipH="1">
            <a:off x="6549390" y="1508760"/>
            <a:ext cx="822960" cy="480060"/>
          </a:xfrm>
          <a:prstGeom prst="straightConnector1">
            <a:avLst/>
          </a:prstGeom>
          <a:noFill/>
          <a:ln cap="flat" cmpd="sng" w="31750">
            <a:solidFill>
              <a:srgbClr val="2E5490"/>
            </a:solidFill>
            <a:prstDash val="solid"/>
            <a:round/>
            <a:headEnd len="sm" w="sm" type="none"/>
            <a:tailEnd len="sm" w="sm" type="none"/>
          </a:ln>
        </p:spPr>
      </p:cxnSp>
      <p:cxnSp>
        <p:nvCxnSpPr>
          <p:cNvPr id="63" name="Google Shape;63;p15"/>
          <p:cNvCxnSpPr/>
          <p:nvPr/>
        </p:nvCxnSpPr>
        <p:spPr>
          <a:xfrm>
            <a:off x="7029450" y="822960"/>
            <a:ext cx="342900" cy="685800"/>
          </a:xfrm>
          <a:prstGeom prst="straightConnector1">
            <a:avLst/>
          </a:prstGeom>
          <a:noFill/>
          <a:ln cap="flat" cmpd="sng" w="31750">
            <a:solidFill>
              <a:srgbClr val="2E5490"/>
            </a:solidFill>
            <a:prstDash val="solid"/>
            <a:round/>
            <a:headEnd len="sm" w="sm" type="none"/>
            <a:tailEnd len="sm" w="sm" type="none"/>
          </a:ln>
        </p:spPr>
      </p:cxnSp>
      <p:cxnSp>
        <p:nvCxnSpPr>
          <p:cNvPr id="64" name="Google Shape;64;p15"/>
          <p:cNvCxnSpPr/>
          <p:nvPr/>
        </p:nvCxnSpPr>
        <p:spPr>
          <a:xfrm flipH="1">
            <a:off x="7029450" y="514350"/>
            <a:ext cx="960120" cy="308610"/>
          </a:xfrm>
          <a:prstGeom prst="straightConnector1">
            <a:avLst/>
          </a:prstGeom>
          <a:noFill/>
          <a:ln cap="flat" cmpd="sng" w="31750">
            <a:solidFill>
              <a:srgbClr val="2E5490"/>
            </a:solidFill>
            <a:prstDash val="solid"/>
            <a:round/>
            <a:headEnd len="sm" w="sm" type="none"/>
            <a:tailEnd len="sm" w="sm" type="none"/>
          </a:ln>
        </p:spPr>
      </p:cxnSp>
      <p:sp>
        <p:nvSpPr>
          <p:cNvPr id="65" name="Google Shape;65;p15"/>
          <p:cNvSpPr/>
          <p:nvPr/>
        </p:nvSpPr>
        <p:spPr>
          <a:xfrm>
            <a:off x="5589270" y="4389120"/>
            <a:ext cx="137160" cy="137160"/>
          </a:xfrm>
          <a:prstGeom prst="ellipse">
            <a:avLst/>
          </a:prstGeom>
          <a:solidFill>
            <a:srgbClr val="3D6BB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6" name="Google Shape;66;p15"/>
          <p:cNvSpPr/>
          <p:nvPr/>
        </p:nvSpPr>
        <p:spPr>
          <a:xfrm>
            <a:off x="6206490" y="3703320"/>
            <a:ext cx="137160" cy="137160"/>
          </a:xfrm>
          <a:prstGeom prst="ellipse">
            <a:avLst/>
          </a:prstGeom>
          <a:solidFill>
            <a:srgbClr val="3D6BB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7" name="Google Shape;67;p15"/>
          <p:cNvSpPr/>
          <p:nvPr/>
        </p:nvSpPr>
        <p:spPr>
          <a:xfrm>
            <a:off x="5884164" y="2969514"/>
            <a:ext cx="233172" cy="233172"/>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8" name="Google Shape;68;p15"/>
          <p:cNvSpPr/>
          <p:nvPr/>
        </p:nvSpPr>
        <p:spPr>
          <a:xfrm>
            <a:off x="6823710" y="2606040"/>
            <a:ext cx="137160" cy="137160"/>
          </a:xfrm>
          <a:prstGeom prst="ellipse">
            <a:avLst/>
          </a:prstGeom>
          <a:solidFill>
            <a:srgbClr val="3D6BB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9" name="Google Shape;69;p15"/>
          <p:cNvSpPr/>
          <p:nvPr/>
        </p:nvSpPr>
        <p:spPr>
          <a:xfrm>
            <a:off x="6432804" y="1872234"/>
            <a:ext cx="233172" cy="233172"/>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 name="Google Shape;70;p15"/>
          <p:cNvSpPr/>
          <p:nvPr/>
        </p:nvSpPr>
        <p:spPr>
          <a:xfrm>
            <a:off x="7303770" y="1440180"/>
            <a:ext cx="137160" cy="137160"/>
          </a:xfrm>
          <a:prstGeom prst="ellipse">
            <a:avLst/>
          </a:prstGeom>
          <a:solidFill>
            <a:srgbClr val="3D6BB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1" name="Google Shape;71;p15"/>
          <p:cNvSpPr/>
          <p:nvPr/>
        </p:nvSpPr>
        <p:spPr>
          <a:xfrm>
            <a:off x="6912864" y="706374"/>
            <a:ext cx="233172" cy="233172"/>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2" name="Google Shape;72;p15"/>
          <p:cNvSpPr/>
          <p:nvPr/>
        </p:nvSpPr>
        <p:spPr>
          <a:xfrm>
            <a:off x="7920990" y="445770"/>
            <a:ext cx="137160" cy="137160"/>
          </a:xfrm>
          <a:prstGeom prst="ellipse">
            <a:avLst/>
          </a:prstGeom>
          <a:solidFill>
            <a:srgbClr val="3D6BB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 name="Google Shape;73;p15"/>
          <p:cNvSpPr/>
          <p:nvPr/>
        </p:nvSpPr>
        <p:spPr>
          <a:xfrm>
            <a:off x="7797546" y="322326"/>
            <a:ext cx="384048" cy="384048"/>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74" name="Google Shape;74;p15"/>
          <p:cNvPicPr preferRelativeResize="0"/>
          <p:nvPr/>
        </p:nvPicPr>
        <p:blipFill rotWithShape="1">
          <a:blip r:embed="rId3">
            <a:alphaModFix/>
          </a:blip>
          <a:srcRect b="0" l="0" r="0" t="0"/>
          <a:stretch/>
        </p:blipFill>
        <p:spPr>
          <a:xfrm>
            <a:off x="7893558" y="418338"/>
            <a:ext cx="192024" cy="192024"/>
          </a:xfrm>
          <a:prstGeom prst="rect">
            <a:avLst/>
          </a:prstGeom>
          <a:noFill/>
          <a:ln>
            <a:noFill/>
          </a:ln>
        </p:spPr>
      </p:pic>
      <p:sp>
        <p:nvSpPr>
          <p:cNvPr id="75" name="Google Shape;75;p15"/>
          <p:cNvSpPr/>
          <p:nvPr/>
        </p:nvSpPr>
        <p:spPr>
          <a:xfrm>
            <a:off x="308610" y="205740"/>
            <a:ext cx="288036" cy="41148"/>
          </a:xfrm>
          <a:prstGeom prst="rect">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6" name="Google Shape;76;p15"/>
          <p:cNvSpPr/>
          <p:nvPr/>
        </p:nvSpPr>
        <p:spPr>
          <a:xfrm>
            <a:off x="630936" y="205740"/>
            <a:ext cx="150876" cy="41148"/>
          </a:xfrm>
          <a:prstGeom prst="rect">
            <a:avLst/>
          </a:prstGeom>
          <a:solidFill>
            <a:srgbClr val="AFC9E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7" name="Google Shape;77;p15"/>
          <p:cNvSpPr txBox="1"/>
          <p:nvPr/>
        </p:nvSpPr>
        <p:spPr>
          <a:xfrm>
            <a:off x="857250" y="158826"/>
            <a:ext cx="49377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5B"/>
              </a:buClr>
              <a:buSzPts val="700"/>
              <a:buFont typeface="Arial"/>
              <a:buNone/>
            </a:pPr>
            <a:r>
              <a:rPr b="1" i="0" lang="en" sz="700" u="none" cap="none" strike="noStrike">
                <a:solidFill>
                  <a:srgbClr val="0F2B5B"/>
                </a:solidFill>
                <a:latin typeface="Arial"/>
                <a:ea typeface="Arial"/>
                <a:cs typeface="Arial"/>
                <a:sym typeface="Arial"/>
              </a:rPr>
              <a:t>INNOVATION &amp; ENTREPRENEURSHIP</a:t>
            </a:r>
            <a:endParaRPr b="1" sz="700">
              <a:solidFill>
                <a:srgbClr val="0F2B5B"/>
              </a:solidFill>
            </a:endParaRPr>
          </a:p>
          <a:p>
            <a:pPr indent="0" lvl="0" marL="0" marR="0" rtl="0" algn="l">
              <a:spcBef>
                <a:spcPts val="0"/>
              </a:spcBef>
              <a:spcAft>
                <a:spcPts val="0"/>
              </a:spcAft>
              <a:buClr>
                <a:srgbClr val="0F2B5B"/>
              </a:buClr>
              <a:buSzPts val="700"/>
              <a:buFont typeface="Arial"/>
              <a:buNone/>
            </a:pPr>
            <a:r>
              <a:t/>
            </a:r>
            <a:endParaRPr b="1" sz="700">
              <a:solidFill>
                <a:srgbClr val="0F2B5B"/>
              </a:solidFill>
            </a:endParaRPr>
          </a:p>
        </p:txBody>
      </p:sp>
      <p:sp>
        <p:nvSpPr>
          <p:cNvPr id="78" name="Google Shape;78;p15"/>
          <p:cNvSpPr txBox="1"/>
          <p:nvPr/>
        </p:nvSpPr>
        <p:spPr>
          <a:xfrm>
            <a:off x="308610" y="891540"/>
            <a:ext cx="445770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5B"/>
              </a:buClr>
              <a:buSzPts val="3500"/>
              <a:buFont typeface="Arial"/>
              <a:buNone/>
            </a:pPr>
            <a:r>
              <a:rPr b="1" i="0" lang="en" sz="3500" u="none" cap="none" strike="noStrike">
                <a:solidFill>
                  <a:srgbClr val="0F2B5B"/>
                </a:solidFill>
                <a:latin typeface="Arial"/>
                <a:ea typeface="Arial"/>
                <a:cs typeface="Arial"/>
                <a:sym typeface="Arial"/>
              </a:rPr>
              <a:t>Transport &amp; Mobility</a:t>
            </a:r>
            <a:endParaRPr b="0" i="0" sz="3500" u="none" cap="none" strike="noStrike">
              <a:solidFill>
                <a:schemeClr val="dk1"/>
              </a:solidFill>
              <a:latin typeface="Calibri"/>
              <a:ea typeface="Calibri"/>
              <a:cs typeface="Calibri"/>
              <a:sym typeface="Calibri"/>
            </a:endParaRPr>
          </a:p>
        </p:txBody>
      </p:sp>
      <p:sp>
        <p:nvSpPr>
          <p:cNvPr id="79" name="Google Shape;79;p15"/>
          <p:cNvSpPr txBox="1"/>
          <p:nvPr/>
        </p:nvSpPr>
        <p:spPr>
          <a:xfrm>
            <a:off x="308610" y="1467612"/>
            <a:ext cx="452628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67E8"/>
              </a:buClr>
              <a:buSzPts val="3500"/>
              <a:buFont typeface="Arial"/>
              <a:buNone/>
            </a:pPr>
            <a:r>
              <a:rPr b="1" lang="en" sz="3500">
                <a:solidFill>
                  <a:srgbClr val="1367E8"/>
                </a:solidFill>
              </a:rPr>
              <a:t>Routing Algorithms</a:t>
            </a:r>
            <a:endParaRPr i="0" sz="3500" u="none" cap="none" strike="noStrike">
              <a:solidFill>
                <a:schemeClr val="dk1"/>
              </a:solidFill>
            </a:endParaRPr>
          </a:p>
        </p:txBody>
      </p:sp>
      <p:sp>
        <p:nvSpPr>
          <p:cNvPr id="80" name="Google Shape;80;p15"/>
          <p:cNvSpPr txBox="1"/>
          <p:nvPr/>
        </p:nvSpPr>
        <p:spPr>
          <a:xfrm>
            <a:off x="322326" y="2194560"/>
            <a:ext cx="4320540" cy="651510"/>
          </a:xfrm>
          <a:prstGeom prst="rect">
            <a:avLst/>
          </a:prstGeom>
          <a:noFill/>
          <a:ln>
            <a:noFill/>
          </a:ln>
        </p:spPr>
        <p:txBody>
          <a:bodyPr anchorCtr="0" anchor="t" bIns="0" lIns="0" spcFirstLastPara="1" rIns="0" wrap="square" tIns="0">
            <a:noAutofit/>
          </a:bodyPr>
          <a:lstStyle/>
          <a:p>
            <a:pPr indent="0" lvl="0" marL="0" marR="0" rtl="0" algn="l">
              <a:lnSpc>
                <a:spcPct val="142105"/>
              </a:lnSpc>
              <a:spcBef>
                <a:spcPts val="0"/>
              </a:spcBef>
              <a:spcAft>
                <a:spcPts val="0"/>
              </a:spcAft>
              <a:buClr>
                <a:srgbClr val="3A4A5F"/>
              </a:buClr>
              <a:buSzPts val="1400"/>
              <a:buFont typeface="Calibri"/>
              <a:buNone/>
            </a:pPr>
            <a:r>
              <a:rPr b="0" i="0" lang="en" sz="1400" u="none" cap="none" strike="noStrike">
                <a:solidFill>
                  <a:srgbClr val="3A4A5F"/>
                </a:solidFill>
                <a:latin typeface="Calibri"/>
                <a:ea typeface="Calibri"/>
                <a:cs typeface="Calibri"/>
                <a:sym typeface="Calibri"/>
              </a:rPr>
              <a:t>Jobs to Be Done Analysis</a:t>
            </a:r>
            <a:endParaRPr b="0" i="0" sz="1400" u="none" cap="none" strike="noStrike">
              <a:solidFill>
                <a:schemeClr val="dk1"/>
              </a:solidFill>
              <a:latin typeface="Calibri"/>
              <a:ea typeface="Calibri"/>
              <a:cs typeface="Calibri"/>
              <a:sym typeface="Calibri"/>
            </a:endParaRPr>
          </a:p>
        </p:txBody>
      </p:sp>
      <p:sp>
        <p:nvSpPr>
          <p:cNvPr id="81" name="Google Shape;81;p15"/>
          <p:cNvSpPr/>
          <p:nvPr/>
        </p:nvSpPr>
        <p:spPr>
          <a:xfrm>
            <a:off x="322326" y="2948940"/>
            <a:ext cx="788670" cy="30861"/>
          </a:xfrm>
          <a:prstGeom prst="rect">
            <a:avLst/>
          </a:prstGeom>
          <a:solidFill>
            <a:srgbClr val="AFC9E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2" name="Google Shape;82;p15"/>
          <p:cNvSpPr txBox="1"/>
          <p:nvPr/>
        </p:nvSpPr>
        <p:spPr>
          <a:xfrm>
            <a:off x="322326" y="3168396"/>
            <a:ext cx="44577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67E8"/>
              </a:buClr>
              <a:buSzPts val="1100"/>
              <a:buFont typeface="Calibri"/>
              <a:buNone/>
            </a:pPr>
            <a:r>
              <a:rPr b="1" i="0" lang="en" sz="1100" u="none" cap="none" strike="noStrike">
                <a:solidFill>
                  <a:srgbClr val="1367E8"/>
                </a:solidFill>
                <a:latin typeface="Calibri"/>
                <a:ea typeface="Calibri"/>
                <a:cs typeface="Calibri"/>
                <a:sym typeface="Calibri"/>
              </a:rPr>
              <a:t>Domain: </a:t>
            </a:r>
            <a:r>
              <a:rPr b="0" i="0" lang="en" sz="1100" u="none" cap="none" strike="noStrike">
                <a:solidFill>
                  <a:srgbClr val="3A4A5F"/>
                </a:solidFill>
                <a:latin typeface="Calibri"/>
                <a:ea typeface="Calibri"/>
                <a:cs typeface="Calibri"/>
                <a:sym typeface="Calibri"/>
              </a:rPr>
              <a:t>Transportation </a:t>
            </a:r>
            <a:r>
              <a:rPr lang="en" sz="1100">
                <a:solidFill>
                  <a:srgbClr val="3A4A5F"/>
                </a:solidFill>
                <a:latin typeface="Calibri"/>
                <a:ea typeface="Calibri"/>
                <a:cs typeface="Calibri"/>
                <a:sym typeface="Calibri"/>
              </a:rPr>
              <a:t>&amp; M</a:t>
            </a:r>
            <a:r>
              <a:rPr b="0" i="0" lang="en" sz="1100" u="none" cap="none" strike="noStrike">
                <a:solidFill>
                  <a:srgbClr val="3A4A5F"/>
                </a:solidFill>
                <a:latin typeface="Calibri"/>
                <a:ea typeface="Calibri"/>
                <a:cs typeface="Calibri"/>
                <a:sym typeface="Calibri"/>
              </a:rPr>
              <a:t>obility  </a:t>
            </a:r>
            <a:r>
              <a:rPr b="1" i="0" lang="en" sz="1100" u="none" cap="none" strike="noStrike">
                <a:solidFill>
                  <a:srgbClr val="1367E8"/>
                </a:solidFill>
                <a:latin typeface="Calibri"/>
                <a:ea typeface="Calibri"/>
                <a:cs typeface="Calibri"/>
                <a:sym typeface="Calibri"/>
              </a:rPr>
              <a:t>|  Job: </a:t>
            </a:r>
            <a:r>
              <a:rPr lang="en" sz="1100">
                <a:solidFill>
                  <a:srgbClr val="3A4A5F"/>
                </a:solidFill>
                <a:latin typeface="Calibri"/>
                <a:ea typeface="Calibri"/>
                <a:cs typeface="Calibri"/>
                <a:sym typeface="Calibri"/>
              </a:rPr>
              <a:t>Efficient Mobility</a:t>
            </a:r>
            <a:endParaRPr b="0" i="0" sz="1100" u="none" cap="none" strike="noStrike">
              <a:solidFill>
                <a:schemeClr val="dk1"/>
              </a:solidFill>
              <a:latin typeface="Calibri"/>
              <a:ea typeface="Calibri"/>
              <a:cs typeface="Calibri"/>
              <a:sym typeface="Calibri"/>
            </a:endParaRPr>
          </a:p>
        </p:txBody>
      </p:sp>
      <p:sp>
        <p:nvSpPr>
          <p:cNvPr id="83" name="Google Shape;83;p15"/>
          <p:cNvSpPr txBox="1"/>
          <p:nvPr/>
        </p:nvSpPr>
        <p:spPr>
          <a:xfrm>
            <a:off x="322326" y="3737610"/>
            <a:ext cx="4389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5B"/>
              </a:buClr>
              <a:buSzPts val="1300"/>
              <a:buFont typeface="Arial"/>
              <a:buNone/>
            </a:pPr>
            <a:r>
              <a:rPr b="1" i="0" lang="en" sz="1300" u="none" cap="none" strike="noStrike">
                <a:solidFill>
                  <a:srgbClr val="0F2B5B"/>
                </a:solidFill>
                <a:latin typeface="Arial"/>
                <a:ea typeface="Arial"/>
                <a:cs typeface="Arial"/>
                <a:sym typeface="Arial"/>
              </a:rPr>
              <a:t>Team 4: Michael, Jason, Jonathan, Sichen</a:t>
            </a:r>
            <a:endParaRPr b="0" i="0" sz="1300" u="none" cap="none" strike="noStrike">
              <a:solidFill>
                <a:schemeClr val="dk1"/>
              </a:solidFill>
              <a:latin typeface="Calibri"/>
              <a:ea typeface="Calibri"/>
              <a:cs typeface="Calibri"/>
              <a:sym typeface="Calibri"/>
            </a:endParaRPr>
          </a:p>
        </p:txBody>
      </p:sp>
      <p:sp>
        <p:nvSpPr>
          <p:cNvPr id="84" name="Google Shape;84;p15"/>
          <p:cNvSpPr txBox="1"/>
          <p:nvPr/>
        </p:nvSpPr>
        <p:spPr>
          <a:xfrm>
            <a:off x="8743950" y="4834890"/>
            <a:ext cx="240030" cy="2057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1</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16"/>
          <p:cNvSpPr/>
          <p:nvPr/>
        </p:nvSpPr>
        <p:spPr>
          <a:xfrm>
            <a:off x="308610" y="205740"/>
            <a:ext cx="288000" cy="41100"/>
          </a:xfrm>
          <a:prstGeom prst="rect">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 name="Google Shape;91;p16"/>
          <p:cNvSpPr txBox="1"/>
          <p:nvPr/>
        </p:nvSpPr>
        <p:spPr>
          <a:xfrm>
            <a:off x="308610" y="452628"/>
            <a:ext cx="452628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5B"/>
              </a:buClr>
              <a:buSzPts val="3000"/>
              <a:buFont typeface="Arial"/>
              <a:buNone/>
            </a:pPr>
            <a:r>
              <a:rPr b="1" i="0" lang="en" sz="3000" u="none" cap="none" strike="noStrike">
                <a:solidFill>
                  <a:srgbClr val="0F2B5B"/>
                </a:solidFill>
                <a:latin typeface="Arial"/>
                <a:ea typeface="Arial"/>
                <a:cs typeface="Arial"/>
                <a:sym typeface="Arial"/>
              </a:rPr>
              <a:t>Domain + </a:t>
            </a:r>
            <a:r>
              <a:rPr b="1" i="0" lang="en" sz="3000" u="none" cap="none" strike="noStrike">
                <a:solidFill>
                  <a:srgbClr val="1367E8"/>
                </a:solidFill>
                <a:latin typeface="Arial"/>
                <a:ea typeface="Arial"/>
                <a:cs typeface="Arial"/>
                <a:sym typeface="Arial"/>
              </a:rPr>
              <a:t>Relevant Data</a:t>
            </a:r>
            <a:endParaRPr b="0" i="0" sz="3000" u="none" cap="none" strike="noStrike">
              <a:solidFill>
                <a:schemeClr val="dk1"/>
              </a:solidFill>
              <a:latin typeface="Calibri"/>
              <a:ea typeface="Calibri"/>
              <a:cs typeface="Calibri"/>
              <a:sym typeface="Calibri"/>
            </a:endParaRPr>
          </a:p>
        </p:txBody>
      </p:sp>
      <p:sp>
        <p:nvSpPr>
          <p:cNvPr id="92" name="Google Shape;92;p16"/>
          <p:cNvSpPr txBox="1"/>
          <p:nvPr/>
        </p:nvSpPr>
        <p:spPr>
          <a:xfrm>
            <a:off x="857250" y="109728"/>
            <a:ext cx="49377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5B"/>
              </a:buClr>
              <a:buSzPts val="700"/>
              <a:buFont typeface="Arial"/>
              <a:buNone/>
            </a:pPr>
            <a:r>
              <a:rPr b="1" i="0" lang="en" sz="700" u="none" cap="none" strike="noStrike">
                <a:solidFill>
                  <a:srgbClr val="0F2B5B"/>
                </a:solidFill>
                <a:latin typeface="Arial"/>
                <a:ea typeface="Arial"/>
                <a:cs typeface="Arial"/>
                <a:sym typeface="Arial"/>
              </a:rPr>
              <a:t>INNOVATION &amp; ENTREPRENEURSHIP</a:t>
            </a:r>
            <a:endParaRPr b="0" i="0" sz="700" u="none" cap="none" strike="noStrike">
              <a:solidFill>
                <a:schemeClr val="dk1"/>
              </a:solidFill>
              <a:latin typeface="Calibri"/>
              <a:ea typeface="Calibri"/>
              <a:cs typeface="Calibri"/>
              <a:sym typeface="Calibri"/>
            </a:endParaRPr>
          </a:p>
        </p:txBody>
      </p:sp>
      <p:sp>
        <p:nvSpPr>
          <p:cNvPr id="93" name="Google Shape;93;p16"/>
          <p:cNvSpPr/>
          <p:nvPr/>
        </p:nvSpPr>
        <p:spPr>
          <a:xfrm>
            <a:off x="630936" y="205740"/>
            <a:ext cx="150900" cy="41100"/>
          </a:xfrm>
          <a:prstGeom prst="rect">
            <a:avLst/>
          </a:prstGeom>
          <a:solidFill>
            <a:srgbClr val="AFC9E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4" name="Google Shape;94;p16"/>
          <p:cNvSpPr txBox="1"/>
          <p:nvPr/>
        </p:nvSpPr>
        <p:spPr>
          <a:xfrm>
            <a:off x="322326" y="1001268"/>
            <a:ext cx="3840480" cy="246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2B5B"/>
              </a:buClr>
              <a:buSzPts val="1400"/>
              <a:buFont typeface="Arial"/>
              <a:buNone/>
            </a:pPr>
            <a:r>
              <a:rPr b="1" i="0" lang="en" sz="1400" u="none" cap="none" strike="noStrike">
                <a:solidFill>
                  <a:srgbClr val="0F2B5B"/>
                </a:solidFill>
                <a:latin typeface="Arial"/>
                <a:ea typeface="Arial"/>
                <a:cs typeface="Arial"/>
                <a:sym typeface="Arial"/>
              </a:rPr>
              <a:t>What is the job?</a:t>
            </a:r>
            <a:endParaRPr b="0" i="0" sz="1400" u="none" cap="none" strike="noStrike">
              <a:solidFill>
                <a:schemeClr val="dk1"/>
              </a:solidFill>
              <a:latin typeface="Calibri"/>
              <a:ea typeface="Calibri"/>
              <a:cs typeface="Calibri"/>
              <a:sym typeface="Calibri"/>
            </a:endParaRPr>
          </a:p>
        </p:txBody>
      </p:sp>
      <p:sp>
        <p:nvSpPr>
          <p:cNvPr id="95" name="Google Shape;95;p16"/>
          <p:cNvSpPr txBox="1"/>
          <p:nvPr/>
        </p:nvSpPr>
        <p:spPr>
          <a:xfrm>
            <a:off x="322326" y="1316736"/>
            <a:ext cx="3806190" cy="1577340"/>
          </a:xfrm>
          <a:prstGeom prst="rect">
            <a:avLst/>
          </a:prstGeom>
          <a:noFill/>
          <a:ln>
            <a:noFill/>
          </a:ln>
        </p:spPr>
        <p:txBody>
          <a:bodyPr anchorCtr="0" anchor="t" bIns="0" lIns="0" spcFirstLastPara="1" rIns="0" wrap="square" tIns="0">
            <a:noAutofit/>
          </a:bodyPr>
          <a:lstStyle/>
          <a:p>
            <a:pPr indent="-247650" lvl="0" marL="254000" marR="0" rtl="0" algn="l">
              <a:lnSpc>
                <a:spcPct val="135714"/>
              </a:lnSpc>
              <a:spcBef>
                <a:spcPts val="0"/>
              </a:spcBef>
              <a:spcAft>
                <a:spcPts val="0"/>
              </a:spcAft>
              <a:buClr>
                <a:srgbClr val="3A4A5F"/>
              </a:buClr>
              <a:buSzPts val="900"/>
              <a:buFont typeface="Calibri"/>
              <a:buChar char="•"/>
            </a:pPr>
            <a:r>
              <a:rPr lang="en" sz="900">
                <a:solidFill>
                  <a:srgbClr val="3A4A5F"/>
                </a:solidFill>
                <a:latin typeface="Calibri"/>
                <a:ea typeface="Calibri"/>
                <a:cs typeface="Calibri"/>
                <a:sym typeface="Calibri"/>
              </a:rPr>
              <a:t>Going from point A to point B </a:t>
            </a:r>
            <a:r>
              <a:rPr b="0" i="0" lang="en" sz="900" u="none" cap="none" strike="noStrike">
                <a:solidFill>
                  <a:srgbClr val="3A4A5F"/>
                </a:solidFill>
                <a:latin typeface="Calibri"/>
                <a:ea typeface="Calibri"/>
                <a:cs typeface="Calibri"/>
                <a:sym typeface="Calibri"/>
              </a:rPr>
              <a:t>with as little time, cost and effort as possible</a:t>
            </a:r>
            <a:endParaRPr sz="900">
              <a:solidFill>
                <a:srgbClr val="3A4A5F"/>
              </a:solidFill>
              <a:latin typeface="Calibri"/>
              <a:ea typeface="Calibri"/>
              <a:cs typeface="Calibri"/>
              <a:sym typeface="Calibri"/>
            </a:endParaRPr>
          </a:p>
          <a:p>
            <a:pPr indent="-247650" lvl="0" marL="254000" marR="0" rtl="0" algn="l">
              <a:lnSpc>
                <a:spcPct val="135714"/>
              </a:lnSpc>
              <a:spcBef>
                <a:spcPts val="0"/>
              </a:spcBef>
              <a:spcAft>
                <a:spcPts val="0"/>
              </a:spcAft>
              <a:buClr>
                <a:srgbClr val="3A4A5F"/>
              </a:buClr>
              <a:buSzPts val="900"/>
              <a:buFont typeface="Calibri"/>
              <a:buChar char="•"/>
            </a:pPr>
            <a:r>
              <a:rPr lang="en" sz="900">
                <a:solidFill>
                  <a:srgbClr val="3A4A5F"/>
                </a:solidFill>
                <a:latin typeface="Calibri"/>
                <a:ea typeface="Calibri"/>
                <a:cs typeface="Calibri"/>
                <a:sym typeface="Calibri"/>
              </a:rPr>
              <a:t>Today we use routing applications, Google Maps and Waze that prioritize for speed with relatively simple algorithms to modern standards</a:t>
            </a:r>
            <a:endParaRPr sz="900">
              <a:solidFill>
                <a:srgbClr val="3A4A5F"/>
              </a:solidFill>
              <a:latin typeface="Calibri"/>
              <a:ea typeface="Calibri"/>
              <a:cs typeface="Calibri"/>
              <a:sym typeface="Calibri"/>
            </a:endParaRPr>
          </a:p>
          <a:p>
            <a:pPr indent="-247650" lvl="0" marL="254000" marR="0" rtl="0" algn="l">
              <a:lnSpc>
                <a:spcPct val="135714"/>
              </a:lnSpc>
              <a:spcBef>
                <a:spcPts val="0"/>
              </a:spcBef>
              <a:spcAft>
                <a:spcPts val="0"/>
              </a:spcAft>
              <a:buClr>
                <a:srgbClr val="3A4A5F"/>
              </a:buClr>
              <a:buSzPts val="900"/>
              <a:buFont typeface="Calibri"/>
              <a:buChar char="•"/>
            </a:pPr>
            <a:r>
              <a:rPr lang="en" sz="900">
                <a:solidFill>
                  <a:srgbClr val="3A4A5F"/>
                </a:solidFill>
                <a:latin typeface="Calibri"/>
                <a:ea typeface="Calibri"/>
                <a:cs typeface="Calibri"/>
                <a:sym typeface="Calibri"/>
              </a:rPr>
              <a:t>These simple algorithms have largely remained unchanged for decades</a:t>
            </a:r>
            <a:endParaRPr sz="900">
              <a:solidFill>
                <a:srgbClr val="3A4A5F"/>
              </a:solidFill>
              <a:latin typeface="Calibri"/>
              <a:ea typeface="Calibri"/>
              <a:cs typeface="Calibri"/>
              <a:sym typeface="Calibri"/>
            </a:endParaRPr>
          </a:p>
          <a:p>
            <a:pPr indent="-247650" lvl="0" marL="254000" marR="0" rtl="0" algn="l">
              <a:lnSpc>
                <a:spcPct val="135714"/>
              </a:lnSpc>
              <a:spcBef>
                <a:spcPts val="0"/>
              </a:spcBef>
              <a:spcAft>
                <a:spcPts val="0"/>
              </a:spcAft>
              <a:buClr>
                <a:srgbClr val="3A4A5F"/>
              </a:buClr>
              <a:buSzPts val="900"/>
              <a:buFont typeface="Calibri"/>
              <a:buChar char="•"/>
            </a:pPr>
            <a:r>
              <a:rPr lang="en" sz="900">
                <a:solidFill>
                  <a:srgbClr val="3A4A5F"/>
                </a:solidFill>
                <a:latin typeface="Calibri"/>
                <a:ea typeface="Calibri"/>
                <a:cs typeface="Calibri"/>
                <a:sym typeface="Calibri"/>
              </a:rPr>
              <a:t>Additionally, every individual wants to optimize on different things during their route, including safety, sights, emissions, and more; many of these are not taken into account in today’s paradigm of routing applications</a:t>
            </a:r>
            <a:endParaRPr b="0" i="0" sz="900" u="none" cap="none" strike="noStrike">
              <a:solidFill>
                <a:schemeClr val="dk1"/>
              </a:solidFill>
              <a:latin typeface="Calibri"/>
              <a:ea typeface="Calibri"/>
              <a:cs typeface="Calibri"/>
              <a:sym typeface="Calibri"/>
            </a:endParaRPr>
          </a:p>
        </p:txBody>
      </p:sp>
      <p:sp>
        <p:nvSpPr>
          <p:cNvPr id="96" name="Google Shape;96;p16"/>
          <p:cNvSpPr/>
          <p:nvPr/>
        </p:nvSpPr>
        <p:spPr>
          <a:xfrm>
            <a:off x="308610" y="2962656"/>
            <a:ext cx="2050542" cy="1268730"/>
          </a:xfrm>
          <a:prstGeom prst="roundRect">
            <a:avLst>
              <a:gd fmla="val 2703" name="adj"/>
            </a:avLst>
          </a:prstGeom>
          <a:solidFill>
            <a:srgbClr val="F5F9FF"/>
          </a:solidFill>
          <a:ln cap="flat" cmpd="sng" w="12700">
            <a:solidFill>
              <a:srgbClr val="D8E6F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7" name="Google Shape;97;p16"/>
          <p:cNvSpPr/>
          <p:nvPr/>
        </p:nvSpPr>
        <p:spPr>
          <a:xfrm>
            <a:off x="445770" y="3099816"/>
            <a:ext cx="356616" cy="356616"/>
          </a:xfrm>
          <a:prstGeom prst="ellipse">
            <a:avLst/>
          </a:prstGeom>
          <a:solidFill>
            <a:srgbClr val="E8F1F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98" name="Google Shape;98;p16"/>
          <p:cNvPicPr preferRelativeResize="0"/>
          <p:nvPr/>
        </p:nvPicPr>
        <p:blipFill rotWithShape="1">
          <a:blip r:embed="rId3">
            <a:alphaModFix/>
          </a:blip>
          <a:srcRect b="0" l="0" r="0" t="0"/>
          <a:stretch/>
        </p:blipFill>
        <p:spPr>
          <a:xfrm>
            <a:off x="534924" y="3188970"/>
            <a:ext cx="178308" cy="178308"/>
          </a:xfrm>
          <a:prstGeom prst="rect">
            <a:avLst/>
          </a:prstGeom>
          <a:noFill/>
          <a:ln>
            <a:noFill/>
          </a:ln>
        </p:spPr>
      </p:pic>
      <p:sp>
        <p:nvSpPr>
          <p:cNvPr id="99" name="Google Shape;99;p16"/>
          <p:cNvSpPr txBox="1"/>
          <p:nvPr/>
        </p:nvSpPr>
        <p:spPr>
          <a:xfrm>
            <a:off x="870966" y="3086100"/>
            <a:ext cx="139903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67E8"/>
              </a:buClr>
              <a:buSzPts val="1600"/>
              <a:buFont typeface="Arial"/>
              <a:buNone/>
            </a:pPr>
            <a:r>
              <a:rPr b="1" i="0" lang="en" sz="1600" u="none" cap="none" strike="noStrike">
                <a:solidFill>
                  <a:srgbClr val="1367E8"/>
                </a:solidFill>
                <a:latin typeface="Arial"/>
                <a:ea typeface="Arial"/>
                <a:cs typeface="Arial"/>
                <a:sym typeface="Arial"/>
              </a:rPr>
              <a:t>49 hours</a:t>
            </a:r>
            <a:endParaRPr b="0" i="0" sz="1600" u="none" cap="none" strike="noStrike">
              <a:solidFill>
                <a:schemeClr val="dk1"/>
              </a:solidFill>
              <a:latin typeface="Calibri"/>
              <a:ea typeface="Calibri"/>
              <a:cs typeface="Calibri"/>
              <a:sym typeface="Calibri"/>
            </a:endParaRPr>
          </a:p>
        </p:txBody>
      </p:sp>
      <p:sp>
        <p:nvSpPr>
          <p:cNvPr id="100" name="Google Shape;100;p16"/>
          <p:cNvSpPr txBox="1"/>
          <p:nvPr/>
        </p:nvSpPr>
        <p:spPr>
          <a:xfrm>
            <a:off x="452628" y="3525012"/>
            <a:ext cx="1762506" cy="65151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3A4A5F"/>
              </a:buClr>
              <a:buSzPts val="800"/>
              <a:buFont typeface="Calibri"/>
              <a:buNone/>
            </a:pPr>
            <a:r>
              <a:rPr b="0" i="0" lang="en" sz="800" u="none" cap="none" strike="noStrike">
                <a:solidFill>
                  <a:srgbClr val="3A4A5F"/>
                </a:solidFill>
                <a:latin typeface="Calibri"/>
                <a:ea typeface="Calibri"/>
                <a:cs typeface="Calibri"/>
                <a:sym typeface="Calibri"/>
              </a:rPr>
              <a:t>Lost to congestion per US driver in 2025, up six hours in a year </a:t>
            </a:r>
            <a:r>
              <a:rPr lang="en" sz="800">
                <a:solidFill>
                  <a:srgbClr val="3A4A5F"/>
                </a:solidFill>
                <a:latin typeface="Calibri"/>
                <a:ea typeface="Calibri"/>
                <a:cs typeface="Calibri"/>
                <a:sym typeface="Calibri"/>
              </a:rPr>
              <a:t>(~</a:t>
            </a:r>
            <a:r>
              <a:rPr b="0" i="0" lang="en" sz="800" u="none" cap="none" strike="noStrike">
                <a:solidFill>
                  <a:srgbClr val="3A4A5F"/>
                </a:solidFill>
                <a:latin typeface="Calibri"/>
                <a:ea typeface="Calibri"/>
                <a:cs typeface="Calibri"/>
                <a:sym typeface="Calibri"/>
              </a:rPr>
              <a:t>$894 each driver, $85.8bn nationally</a:t>
            </a:r>
            <a:r>
              <a:rPr lang="en" sz="800">
                <a:solidFill>
                  <a:srgbClr val="3A4A5F"/>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101" name="Google Shape;101;p16"/>
          <p:cNvSpPr/>
          <p:nvPr/>
        </p:nvSpPr>
        <p:spPr>
          <a:xfrm>
            <a:off x="2489454" y="2962656"/>
            <a:ext cx="2050542" cy="1268730"/>
          </a:xfrm>
          <a:prstGeom prst="roundRect">
            <a:avLst>
              <a:gd fmla="val 2703" name="adj"/>
            </a:avLst>
          </a:prstGeom>
          <a:solidFill>
            <a:srgbClr val="F5F9FF"/>
          </a:solidFill>
          <a:ln cap="flat" cmpd="sng" w="12700">
            <a:solidFill>
              <a:srgbClr val="D8E6F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2" name="Google Shape;102;p16"/>
          <p:cNvSpPr/>
          <p:nvPr/>
        </p:nvSpPr>
        <p:spPr>
          <a:xfrm>
            <a:off x="2626614" y="3099816"/>
            <a:ext cx="356616" cy="356616"/>
          </a:xfrm>
          <a:prstGeom prst="ellipse">
            <a:avLst/>
          </a:prstGeom>
          <a:solidFill>
            <a:srgbClr val="E8F1F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103" name="Google Shape;103;p16"/>
          <p:cNvPicPr preferRelativeResize="0"/>
          <p:nvPr/>
        </p:nvPicPr>
        <p:blipFill rotWithShape="1">
          <a:blip r:embed="rId4">
            <a:alphaModFix/>
          </a:blip>
          <a:srcRect b="0" l="0" r="0" t="0"/>
          <a:stretch/>
        </p:blipFill>
        <p:spPr>
          <a:xfrm>
            <a:off x="2715768" y="3188970"/>
            <a:ext cx="178308" cy="178308"/>
          </a:xfrm>
          <a:prstGeom prst="rect">
            <a:avLst/>
          </a:prstGeom>
          <a:noFill/>
          <a:ln>
            <a:noFill/>
          </a:ln>
        </p:spPr>
      </p:pic>
      <p:sp>
        <p:nvSpPr>
          <p:cNvPr id="104" name="Google Shape;104;p16"/>
          <p:cNvSpPr txBox="1"/>
          <p:nvPr/>
        </p:nvSpPr>
        <p:spPr>
          <a:xfrm>
            <a:off x="3051810" y="3086100"/>
            <a:ext cx="139903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67E8"/>
              </a:buClr>
              <a:buSzPts val="1900"/>
              <a:buFont typeface="Arial"/>
              <a:buNone/>
            </a:pPr>
            <a:r>
              <a:rPr b="1" i="0" lang="en" sz="1900" u="none" cap="none" strike="noStrike">
                <a:solidFill>
                  <a:srgbClr val="1367E8"/>
                </a:solidFill>
                <a:latin typeface="Arial"/>
                <a:ea typeface="Arial"/>
                <a:cs typeface="Arial"/>
                <a:sym typeface="Arial"/>
              </a:rPr>
              <a:t>10 min</a:t>
            </a:r>
            <a:endParaRPr b="0" i="0" sz="1900" u="none" cap="none" strike="noStrike">
              <a:solidFill>
                <a:schemeClr val="dk1"/>
              </a:solidFill>
              <a:latin typeface="Calibri"/>
              <a:ea typeface="Calibri"/>
              <a:cs typeface="Calibri"/>
              <a:sym typeface="Calibri"/>
            </a:endParaRPr>
          </a:p>
        </p:txBody>
      </p:sp>
      <p:sp>
        <p:nvSpPr>
          <p:cNvPr id="105" name="Google Shape;105;p16"/>
          <p:cNvSpPr txBox="1"/>
          <p:nvPr/>
        </p:nvSpPr>
        <p:spPr>
          <a:xfrm>
            <a:off x="2633472" y="3525012"/>
            <a:ext cx="1762506" cy="65151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3A4A5F"/>
              </a:buClr>
              <a:buSzPts val="800"/>
              <a:buFont typeface="Calibri"/>
              <a:buNone/>
            </a:pPr>
            <a:r>
              <a:rPr b="0" i="0" lang="en" sz="800" u="none" cap="none" strike="noStrike">
                <a:solidFill>
                  <a:srgbClr val="3A4A5F"/>
                </a:solidFill>
                <a:latin typeface="Calibri"/>
                <a:ea typeface="Calibri"/>
                <a:cs typeface="Calibri"/>
                <a:sym typeface="Calibri"/>
              </a:rPr>
              <a:t>Average transit wait.</a:t>
            </a:r>
            <a:endParaRPr b="0" i="0" sz="800" u="none" cap="none" strike="noStrike">
              <a:solidFill>
                <a:schemeClr val="dk1"/>
              </a:solidFill>
              <a:latin typeface="Calibri"/>
              <a:ea typeface="Calibri"/>
              <a:cs typeface="Calibri"/>
              <a:sym typeface="Calibri"/>
            </a:endParaRPr>
          </a:p>
        </p:txBody>
      </p:sp>
      <p:sp>
        <p:nvSpPr>
          <p:cNvPr id="106" name="Google Shape;106;p16"/>
          <p:cNvSpPr/>
          <p:nvPr/>
        </p:nvSpPr>
        <p:spPr>
          <a:xfrm>
            <a:off x="4670298" y="2962656"/>
            <a:ext cx="2050542" cy="1268730"/>
          </a:xfrm>
          <a:prstGeom prst="roundRect">
            <a:avLst>
              <a:gd fmla="val 2703" name="adj"/>
            </a:avLst>
          </a:prstGeom>
          <a:solidFill>
            <a:srgbClr val="F5F9FF"/>
          </a:solidFill>
          <a:ln cap="flat" cmpd="sng" w="12700">
            <a:solidFill>
              <a:srgbClr val="D8E6F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7" name="Google Shape;107;p16"/>
          <p:cNvSpPr/>
          <p:nvPr/>
        </p:nvSpPr>
        <p:spPr>
          <a:xfrm>
            <a:off x="4807458" y="3099816"/>
            <a:ext cx="356616" cy="356616"/>
          </a:xfrm>
          <a:prstGeom prst="ellipse">
            <a:avLst/>
          </a:prstGeom>
          <a:solidFill>
            <a:srgbClr val="E8F1F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108" name="Google Shape;108;p16"/>
          <p:cNvPicPr preferRelativeResize="0"/>
          <p:nvPr/>
        </p:nvPicPr>
        <p:blipFill rotWithShape="1">
          <a:blip r:embed="rId5">
            <a:alphaModFix/>
          </a:blip>
          <a:srcRect b="0" l="0" r="0" t="0"/>
          <a:stretch/>
        </p:blipFill>
        <p:spPr>
          <a:xfrm>
            <a:off x="4896612" y="3188970"/>
            <a:ext cx="178308" cy="178308"/>
          </a:xfrm>
          <a:prstGeom prst="rect">
            <a:avLst/>
          </a:prstGeom>
          <a:noFill/>
          <a:ln>
            <a:noFill/>
          </a:ln>
        </p:spPr>
      </p:pic>
      <p:sp>
        <p:nvSpPr>
          <p:cNvPr id="109" name="Google Shape;109;p16"/>
          <p:cNvSpPr txBox="1"/>
          <p:nvPr/>
        </p:nvSpPr>
        <p:spPr>
          <a:xfrm>
            <a:off x="5232654" y="3086100"/>
            <a:ext cx="139903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67E8"/>
              </a:buClr>
              <a:buSzPts val="1900"/>
              <a:buFont typeface="Arial"/>
              <a:buNone/>
            </a:pPr>
            <a:r>
              <a:rPr b="1" i="0" lang="en" sz="1900" u="none" cap="none" strike="noStrike">
                <a:solidFill>
                  <a:srgbClr val="1367E8"/>
                </a:solidFill>
                <a:latin typeface="Arial"/>
                <a:ea typeface="Arial"/>
                <a:cs typeface="Arial"/>
                <a:sym typeface="Arial"/>
              </a:rPr>
              <a:t>80%</a:t>
            </a:r>
            <a:endParaRPr b="0" i="0" sz="1900" u="none" cap="none" strike="noStrike">
              <a:solidFill>
                <a:schemeClr val="dk1"/>
              </a:solidFill>
              <a:latin typeface="Calibri"/>
              <a:ea typeface="Calibri"/>
              <a:cs typeface="Calibri"/>
              <a:sym typeface="Calibri"/>
            </a:endParaRPr>
          </a:p>
        </p:txBody>
      </p:sp>
      <p:sp>
        <p:nvSpPr>
          <p:cNvPr id="110" name="Google Shape;110;p16"/>
          <p:cNvSpPr txBox="1"/>
          <p:nvPr/>
        </p:nvSpPr>
        <p:spPr>
          <a:xfrm>
            <a:off x="4814316" y="3525012"/>
            <a:ext cx="1762506" cy="65151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3A4A5F"/>
              </a:buClr>
              <a:buSzPts val="800"/>
              <a:buFont typeface="Calibri"/>
              <a:buNone/>
            </a:pPr>
            <a:r>
              <a:rPr b="0" i="0" lang="en" sz="800" u="none" cap="none" strike="noStrike">
                <a:solidFill>
                  <a:srgbClr val="3A4A5F"/>
                </a:solidFill>
                <a:latin typeface="Calibri"/>
                <a:ea typeface="Calibri"/>
                <a:cs typeface="Calibri"/>
                <a:sym typeface="Calibri"/>
              </a:rPr>
              <a:t>How often a </a:t>
            </a:r>
            <a:r>
              <a:rPr lang="en" sz="800">
                <a:solidFill>
                  <a:srgbClr val="3A4A5F"/>
                </a:solidFill>
                <a:latin typeface="Calibri"/>
                <a:ea typeface="Calibri"/>
                <a:cs typeface="Calibri"/>
                <a:sym typeface="Calibri"/>
              </a:rPr>
              <a:t>5 </a:t>
            </a:r>
            <a:r>
              <a:rPr b="0" i="0" lang="en" sz="800" u="none" cap="none" strike="noStrike">
                <a:solidFill>
                  <a:srgbClr val="3A4A5F"/>
                </a:solidFill>
                <a:latin typeface="Calibri"/>
                <a:ea typeface="Calibri"/>
                <a:cs typeface="Calibri"/>
                <a:sym typeface="Calibri"/>
              </a:rPr>
              <a:t>minute transfer window actually </a:t>
            </a:r>
            <a:r>
              <a:rPr lang="en" sz="800">
                <a:solidFill>
                  <a:srgbClr val="3A4A5F"/>
                </a:solidFill>
                <a:latin typeface="Calibri"/>
                <a:ea typeface="Calibri"/>
                <a:cs typeface="Calibri"/>
                <a:sym typeface="Calibri"/>
              </a:rPr>
              <a:t>takes 5 minutes</a:t>
            </a:r>
            <a:r>
              <a:rPr b="0" i="0" lang="en" sz="800" u="none" cap="none" strike="noStrike">
                <a:solidFill>
                  <a:srgbClr val="3A4A5F"/>
                </a:solidFill>
                <a:latin typeface="Calibri"/>
                <a:ea typeface="Calibri"/>
                <a:cs typeface="Calibri"/>
                <a:sym typeface="Calibri"/>
              </a:rPr>
              <a:t>.</a:t>
            </a:r>
            <a:endParaRPr b="0" i="0" sz="800" u="none" cap="none" strike="noStrike">
              <a:solidFill>
                <a:schemeClr val="dk1"/>
              </a:solidFill>
              <a:latin typeface="Calibri"/>
              <a:ea typeface="Calibri"/>
              <a:cs typeface="Calibri"/>
              <a:sym typeface="Calibri"/>
            </a:endParaRPr>
          </a:p>
        </p:txBody>
      </p:sp>
      <p:sp>
        <p:nvSpPr>
          <p:cNvPr id="111" name="Google Shape;111;p16"/>
          <p:cNvSpPr/>
          <p:nvPr/>
        </p:nvSpPr>
        <p:spPr>
          <a:xfrm>
            <a:off x="6851142" y="2962656"/>
            <a:ext cx="2050542" cy="1268730"/>
          </a:xfrm>
          <a:prstGeom prst="roundRect">
            <a:avLst>
              <a:gd fmla="val 2703" name="adj"/>
            </a:avLst>
          </a:prstGeom>
          <a:solidFill>
            <a:srgbClr val="F5F9FF"/>
          </a:solidFill>
          <a:ln cap="flat" cmpd="sng" w="12700">
            <a:solidFill>
              <a:srgbClr val="D8E6F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2" name="Google Shape;112;p16"/>
          <p:cNvSpPr/>
          <p:nvPr/>
        </p:nvSpPr>
        <p:spPr>
          <a:xfrm>
            <a:off x="6988302" y="3099816"/>
            <a:ext cx="356616" cy="356616"/>
          </a:xfrm>
          <a:prstGeom prst="ellipse">
            <a:avLst/>
          </a:prstGeom>
          <a:solidFill>
            <a:srgbClr val="E8F1F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3" name="Google Shape;113;p16"/>
          <p:cNvSpPr txBox="1"/>
          <p:nvPr/>
        </p:nvSpPr>
        <p:spPr>
          <a:xfrm>
            <a:off x="7413498" y="3086100"/>
            <a:ext cx="139903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67E8"/>
              </a:buClr>
              <a:buSzPts val="1900"/>
              <a:buFont typeface="Arial"/>
              <a:buNone/>
            </a:pPr>
            <a:r>
              <a:rPr b="1" lang="en" sz="1900">
                <a:solidFill>
                  <a:srgbClr val="1367E8"/>
                </a:solidFill>
              </a:rPr>
              <a:t>70%</a:t>
            </a:r>
            <a:endParaRPr b="1" sz="1900">
              <a:solidFill>
                <a:srgbClr val="1367E8"/>
              </a:solidFill>
            </a:endParaRPr>
          </a:p>
        </p:txBody>
      </p:sp>
      <p:sp>
        <p:nvSpPr>
          <p:cNvPr id="114" name="Google Shape;114;p16"/>
          <p:cNvSpPr txBox="1"/>
          <p:nvPr/>
        </p:nvSpPr>
        <p:spPr>
          <a:xfrm>
            <a:off x="6995160" y="3525012"/>
            <a:ext cx="1762506" cy="65151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3A4A5F"/>
              </a:buClr>
              <a:buSzPts val="800"/>
              <a:buFont typeface="Calibri"/>
              <a:buNone/>
            </a:pPr>
            <a:r>
              <a:rPr lang="en" sz="800">
                <a:solidFill>
                  <a:srgbClr val="3A4A5F"/>
                </a:solidFill>
                <a:latin typeface="Calibri"/>
                <a:ea typeface="Calibri"/>
                <a:cs typeface="Calibri"/>
                <a:sym typeface="Calibri"/>
              </a:rPr>
              <a:t>Of US navigation app users are on Google Maps, with Waze at 27% and Apple Maps 25%</a:t>
            </a:r>
            <a:r>
              <a:rPr lang="en" sz="1100">
                <a:solidFill>
                  <a:schemeClr val="dk1"/>
                </a:solidFill>
              </a:rPr>
              <a:t> </a:t>
            </a:r>
            <a:endParaRPr b="0" i="0" sz="800" u="none" cap="none" strike="noStrike">
              <a:solidFill>
                <a:schemeClr val="dk1"/>
              </a:solidFill>
              <a:latin typeface="Calibri"/>
              <a:ea typeface="Calibri"/>
              <a:cs typeface="Calibri"/>
              <a:sym typeface="Calibri"/>
            </a:endParaRPr>
          </a:p>
        </p:txBody>
      </p:sp>
      <p:sp>
        <p:nvSpPr>
          <p:cNvPr id="115" name="Google Shape;115;p16"/>
          <p:cNvSpPr txBox="1"/>
          <p:nvPr/>
        </p:nvSpPr>
        <p:spPr>
          <a:xfrm>
            <a:off x="308610" y="4299950"/>
            <a:ext cx="82983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F96"/>
              </a:buClr>
              <a:buSzPts val="700"/>
              <a:buFont typeface="Calibri"/>
              <a:buNone/>
            </a:pPr>
            <a:r>
              <a:rPr b="0" i="0" lang="en" sz="700" u="none" cap="none" strike="noStrike">
                <a:solidFill>
                  <a:srgbClr val="6E7F96"/>
                </a:solidFill>
                <a:latin typeface="Calibri"/>
                <a:ea typeface="Calibri"/>
                <a:cs typeface="Calibri"/>
                <a:sym typeface="Calibri"/>
              </a:rPr>
              <a:t>Sources: INRIX 2025 Global Traffic Scorecard (Dec. 2025); Governing analysis of American Community Survey and National Household Travel Survey commute data; Bick, Journal of Public Transportation Vol. 14 No. 3; 2022 NextGen National Household Travel Survey.</a:t>
            </a:r>
            <a:endParaRPr b="0" i="0" sz="700" u="none" cap="none" strike="noStrike">
              <a:solidFill>
                <a:schemeClr val="dk1"/>
              </a:solidFill>
              <a:latin typeface="Calibri"/>
              <a:ea typeface="Calibri"/>
              <a:cs typeface="Calibri"/>
              <a:sym typeface="Calibri"/>
            </a:endParaRPr>
          </a:p>
        </p:txBody>
      </p:sp>
      <p:sp>
        <p:nvSpPr>
          <p:cNvPr id="116" name="Google Shape;116;p16"/>
          <p:cNvSpPr txBox="1"/>
          <p:nvPr/>
        </p:nvSpPr>
        <p:spPr>
          <a:xfrm>
            <a:off x="8743950" y="4834890"/>
            <a:ext cx="240030" cy="2057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7F96"/>
              </a:buClr>
              <a:buSzPts val="800"/>
              <a:buFont typeface="Calibri"/>
              <a:buNone/>
            </a:pPr>
            <a:r>
              <a:rPr b="0" i="0" lang="en" sz="800" u="none" cap="none" strike="noStrike">
                <a:solidFill>
                  <a:srgbClr val="6E7F96"/>
                </a:solidFill>
                <a:latin typeface="Calibri"/>
                <a:ea typeface="Calibri"/>
                <a:cs typeface="Calibri"/>
                <a:sym typeface="Calibri"/>
              </a:rPr>
              <a:t>2</a:t>
            </a:r>
            <a:endParaRPr b="0" i="0" sz="800" u="none" cap="none" strike="noStrike">
              <a:solidFill>
                <a:schemeClr val="dk1"/>
              </a:solidFill>
              <a:latin typeface="Calibri"/>
              <a:ea typeface="Calibri"/>
              <a:cs typeface="Calibri"/>
              <a:sym typeface="Calibri"/>
            </a:endParaRPr>
          </a:p>
        </p:txBody>
      </p:sp>
      <p:sp>
        <p:nvSpPr>
          <p:cNvPr id="117" name="Google Shape;117;p16"/>
          <p:cNvSpPr/>
          <p:nvPr/>
        </p:nvSpPr>
        <p:spPr>
          <a:xfrm>
            <a:off x="4389120" y="994410"/>
            <a:ext cx="4457700" cy="1817400"/>
          </a:xfrm>
          <a:prstGeom prst="roundRect">
            <a:avLst>
              <a:gd fmla="val 2264" name="adj"/>
            </a:avLst>
          </a:prstGeom>
          <a:solidFill>
            <a:srgbClr val="FFFFFF"/>
          </a:solidFill>
          <a:ln cap="flat" cmpd="sng" w="12700">
            <a:solidFill>
              <a:srgbClr val="D8E6F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 name="Google Shape;118;p16"/>
          <p:cNvPicPr preferRelativeResize="0"/>
          <p:nvPr/>
        </p:nvPicPr>
        <p:blipFill rotWithShape="1">
          <a:blip r:embed="rId6">
            <a:alphaModFix/>
          </a:blip>
          <a:srcRect b="0" l="0" r="0" t="0"/>
          <a:stretch/>
        </p:blipFill>
        <p:spPr>
          <a:xfrm>
            <a:off x="4457700" y="1062990"/>
            <a:ext cx="4320540" cy="1680211"/>
          </a:xfrm>
          <a:prstGeom prst="rect">
            <a:avLst/>
          </a:prstGeom>
          <a:noFill/>
          <a:ln>
            <a:noFill/>
          </a:ln>
        </p:spPr>
      </p:pic>
      <p:pic>
        <p:nvPicPr>
          <p:cNvPr id="119" name="Google Shape;119;p16"/>
          <p:cNvPicPr preferRelativeResize="0"/>
          <p:nvPr/>
        </p:nvPicPr>
        <p:blipFill>
          <a:blip r:embed="rId7">
            <a:alphaModFix/>
          </a:blip>
          <a:stretch>
            <a:fillRect/>
          </a:stretch>
        </p:blipFill>
        <p:spPr>
          <a:xfrm>
            <a:off x="7022494" y="3170658"/>
            <a:ext cx="240025" cy="240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p17"/>
          <p:cNvSpPr/>
          <p:nvPr/>
        </p:nvSpPr>
        <p:spPr>
          <a:xfrm>
            <a:off x="308610" y="205740"/>
            <a:ext cx="288036" cy="41148"/>
          </a:xfrm>
          <a:prstGeom prst="rect">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6" name="Google Shape;126;p17"/>
          <p:cNvSpPr/>
          <p:nvPr/>
        </p:nvSpPr>
        <p:spPr>
          <a:xfrm>
            <a:off x="630936" y="205740"/>
            <a:ext cx="150876" cy="41148"/>
          </a:xfrm>
          <a:prstGeom prst="rect">
            <a:avLst/>
          </a:prstGeom>
          <a:solidFill>
            <a:srgbClr val="AFC9E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7" name="Google Shape;127;p17"/>
          <p:cNvSpPr txBox="1"/>
          <p:nvPr/>
        </p:nvSpPr>
        <p:spPr>
          <a:xfrm>
            <a:off x="857250" y="109728"/>
            <a:ext cx="4937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5B"/>
              </a:buClr>
              <a:buSzPts val="700"/>
              <a:buFont typeface="Arial"/>
              <a:buNone/>
            </a:pPr>
            <a:r>
              <a:rPr b="1" i="0" lang="en" sz="700" u="none" cap="none" strike="noStrike">
                <a:solidFill>
                  <a:srgbClr val="0F2B5B"/>
                </a:solidFill>
                <a:latin typeface="Arial"/>
                <a:ea typeface="Arial"/>
                <a:cs typeface="Arial"/>
                <a:sym typeface="Arial"/>
              </a:rPr>
              <a:t>INNOVATION &amp; ENTREPRENEURSHIP</a:t>
            </a:r>
            <a:endParaRPr b="0" i="0" sz="700" u="none" cap="none" strike="noStrike">
              <a:solidFill>
                <a:schemeClr val="dk1"/>
              </a:solidFill>
              <a:latin typeface="Calibri"/>
              <a:ea typeface="Calibri"/>
              <a:cs typeface="Calibri"/>
              <a:sym typeface="Calibri"/>
            </a:endParaRPr>
          </a:p>
        </p:txBody>
      </p:sp>
      <p:sp>
        <p:nvSpPr>
          <p:cNvPr id="128" name="Google Shape;128;p17"/>
          <p:cNvSpPr txBox="1"/>
          <p:nvPr/>
        </p:nvSpPr>
        <p:spPr>
          <a:xfrm>
            <a:off x="308610" y="411480"/>
            <a:ext cx="7200900" cy="4663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5B"/>
              </a:buClr>
              <a:buSzPts val="2700"/>
              <a:buFont typeface="Arial"/>
              <a:buNone/>
            </a:pPr>
            <a:r>
              <a:rPr b="1" i="0" lang="en" sz="2700" u="none" cap="none" strike="noStrike">
                <a:solidFill>
                  <a:srgbClr val="0F2B5B"/>
                </a:solidFill>
                <a:latin typeface="Arial"/>
                <a:ea typeface="Arial"/>
                <a:cs typeface="Arial"/>
                <a:sym typeface="Arial"/>
              </a:rPr>
              <a:t>Analysis</a:t>
            </a:r>
            <a:r>
              <a:rPr b="1" lang="en" sz="2700">
                <a:solidFill>
                  <a:srgbClr val="0F2B5B"/>
                </a:solidFill>
              </a:rPr>
              <a:t>: </a:t>
            </a:r>
            <a:r>
              <a:rPr b="1" i="0" lang="en" sz="2700" u="none" cap="none" strike="noStrike">
                <a:solidFill>
                  <a:srgbClr val="1367E8"/>
                </a:solidFill>
                <a:latin typeface="Arial"/>
                <a:ea typeface="Arial"/>
                <a:cs typeface="Arial"/>
                <a:sym typeface="Arial"/>
              </a:rPr>
              <a:t>Jobs to Be Done</a:t>
            </a:r>
            <a:endParaRPr b="0" i="0" sz="2700" u="none" cap="none" strike="noStrike">
              <a:solidFill>
                <a:schemeClr val="dk1"/>
              </a:solidFill>
              <a:latin typeface="Calibri"/>
              <a:ea typeface="Calibri"/>
              <a:cs typeface="Calibri"/>
              <a:sym typeface="Calibri"/>
            </a:endParaRPr>
          </a:p>
        </p:txBody>
      </p:sp>
      <p:sp>
        <p:nvSpPr>
          <p:cNvPr id="129" name="Google Shape;129;p17"/>
          <p:cNvSpPr txBox="1"/>
          <p:nvPr/>
        </p:nvSpPr>
        <p:spPr>
          <a:xfrm>
            <a:off x="322326" y="864108"/>
            <a:ext cx="850392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67E8"/>
              </a:buClr>
              <a:buSzPts val="1000"/>
              <a:buFont typeface="Arial"/>
              <a:buNone/>
            </a:pPr>
            <a:r>
              <a:rPr b="0" i="0" lang="en" sz="1000" u="none" cap="none" strike="noStrike">
                <a:solidFill>
                  <a:srgbClr val="3A4A5F"/>
                </a:solidFill>
                <a:latin typeface="Calibri"/>
                <a:ea typeface="Calibri"/>
                <a:cs typeface="Calibri"/>
                <a:sym typeface="Calibri"/>
              </a:rPr>
              <a:t>Separate the job from the solution, map how it gets done today, </a:t>
            </a:r>
            <a:r>
              <a:rPr lang="en" sz="1000">
                <a:solidFill>
                  <a:srgbClr val="3A4A5F"/>
                </a:solidFill>
                <a:latin typeface="Calibri"/>
                <a:ea typeface="Calibri"/>
                <a:cs typeface="Calibri"/>
                <a:sym typeface="Calibri"/>
              </a:rPr>
              <a:t>and </a:t>
            </a:r>
            <a:r>
              <a:rPr b="0" i="0" lang="en" sz="1000" u="none" cap="none" strike="noStrike">
                <a:solidFill>
                  <a:srgbClr val="3A4A5F"/>
                </a:solidFill>
                <a:latin typeface="Calibri"/>
                <a:ea typeface="Calibri"/>
                <a:cs typeface="Calibri"/>
                <a:sym typeface="Calibri"/>
              </a:rPr>
              <a:t>rate each step by importance an</a:t>
            </a:r>
            <a:r>
              <a:rPr lang="en" sz="1000">
                <a:solidFill>
                  <a:srgbClr val="3A4A5F"/>
                </a:solidFill>
                <a:latin typeface="Calibri"/>
                <a:ea typeface="Calibri"/>
                <a:cs typeface="Calibri"/>
                <a:sym typeface="Calibri"/>
              </a:rPr>
              <a:t>d satisfaction</a:t>
            </a:r>
            <a:endParaRPr b="0" i="0" sz="1000" u="none" cap="none" strike="noStrike">
              <a:solidFill>
                <a:schemeClr val="dk1"/>
              </a:solidFill>
              <a:latin typeface="Calibri"/>
              <a:ea typeface="Calibri"/>
              <a:cs typeface="Calibri"/>
              <a:sym typeface="Calibri"/>
            </a:endParaRPr>
          </a:p>
        </p:txBody>
      </p:sp>
      <p:sp>
        <p:nvSpPr>
          <p:cNvPr id="130" name="Google Shape;130;p17"/>
          <p:cNvSpPr/>
          <p:nvPr/>
        </p:nvSpPr>
        <p:spPr>
          <a:xfrm>
            <a:off x="308610" y="1138428"/>
            <a:ext cx="8538210" cy="630936"/>
          </a:xfrm>
          <a:prstGeom prst="roundRect">
            <a:avLst>
              <a:gd fmla="val 5435" name="adj"/>
            </a:avLst>
          </a:prstGeom>
          <a:solidFill>
            <a:srgbClr val="F5F9FF"/>
          </a:solidFill>
          <a:ln cap="flat" cmpd="sng" w="12700">
            <a:solidFill>
              <a:srgbClr val="D8E6F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1" name="Google Shape;131;p17"/>
          <p:cNvSpPr txBox="1"/>
          <p:nvPr/>
        </p:nvSpPr>
        <p:spPr>
          <a:xfrm>
            <a:off x="466344" y="1220724"/>
            <a:ext cx="3051810" cy="1508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67E8"/>
              </a:buClr>
              <a:buSzPts val="600"/>
              <a:buFont typeface="Arial"/>
              <a:buNone/>
            </a:pPr>
            <a:r>
              <a:rPr b="1" i="0" lang="en" sz="600" u="none" cap="none" strike="noStrike">
                <a:solidFill>
                  <a:srgbClr val="1367E8"/>
                </a:solidFill>
                <a:latin typeface="Arial"/>
                <a:ea typeface="Arial"/>
                <a:cs typeface="Arial"/>
                <a:sym typeface="Arial"/>
              </a:rPr>
              <a:t>THE JOB</a:t>
            </a:r>
            <a:endParaRPr b="0" i="0" sz="600" u="none" cap="none" strike="noStrike">
              <a:solidFill>
                <a:schemeClr val="dk1"/>
              </a:solidFill>
              <a:latin typeface="Calibri"/>
              <a:ea typeface="Calibri"/>
              <a:cs typeface="Calibri"/>
              <a:sym typeface="Calibri"/>
            </a:endParaRPr>
          </a:p>
        </p:txBody>
      </p:sp>
      <p:sp>
        <p:nvSpPr>
          <p:cNvPr id="132" name="Google Shape;132;p17"/>
          <p:cNvSpPr txBox="1"/>
          <p:nvPr/>
        </p:nvSpPr>
        <p:spPr>
          <a:xfrm>
            <a:off x="466344" y="1385316"/>
            <a:ext cx="3051810" cy="342900"/>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3A4A5F"/>
              </a:buClr>
              <a:buSzPts val="900"/>
              <a:buFont typeface="Calibri"/>
              <a:buNone/>
            </a:pPr>
            <a:r>
              <a:rPr lang="en" sz="900">
                <a:solidFill>
                  <a:srgbClr val="3A4A5F"/>
                </a:solidFill>
                <a:latin typeface="Calibri"/>
                <a:ea typeface="Calibri"/>
                <a:cs typeface="Calibri"/>
                <a:sym typeface="Calibri"/>
              </a:rPr>
              <a:t>Going from point A to point B</a:t>
            </a:r>
            <a:endParaRPr b="0" i="0" sz="900" u="none" cap="none" strike="noStrike">
              <a:solidFill>
                <a:schemeClr val="dk1"/>
              </a:solidFill>
              <a:latin typeface="Calibri"/>
              <a:ea typeface="Calibri"/>
              <a:cs typeface="Calibri"/>
              <a:sym typeface="Calibri"/>
            </a:endParaRPr>
          </a:p>
        </p:txBody>
      </p:sp>
      <p:sp>
        <p:nvSpPr>
          <p:cNvPr id="133" name="Google Shape;133;p17"/>
          <p:cNvSpPr txBox="1"/>
          <p:nvPr/>
        </p:nvSpPr>
        <p:spPr>
          <a:xfrm>
            <a:off x="3669030" y="1220724"/>
            <a:ext cx="2640330" cy="1508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67E8"/>
              </a:buClr>
              <a:buSzPts val="600"/>
              <a:buFont typeface="Arial"/>
              <a:buNone/>
            </a:pPr>
            <a:r>
              <a:rPr b="1" i="0" lang="en" sz="600" u="none" cap="none" strike="noStrike">
                <a:solidFill>
                  <a:srgbClr val="1367E8"/>
                </a:solidFill>
                <a:latin typeface="Arial"/>
                <a:ea typeface="Arial"/>
                <a:cs typeface="Arial"/>
                <a:sym typeface="Arial"/>
              </a:rPr>
              <a:t>DESIRED OUTCOME</a:t>
            </a:r>
            <a:endParaRPr b="0" i="0" sz="600" u="none" cap="none" strike="noStrike">
              <a:solidFill>
                <a:schemeClr val="dk1"/>
              </a:solidFill>
              <a:latin typeface="Calibri"/>
              <a:ea typeface="Calibri"/>
              <a:cs typeface="Calibri"/>
              <a:sym typeface="Calibri"/>
            </a:endParaRPr>
          </a:p>
        </p:txBody>
      </p:sp>
      <p:sp>
        <p:nvSpPr>
          <p:cNvPr id="134" name="Google Shape;134;p17"/>
          <p:cNvSpPr txBox="1"/>
          <p:nvPr/>
        </p:nvSpPr>
        <p:spPr>
          <a:xfrm>
            <a:off x="3669030" y="1385316"/>
            <a:ext cx="2640330" cy="342900"/>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3A4A5F"/>
              </a:buClr>
              <a:buSzPts val="900"/>
              <a:buFont typeface="Calibri"/>
              <a:buNone/>
            </a:pPr>
            <a:r>
              <a:rPr b="0" i="0" lang="en" sz="900" u="none" cap="none" strike="noStrike">
                <a:solidFill>
                  <a:srgbClr val="3A4A5F"/>
                </a:solidFill>
                <a:latin typeface="Calibri"/>
                <a:ea typeface="Calibri"/>
                <a:cs typeface="Calibri"/>
                <a:sym typeface="Calibri"/>
              </a:rPr>
              <a:t>Arrive </a:t>
            </a:r>
            <a:r>
              <a:rPr lang="en" sz="900">
                <a:solidFill>
                  <a:srgbClr val="3A4A5F"/>
                </a:solidFill>
                <a:latin typeface="Calibri"/>
                <a:ea typeface="Calibri"/>
                <a:cs typeface="Calibri"/>
                <a:sym typeface="Calibri"/>
              </a:rPr>
              <a:t>quickly, </a:t>
            </a:r>
            <a:r>
              <a:rPr b="0" i="0" lang="en" sz="900" u="none" cap="none" strike="noStrike">
                <a:solidFill>
                  <a:srgbClr val="3A4A5F"/>
                </a:solidFill>
                <a:latin typeface="Calibri"/>
                <a:ea typeface="Calibri"/>
                <a:cs typeface="Calibri"/>
                <a:sym typeface="Calibri"/>
              </a:rPr>
              <a:t>predictably, safely, comfortably, cheaply</a:t>
            </a:r>
            <a:r>
              <a:rPr lang="en" sz="900">
                <a:solidFill>
                  <a:srgbClr val="3A4A5F"/>
                </a:solidFill>
                <a:latin typeface="Calibri"/>
                <a:ea typeface="Calibri"/>
                <a:cs typeface="Calibri"/>
                <a:sym typeface="Calibri"/>
              </a:rPr>
              <a:t>..</a:t>
            </a:r>
            <a:r>
              <a:rPr b="0" i="0" lang="en" sz="900" u="none" cap="none" strike="noStrike">
                <a:solidFill>
                  <a:srgbClr val="3A4A5F"/>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35" name="Google Shape;135;p17"/>
          <p:cNvSpPr txBox="1"/>
          <p:nvPr/>
        </p:nvSpPr>
        <p:spPr>
          <a:xfrm>
            <a:off x="6480810" y="1220724"/>
            <a:ext cx="2228850" cy="1508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67E8"/>
              </a:buClr>
              <a:buSzPts val="600"/>
              <a:buFont typeface="Arial"/>
              <a:buNone/>
            </a:pPr>
            <a:r>
              <a:rPr b="1" i="0" lang="en" sz="600" u="none" cap="none" strike="noStrike">
                <a:solidFill>
                  <a:srgbClr val="1367E8"/>
                </a:solidFill>
                <a:latin typeface="Arial"/>
                <a:ea typeface="Arial"/>
                <a:cs typeface="Arial"/>
                <a:sym typeface="Arial"/>
              </a:rPr>
              <a:t>TODAY</a:t>
            </a:r>
            <a:endParaRPr b="0" i="0" sz="600" u="none" cap="none" strike="noStrike">
              <a:solidFill>
                <a:schemeClr val="dk1"/>
              </a:solidFill>
              <a:latin typeface="Calibri"/>
              <a:ea typeface="Calibri"/>
              <a:cs typeface="Calibri"/>
              <a:sym typeface="Calibri"/>
            </a:endParaRPr>
          </a:p>
        </p:txBody>
      </p:sp>
      <p:sp>
        <p:nvSpPr>
          <p:cNvPr id="136" name="Google Shape;136;p17"/>
          <p:cNvSpPr txBox="1"/>
          <p:nvPr/>
        </p:nvSpPr>
        <p:spPr>
          <a:xfrm>
            <a:off x="6480810" y="1385316"/>
            <a:ext cx="2228850" cy="342900"/>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3A4A5F"/>
              </a:buClr>
              <a:buSzPts val="900"/>
              <a:buFont typeface="Calibri"/>
              <a:buNone/>
            </a:pPr>
            <a:r>
              <a:rPr b="0" i="0" lang="en" sz="900" u="none" cap="none" strike="noStrike">
                <a:solidFill>
                  <a:srgbClr val="3A4A5F"/>
                </a:solidFill>
                <a:latin typeface="Calibri"/>
                <a:ea typeface="Calibri"/>
                <a:cs typeface="Calibri"/>
                <a:sym typeface="Calibri"/>
              </a:rPr>
              <a:t>Google Maps • Waze • TomTom •</a:t>
            </a:r>
            <a:r>
              <a:rPr lang="en" sz="900">
                <a:solidFill>
                  <a:srgbClr val="3A4A5F"/>
                </a:solidFill>
                <a:latin typeface="Calibri"/>
                <a:ea typeface="Calibri"/>
                <a:cs typeface="Calibri"/>
                <a:sym typeface="Calibri"/>
              </a:rPr>
              <a:t> Car • Train • Bus • Subway • Plane • Taxi • Uber/Lyft…</a:t>
            </a:r>
            <a:endParaRPr b="0" i="0" sz="900" u="none" cap="none" strike="noStrike">
              <a:solidFill>
                <a:schemeClr val="dk1"/>
              </a:solidFill>
              <a:latin typeface="Calibri"/>
              <a:ea typeface="Calibri"/>
              <a:cs typeface="Calibri"/>
              <a:sym typeface="Calibri"/>
            </a:endParaRPr>
          </a:p>
        </p:txBody>
      </p:sp>
      <p:sp>
        <p:nvSpPr>
          <p:cNvPr id="137" name="Google Shape;137;p17"/>
          <p:cNvSpPr/>
          <p:nvPr/>
        </p:nvSpPr>
        <p:spPr>
          <a:xfrm>
            <a:off x="3511296" y="1248156"/>
            <a:ext cx="10287" cy="411480"/>
          </a:xfrm>
          <a:prstGeom prst="rect">
            <a:avLst/>
          </a:prstGeom>
          <a:solidFill>
            <a:srgbClr val="D8E6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8" name="Google Shape;138;p17"/>
          <p:cNvSpPr/>
          <p:nvPr/>
        </p:nvSpPr>
        <p:spPr>
          <a:xfrm>
            <a:off x="6323076" y="1248156"/>
            <a:ext cx="10287" cy="411480"/>
          </a:xfrm>
          <a:prstGeom prst="rect">
            <a:avLst/>
          </a:prstGeom>
          <a:solidFill>
            <a:srgbClr val="D8E6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9" name="Google Shape;139;p17"/>
          <p:cNvSpPr txBox="1"/>
          <p:nvPr/>
        </p:nvSpPr>
        <p:spPr>
          <a:xfrm>
            <a:off x="308610" y="1865376"/>
            <a:ext cx="853821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F96"/>
              </a:buClr>
              <a:buSzPts val="700"/>
              <a:buFont typeface="Arial"/>
              <a:buNone/>
            </a:pPr>
            <a:r>
              <a:rPr b="1" lang="en" sz="700">
                <a:solidFill>
                  <a:srgbClr val="6E7F96"/>
                </a:solidFill>
              </a:rPr>
              <a:t>Jobs to be done for today’s trips</a:t>
            </a:r>
            <a:endParaRPr b="0" i="0" sz="700" u="none" cap="none" strike="noStrike">
              <a:solidFill>
                <a:schemeClr val="dk1"/>
              </a:solidFill>
              <a:latin typeface="Calibri"/>
              <a:ea typeface="Calibri"/>
              <a:cs typeface="Calibri"/>
              <a:sym typeface="Calibri"/>
            </a:endParaRPr>
          </a:p>
        </p:txBody>
      </p:sp>
      <p:sp>
        <p:nvSpPr>
          <p:cNvPr id="140" name="Google Shape;140;p17"/>
          <p:cNvSpPr/>
          <p:nvPr/>
        </p:nvSpPr>
        <p:spPr>
          <a:xfrm>
            <a:off x="308610" y="2071116"/>
            <a:ext cx="1124712" cy="1988820"/>
          </a:xfrm>
          <a:prstGeom prst="roundRect">
            <a:avLst>
              <a:gd fmla="val 3049" name="adj"/>
            </a:avLst>
          </a:prstGeom>
          <a:solidFill>
            <a:srgbClr val="FFFFFF"/>
          </a:solidFill>
          <a:ln cap="flat" cmpd="sng" w="12700">
            <a:solidFill>
              <a:srgbClr val="D8E6F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1" name="Google Shape;141;p17"/>
          <p:cNvSpPr/>
          <p:nvPr/>
        </p:nvSpPr>
        <p:spPr>
          <a:xfrm>
            <a:off x="432054" y="2194560"/>
            <a:ext cx="260604" cy="260604"/>
          </a:xfrm>
          <a:prstGeom prst="ellipse">
            <a:avLst/>
          </a:prstGeom>
          <a:solidFill>
            <a:srgbClr val="E8F1F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2" name="Google Shape;142;p17"/>
          <p:cNvSpPr txBox="1"/>
          <p:nvPr/>
        </p:nvSpPr>
        <p:spPr>
          <a:xfrm>
            <a:off x="432054" y="2194560"/>
            <a:ext cx="260604" cy="2606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5B"/>
              </a:buClr>
              <a:buSzPts val="900"/>
              <a:buFont typeface="Arial"/>
              <a:buNone/>
            </a:pPr>
            <a:r>
              <a:rPr b="1" i="0" lang="en" sz="900" u="none" cap="none" strike="noStrike">
                <a:solidFill>
                  <a:srgbClr val="0F2B5B"/>
                </a:solidFill>
                <a:latin typeface="Arial"/>
                <a:ea typeface="Arial"/>
                <a:cs typeface="Arial"/>
                <a:sym typeface="Arial"/>
              </a:rPr>
              <a:t>1</a:t>
            </a:r>
            <a:endParaRPr b="0" i="0" sz="900" u="none" cap="none" strike="noStrike">
              <a:solidFill>
                <a:schemeClr val="dk1"/>
              </a:solidFill>
              <a:latin typeface="Calibri"/>
              <a:ea typeface="Calibri"/>
              <a:cs typeface="Calibri"/>
              <a:sym typeface="Calibri"/>
            </a:endParaRPr>
          </a:p>
        </p:txBody>
      </p:sp>
      <p:sp>
        <p:nvSpPr>
          <p:cNvPr id="143" name="Google Shape;143;p17"/>
          <p:cNvSpPr txBox="1"/>
          <p:nvPr/>
        </p:nvSpPr>
        <p:spPr>
          <a:xfrm>
            <a:off x="432054" y="2537460"/>
            <a:ext cx="877824" cy="493776"/>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0F2B5B"/>
              </a:buClr>
              <a:buSzPts val="900"/>
              <a:buFont typeface="Arial"/>
              <a:buNone/>
            </a:pPr>
            <a:r>
              <a:rPr b="1" i="0" lang="en" sz="900" u="none" cap="none" strike="noStrike">
                <a:solidFill>
                  <a:srgbClr val="0F2B5B"/>
                </a:solidFill>
                <a:latin typeface="Arial"/>
                <a:ea typeface="Arial"/>
                <a:cs typeface="Arial"/>
                <a:sym typeface="Arial"/>
              </a:rPr>
              <a:t>Walking to the vehicle</a:t>
            </a:r>
            <a:r>
              <a:rPr b="1" lang="en" sz="900">
                <a:solidFill>
                  <a:srgbClr val="0F2B5B"/>
                </a:solidFill>
              </a:rPr>
              <a:t>/</a:t>
            </a:r>
            <a:r>
              <a:rPr b="1" i="0" lang="en" sz="900" u="none" cap="none" strike="noStrike">
                <a:solidFill>
                  <a:srgbClr val="0F2B5B"/>
                </a:solidFill>
                <a:latin typeface="Arial"/>
                <a:ea typeface="Arial"/>
                <a:cs typeface="Arial"/>
                <a:sym typeface="Arial"/>
              </a:rPr>
              <a:t>stop</a:t>
            </a:r>
            <a:endParaRPr b="0" i="0" sz="900" u="none" cap="none" strike="noStrike">
              <a:solidFill>
                <a:schemeClr val="dk1"/>
              </a:solidFill>
              <a:latin typeface="Calibri"/>
              <a:ea typeface="Calibri"/>
              <a:cs typeface="Calibri"/>
              <a:sym typeface="Calibri"/>
            </a:endParaRPr>
          </a:p>
        </p:txBody>
      </p:sp>
      <p:sp>
        <p:nvSpPr>
          <p:cNvPr id="144" name="Google Shape;144;p17"/>
          <p:cNvSpPr txBox="1"/>
          <p:nvPr/>
        </p:nvSpPr>
        <p:spPr>
          <a:xfrm>
            <a:off x="432054" y="3113532"/>
            <a:ext cx="918972" cy="137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F96"/>
              </a:buClr>
              <a:buSzPts val="500"/>
              <a:buFont typeface="Arial"/>
              <a:buNone/>
            </a:pPr>
            <a:r>
              <a:rPr b="1" i="0" lang="en" sz="500" u="none" cap="none" strike="noStrike">
                <a:solidFill>
                  <a:srgbClr val="6E7F96"/>
                </a:solidFill>
                <a:latin typeface="Arial"/>
                <a:ea typeface="Arial"/>
                <a:cs typeface="Arial"/>
                <a:sym typeface="Arial"/>
              </a:rPr>
              <a:t>IMPORTANCE</a:t>
            </a:r>
            <a:endParaRPr b="0" i="0" sz="500" u="none" cap="none" strike="noStrike">
              <a:solidFill>
                <a:schemeClr val="dk1"/>
              </a:solidFill>
              <a:latin typeface="Calibri"/>
              <a:ea typeface="Calibri"/>
              <a:cs typeface="Calibri"/>
              <a:sym typeface="Calibri"/>
            </a:endParaRPr>
          </a:p>
        </p:txBody>
      </p:sp>
      <p:sp>
        <p:nvSpPr>
          <p:cNvPr id="145" name="Google Shape;145;p17"/>
          <p:cNvSpPr/>
          <p:nvPr/>
        </p:nvSpPr>
        <p:spPr>
          <a:xfrm>
            <a:off x="43891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6" name="Google Shape;146;p17"/>
          <p:cNvSpPr/>
          <p:nvPr/>
        </p:nvSpPr>
        <p:spPr>
          <a:xfrm>
            <a:off x="61036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7" name="Google Shape;147;p17"/>
          <p:cNvSpPr/>
          <p:nvPr/>
        </p:nvSpPr>
        <p:spPr>
          <a:xfrm>
            <a:off x="78181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8" name="Google Shape;148;p17"/>
          <p:cNvSpPr/>
          <p:nvPr/>
        </p:nvSpPr>
        <p:spPr>
          <a:xfrm>
            <a:off x="953262" y="327812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9" name="Google Shape;149;p17"/>
          <p:cNvSpPr/>
          <p:nvPr/>
        </p:nvSpPr>
        <p:spPr>
          <a:xfrm>
            <a:off x="1124712" y="327812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0" name="Google Shape;150;p17"/>
          <p:cNvSpPr txBox="1"/>
          <p:nvPr/>
        </p:nvSpPr>
        <p:spPr>
          <a:xfrm>
            <a:off x="432054" y="3525012"/>
            <a:ext cx="918972" cy="137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F96"/>
              </a:buClr>
              <a:buSzPts val="500"/>
              <a:buFont typeface="Arial"/>
              <a:buNone/>
            </a:pPr>
            <a:r>
              <a:rPr b="1" i="0" lang="en" sz="500" u="none" cap="none" strike="noStrike">
                <a:solidFill>
                  <a:srgbClr val="6E7F96"/>
                </a:solidFill>
                <a:latin typeface="Arial"/>
                <a:ea typeface="Arial"/>
                <a:cs typeface="Arial"/>
                <a:sym typeface="Arial"/>
              </a:rPr>
              <a:t>SATISFACTION</a:t>
            </a:r>
            <a:endParaRPr b="0" i="0" sz="500" u="none" cap="none" strike="noStrike">
              <a:solidFill>
                <a:schemeClr val="dk1"/>
              </a:solidFill>
              <a:latin typeface="Calibri"/>
              <a:ea typeface="Calibri"/>
              <a:cs typeface="Calibri"/>
              <a:sym typeface="Calibri"/>
            </a:endParaRPr>
          </a:p>
        </p:txBody>
      </p:sp>
      <p:sp>
        <p:nvSpPr>
          <p:cNvPr id="151" name="Google Shape;151;p17"/>
          <p:cNvSpPr/>
          <p:nvPr/>
        </p:nvSpPr>
        <p:spPr>
          <a:xfrm>
            <a:off x="438912" y="3689604"/>
            <a:ext cx="109728" cy="109728"/>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2" name="Google Shape;152;p17"/>
          <p:cNvSpPr/>
          <p:nvPr/>
        </p:nvSpPr>
        <p:spPr>
          <a:xfrm>
            <a:off x="610362" y="3689604"/>
            <a:ext cx="109728" cy="109728"/>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3" name="Google Shape;153;p17"/>
          <p:cNvSpPr/>
          <p:nvPr/>
        </p:nvSpPr>
        <p:spPr>
          <a:xfrm>
            <a:off x="781812" y="3689604"/>
            <a:ext cx="109728" cy="109728"/>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 name="Google Shape;154;p17"/>
          <p:cNvSpPr/>
          <p:nvPr/>
        </p:nvSpPr>
        <p:spPr>
          <a:xfrm>
            <a:off x="953262" y="368960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 name="Google Shape;155;p17"/>
          <p:cNvSpPr/>
          <p:nvPr/>
        </p:nvSpPr>
        <p:spPr>
          <a:xfrm>
            <a:off x="1124712" y="368960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 name="Google Shape;156;p17"/>
          <p:cNvSpPr/>
          <p:nvPr/>
        </p:nvSpPr>
        <p:spPr>
          <a:xfrm>
            <a:off x="1543050" y="2071116"/>
            <a:ext cx="1124712" cy="1988820"/>
          </a:xfrm>
          <a:prstGeom prst="roundRect">
            <a:avLst>
              <a:gd fmla="val 3049" name="adj"/>
            </a:avLst>
          </a:prstGeom>
          <a:solidFill>
            <a:srgbClr val="EAF2FE"/>
          </a:solidFill>
          <a:ln cap="flat" cmpd="sng" w="19050">
            <a:solidFill>
              <a:srgbClr val="1367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7" name="Google Shape;157;p17"/>
          <p:cNvSpPr/>
          <p:nvPr/>
        </p:nvSpPr>
        <p:spPr>
          <a:xfrm>
            <a:off x="1666494" y="2194560"/>
            <a:ext cx="260604" cy="260604"/>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 name="Google Shape;158;p17"/>
          <p:cNvSpPr txBox="1"/>
          <p:nvPr/>
        </p:nvSpPr>
        <p:spPr>
          <a:xfrm>
            <a:off x="1666494" y="2194560"/>
            <a:ext cx="260604" cy="2606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2</a:t>
            </a:r>
            <a:endParaRPr b="0" i="0" sz="900" u="none" cap="none" strike="noStrike">
              <a:solidFill>
                <a:schemeClr val="dk1"/>
              </a:solidFill>
              <a:latin typeface="Calibri"/>
              <a:ea typeface="Calibri"/>
              <a:cs typeface="Calibri"/>
              <a:sym typeface="Calibri"/>
            </a:endParaRPr>
          </a:p>
        </p:txBody>
      </p:sp>
      <p:sp>
        <p:nvSpPr>
          <p:cNvPr id="159" name="Google Shape;159;p17"/>
          <p:cNvSpPr/>
          <p:nvPr/>
        </p:nvSpPr>
        <p:spPr>
          <a:xfrm>
            <a:off x="2242566" y="2215134"/>
            <a:ext cx="301752" cy="150876"/>
          </a:xfrm>
          <a:prstGeom prst="roundRect">
            <a:avLst>
              <a:gd fmla="val 50000" name="adj"/>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0" name="Google Shape;160;p17"/>
          <p:cNvSpPr txBox="1"/>
          <p:nvPr/>
        </p:nvSpPr>
        <p:spPr>
          <a:xfrm>
            <a:off x="2242566" y="2215134"/>
            <a:ext cx="301752"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Calibri"/>
              <a:buNone/>
            </a:pPr>
            <a:r>
              <a:rPr b="1" i="0" lang="en" sz="600" u="none" cap="none" strike="noStrike">
                <a:solidFill>
                  <a:srgbClr val="FFFFFF"/>
                </a:solidFill>
                <a:latin typeface="Calibri"/>
                <a:ea typeface="Calibri"/>
                <a:cs typeface="Calibri"/>
                <a:sym typeface="Calibri"/>
              </a:rPr>
              <a:t>GAP</a:t>
            </a:r>
            <a:endParaRPr b="0" i="0" sz="600" u="none" cap="none" strike="noStrike">
              <a:solidFill>
                <a:schemeClr val="dk1"/>
              </a:solidFill>
              <a:latin typeface="Calibri"/>
              <a:ea typeface="Calibri"/>
              <a:cs typeface="Calibri"/>
              <a:sym typeface="Calibri"/>
            </a:endParaRPr>
          </a:p>
        </p:txBody>
      </p:sp>
      <p:sp>
        <p:nvSpPr>
          <p:cNvPr id="161" name="Google Shape;161;p17"/>
          <p:cNvSpPr txBox="1"/>
          <p:nvPr/>
        </p:nvSpPr>
        <p:spPr>
          <a:xfrm>
            <a:off x="1666494" y="2537460"/>
            <a:ext cx="877824" cy="493776"/>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0F2B5B"/>
              </a:buClr>
              <a:buSzPts val="900"/>
              <a:buFont typeface="Arial"/>
              <a:buNone/>
            </a:pPr>
            <a:r>
              <a:rPr b="1" i="0" lang="en" sz="900" u="none" cap="none" strike="noStrike">
                <a:solidFill>
                  <a:srgbClr val="0F2B5B"/>
                </a:solidFill>
                <a:latin typeface="Arial"/>
                <a:ea typeface="Arial"/>
                <a:cs typeface="Arial"/>
                <a:sym typeface="Arial"/>
              </a:rPr>
              <a:t>Waiting for transport </a:t>
            </a:r>
            <a:r>
              <a:rPr b="1" lang="en" sz="900">
                <a:solidFill>
                  <a:srgbClr val="0F2B5B"/>
                </a:solidFill>
              </a:rPr>
              <a:t>or in traffic</a:t>
            </a:r>
            <a:endParaRPr b="0" i="0" sz="900" u="none" cap="none" strike="noStrike">
              <a:solidFill>
                <a:schemeClr val="dk1"/>
              </a:solidFill>
              <a:latin typeface="Calibri"/>
              <a:ea typeface="Calibri"/>
              <a:cs typeface="Calibri"/>
              <a:sym typeface="Calibri"/>
            </a:endParaRPr>
          </a:p>
        </p:txBody>
      </p:sp>
      <p:sp>
        <p:nvSpPr>
          <p:cNvPr id="162" name="Google Shape;162;p17"/>
          <p:cNvSpPr txBox="1"/>
          <p:nvPr/>
        </p:nvSpPr>
        <p:spPr>
          <a:xfrm>
            <a:off x="1666494" y="3113532"/>
            <a:ext cx="918972" cy="137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F96"/>
              </a:buClr>
              <a:buSzPts val="500"/>
              <a:buFont typeface="Arial"/>
              <a:buNone/>
            </a:pPr>
            <a:r>
              <a:rPr b="1" i="0" lang="en" sz="500" u="none" cap="none" strike="noStrike">
                <a:solidFill>
                  <a:srgbClr val="6E7F96"/>
                </a:solidFill>
                <a:latin typeface="Arial"/>
                <a:ea typeface="Arial"/>
                <a:cs typeface="Arial"/>
                <a:sym typeface="Arial"/>
              </a:rPr>
              <a:t>IMPORTANCE</a:t>
            </a:r>
            <a:endParaRPr b="0" i="0" sz="500" u="none" cap="none" strike="noStrike">
              <a:solidFill>
                <a:schemeClr val="dk1"/>
              </a:solidFill>
              <a:latin typeface="Calibri"/>
              <a:ea typeface="Calibri"/>
              <a:cs typeface="Calibri"/>
              <a:sym typeface="Calibri"/>
            </a:endParaRPr>
          </a:p>
        </p:txBody>
      </p:sp>
      <p:sp>
        <p:nvSpPr>
          <p:cNvPr id="163" name="Google Shape;163;p17"/>
          <p:cNvSpPr/>
          <p:nvPr/>
        </p:nvSpPr>
        <p:spPr>
          <a:xfrm>
            <a:off x="167335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4" name="Google Shape;164;p17"/>
          <p:cNvSpPr/>
          <p:nvPr/>
        </p:nvSpPr>
        <p:spPr>
          <a:xfrm>
            <a:off x="184480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5" name="Google Shape;165;p17"/>
          <p:cNvSpPr/>
          <p:nvPr/>
        </p:nvSpPr>
        <p:spPr>
          <a:xfrm>
            <a:off x="201625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6" name="Google Shape;166;p17"/>
          <p:cNvSpPr/>
          <p:nvPr/>
        </p:nvSpPr>
        <p:spPr>
          <a:xfrm>
            <a:off x="218770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7" name="Google Shape;167;p17"/>
          <p:cNvSpPr/>
          <p:nvPr/>
        </p:nvSpPr>
        <p:spPr>
          <a:xfrm>
            <a:off x="235915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8" name="Google Shape;168;p17"/>
          <p:cNvSpPr txBox="1"/>
          <p:nvPr/>
        </p:nvSpPr>
        <p:spPr>
          <a:xfrm>
            <a:off x="1666494" y="3525012"/>
            <a:ext cx="918972" cy="137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F96"/>
              </a:buClr>
              <a:buSzPts val="500"/>
              <a:buFont typeface="Arial"/>
              <a:buNone/>
            </a:pPr>
            <a:r>
              <a:rPr b="1" i="0" lang="en" sz="500" u="none" cap="none" strike="noStrike">
                <a:solidFill>
                  <a:srgbClr val="6E7F96"/>
                </a:solidFill>
                <a:latin typeface="Arial"/>
                <a:ea typeface="Arial"/>
                <a:cs typeface="Arial"/>
                <a:sym typeface="Arial"/>
              </a:rPr>
              <a:t>SATISFACTION</a:t>
            </a:r>
            <a:endParaRPr b="0" i="0" sz="500" u="none" cap="none" strike="noStrike">
              <a:solidFill>
                <a:schemeClr val="dk1"/>
              </a:solidFill>
              <a:latin typeface="Calibri"/>
              <a:ea typeface="Calibri"/>
              <a:cs typeface="Calibri"/>
              <a:sym typeface="Calibri"/>
            </a:endParaRPr>
          </a:p>
        </p:txBody>
      </p:sp>
      <p:sp>
        <p:nvSpPr>
          <p:cNvPr id="169" name="Google Shape;169;p17"/>
          <p:cNvSpPr/>
          <p:nvPr/>
        </p:nvSpPr>
        <p:spPr>
          <a:xfrm>
            <a:off x="1673352" y="3689604"/>
            <a:ext cx="109728" cy="109728"/>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0" name="Google Shape;170;p17"/>
          <p:cNvSpPr/>
          <p:nvPr/>
        </p:nvSpPr>
        <p:spPr>
          <a:xfrm>
            <a:off x="2016252" y="368960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1" name="Google Shape;171;p17"/>
          <p:cNvSpPr/>
          <p:nvPr/>
        </p:nvSpPr>
        <p:spPr>
          <a:xfrm>
            <a:off x="2187702" y="368960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2" name="Google Shape;172;p17"/>
          <p:cNvSpPr/>
          <p:nvPr/>
        </p:nvSpPr>
        <p:spPr>
          <a:xfrm>
            <a:off x="2359152" y="368960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3" name="Google Shape;173;p17"/>
          <p:cNvSpPr/>
          <p:nvPr/>
        </p:nvSpPr>
        <p:spPr>
          <a:xfrm>
            <a:off x="2777490" y="2071116"/>
            <a:ext cx="1124712" cy="1988820"/>
          </a:xfrm>
          <a:prstGeom prst="roundRect">
            <a:avLst>
              <a:gd fmla="val 3049" name="adj"/>
            </a:avLst>
          </a:prstGeom>
          <a:solidFill>
            <a:srgbClr val="FFFFFF"/>
          </a:solidFill>
          <a:ln cap="flat" cmpd="sng" w="12700">
            <a:solidFill>
              <a:srgbClr val="D8E6F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4" name="Google Shape;174;p17"/>
          <p:cNvSpPr/>
          <p:nvPr/>
        </p:nvSpPr>
        <p:spPr>
          <a:xfrm>
            <a:off x="2900934" y="2194560"/>
            <a:ext cx="260604" cy="260604"/>
          </a:xfrm>
          <a:prstGeom prst="ellipse">
            <a:avLst/>
          </a:prstGeom>
          <a:solidFill>
            <a:srgbClr val="E8F1F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5" name="Google Shape;175;p17"/>
          <p:cNvSpPr txBox="1"/>
          <p:nvPr/>
        </p:nvSpPr>
        <p:spPr>
          <a:xfrm>
            <a:off x="2900934" y="2194560"/>
            <a:ext cx="260604" cy="2606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5B"/>
              </a:buClr>
              <a:buSzPts val="900"/>
              <a:buFont typeface="Arial"/>
              <a:buNone/>
            </a:pPr>
            <a:r>
              <a:rPr b="1" i="0" lang="en" sz="900" u="none" cap="none" strike="noStrike">
                <a:solidFill>
                  <a:srgbClr val="0F2B5B"/>
                </a:solidFill>
                <a:latin typeface="Arial"/>
                <a:ea typeface="Arial"/>
                <a:cs typeface="Arial"/>
                <a:sym typeface="Arial"/>
              </a:rPr>
              <a:t>3</a:t>
            </a:r>
            <a:endParaRPr b="0" i="0" sz="900" u="none" cap="none" strike="noStrike">
              <a:solidFill>
                <a:schemeClr val="dk1"/>
              </a:solidFill>
              <a:latin typeface="Calibri"/>
              <a:ea typeface="Calibri"/>
              <a:cs typeface="Calibri"/>
              <a:sym typeface="Calibri"/>
            </a:endParaRPr>
          </a:p>
        </p:txBody>
      </p:sp>
      <p:sp>
        <p:nvSpPr>
          <p:cNvPr id="176" name="Google Shape;176;p17"/>
          <p:cNvSpPr txBox="1"/>
          <p:nvPr/>
        </p:nvSpPr>
        <p:spPr>
          <a:xfrm>
            <a:off x="2900934" y="2537460"/>
            <a:ext cx="877824" cy="493776"/>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0F2B5B"/>
              </a:buClr>
              <a:buSzPts val="900"/>
              <a:buFont typeface="Arial"/>
              <a:buNone/>
            </a:pPr>
            <a:r>
              <a:rPr b="1" i="0" lang="en" sz="900" u="none" cap="none" strike="noStrike">
                <a:solidFill>
                  <a:srgbClr val="0F2B5B"/>
                </a:solidFill>
                <a:latin typeface="Arial"/>
                <a:ea typeface="Arial"/>
                <a:cs typeface="Arial"/>
                <a:sym typeface="Arial"/>
              </a:rPr>
              <a:t>Boarding and paying</a:t>
            </a:r>
            <a:endParaRPr b="0" i="0" sz="900" u="none" cap="none" strike="noStrike">
              <a:solidFill>
                <a:schemeClr val="dk1"/>
              </a:solidFill>
              <a:latin typeface="Calibri"/>
              <a:ea typeface="Calibri"/>
              <a:cs typeface="Calibri"/>
              <a:sym typeface="Calibri"/>
            </a:endParaRPr>
          </a:p>
        </p:txBody>
      </p:sp>
      <p:sp>
        <p:nvSpPr>
          <p:cNvPr id="177" name="Google Shape;177;p17"/>
          <p:cNvSpPr txBox="1"/>
          <p:nvPr/>
        </p:nvSpPr>
        <p:spPr>
          <a:xfrm>
            <a:off x="2900934" y="3113532"/>
            <a:ext cx="918972" cy="137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F96"/>
              </a:buClr>
              <a:buSzPts val="500"/>
              <a:buFont typeface="Arial"/>
              <a:buNone/>
            </a:pPr>
            <a:r>
              <a:rPr b="1" i="0" lang="en" sz="500" u="none" cap="none" strike="noStrike">
                <a:solidFill>
                  <a:srgbClr val="6E7F96"/>
                </a:solidFill>
                <a:latin typeface="Arial"/>
                <a:ea typeface="Arial"/>
                <a:cs typeface="Arial"/>
                <a:sym typeface="Arial"/>
              </a:rPr>
              <a:t>IMPORTANCE</a:t>
            </a:r>
            <a:endParaRPr b="0" i="0" sz="500" u="none" cap="none" strike="noStrike">
              <a:solidFill>
                <a:schemeClr val="dk1"/>
              </a:solidFill>
              <a:latin typeface="Calibri"/>
              <a:ea typeface="Calibri"/>
              <a:cs typeface="Calibri"/>
              <a:sym typeface="Calibri"/>
            </a:endParaRPr>
          </a:p>
        </p:txBody>
      </p:sp>
      <p:sp>
        <p:nvSpPr>
          <p:cNvPr id="178" name="Google Shape;178;p17"/>
          <p:cNvSpPr/>
          <p:nvPr/>
        </p:nvSpPr>
        <p:spPr>
          <a:xfrm>
            <a:off x="290779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9" name="Google Shape;179;p17"/>
          <p:cNvSpPr/>
          <p:nvPr/>
        </p:nvSpPr>
        <p:spPr>
          <a:xfrm>
            <a:off x="307924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0" name="Google Shape;180;p17"/>
          <p:cNvSpPr/>
          <p:nvPr/>
        </p:nvSpPr>
        <p:spPr>
          <a:xfrm>
            <a:off x="3250692" y="327812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1" name="Google Shape;181;p17"/>
          <p:cNvSpPr/>
          <p:nvPr/>
        </p:nvSpPr>
        <p:spPr>
          <a:xfrm>
            <a:off x="3422142" y="327812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 name="Google Shape;182;p17"/>
          <p:cNvSpPr/>
          <p:nvPr/>
        </p:nvSpPr>
        <p:spPr>
          <a:xfrm>
            <a:off x="3593592" y="327812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3" name="Google Shape;183;p17"/>
          <p:cNvSpPr txBox="1"/>
          <p:nvPr/>
        </p:nvSpPr>
        <p:spPr>
          <a:xfrm>
            <a:off x="2900934" y="3525012"/>
            <a:ext cx="918972" cy="137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F96"/>
              </a:buClr>
              <a:buSzPts val="500"/>
              <a:buFont typeface="Arial"/>
              <a:buNone/>
            </a:pPr>
            <a:r>
              <a:rPr b="1" i="0" lang="en" sz="500" u="none" cap="none" strike="noStrike">
                <a:solidFill>
                  <a:srgbClr val="6E7F96"/>
                </a:solidFill>
                <a:latin typeface="Arial"/>
                <a:ea typeface="Arial"/>
                <a:cs typeface="Arial"/>
                <a:sym typeface="Arial"/>
              </a:rPr>
              <a:t>SATISFACTION</a:t>
            </a:r>
            <a:endParaRPr b="0" i="0" sz="500" u="none" cap="none" strike="noStrike">
              <a:solidFill>
                <a:schemeClr val="dk1"/>
              </a:solidFill>
              <a:latin typeface="Calibri"/>
              <a:ea typeface="Calibri"/>
              <a:cs typeface="Calibri"/>
              <a:sym typeface="Calibri"/>
            </a:endParaRPr>
          </a:p>
        </p:txBody>
      </p:sp>
      <p:sp>
        <p:nvSpPr>
          <p:cNvPr id="184" name="Google Shape;184;p17"/>
          <p:cNvSpPr/>
          <p:nvPr/>
        </p:nvSpPr>
        <p:spPr>
          <a:xfrm>
            <a:off x="2907792" y="3689604"/>
            <a:ext cx="109728" cy="109728"/>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5" name="Google Shape;185;p17"/>
          <p:cNvSpPr/>
          <p:nvPr/>
        </p:nvSpPr>
        <p:spPr>
          <a:xfrm>
            <a:off x="3079242" y="3689604"/>
            <a:ext cx="109728" cy="109728"/>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6" name="Google Shape;186;p17"/>
          <p:cNvSpPr/>
          <p:nvPr/>
        </p:nvSpPr>
        <p:spPr>
          <a:xfrm>
            <a:off x="3250692" y="3689604"/>
            <a:ext cx="109728" cy="109728"/>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 name="Google Shape;187;p17"/>
          <p:cNvSpPr/>
          <p:nvPr/>
        </p:nvSpPr>
        <p:spPr>
          <a:xfrm>
            <a:off x="3422142" y="3689604"/>
            <a:ext cx="109728" cy="109728"/>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 name="Google Shape;188;p17"/>
          <p:cNvSpPr/>
          <p:nvPr/>
        </p:nvSpPr>
        <p:spPr>
          <a:xfrm>
            <a:off x="3593592" y="368960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9" name="Google Shape;189;p17"/>
          <p:cNvSpPr/>
          <p:nvPr/>
        </p:nvSpPr>
        <p:spPr>
          <a:xfrm>
            <a:off x="4011930" y="2071116"/>
            <a:ext cx="1124712" cy="1988820"/>
          </a:xfrm>
          <a:prstGeom prst="roundRect">
            <a:avLst>
              <a:gd fmla="val 3049" name="adj"/>
            </a:avLst>
          </a:prstGeom>
          <a:solidFill>
            <a:srgbClr val="FFFFFF"/>
          </a:solidFill>
          <a:ln cap="flat" cmpd="sng" w="12700">
            <a:solidFill>
              <a:srgbClr val="D8E6F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0" name="Google Shape;190;p17"/>
          <p:cNvSpPr/>
          <p:nvPr/>
        </p:nvSpPr>
        <p:spPr>
          <a:xfrm>
            <a:off x="4135374" y="2194560"/>
            <a:ext cx="260604" cy="260604"/>
          </a:xfrm>
          <a:prstGeom prst="ellipse">
            <a:avLst/>
          </a:prstGeom>
          <a:solidFill>
            <a:srgbClr val="E8F1F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1" name="Google Shape;191;p17"/>
          <p:cNvSpPr txBox="1"/>
          <p:nvPr/>
        </p:nvSpPr>
        <p:spPr>
          <a:xfrm>
            <a:off x="4135374" y="2194560"/>
            <a:ext cx="260604" cy="2606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5B"/>
              </a:buClr>
              <a:buSzPts val="900"/>
              <a:buFont typeface="Arial"/>
              <a:buNone/>
            </a:pPr>
            <a:r>
              <a:rPr b="1" i="0" lang="en" sz="900" u="none" cap="none" strike="noStrike">
                <a:solidFill>
                  <a:srgbClr val="0F2B5B"/>
                </a:solidFill>
                <a:latin typeface="Arial"/>
                <a:ea typeface="Arial"/>
                <a:cs typeface="Arial"/>
                <a:sym typeface="Arial"/>
              </a:rPr>
              <a:t>4</a:t>
            </a:r>
            <a:endParaRPr b="0" i="0" sz="900" u="none" cap="none" strike="noStrike">
              <a:solidFill>
                <a:schemeClr val="dk1"/>
              </a:solidFill>
              <a:latin typeface="Calibri"/>
              <a:ea typeface="Calibri"/>
              <a:cs typeface="Calibri"/>
              <a:sym typeface="Calibri"/>
            </a:endParaRPr>
          </a:p>
        </p:txBody>
      </p:sp>
      <p:sp>
        <p:nvSpPr>
          <p:cNvPr id="192" name="Google Shape;192;p17"/>
          <p:cNvSpPr txBox="1"/>
          <p:nvPr/>
        </p:nvSpPr>
        <p:spPr>
          <a:xfrm>
            <a:off x="4135374" y="2537460"/>
            <a:ext cx="877824" cy="493776"/>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0F2B5B"/>
              </a:buClr>
              <a:buSzPts val="900"/>
              <a:buFont typeface="Arial"/>
              <a:buNone/>
            </a:pPr>
            <a:r>
              <a:rPr b="1" i="0" lang="en" sz="900" u="none" cap="none" strike="noStrike">
                <a:solidFill>
                  <a:srgbClr val="0F2B5B"/>
                </a:solidFill>
                <a:latin typeface="Arial"/>
                <a:ea typeface="Arial"/>
                <a:cs typeface="Arial"/>
                <a:sym typeface="Arial"/>
              </a:rPr>
              <a:t>Rid</a:t>
            </a:r>
            <a:r>
              <a:rPr b="1" lang="en" sz="900">
                <a:solidFill>
                  <a:srgbClr val="0F2B5B"/>
                </a:solidFill>
              </a:rPr>
              <a:t>ing/</a:t>
            </a:r>
            <a:r>
              <a:rPr b="1" i="0" lang="en" sz="900" u="none" cap="none" strike="noStrike">
                <a:solidFill>
                  <a:srgbClr val="0F2B5B"/>
                </a:solidFill>
                <a:latin typeface="Arial"/>
                <a:ea typeface="Arial"/>
                <a:cs typeface="Arial"/>
                <a:sym typeface="Arial"/>
              </a:rPr>
              <a:t>driv</a:t>
            </a:r>
            <a:r>
              <a:rPr b="1" lang="en" sz="900">
                <a:solidFill>
                  <a:srgbClr val="0F2B5B"/>
                </a:solidFill>
              </a:rPr>
              <a:t>ing     (in motion)</a:t>
            </a:r>
            <a:endParaRPr b="0" i="0" sz="900" u="none" cap="none" strike="noStrike">
              <a:solidFill>
                <a:schemeClr val="dk1"/>
              </a:solidFill>
              <a:latin typeface="Calibri"/>
              <a:ea typeface="Calibri"/>
              <a:cs typeface="Calibri"/>
              <a:sym typeface="Calibri"/>
            </a:endParaRPr>
          </a:p>
        </p:txBody>
      </p:sp>
      <p:sp>
        <p:nvSpPr>
          <p:cNvPr id="193" name="Google Shape;193;p17"/>
          <p:cNvSpPr txBox="1"/>
          <p:nvPr/>
        </p:nvSpPr>
        <p:spPr>
          <a:xfrm>
            <a:off x="4135374" y="3113532"/>
            <a:ext cx="918972" cy="137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F96"/>
              </a:buClr>
              <a:buSzPts val="500"/>
              <a:buFont typeface="Arial"/>
              <a:buNone/>
            </a:pPr>
            <a:r>
              <a:rPr b="1" i="0" lang="en" sz="500" u="none" cap="none" strike="noStrike">
                <a:solidFill>
                  <a:srgbClr val="6E7F96"/>
                </a:solidFill>
                <a:latin typeface="Arial"/>
                <a:ea typeface="Arial"/>
                <a:cs typeface="Arial"/>
                <a:sym typeface="Arial"/>
              </a:rPr>
              <a:t>IMPORTANCE</a:t>
            </a:r>
            <a:endParaRPr b="0" i="0" sz="500" u="none" cap="none" strike="noStrike">
              <a:solidFill>
                <a:schemeClr val="dk1"/>
              </a:solidFill>
              <a:latin typeface="Calibri"/>
              <a:ea typeface="Calibri"/>
              <a:cs typeface="Calibri"/>
              <a:sym typeface="Calibri"/>
            </a:endParaRPr>
          </a:p>
        </p:txBody>
      </p:sp>
      <p:sp>
        <p:nvSpPr>
          <p:cNvPr id="194" name="Google Shape;194;p17"/>
          <p:cNvSpPr/>
          <p:nvPr/>
        </p:nvSpPr>
        <p:spPr>
          <a:xfrm>
            <a:off x="414223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5" name="Google Shape;195;p17"/>
          <p:cNvSpPr/>
          <p:nvPr/>
        </p:nvSpPr>
        <p:spPr>
          <a:xfrm>
            <a:off x="431368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6" name="Google Shape;196;p17"/>
          <p:cNvSpPr/>
          <p:nvPr/>
        </p:nvSpPr>
        <p:spPr>
          <a:xfrm>
            <a:off x="448513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7" name="Google Shape;197;p17"/>
          <p:cNvSpPr/>
          <p:nvPr/>
        </p:nvSpPr>
        <p:spPr>
          <a:xfrm>
            <a:off x="465658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8" name="Google Shape;198;p17"/>
          <p:cNvSpPr/>
          <p:nvPr/>
        </p:nvSpPr>
        <p:spPr>
          <a:xfrm>
            <a:off x="482803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9" name="Google Shape;199;p17"/>
          <p:cNvSpPr txBox="1"/>
          <p:nvPr/>
        </p:nvSpPr>
        <p:spPr>
          <a:xfrm>
            <a:off x="4135374" y="3525012"/>
            <a:ext cx="918972" cy="137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F96"/>
              </a:buClr>
              <a:buSzPts val="500"/>
              <a:buFont typeface="Arial"/>
              <a:buNone/>
            </a:pPr>
            <a:r>
              <a:rPr b="1" i="0" lang="en" sz="500" u="none" cap="none" strike="noStrike">
                <a:solidFill>
                  <a:srgbClr val="6E7F96"/>
                </a:solidFill>
                <a:latin typeface="Arial"/>
                <a:ea typeface="Arial"/>
                <a:cs typeface="Arial"/>
                <a:sym typeface="Arial"/>
              </a:rPr>
              <a:t>SATISFACTION</a:t>
            </a:r>
            <a:endParaRPr b="0" i="0" sz="500" u="none" cap="none" strike="noStrike">
              <a:solidFill>
                <a:schemeClr val="dk1"/>
              </a:solidFill>
              <a:latin typeface="Calibri"/>
              <a:ea typeface="Calibri"/>
              <a:cs typeface="Calibri"/>
              <a:sym typeface="Calibri"/>
            </a:endParaRPr>
          </a:p>
        </p:txBody>
      </p:sp>
      <p:sp>
        <p:nvSpPr>
          <p:cNvPr id="200" name="Google Shape;200;p17"/>
          <p:cNvSpPr/>
          <p:nvPr/>
        </p:nvSpPr>
        <p:spPr>
          <a:xfrm>
            <a:off x="4142232" y="3689604"/>
            <a:ext cx="109728" cy="109728"/>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1" name="Google Shape;201;p17"/>
          <p:cNvSpPr/>
          <p:nvPr/>
        </p:nvSpPr>
        <p:spPr>
          <a:xfrm>
            <a:off x="4313682" y="3689604"/>
            <a:ext cx="109728" cy="109728"/>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2" name="Google Shape;202;p17"/>
          <p:cNvSpPr/>
          <p:nvPr/>
        </p:nvSpPr>
        <p:spPr>
          <a:xfrm>
            <a:off x="4485132" y="3689604"/>
            <a:ext cx="109728" cy="109728"/>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3" name="Google Shape;203;p17"/>
          <p:cNvSpPr/>
          <p:nvPr/>
        </p:nvSpPr>
        <p:spPr>
          <a:xfrm>
            <a:off x="4656582" y="368960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4" name="Google Shape;204;p17"/>
          <p:cNvSpPr/>
          <p:nvPr/>
        </p:nvSpPr>
        <p:spPr>
          <a:xfrm>
            <a:off x="4828032" y="368960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5" name="Google Shape;205;p17"/>
          <p:cNvSpPr/>
          <p:nvPr/>
        </p:nvSpPr>
        <p:spPr>
          <a:xfrm>
            <a:off x="5246370" y="2071116"/>
            <a:ext cx="1124712" cy="1988820"/>
          </a:xfrm>
          <a:prstGeom prst="roundRect">
            <a:avLst>
              <a:gd fmla="val 3049" name="adj"/>
            </a:avLst>
          </a:prstGeom>
          <a:solidFill>
            <a:srgbClr val="EAF2FE"/>
          </a:solidFill>
          <a:ln cap="flat" cmpd="sng" w="19050">
            <a:solidFill>
              <a:srgbClr val="1367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6" name="Google Shape;206;p17"/>
          <p:cNvSpPr/>
          <p:nvPr/>
        </p:nvSpPr>
        <p:spPr>
          <a:xfrm>
            <a:off x="5369814" y="2194560"/>
            <a:ext cx="260604" cy="260604"/>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7" name="Google Shape;207;p17"/>
          <p:cNvSpPr txBox="1"/>
          <p:nvPr/>
        </p:nvSpPr>
        <p:spPr>
          <a:xfrm>
            <a:off x="5369814" y="2194560"/>
            <a:ext cx="260604" cy="2606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5</a:t>
            </a:r>
            <a:endParaRPr b="0" i="0" sz="900" u="none" cap="none" strike="noStrike">
              <a:solidFill>
                <a:schemeClr val="dk1"/>
              </a:solidFill>
              <a:latin typeface="Calibri"/>
              <a:ea typeface="Calibri"/>
              <a:cs typeface="Calibri"/>
              <a:sym typeface="Calibri"/>
            </a:endParaRPr>
          </a:p>
        </p:txBody>
      </p:sp>
      <p:sp>
        <p:nvSpPr>
          <p:cNvPr id="208" name="Google Shape;208;p17"/>
          <p:cNvSpPr/>
          <p:nvPr/>
        </p:nvSpPr>
        <p:spPr>
          <a:xfrm>
            <a:off x="5945886" y="2215134"/>
            <a:ext cx="301752" cy="150876"/>
          </a:xfrm>
          <a:prstGeom prst="roundRect">
            <a:avLst>
              <a:gd fmla="val 50000" name="adj"/>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9" name="Google Shape;209;p17"/>
          <p:cNvSpPr txBox="1"/>
          <p:nvPr/>
        </p:nvSpPr>
        <p:spPr>
          <a:xfrm>
            <a:off x="5945886" y="2215134"/>
            <a:ext cx="301752"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Calibri"/>
              <a:buNone/>
            </a:pPr>
            <a:r>
              <a:rPr b="1" i="0" lang="en" sz="600" u="none" cap="none" strike="noStrike">
                <a:solidFill>
                  <a:srgbClr val="FFFFFF"/>
                </a:solidFill>
                <a:latin typeface="Calibri"/>
                <a:ea typeface="Calibri"/>
                <a:cs typeface="Calibri"/>
                <a:sym typeface="Calibri"/>
              </a:rPr>
              <a:t>GAP</a:t>
            </a:r>
            <a:endParaRPr b="0" i="0" sz="600" u="none" cap="none" strike="noStrike">
              <a:solidFill>
                <a:schemeClr val="dk1"/>
              </a:solidFill>
              <a:latin typeface="Calibri"/>
              <a:ea typeface="Calibri"/>
              <a:cs typeface="Calibri"/>
              <a:sym typeface="Calibri"/>
            </a:endParaRPr>
          </a:p>
        </p:txBody>
      </p:sp>
      <p:sp>
        <p:nvSpPr>
          <p:cNvPr id="210" name="Google Shape;210;p17"/>
          <p:cNvSpPr txBox="1"/>
          <p:nvPr/>
        </p:nvSpPr>
        <p:spPr>
          <a:xfrm>
            <a:off x="5369814" y="2537460"/>
            <a:ext cx="877824" cy="493776"/>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0F2B5B"/>
              </a:buClr>
              <a:buSzPts val="900"/>
              <a:buFont typeface="Arial"/>
              <a:buNone/>
            </a:pPr>
            <a:r>
              <a:rPr b="1" i="0" lang="en" sz="900" u="none" cap="none" strike="noStrike">
                <a:solidFill>
                  <a:srgbClr val="0F2B5B"/>
                </a:solidFill>
                <a:latin typeface="Arial"/>
                <a:ea typeface="Arial"/>
                <a:cs typeface="Arial"/>
                <a:sym typeface="Arial"/>
              </a:rPr>
              <a:t>Transferring</a:t>
            </a:r>
            <a:endParaRPr b="0" i="0" sz="900" u="none" cap="none" strike="noStrike">
              <a:solidFill>
                <a:schemeClr val="dk1"/>
              </a:solidFill>
              <a:latin typeface="Calibri"/>
              <a:ea typeface="Calibri"/>
              <a:cs typeface="Calibri"/>
              <a:sym typeface="Calibri"/>
            </a:endParaRPr>
          </a:p>
        </p:txBody>
      </p:sp>
      <p:sp>
        <p:nvSpPr>
          <p:cNvPr id="211" name="Google Shape;211;p17"/>
          <p:cNvSpPr txBox="1"/>
          <p:nvPr/>
        </p:nvSpPr>
        <p:spPr>
          <a:xfrm>
            <a:off x="5369814" y="3113532"/>
            <a:ext cx="918972" cy="137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F96"/>
              </a:buClr>
              <a:buSzPts val="500"/>
              <a:buFont typeface="Arial"/>
              <a:buNone/>
            </a:pPr>
            <a:r>
              <a:rPr b="1" i="0" lang="en" sz="500" u="none" cap="none" strike="noStrike">
                <a:solidFill>
                  <a:srgbClr val="6E7F96"/>
                </a:solidFill>
                <a:latin typeface="Arial"/>
                <a:ea typeface="Arial"/>
                <a:cs typeface="Arial"/>
                <a:sym typeface="Arial"/>
              </a:rPr>
              <a:t>IMPORTANCE</a:t>
            </a:r>
            <a:endParaRPr b="0" i="0" sz="500" u="none" cap="none" strike="noStrike">
              <a:solidFill>
                <a:schemeClr val="dk1"/>
              </a:solidFill>
              <a:latin typeface="Calibri"/>
              <a:ea typeface="Calibri"/>
              <a:cs typeface="Calibri"/>
              <a:sym typeface="Calibri"/>
            </a:endParaRPr>
          </a:p>
        </p:txBody>
      </p:sp>
      <p:sp>
        <p:nvSpPr>
          <p:cNvPr id="212" name="Google Shape;212;p17"/>
          <p:cNvSpPr/>
          <p:nvPr/>
        </p:nvSpPr>
        <p:spPr>
          <a:xfrm>
            <a:off x="537667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3" name="Google Shape;213;p17"/>
          <p:cNvSpPr/>
          <p:nvPr/>
        </p:nvSpPr>
        <p:spPr>
          <a:xfrm>
            <a:off x="554812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4" name="Google Shape;214;p17"/>
          <p:cNvSpPr/>
          <p:nvPr/>
        </p:nvSpPr>
        <p:spPr>
          <a:xfrm>
            <a:off x="571957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5" name="Google Shape;215;p17"/>
          <p:cNvSpPr/>
          <p:nvPr/>
        </p:nvSpPr>
        <p:spPr>
          <a:xfrm>
            <a:off x="589102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6" name="Google Shape;216;p17"/>
          <p:cNvSpPr/>
          <p:nvPr/>
        </p:nvSpPr>
        <p:spPr>
          <a:xfrm>
            <a:off x="6062472" y="327812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7" name="Google Shape;217;p17"/>
          <p:cNvSpPr txBox="1"/>
          <p:nvPr/>
        </p:nvSpPr>
        <p:spPr>
          <a:xfrm>
            <a:off x="5369814" y="3525012"/>
            <a:ext cx="918972" cy="137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F96"/>
              </a:buClr>
              <a:buSzPts val="500"/>
              <a:buFont typeface="Arial"/>
              <a:buNone/>
            </a:pPr>
            <a:r>
              <a:rPr b="1" i="0" lang="en" sz="500" u="none" cap="none" strike="noStrike">
                <a:solidFill>
                  <a:srgbClr val="6E7F96"/>
                </a:solidFill>
                <a:latin typeface="Arial"/>
                <a:ea typeface="Arial"/>
                <a:cs typeface="Arial"/>
                <a:sym typeface="Arial"/>
              </a:rPr>
              <a:t>SATISFACTION</a:t>
            </a:r>
            <a:endParaRPr b="0" i="0" sz="500" u="none" cap="none" strike="noStrike">
              <a:solidFill>
                <a:schemeClr val="dk1"/>
              </a:solidFill>
              <a:latin typeface="Calibri"/>
              <a:ea typeface="Calibri"/>
              <a:cs typeface="Calibri"/>
              <a:sym typeface="Calibri"/>
            </a:endParaRPr>
          </a:p>
        </p:txBody>
      </p:sp>
      <p:sp>
        <p:nvSpPr>
          <p:cNvPr id="218" name="Google Shape;218;p17"/>
          <p:cNvSpPr/>
          <p:nvPr/>
        </p:nvSpPr>
        <p:spPr>
          <a:xfrm>
            <a:off x="5376672" y="3689604"/>
            <a:ext cx="109728" cy="109728"/>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9" name="Google Shape;219;p17"/>
          <p:cNvSpPr/>
          <p:nvPr/>
        </p:nvSpPr>
        <p:spPr>
          <a:xfrm>
            <a:off x="5548122" y="368960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0" name="Google Shape;220;p17"/>
          <p:cNvSpPr/>
          <p:nvPr/>
        </p:nvSpPr>
        <p:spPr>
          <a:xfrm>
            <a:off x="5719572" y="368960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1" name="Google Shape;221;p17"/>
          <p:cNvSpPr/>
          <p:nvPr/>
        </p:nvSpPr>
        <p:spPr>
          <a:xfrm>
            <a:off x="5891022" y="368960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2" name="Google Shape;222;p17"/>
          <p:cNvSpPr/>
          <p:nvPr/>
        </p:nvSpPr>
        <p:spPr>
          <a:xfrm>
            <a:off x="6062472" y="368960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3" name="Google Shape;223;p17"/>
          <p:cNvSpPr/>
          <p:nvPr/>
        </p:nvSpPr>
        <p:spPr>
          <a:xfrm>
            <a:off x="6480810" y="2071116"/>
            <a:ext cx="1124712" cy="1988820"/>
          </a:xfrm>
          <a:prstGeom prst="roundRect">
            <a:avLst>
              <a:gd fmla="val 3049" name="adj"/>
            </a:avLst>
          </a:prstGeom>
          <a:solidFill>
            <a:srgbClr val="FFFFFF"/>
          </a:solidFill>
          <a:ln cap="flat" cmpd="sng" w="12700">
            <a:solidFill>
              <a:srgbClr val="D8E6F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4" name="Google Shape;224;p17"/>
          <p:cNvSpPr/>
          <p:nvPr/>
        </p:nvSpPr>
        <p:spPr>
          <a:xfrm>
            <a:off x="6604254" y="2194560"/>
            <a:ext cx="260604" cy="260604"/>
          </a:xfrm>
          <a:prstGeom prst="ellipse">
            <a:avLst/>
          </a:prstGeom>
          <a:solidFill>
            <a:srgbClr val="E8F1F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5" name="Google Shape;225;p17"/>
          <p:cNvSpPr txBox="1"/>
          <p:nvPr/>
        </p:nvSpPr>
        <p:spPr>
          <a:xfrm>
            <a:off x="6604254" y="2194560"/>
            <a:ext cx="260604" cy="2606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5B"/>
              </a:buClr>
              <a:buSzPts val="900"/>
              <a:buFont typeface="Arial"/>
              <a:buNone/>
            </a:pPr>
            <a:r>
              <a:rPr b="1" i="0" lang="en" sz="900" u="none" cap="none" strike="noStrike">
                <a:solidFill>
                  <a:srgbClr val="0F2B5B"/>
                </a:solidFill>
                <a:latin typeface="Arial"/>
                <a:ea typeface="Arial"/>
                <a:cs typeface="Arial"/>
                <a:sym typeface="Arial"/>
              </a:rPr>
              <a:t>6</a:t>
            </a:r>
            <a:endParaRPr b="0" i="0" sz="900" u="none" cap="none" strike="noStrike">
              <a:solidFill>
                <a:schemeClr val="dk1"/>
              </a:solidFill>
              <a:latin typeface="Calibri"/>
              <a:ea typeface="Calibri"/>
              <a:cs typeface="Calibri"/>
              <a:sym typeface="Calibri"/>
            </a:endParaRPr>
          </a:p>
        </p:txBody>
      </p:sp>
      <p:sp>
        <p:nvSpPr>
          <p:cNvPr id="226" name="Google Shape;226;p17"/>
          <p:cNvSpPr txBox="1"/>
          <p:nvPr/>
        </p:nvSpPr>
        <p:spPr>
          <a:xfrm>
            <a:off x="6604254" y="2537460"/>
            <a:ext cx="877824" cy="493776"/>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0F2B5B"/>
              </a:buClr>
              <a:buSzPts val="900"/>
              <a:buFont typeface="Arial"/>
              <a:buNone/>
            </a:pPr>
            <a:r>
              <a:rPr b="1" i="0" lang="en" sz="900" u="none" cap="none" strike="noStrike">
                <a:solidFill>
                  <a:srgbClr val="0F2B5B"/>
                </a:solidFill>
                <a:latin typeface="Arial"/>
                <a:ea typeface="Arial"/>
                <a:cs typeface="Arial"/>
                <a:sym typeface="Arial"/>
              </a:rPr>
              <a:t>Walking to the final destination</a:t>
            </a:r>
            <a:endParaRPr b="0" i="0" sz="900" u="none" cap="none" strike="noStrike">
              <a:solidFill>
                <a:schemeClr val="dk1"/>
              </a:solidFill>
              <a:latin typeface="Calibri"/>
              <a:ea typeface="Calibri"/>
              <a:cs typeface="Calibri"/>
              <a:sym typeface="Calibri"/>
            </a:endParaRPr>
          </a:p>
        </p:txBody>
      </p:sp>
      <p:sp>
        <p:nvSpPr>
          <p:cNvPr id="227" name="Google Shape;227;p17"/>
          <p:cNvSpPr txBox="1"/>
          <p:nvPr/>
        </p:nvSpPr>
        <p:spPr>
          <a:xfrm>
            <a:off x="6604254" y="3113532"/>
            <a:ext cx="918972" cy="137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F96"/>
              </a:buClr>
              <a:buSzPts val="500"/>
              <a:buFont typeface="Arial"/>
              <a:buNone/>
            </a:pPr>
            <a:r>
              <a:rPr b="1" i="0" lang="en" sz="500" u="none" cap="none" strike="noStrike">
                <a:solidFill>
                  <a:srgbClr val="6E7F96"/>
                </a:solidFill>
                <a:latin typeface="Arial"/>
                <a:ea typeface="Arial"/>
                <a:cs typeface="Arial"/>
                <a:sym typeface="Arial"/>
              </a:rPr>
              <a:t>IMPORTANCE</a:t>
            </a:r>
            <a:endParaRPr b="0" i="0" sz="500" u="none" cap="none" strike="noStrike">
              <a:solidFill>
                <a:schemeClr val="dk1"/>
              </a:solidFill>
              <a:latin typeface="Calibri"/>
              <a:ea typeface="Calibri"/>
              <a:cs typeface="Calibri"/>
              <a:sym typeface="Calibri"/>
            </a:endParaRPr>
          </a:p>
        </p:txBody>
      </p:sp>
      <p:sp>
        <p:nvSpPr>
          <p:cNvPr id="228" name="Google Shape;228;p17"/>
          <p:cNvSpPr/>
          <p:nvPr/>
        </p:nvSpPr>
        <p:spPr>
          <a:xfrm>
            <a:off x="661111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9" name="Google Shape;229;p17"/>
          <p:cNvSpPr/>
          <p:nvPr/>
        </p:nvSpPr>
        <p:spPr>
          <a:xfrm>
            <a:off x="678256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0" name="Google Shape;230;p17"/>
          <p:cNvSpPr/>
          <p:nvPr/>
        </p:nvSpPr>
        <p:spPr>
          <a:xfrm>
            <a:off x="695401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1" name="Google Shape;231;p17"/>
          <p:cNvSpPr/>
          <p:nvPr/>
        </p:nvSpPr>
        <p:spPr>
          <a:xfrm>
            <a:off x="7125462" y="327812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2" name="Google Shape;232;p17"/>
          <p:cNvSpPr/>
          <p:nvPr/>
        </p:nvSpPr>
        <p:spPr>
          <a:xfrm>
            <a:off x="7296912" y="327812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3" name="Google Shape;233;p17"/>
          <p:cNvSpPr txBox="1"/>
          <p:nvPr/>
        </p:nvSpPr>
        <p:spPr>
          <a:xfrm>
            <a:off x="6604254" y="3525012"/>
            <a:ext cx="918972" cy="137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F96"/>
              </a:buClr>
              <a:buSzPts val="500"/>
              <a:buFont typeface="Arial"/>
              <a:buNone/>
            </a:pPr>
            <a:r>
              <a:rPr b="1" i="0" lang="en" sz="500" u="none" cap="none" strike="noStrike">
                <a:solidFill>
                  <a:srgbClr val="6E7F96"/>
                </a:solidFill>
                <a:latin typeface="Arial"/>
                <a:ea typeface="Arial"/>
                <a:cs typeface="Arial"/>
                <a:sym typeface="Arial"/>
              </a:rPr>
              <a:t>SATISFACTION</a:t>
            </a:r>
            <a:endParaRPr b="0" i="0" sz="500" u="none" cap="none" strike="noStrike">
              <a:solidFill>
                <a:schemeClr val="dk1"/>
              </a:solidFill>
              <a:latin typeface="Calibri"/>
              <a:ea typeface="Calibri"/>
              <a:cs typeface="Calibri"/>
              <a:sym typeface="Calibri"/>
            </a:endParaRPr>
          </a:p>
        </p:txBody>
      </p:sp>
      <p:sp>
        <p:nvSpPr>
          <p:cNvPr id="234" name="Google Shape;234;p17"/>
          <p:cNvSpPr/>
          <p:nvPr/>
        </p:nvSpPr>
        <p:spPr>
          <a:xfrm>
            <a:off x="6611112" y="3689604"/>
            <a:ext cx="109728" cy="109728"/>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5" name="Google Shape;235;p17"/>
          <p:cNvSpPr/>
          <p:nvPr/>
        </p:nvSpPr>
        <p:spPr>
          <a:xfrm>
            <a:off x="6782562" y="3689604"/>
            <a:ext cx="109728" cy="109728"/>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6" name="Google Shape;236;p17"/>
          <p:cNvSpPr/>
          <p:nvPr/>
        </p:nvSpPr>
        <p:spPr>
          <a:xfrm>
            <a:off x="6954012" y="368960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7" name="Google Shape;237;p17"/>
          <p:cNvSpPr/>
          <p:nvPr/>
        </p:nvSpPr>
        <p:spPr>
          <a:xfrm>
            <a:off x="7125462" y="368960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8" name="Google Shape;238;p17"/>
          <p:cNvSpPr/>
          <p:nvPr/>
        </p:nvSpPr>
        <p:spPr>
          <a:xfrm>
            <a:off x="7296912" y="368960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9" name="Google Shape;239;p17"/>
          <p:cNvSpPr/>
          <p:nvPr/>
        </p:nvSpPr>
        <p:spPr>
          <a:xfrm>
            <a:off x="7715250" y="2071116"/>
            <a:ext cx="1124712" cy="1988820"/>
          </a:xfrm>
          <a:prstGeom prst="roundRect">
            <a:avLst>
              <a:gd fmla="val 3049" name="adj"/>
            </a:avLst>
          </a:prstGeom>
          <a:solidFill>
            <a:srgbClr val="EAF2FE"/>
          </a:solidFill>
          <a:ln cap="flat" cmpd="sng" w="19050">
            <a:solidFill>
              <a:srgbClr val="1367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0" name="Google Shape;240;p17"/>
          <p:cNvSpPr/>
          <p:nvPr/>
        </p:nvSpPr>
        <p:spPr>
          <a:xfrm>
            <a:off x="7838694" y="2194560"/>
            <a:ext cx="260604" cy="260604"/>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1" name="Google Shape;241;p17"/>
          <p:cNvSpPr txBox="1"/>
          <p:nvPr/>
        </p:nvSpPr>
        <p:spPr>
          <a:xfrm>
            <a:off x="7838694" y="2194560"/>
            <a:ext cx="260604" cy="2606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i="0" lang="en" sz="900" u="none" cap="none" strike="noStrike">
                <a:solidFill>
                  <a:srgbClr val="FFFFFF"/>
                </a:solidFill>
                <a:latin typeface="Arial"/>
                <a:ea typeface="Arial"/>
                <a:cs typeface="Arial"/>
                <a:sym typeface="Arial"/>
              </a:rPr>
              <a:t>7</a:t>
            </a:r>
            <a:endParaRPr b="0" i="0" sz="900" u="none" cap="none" strike="noStrike">
              <a:solidFill>
                <a:schemeClr val="dk1"/>
              </a:solidFill>
              <a:latin typeface="Calibri"/>
              <a:ea typeface="Calibri"/>
              <a:cs typeface="Calibri"/>
              <a:sym typeface="Calibri"/>
            </a:endParaRPr>
          </a:p>
        </p:txBody>
      </p:sp>
      <p:sp>
        <p:nvSpPr>
          <p:cNvPr id="242" name="Google Shape;242;p17"/>
          <p:cNvSpPr/>
          <p:nvPr/>
        </p:nvSpPr>
        <p:spPr>
          <a:xfrm>
            <a:off x="8414766" y="2215134"/>
            <a:ext cx="301752" cy="150876"/>
          </a:xfrm>
          <a:prstGeom prst="roundRect">
            <a:avLst>
              <a:gd fmla="val 50000" name="adj"/>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3" name="Google Shape;243;p17"/>
          <p:cNvSpPr txBox="1"/>
          <p:nvPr/>
        </p:nvSpPr>
        <p:spPr>
          <a:xfrm>
            <a:off x="8414766" y="2215134"/>
            <a:ext cx="301752"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
              <a:buFont typeface="Calibri"/>
              <a:buNone/>
            </a:pPr>
            <a:r>
              <a:rPr b="1" i="0" lang="en" sz="600" u="none" cap="none" strike="noStrike">
                <a:solidFill>
                  <a:srgbClr val="FFFFFF"/>
                </a:solidFill>
                <a:latin typeface="Calibri"/>
                <a:ea typeface="Calibri"/>
                <a:cs typeface="Calibri"/>
                <a:sym typeface="Calibri"/>
              </a:rPr>
              <a:t>GAP</a:t>
            </a:r>
            <a:endParaRPr b="0" i="0" sz="600" u="none" cap="none" strike="noStrike">
              <a:solidFill>
                <a:schemeClr val="dk1"/>
              </a:solidFill>
              <a:latin typeface="Calibri"/>
              <a:ea typeface="Calibri"/>
              <a:cs typeface="Calibri"/>
              <a:sym typeface="Calibri"/>
            </a:endParaRPr>
          </a:p>
        </p:txBody>
      </p:sp>
      <p:sp>
        <p:nvSpPr>
          <p:cNvPr id="244" name="Google Shape;244;p17"/>
          <p:cNvSpPr txBox="1"/>
          <p:nvPr/>
        </p:nvSpPr>
        <p:spPr>
          <a:xfrm>
            <a:off x="7838694" y="2537460"/>
            <a:ext cx="877824" cy="493776"/>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0F2B5B"/>
              </a:buClr>
              <a:buSzPts val="900"/>
              <a:buFont typeface="Arial"/>
              <a:buNone/>
            </a:pPr>
            <a:r>
              <a:rPr b="1" i="0" lang="en" sz="900" u="none" cap="none" strike="noStrike">
                <a:solidFill>
                  <a:srgbClr val="0F2B5B"/>
                </a:solidFill>
                <a:latin typeface="Arial"/>
                <a:ea typeface="Arial"/>
                <a:cs typeface="Arial"/>
                <a:sym typeface="Arial"/>
              </a:rPr>
              <a:t>Parking </a:t>
            </a:r>
            <a:r>
              <a:rPr b="1" lang="en" sz="900">
                <a:solidFill>
                  <a:srgbClr val="0F2B5B"/>
                </a:solidFill>
              </a:rPr>
              <a:t>or </a:t>
            </a:r>
            <a:r>
              <a:rPr b="1" i="0" lang="en" sz="900" u="none" cap="none" strike="noStrike">
                <a:solidFill>
                  <a:srgbClr val="0F2B5B"/>
                </a:solidFill>
                <a:latin typeface="Arial"/>
                <a:ea typeface="Arial"/>
                <a:cs typeface="Arial"/>
                <a:sym typeface="Arial"/>
              </a:rPr>
              <a:t>returning the vehicle</a:t>
            </a:r>
            <a:endParaRPr b="0" i="0" sz="900" u="none" cap="none" strike="noStrike">
              <a:solidFill>
                <a:schemeClr val="dk1"/>
              </a:solidFill>
              <a:latin typeface="Calibri"/>
              <a:ea typeface="Calibri"/>
              <a:cs typeface="Calibri"/>
              <a:sym typeface="Calibri"/>
            </a:endParaRPr>
          </a:p>
        </p:txBody>
      </p:sp>
      <p:sp>
        <p:nvSpPr>
          <p:cNvPr id="245" name="Google Shape;245;p17"/>
          <p:cNvSpPr txBox="1"/>
          <p:nvPr/>
        </p:nvSpPr>
        <p:spPr>
          <a:xfrm>
            <a:off x="7838694" y="3113532"/>
            <a:ext cx="918972" cy="137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F96"/>
              </a:buClr>
              <a:buSzPts val="500"/>
              <a:buFont typeface="Arial"/>
              <a:buNone/>
            </a:pPr>
            <a:r>
              <a:rPr b="1" i="0" lang="en" sz="500" u="none" cap="none" strike="noStrike">
                <a:solidFill>
                  <a:srgbClr val="6E7F96"/>
                </a:solidFill>
                <a:latin typeface="Arial"/>
                <a:ea typeface="Arial"/>
                <a:cs typeface="Arial"/>
                <a:sym typeface="Arial"/>
              </a:rPr>
              <a:t>IMPORTANCE</a:t>
            </a:r>
            <a:endParaRPr b="0" i="0" sz="500" u="none" cap="none" strike="noStrike">
              <a:solidFill>
                <a:schemeClr val="dk1"/>
              </a:solidFill>
              <a:latin typeface="Calibri"/>
              <a:ea typeface="Calibri"/>
              <a:cs typeface="Calibri"/>
              <a:sym typeface="Calibri"/>
            </a:endParaRPr>
          </a:p>
        </p:txBody>
      </p:sp>
      <p:sp>
        <p:nvSpPr>
          <p:cNvPr id="246" name="Google Shape;246;p17"/>
          <p:cNvSpPr/>
          <p:nvPr/>
        </p:nvSpPr>
        <p:spPr>
          <a:xfrm>
            <a:off x="784555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7" name="Google Shape;247;p17"/>
          <p:cNvSpPr/>
          <p:nvPr/>
        </p:nvSpPr>
        <p:spPr>
          <a:xfrm>
            <a:off x="801700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8" name="Google Shape;248;p17"/>
          <p:cNvSpPr/>
          <p:nvPr/>
        </p:nvSpPr>
        <p:spPr>
          <a:xfrm>
            <a:off x="818845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9" name="Google Shape;249;p17"/>
          <p:cNvSpPr/>
          <p:nvPr/>
        </p:nvSpPr>
        <p:spPr>
          <a:xfrm>
            <a:off x="8359902" y="3278124"/>
            <a:ext cx="109728" cy="109728"/>
          </a:xfrm>
          <a:prstGeom prst="ellipse">
            <a:avLst/>
          </a:prstGeom>
          <a:solidFill>
            <a:srgbClr val="0F2B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0" name="Google Shape;250;p17"/>
          <p:cNvSpPr/>
          <p:nvPr/>
        </p:nvSpPr>
        <p:spPr>
          <a:xfrm>
            <a:off x="8531352" y="327812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1" name="Google Shape;251;p17"/>
          <p:cNvSpPr txBox="1"/>
          <p:nvPr/>
        </p:nvSpPr>
        <p:spPr>
          <a:xfrm>
            <a:off x="7838694" y="3525012"/>
            <a:ext cx="918972" cy="137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F96"/>
              </a:buClr>
              <a:buSzPts val="500"/>
              <a:buFont typeface="Arial"/>
              <a:buNone/>
            </a:pPr>
            <a:r>
              <a:rPr b="1" i="0" lang="en" sz="500" u="none" cap="none" strike="noStrike">
                <a:solidFill>
                  <a:srgbClr val="6E7F96"/>
                </a:solidFill>
                <a:latin typeface="Arial"/>
                <a:ea typeface="Arial"/>
                <a:cs typeface="Arial"/>
                <a:sym typeface="Arial"/>
              </a:rPr>
              <a:t>SATISFACTION</a:t>
            </a:r>
            <a:endParaRPr b="0" i="0" sz="500" u="none" cap="none" strike="noStrike">
              <a:solidFill>
                <a:schemeClr val="dk1"/>
              </a:solidFill>
              <a:latin typeface="Calibri"/>
              <a:ea typeface="Calibri"/>
              <a:cs typeface="Calibri"/>
              <a:sym typeface="Calibri"/>
            </a:endParaRPr>
          </a:p>
        </p:txBody>
      </p:sp>
      <p:sp>
        <p:nvSpPr>
          <p:cNvPr id="252" name="Google Shape;252;p17"/>
          <p:cNvSpPr/>
          <p:nvPr/>
        </p:nvSpPr>
        <p:spPr>
          <a:xfrm>
            <a:off x="7845552" y="3689604"/>
            <a:ext cx="109728" cy="109728"/>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3" name="Google Shape;253;p17"/>
          <p:cNvSpPr/>
          <p:nvPr/>
        </p:nvSpPr>
        <p:spPr>
          <a:xfrm>
            <a:off x="8017002" y="3689604"/>
            <a:ext cx="109728" cy="109728"/>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4" name="Google Shape;254;p17"/>
          <p:cNvSpPr/>
          <p:nvPr/>
        </p:nvSpPr>
        <p:spPr>
          <a:xfrm>
            <a:off x="8188452" y="368960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5" name="Google Shape;255;p17"/>
          <p:cNvSpPr/>
          <p:nvPr/>
        </p:nvSpPr>
        <p:spPr>
          <a:xfrm>
            <a:off x="8359902" y="368960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6" name="Google Shape;256;p17"/>
          <p:cNvSpPr/>
          <p:nvPr/>
        </p:nvSpPr>
        <p:spPr>
          <a:xfrm>
            <a:off x="8531352" y="3689604"/>
            <a:ext cx="109728" cy="109728"/>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7" name="Google Shape;257;p17"/>
          <p:cNvSpPr/>
          <p:nvPr/>
        </p:nvSpPr>
        <p:spPr>
          <a:xfrm>
            <a:off x="308610" y="4183380"/>
            <a:ext cx="8524494" cy="397764"/>
          </a:xfrm>
          <a:prstGeom prst="roundRect">
            <a:avLst>
              <a:gd fmla="val 8621" name="adj"/>
            </a:avLst>
          </a:prstGeom>
          <a:solidFill>
            <a:srgbClr val="EAF2F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8" name="Google Shape;258;p17"/>
          <p:cNvSpPr/>
          <p:nvPr/>
        </p:nvSpPr>
        <p:spPr>
          <a:xfrm>
            <a:off x="466344" y="4279392"/>
            <a:ext cx="205740" cy="205740"/>
          </a:xfrm>
          <a:prstGeom prst="ellipse">
            <a:avLst/>
          </a:prstGeom>
          <a:solidFill>
            <a:srgbClr val="1367E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259" name="Google Shape;259;p17"/>
          <p:cNvPicPr preferRelativeResize="0"/>
          <p:nvPr/>
        </p:nvPicPr>
        <p:blipFill rotWithShape="1">
          <a:blip r:embed="rId3">
            <a:alphaModFix/>
          </a:blip>
          <a:srcRect b="0" l="0" r="0" t="0"/>
          <a:stretch/>
        </p:blipFill>
        <p:spPr>
          <a:xfrm>
            <a:off x="517779" y="4330827"/>
            <a:ext cx="102870" cy="102870"/>
          </a:xfrm>
          <a:prstGeom prst="rect">
            <a:avLst/>
          </a:prstGeom>
          <a:noFill/>
          <a:ln>
            <a:noFill/>
          </a:ln>
        </p:spPr>
      </p:pic>
      <p:sp>
        <p:nvSpPr>
          <p:cNvPr id="260" name="Google Shape;260;p17"/>
          <p:cNvSpPr txBox="1"/>
          <p:nvPr/>
        </p:nvSpPr>
        <p:spPr>
          <a:xfrm>
            <a:off x="768096" y="4183380"/>
            <a:ext cx="7955280" cy="3977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67E8"/>
              </a:buClr>
              <a:buSzPts val="1000"/>
              <a:buFont typeface="Arial"/>
              <a:buNone/>
            </a:pPr>
            <a:r>
              <a:rPr b="1" lang="en" sz="1000">
                <a:solidFill>
                  <a:srgbClr val="1367E8"/>
                </a:solidFill>
              </a:rPr>
              <a:t>Areas to Address</a:t>
            </a:r>
            <a:r>
              <a:rPr b="1" i="0" lang="en" sz="1000" u="none" cap="none" strike="noStrike">
                <a:solidFill>
                  <a:srgbClr val="1367E8"/>
                </a:solidFill>
                <a:latin typeface="Arial"/>
                <a:ea typeface="Arial"/>
                <a:cs typeface="Arial"/>
                <a:sym typeface="Arial"/>
              </a:rPr>
              <a:t>: </a:t>
            </a:r>
            <a:r>
              <a:rPr b="0" i="0" lang="en" sz="1000" u="none" cap="none" strike="noStrike">
                <a:solidFill>
                  <a:srgbClr val="0F2B5B"/>
                </a:solidFill>
                <a:latin typeface="Calibri"/>
                <a:ea typeface="Calibri"/>
                <a:cs typeface="Calibri"/>
                <a:sym typeface="Calibri"/>
              </a:rPr>
              <a:t>waiting for transport or in traffic, transferring</a:t>
            </a:r>
            <a:r>
              <a:rPr lang="en" sz="1000">
                <a:solidFill>
                  <a:srgbClr val="0F2B5B"/>
                </a:solidFill>
                <a:latin typeface="Calibri"/>
                <a:ea typeface="Calibri"/>
                <a:cs typeface="Calibri"/>
                <a:sym typeface="Calibri"/>
              </a:rPr>
              <a:t>, </a:t>
            </a:r>
            <a:r>
              <a:rPr b="0" i="0" lang="en" sz="1000" u="none" cap="none" strike="noStrike">
                <a:solidFill>
                  <a:srgbClr val="0F2B5B"/>
                </a:solidFill>
                <a:latin typeface="Calibri"/>
                <a:ea typeface="Calibri"/>
                <a:cs typeface="Calibri"/>
                <a:sym typeface="Calibri"/>
              </a:rPr>
              <a:t>and parking</a:t>
            </a:r>
            <a:endParaRPr b="0" i="0" sz="1000" u="none" cap="none" strike="noStrike">
              <a:solidFill>
                <a:schemeClr val="dk1"/>
              </a:solidFill>
              <a:latin typeface="Calibri"/>
              <a:ea typeface="Calibri"/>
              <a:cs typeface="Calibri"/>
              <a:sym typeface="Calibri"/>
            </a:endParaRPr>
          </a:p>
        </p:txBody>
      </p:sp>
      <p:sp>
        <p:nvSpPr>
          <p:cNvPr id="261" name="Google Shape;261;p17"/>
          <p:cNvSpPr txBox="1"/>
          <p:nvPr/>
        </p:nvSpPr>
        <p:spPr>
          <a:xfrm>
            <a:off x="8743950" y="4834890"/>
            <a:ext cx="240030" cy="2057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7F96"/>
              </a:buClr>
              <a:buSzPts val="800"/>
              <a:buFont typeface="Calibri"/>
              <a:buNone/>
            </a:pPr>
            <a:r>
              <a:rPr b="0" i="0" lang="en" sz="800" u="none" cap="none" strike="noStrike">
                <a:solidFill>
                  <a:srgbClr val="6E7F96"/>
                </a:solidFill>
                <a:latin typeface="Calibri"/>
                <a:ea typeface="Calibri"/>
                <a:cs typeface="Calibri"/>
                <a:sym typeface="Calibri"/>
              </a:rPr>
              <a:t>3</a:t>
            </a:r>
            <a:endParaRPr b="0" i="0" sz="800" u="none" cap="none" strike="noStrike">
              <a:solidFill>
                <a:schemeClr val="dk1"/>
              </a:solidFill>
              <a:latin typeface="Calibri"/>
              <a:ea typeface="Calibri"/>
              <a:cs typeface="Calibri"/>
              <a:sym typeface="Calibri"/>
            </a:endParaRPr>
          </a:p>
        </p:txBody>
      </p:sp>
      <p:sp>
        <p:nvSpPr>
          <p:cNvPr id="262" name="Google Shape;262;p17"/>
          <p:cNvSpPr/>
          <p:nvPr/>
        </p:nvSpPr>
        <p:spPr>
          <a:xfrm>
            <a:off x="1844765" y="3689567"/>
            <a:ext cx="109800" cy="109800"/>
          </a:xfrm>
          <a:prstGeom prst="ellipse">
            <a:avLst/>
          </a:prstGeom>
          <a:solidFill>
            <a:srgbClr val="DCE6F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18"/>
          <p:cNvSpPr/>
          <p:nvPr/>
        </p:nvSpPr>
        <p:spPr>
          <a:xfrm>
            <a:off x="308610" y="205740"/>
            <a:ext cx="288036" cy="41148"/>
          </a:xfrm>
          <a:prstGeom prst="rect">
            <a:avLst/>
          </a:prstGeom>
          <a:solidFill>
            <a:srgbClr val="1367E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8"/>
          <p:cNvSpPr/>
          <p:nvPr/>
        </p:nvSpPr>
        <p:spPr>
          <a:xfrm>
            <a:off x="630936" y="205740"/>
            <a:ext cx="150876" cy="41148"/>
          </a:xfrm>
          <a:prstGeom prst="rect">
            <a:avLst/>
          </a:prstGeom>
          <a:solidFill>
            <a:srgbClr val="AFC9E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18"/>
          <p:cNvSpPr txBox="1"/>
          <p:nvPr/>
        </p:nvSpPr>
        <p:spPr>
          <a:xfrm>
            <a:off x="857250" y="109728"/>
            <a:ext cx="49377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B5B"/>
              </a:buClr>
              <a:buSzPts val="700"/>
              <a:buFont typeface="Arial"/>
              <a:buNone/>
            </a:pPr>
            <a:r>
              <a:rPr b="1" i="0" lang="en" sz="700" u="none" cap="none" strike="noStrike">
                <a:solidFill>
                  <a:srgbClr val="0F2B5B"/>
                </a:solidFill>
                <a:latin typeface="Arial"/>
                <a:ea typeface="Arial"/>
                <a:cs typeface="Arial"/>
                <a:sym typeface="Arial"/>
              </a:rPr>
              <a:t>INNOVATION &amp; ENTREPRENEURSHIP</a:t>
            </a:r>
            <a:endParaRPr b="0" i="0" sz="700" u="none" cap="none" strike="noStrike">
              <a:solidFill>
                <a:schemeClr val="dk1"/>
              </a:solidFill>
              <a:latin typeface="Calibri"/>
              <a:ea typeface="Calibri"/>
              <a:cs typeface="Calibri"/>
              <a:sym typeface="Calibri"/>
            </a:endParaRPr>
          </a:p>
        </p:txBody>
      </p:sp>
      <p:sp>
        <p:nvSpPr>
          <p:cNvPr id="271" name="Google Shape;271;p18"/>
          <p:cNvSpPr txBox="1"/>
          <p:nvPr/>
        </p:nvSpPr>
        <p:spPr>
          <a:xfrm>
            <a:off x="308610" y="425196"/>
            <a:ext cx="4800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B5B"/>
              </a:buClr>
              <a:buSzPts val="3200"/>
              <a:buFont typeface="Arial"/>
              <a:buNone/>
            </a:pPr>
            <a:r>
              <a:rPr b="1" i="0" lang="en" sz="3200" u="none" cap="none" strike="noStrike">
                <a:solidFill>
                  <a:srgbClr val="0F2B5B"/>
                </a:solidFill>
                <a:latin typeface="Arial"/>
                <a:ea typeface="Arial"/>
                <a:cs typeface="Arial"/>
                <a:sym typeface="Arial"/>
              </a:rPr>
              <a:t>Opportunities</a:t>
            </a:r>
            <a:endParaRPr b="0" i="0" sz="3200" u="none" cap="none" strike="noStrike">
              <a:solidFill>
                <a:schemeClr val="dk1"/>
              </a:solidFill>
              <a:latin typeface="Calibri"/>
              <a:ea typeface="Calibri"/>
              <a:cs typeface="Calibri"/>
              <a:sym typeface="Calibri"/>
            </a:endParaRPr>
          </a:p>
        </p:txBody>
      </p:sp>
      <p:sp>
        <p:nvSpPr>
          <p:cNvPr id="272" name="Google Shape;272;p18"/>
          <p:cNvSpPr txBox="1"/>
          <p:nvPr/>
        </p:nvSpPr>
        <p:spPr>
          <a:xfrm>
            <a:off x="322326" y="906404"/>
            <a:ext cx="6172200" cy="24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B5B"/>
              </a:buClr>
              <a:buSzPts val="1300"/>
              <a:buFont typeface="Calibri"/>
              <a:buNone/>
            </a:pPr>
            <a:r>
              <a:rPr b="0" i="0" lang="en" sz="1300" u="none" cap="none" strike="noStrike">
                <a:solidFill>
                  <a:srgbClr val="0F2B5B"/>
                </a:solidFill>
                <a:latin typeface="Calibri"/>
                <a:ea typeface="Calibri"/>
                <a:cs typeface="Calibri"/>
                <a:sym typeface="Calibri"/>
              </a:rPr>
              <a:t>Problems current navigation tools don’t address, each tied to a step on the previous slide.</a:t>
            </a:r>
            <a:endParaRPr b="0" i="0" sz="1300" u="none" cap="none" strike="noStrike">
              <a:solidFill>
                <a:srgbClr val="0F2B5B"/>
              </a:solidFill>
              <a:latin typeface="Calibri"/>
              <a:ea typeface="Calibri"/>
              <a:cs typeface="Calibri"/>
              <a:sym typeface="Calibri"/>
            </a:endParaRPr>
          </a:p>
          <a:p>
            <a:pPr indent="0" lvl="0" marL="0" marR="0" rtl="0" algn="l">
              <a:lnSpc>
                <a:spcPct val="100000"/>
              </a:lnSpc>
              <a:spcBef>
                <a:spcPts val="0"/>
              </a:spcBef>
              <a:spcAft>
                <a:spcPts val="0"/>
              </a:spcAft>
              <a:buClr>
                <a:srgbClr val="0F2B5B"/>
              </a:buClr>
              <a:buSzPts val="1300"/>
              <a:buFont typeface="Calibri"/>
              <a:buNone/>
            </a:pPr>
            <a:r>
              <a:t/>
            </a:r>
            <a:endParaRPr b="0" i="0" sz="1300" u="none" cap="none" strike="noStrike">
              <a:solidFill>
                <a:srgbClr val="0F2B5B"/>
              </a:solidFill>
              <a:latin typeface="Calibri"/>
              <a:ea typeface="Calibri"/>
              <a:cs typeface="Calibri"/>
              <a:sym typeface="Calibri"/>
            </a:endParaRPr>
          </a:p>
        </p:txBody>
      </p:sp>
      <p:sp>
        <p:nvSpPr>
          <p:cNvPr id="273" name="Google Shape;273;p18"/>
          <p:cNvSpPr/>
          <p:nvPr/>
        </p:nvSpPr>
        <p:spPr>
          <a:xfrm>
            <a:off x="308610" y="1198730"/>
            <a:ext cx="4183500" cy="1611600"/>
          </a:xfrm>
          <a:prstGeom prst="roundRect">
            <a:avLst>
              <a:gd fmla="val 1702" name="adj"/>
            </a:avLst>
          </a:prstGeom>
          <a:solidFill>
            <a:srgbClr val="FFFFFF"/>
          </a:solidFill>
          <a:ln cap="flat" cmpd="sng" w="12700">
            <a:solidFill>
              <a:srgbClr val="D8E6FA"/>
            </a:solidFill>
            <a:prstDash val="solid"/>
            <a:round/>
            <a:headEnd len="sm" w="sm" type="none"/>
            <a:tailEnd len="sm" w="sm" type="none"/>
          </a:ln>
          <a:effectLst>
            <a:outerShdw blurRad="101600" rotWithShape="0" algn="bl" dir="5400000" dist="12700">
              <a:srgbClr val="BBCDE6">
                <a:alpha val="25098"/>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18"/>
          <p:cNvSpPr/>
          <p:nvPr/>
        </p:nvSpPr>
        <p:spPr>
          <a:xfrm>
            <a:off x="445770" y="1610210"/>
            <a:ext cx="754380" cy="754380"/>
          </a:xfrm>
          <a:prstGeom prst="roundRect">
            <a:avLst>
              <a:gd fmla="val 7273" name="adj"/>
            </a:avLst>
          </a:prstGeom>
          <a:solidFill>
            <a:srgbClr val="E8F1FE"/>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75" name="Google Shape;275;p18"/>
          <p:cNvPicPr preferRelativeResize="0"/>
          <p:nvPr/>
        </p:nvPicPr>
        <p:blipFill rotWithShape="1">
          <a:blip r:embed="rId3">
            <a:alphaModFix/>
          </a:blip>
          <a:srcRect b="0" l="0" r="0" t="0"/>
          <a:stretch/>
        </p:blipFill>
        <p:spPr>
          <a:xfrm>
            <a:off x="634365" y="1798805"/>
            <a:ext cx="377190" cy="377190"/>
          </a:xfrm>
          <a:prstGeom prst="rect">
            <a:avLst/>
          </a:prstGeom>
          <a:noFill/>
          <a:ln>
            <a:noFill/>
          </a:ln>
        </p:spPr>
      </p:pic>
      <p:sp>
        <p:nvSpPr>
          <p:cNvPr id="276" name="Google Shape;276;p18"/>
          <p:cNvSpPr/>
          <p:nvPr/>
        </p:nvSpPr>
        <p:spPr>
          <a:xfrm>
            <a:off x="2613020" y="1349606"/>
            <a:ext cx="403250" cy="178308"/>
          </a:xfrm>
          <a:prstGeom prst="roundRect">
            <a:avLst>
              <a:gd fmla="val 50000" name="adj"/>
            </a:avLst>
          </a:prstGeom>
          <a:solidFill>
            <a:srgbClr val="1367E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8"/>
          <p:cNvSpPr txBox="1"/>
          <p:nvPr/>
        </p:nvSpPr>
        <p:spPr>
          <a:xfrm>
            <a:off x="2613020" y="1349606"/>
            <a:ext cx="403250" cy="1783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GAP</a:t>
            </a:r>
            <a:endParaRPr b="0" i="0" sz="700" u="none" cap="none" strike="noStrike">
              <a:solidFill>
                <a:schemeClr val="dk1"/>
              </a:solidFill>
              <a:latin typeface="Calibri"/>
              <a:ea typeface="Calibri"/>
              <a:cs typeface="Calibri"/>
              <a:sym typeface="Calibri"/>
            </a:endParaRPr>
          </a:p>
        </p:txBody>
      </p:sp>
      <p:sp>
        <p:nvSpPr>
          <p:cNvPr id="278" name="Google Shape;278;p18"/>
          <p:cNvSpPr/>
          <p:nvPr/>
        </p:nvSpPr>
        <p:spPr>
          <a:xfrm>
            <a:off x="1303020" y="1349606"/>
            <a:ext cx="1250000" cy="178308"/>
          </a:xfrm>
          <a:prstGeom prst="roundRect">
            <a:avLst>
              <a:gd fmla="val 50000" name="adj"/>
            </a:avLst>
          </a:prstGeom>
          <a:solidFill>
            <a:srgbClr val="DCE9F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8"/>
          <p:cNvSpPr txBox="1"/>
          <p:nvPr/>
        </p:nvSpPr>
        <p:spPr>
          <a:xfrm>
            <a:off x="1303020" y="1349606"/>
            <a:ext cx="1250000" cy="1783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B5B"/>
              </a:buClr>
              <a:buSzPts val="700"/>
              <a:buFont typeface="Calibri"/>
              <a:buNone/>
            </a:pPr>
            <a:r>
              <a:rPr b="1" i="0" lang="en" sz="700" u="none" cap="none" strike="noStrike">
                <a:solidFill>
                  <a:srgbClr val="0F2B5B"/>
                </a:solidFill>
                <a:latin typeface="Calibri"/>
                <a:ea typeface="Calibri"/>
                <a:cs typeface="Calibri"/>
                <a:sym typeface="Calibri"/>
              </a:rPr>
              <a:t>Acts on: Park</a:t>
            </a:r>
            <a:endParaRPr b="0" i="0" sz="700" u="none" cap="none" strike="noStrike">
              <a:solidFill>
                <a:schemeClr val="dk1"/>
              </a:solidFill>
              <a:latin typeface="Calibri"/>
              <a:ea typeface="Calibri"/>
              <a:cs typeface="Calibri"/>
              <a:sym typeface="Calibri"/>
            </a:endParaRPr>
          </a:p>
        </p:txBody>
      </p:sp>
      <p:sp>
        <p:nvSpPr>
          <p:cNvPr id="280" name="Google Shape;280;p18"/>
          <p:cNvSpPr txBox="1"/>
          <p:nvPr/>
        </p:nvSpPr>
        <p:spPr>
          <a:xfrm>
            <a:off x="1303020" y="1575920"/>
            <a:ext cx="3038094" cy="42519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F2B5B"/>
              </a:buClr>
              <a:buSzPts val="1200"/>
              <a:buFont typeface="Arial"/>
              <a:buNone/>
            </a:pPr>
            <a:r>
              <a:rPr b="1" i="0" lang="en" sz="1200" u="none" cap="none" strike="noStrike">
                <a:solidFill>
                  <a:srgbClr val="0F2B5B"/>
                </a:solidFill>
                <a:latin typeface="Arial"/>
                <a:ea typeface="Arial"/>
                <a:cs typeface="Arial"/>
                <a:sym typeface="Arial"/>
              </a:rPr>
              <a:t>Know the Curb Before You Arrive</a:t>
            </a:r>
            <a:endParaRPr b="0" i="0" sz="1200" u="none" cap="none" strike="noStrike">
              <a:solidFill>
                <a:schemeClr val="dk1"/>
              </a:solidFill>
              <a:latin typeface="Calibri"/>
              <a:ea typeface="Calibri"/>
              <a:cs typeface="Calibri"/>
              <a:sym typeface="Calibri"/>
            </a:endParaRPr>
          </a:p>
        </p:txBody>
      </p:sp>
      <p:sp>
        <p:nvSpPr>
          <p:cNvPr id="281" name="Google Shape;281;p18"/>
          <p:cNvSpPr txBox="1"/>
          <p:nvPr/>
        </p:nvSpPr>
        <p:spPr>
          <a:xfrm>
            <a:off x="1303020" y="2021690"/>
            <a:ext cx="685800" cy="15087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367E8"/>
              </a:buClr>
              <a:buSzPts val="800"/>
              <a:buFont typeface="Calibri"/>
              <a:buNone/>
            </a:pPr>
            <a:r>
              <a:rPr b="1" i="0" lang="en" sz="800" u="none" cap="none" strike="noStrike">
                <a:solidFill>
                  <a:srgbClr val="1367E8"/>
                </a:solidFill>
                <a:latin typeface="Calibri"/>
                <a:ea typeface="Calibri"/>
                <a:cs typeface="Calibri"/>
                <a:sym typeface="Calibri"/>
              </a:rPr>
              <a:t>Problem:</a:t>
            </a:r>
            <a:endParaRPr b="0" i="0" sz="800" u="none" cap="none" strike="noStrike">
              <a:solidFill>
                <a:schemeClr val="dk1"/>
              </a:solidFill>
              <a:latin typeface="Calibri"/>
              <a:ea typeface="Calibri"/>
              <a:cs typeface="Calibri"/>
              <a:sym typeface="Calibri"/>
            </a:endParaRPr>
          </a:p>
        </p:txBody>
      </p:sp>
      <p:sp>
        <p:nvSpPr>
          <p:cNvPr id="282" name="Google Shape;282;p18"/>
          <p:cNvSpPr/>
          <p:nvPr/>
        </p:nvSpPr>
        <p:spPr>
          <a:xfrm>
            <a:off x="2043684" y="2021690"/>
            <a:ext cx="13716" cy="356616"/>
          </a:xfrm>
          <a:prstGeom prst="rect">
            <a:avLst/>
          </a:prstGeom>
          <a:solidFill>
            <a:srgbClr val="D8E6F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8"/>
          <p:cNvSpPr txBox="1"/>
          <p:nvPr/>
        </p:nvSpPr>
        <p:spPr>
          <a:xfrm>
            <a:off x="2112264" y="2007974"/>
            <a:ext cx="2228850" cy="384048"/>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3A4A5F"/>
              </a:buClr>
              <a:buSzPts val="800"/>
              <a:buFont typeface="Calibri"/>
              <a:buNone/>
            </a:pPr>
            <a:r>
              <a:rPr b="0" i="0" lang="en" sz="800" u="none" cap="none" strike="noStrike">
                <a:solidFill>
                  <a:srgbClr val="3A4A5F"/>
                </a:solidFill>
                <a:latin typeface="Calibri"/>
                <a:ea typeface="Calibri"/>
                <a:cs typeface="Calibri"/>
                <a:sym typeface="Calibri"/>
              </a:rPr>
              <a:t>Navigation ends at the address, not at a legal place to stop. Drivers find out on arrival.</a:t>
            </a:r>
            <a:endParaRPr b="0" i="0" sz="800" u="none" cap="none" strike="noStrike">
              <a:solidFill>
                <a:schemeClr val="dk1"/>
              </a:solidFill>
              <a:latin typeface="Calibri"/>
              <a:ea typeface="Calibri"/>
              <a:cs typeface="Calibri"/>
              <a:sym typeface="Calibri"/>
            </a:endParaRPr>
          </a:p>
        </p:txBody>
      </p:sp>
      <p:sp>
        <p:nvSpPr>
          <p:cNvPr id="284" name="Google Shape;284;p18"/>
          <p:cNvSpPr txBox="1"/>
          <p:nvPr/>
        </p:nvSpPr>
        <p:spPr>
          <a:xfrm>
            <a:off x="1303020" y="2433170"/>
            <a:ext cx="685800" cy="15087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367E8"/>
              </a:buClr>
              <a:buSzPts val="800"/>
              <a:buFont typeface="Calibri"/>
              <a:buNone/>
            </a:pPr>
            <a:r>
              <a:rPr b="1" i="0" lang="en" sz="800" u="none" cap="none" strike="noStrike">
                <a:solidFill>
                  <a:srgbClr val="1367E8"/>
                </a:solidFill>
                <a:latin typeface="Calibri"/>
                <a:ea typeface="Calibri"/>
                <a:cs typeface="Calibri"/>
                <a:sym typeface="Calibri"/>
              </a:rPr>
              <a:t>Why it matters:</a:t>
            </a:r>
            <a:endParaRPr b="0" i="0" sz="800" u="none" cap="none" strike="noStrike">
              <a:solidFill>
                <a:schemeClr val="dk1"/>
              </a:solidFill>
              <a:latin typeface="Calibri"/>
              <a:ea typeface="Calibri"/>
              <a:cs typeface="Calibri"/>
              <a:sym typeface="Calibri"/>
            </a:endParaRPr>
          </a:p>
        </p:txBody>
      </p:sp>
      <p:sp>
        <p:nvSpPr>
          <p:cNvPr id="285" name="Google Shape;285;p18"/>
          <p:cNvSpPr/>
          <p:nvPr/>
        </p:nvSpPr>
        <p:spPr>
          <a:xfrm>
            <a:off x="2043684" y="2433170"/>
            <a:ext cx="13716" cy="274320"/>
          </a:xfrm>
          <a:prstGeom prst="rect">
            <a:avLst/>
          </a:prstGeom>
          <a:solidFill>
            <a:srgbClr val="D8E6F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8"/>
          <p:cNvSpPr txBox="1"/>
          <p:nvPr/>
        </p:nvSpPr>
        <p:spPr>
          <a:xfrm>
            <a:off x="2112264" y="2419454"/>
            <a:ext cx="2228850" cy="356616"/>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3A4A5F"/>
              </a:buClr>
              <a:buSzPts val="800"/>
              <a:buFont typeface="Calibri"/>
              <a:buNone/>
            </a:pPr>
            <a:r>
              <a:rPr b="0" i="0" lang="en" sz="800" u="none" cap="none" strike="noStrike">
                <a:solidFill>
                  <a:srgbClr val="3A4A5F"/>
                </a:solidFill>
                <a:latin typeface="Calibri"/>
                <a:ea typeface="Calibri"/>
                <a:cs typeface="Calibri"/>
                <a:sym typeface="Calibri"/>
              </a:rPr>
              <a:t>When San Francisco priced curbs by demand, average parking search time fell 43%.</a:t>
            </a:r>
            <a:endParaRPr b="0" i="0" sz="800" u="none" cap="none" strike="noStrike">
              <a:solidFill>
                <a:schemeClr val="dk1"/>
              </a:solidFill>
              <a:latin typeface="Calibri"/>
              <a:ea typeface="Calibri"/>
              <a:cs typeface="Calibri"/>
              <a:sym typeface="Calibri"/>
            </a:endParaRPr>
          </a:p>
        </p:txBody>
      </p:sp>
      <p:sp>
        <p:nvSpPr>
          <p:cNvPr id="287" name="Google Shape;287;p18"/>
          <p:cNvSpPr/>
          <p:nvPr/>
        </p:nvSpPr>
        <p:spPr>
          <a:xfrm>
            <a:off x="4697730" y="1198730"/>
            <a:ext cx="4183380" cy="1611630"/>
          </a:xfrm>
          <a:prstGeom prst="roundRect">
            <a:avLst>
              <a:gd fmla="val 1702" name="adj"/>
            </a:avLst>
          </a:prstGeom>
          <a:solidFill>
            <a:srgbClr val="FFFFFF"/>
          </a:solidFill>
          <a:ln cap="flat" cmpd="sng" w="12700">
            <a:solidFill>
              <a:srgbClr val="D8E6FA"/>
            </a:solidFill>
            <a:prstDash val="solid"/>
            <a:round/>
            <a:headEnd len="sm" w="sm" type="none"/>
            <a:tailEnd len="sm" w="sm" type="none"/>
          </a:ln>
          <a:effectLst>
            <a:outerShdw blurRad="101600" rotWithShape="0" algn="bl" dir="5400000" dist="12700">
              <a:srgbClr val="BBCDE6">
                <a:alpha val="25098"/>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8"/>
          <p:cNvSpPr/>
          <p:nvPr/>
        </p:nvSpPr>
        <p:spPr>
          <a:xfrm>
            <a:off x="4834890" y="1610210"/>
            <a:ext cx="754380" cy="754380"/>
          </a:xfrm>
          <a:prstGeom prst="roundRect">
            <a:avLst>
              <a:gd fmla="val 7273" name="adj"/>
            </a:avLst>
          </a:prstGeom>
          <a:solidFill>
            <a:srgbClr val="E8F1FE"/>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89" name="Google Shape;289;p18"/>
          <p:cNvPicPr preferRelativeResize="0"/>
          <p:nvPr/>
        </p:nvPicPr>
        <p:blipFill rotWithShape="1">
          <a:blip r:embed="rId4">
            <a:alphaModFix/>
          </a:blip>
          <a:srcRect b="0" l="0" r="0" t="0"/>
          <a:stretch/>
        </p:blipFill>
        <p:spPr>
          <a:xfrm>
            <a:off x="5023485" y="1798805"/>
            <a:ext cx="377190" cy="377190"/>
          </a:xfrm>
          <a:prstGeom prst="rect">
            <a:avLst/>
          </a:prstGeom>
          <a:noFill/>
          <a:ln>
            <a:noFill/>
          </a:ln>
        </p:spPr>
      </p:pic>
      <p:sp>
        <p:nvSpPr>
          <p:cNvPr id="290" name="Google Shape;290;p18"/>
          <p:cNvSpPr/>
          <p:nvPr/>
        </p:nvSpPr>
        <p:spPr>
          <a:xfrm>
            <a:off x="7002140" y="1349606"/>
            <a:ext cx="403250" cy="178308"/>
          </a:xfrm>
          <a:prstGeom prst="roundRect">
            <a:avLst>
              <a:gd fmla="val 50000" name="adj"/>
            </a:avLst>
          </a:prstGeom>
          <a:solidFill>
            <a:srgbClr val="1367E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8"/>
          <p:cNvSpPr txBox="1"/>
          <p:nvPr/>
        </p:nvSpPr>
        <p:spPr>
          <a:xfrm>
            <a:off x="7002140" y="1349606"/>
            <a:ext cx="403250" cy="1783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GAP</a:t>
            </a:r>
            <a:endParaRPr b="0" i="0" sz="700" u="none" cap="none" strike="noStrike">
              <a:solidFill>
                <a:schemeClr val="dk1"/>
              </a:solidFill>
              <a:latin typeface="Calibri"/>
              <a:ea typeface="Calibri"/>
              <a:cs typeface="Calibri"/>
              <a:sym typeface="Calibri"/>
            </a:endParaRPr>
          </a:p>
        </p:txBody>
      </p:sp>
      <p:sp>
        <p:nvSpPr>
          <p:cNvPr id="292" name="Google Shape;292;p18"/>
          <p:cNvSpPr/>
          <p:nvPr/>
        </p:nvSpPr>
        <p:spPr>
          <a:xfrm>
            <a:off x="5692140" y="1349606"/>
            <a:ext cx="1250000" cy="178308"/>
          </a:xfrm>
          <a:prstGeom prst="roundRect">
            <a:avLst>
              <a:gd fmla="val 50000" name="adj"/>
            </a:avLst>
          </a:prstGeom>
          <a:solidFill>
            <a:srgbClr val="DCE9F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8"/>
          <p:cNvSpPr txBox="1"/>
          <p:nvPr/>
        </p:nvSpPr>
        <p:spPr>
          <a:xfrm>
            <a:off x="5692140" y="1349606"/>
            <a:ext cx="1250000" cy="1783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B5B"/>
              </a:buClr>
              <a:buSzPts val="700"/>
              <a:buFont typeface="Calibri"/>
              <a:buNone/>
            </a:pPr>
            <a:r>
              <a:rPr b="1" i="0" lang="en" sz="700" u="none" cap="none" strike="noStrike">
                <a:solidFill>
                  <a:srgbClr val="0F2B5B"/>
                </a:solidFill>
                <a:latin typeface="Calibri"/>
                <a:ea typeface="Calibri"/>
                <a:cs typeface="Calibri"/>
                <a:sym typeface="Calibri"/>
              </a:rPr>
              <a:t>Acts on: Wait + Transfer</a:t>
            </a:r>
            <a:endParaRPr b="0" i="0" sz="700" u="none" cap="none" strike="noStrike">
              <a:solidFill>
                <a:schemeClr val="dk1"/>
              </a:solidFill>
              <a:latin typeface="Calibri"/>
              <a:ea typeface="Calibri"/>
              <a:cs typeface="Calibri"/>
              <a:sym typeface="Calibri"/>
            </a:endParaRPr>
          </a:p>
        </p:txBody>
      </p:sp>
      <p:sp>
        <p:nvSpPr>
          <p:cNvPr id="294" name="Google Shape;294;p18"/>
          <p:cNvSpPr txBox="1"/>
          <p:nvPr/>
        </p:nvSpPr>
        <p:spPr>
          <a:xfrm>
            <a:off x="5692140" y="1575920"/>
            <a:ext cx="3038094" cy="42519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F2B5B"/>
              </a:buClr>
              <a:buSzPts val="1200"/>
              <a:buFont typeface="Arial"/>
              <a:buNone/>
            </a:pPr>
            <a:r>
              <a:rPr b="1" i="0" lang="en" sz="1200" u="none" cap="none" strike="noStrike">
                <a:solidFill>
                  <a:srgbClr val="0F2B5B"/>
                </a:solidFill>
                <a:latin typeface="Arial"/>
                <a:ea typeface="Arial"/>
                <a:cs typeface="Arial"/>
                <a:sym typeface="Arial"/>
              </a:rPr>
              <a:t>The Train Everyone Knows Is Late</a:t>
            </a:r>
            <a:endParaRPr b="0" i="0" sz="1200" u="none" cap="none" strike="noStrike">
              <a:solidFill>
                <a:schemeClr val="dk1"/>
              </a:solidFill>
              <a:latin typeface="Calibri"/>
              <a:ea typeface="Calibri"/>
              <a:cs typeface="Calibri"/>
              <a:sym typeface="Calibri"/>
            </a:endParaRPr>
          </a:p>
        </p:txBody>
      </p:sp>
      <p:sp>
        <p:nvSpPr>
          <p:cNvPr id="295" name="Google Shape;295;p18"/>
          <p:cNvSpPr txBox="1"/>
          <p:nvPr/>
        </p:nvSpPr>
        <p:spPr>
          <a:xfrm>
            <a:off x="5692140" y="2021690"/>
            <a:ext cx="685800" cy="15087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367E8"/>
              </a:buClr>
              <a:buSzPts val="800"/>
              <a:buFont typeface="Calibri"/>
              <a:buNone/>
            </a:pPr>
            <a:r>
              <a:rPr b="1" i="0" lang="en" sz="800" u="none" cap="none" strike="noStrike">
                <a:solidFill>
                  <a:srgbClr val="1367E8"/>
                </a:solidFill>
                <a:latin typeface="Calibri"/>
                <a:ea typeface="Calibri"/>
                <a:cs typeface="Calibri"/>
                <a:sym typeface="Calibri"/>
              </a:rPr>
              <a:t>Problem:</a:t>
            </a:r>
            <a:endParaRPr b="0" i="0" sz="800" u="none" cap="none" strike="noStrike">
              <a:solidFill>
                <a:schemeClr val="dk1"/>
              </a:solidFill>
              <a:latin typeface="Calibri"/>
              <a:ea typeface="Calibri"/>
              <a:cs typeface="Calibri"/>
              <a:sym typeface="Calibri"/>
            </a:endParaRPr>
          </a:p>
        </p:txBody>
      </p:sp>
      <p:sp>
        <p:nvSpPr>
          <p:cNvPr id="296" name="Google Shape;296;p18"/>
          <p:cNvSpPr/>
          <p:nvPr/>
        </p:nvSpPr>
        <p:spPr>
          <a:xfrm>
            <a:off x="6432804" y="2021690"/>
            <a:ext cx="13716" cy="356616"/>
          </a:xfrm>
          <a:prstGeom prst="rect">
            <a:avLst/>
          </a:prstGeom>
          <a:solidFill>
            <a:srgbClr val="D8E6F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18"/>
          <p:cNvSpPr txBox="1"/>
          <p:nvPr/>
        </p:nvSpPr>
        <p:spPr>
          <a:xfrm>
            <a:off x="6501384" y="2007974"/>
            <a:ext cx="2228850" cy="384048"/>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3A4A5F"/>
              </a:buClr>
              <a:buSzPts val="800"/>
              <a:buFont typeface="Calibri"/>
              <a:buNone/>
            </a:pPr>
            <a:r>
              <a:rPr b="0" i="0" lang="en" sz="800" u="none" cap="none" strike="noStrike">
                <a:solidFill>
                  <a:srgbClr val="3A4A5F"/>
                </a:solidFill>
                <a:latin typeface="Calibri"/>
                <a:ea typeface="Calibri"/>
                <a:cs typeface="Calibri"/>
                <a:sym typeface="Calibri"/>
              </a:rPr>
              <a:t>Riders know which trains run late and which connections fail; the app still shows the schedule.</a:t>
            </a:r>
            <a:endParaRPr b="0" i="0" sz="800" u="none" cap="none" strike="noStrike">
              <a:solidFill>
                <a:schemeClr val="dk1"/>
              </a:solidFill>
              <a:latin typeface="Calibri"/>
              <a:ea typeface="Calibri"/>
              <a:cs typeface="Calibri"/>
              <a:sym typeface="Calibri"/>
            </a:endParaRPr>
          </a:p>
        </p:txBody>
      </p:sp>
      <p:sp>
        <p:nvSpPr>
          <p:cNvPr id="298" name="Google Shape;298;p18"/>
          <p:cNvSpPr txBox="1"/>
          <p:nvPr/>
        </p:nvSpPr>
        <p:spPr>
          <a:xfrm>
            <a:off x="5692140" y="2433170"/>
            <a:ext cx="685800" cy="15087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367E8"/>
              </a:buClr>
              <a:buSzPts val="800"/>
              <a:buFont typeface="Calibri"/>
              <a:buNone/>
            </a:pPr>
            <a:r>
              <a:rPr b="1" i="0" lang="en" sz="800" u="none" cap="none" strike="noStrike">
                <a:solidFill>
                  <a:srgbClr val="1367E8"/>
                </a:solidFill>
                <a:latin typeface="Calibri"/>
                <a:ea typeface="Calibri"/>
                <a:cs typeface="Calibri"/>
                <a:sym typeface="Calibri"/>
              </a:rPr>
              <a:t>Why it matters:</a:t>
            </a:r>
            <a:endParaRPr b="0" i="0" sz="800" u="none" cap="none" strike="noStrike">
              <a:solidFill>
                <a:schemeClr val="dk1"/>
              </a:solidFill>
              <a:latin typeface="Calibri"/>
              <a:ea typeface="Calibri"/>
              <a:cs typeface="Calibri"/>
              <a:sym typeface="Calibri"/>
            </a:endParaRPr>
          </a:p>
        </p:txBody>
      </p:sp>
      <p:sp>
        <p:nvSpPr>
          <p:cNvPr id="299" name="Google Shape;299;p18"/>
          <p:cNvSpPr/>
          <p:nvPr/>
        </p:nvSpPr>
        <p:spPr>
          <a:xfrm>
            <a:off x="6432804" y="2433170"/>
            <a:ext cx="13716" cy="274320"/>
          </a:xfrm>
          <a:prstGeom prst="rect">
            <a:avLst/>
          </a:prstGeom>
          <a:solidFill>
            <a:srgbClr val="D8E6F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8"/>
          <p:cNvSpPr txBox="1"/>
          <p:nvPr/>
        </p:nvSpPr>
        <p:spPr>
          <a:xfrm>
            <a:off x="6501384" y="2419454"/>
            <a:ext cx="2228850" cy="356616"/>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3A4A5F"/>
              </a:buClr>
              <a:buSzPts val="800"/>
              <a:buFont typeface="Calibri"/>
              <a:buNone/>
            </a:pPr>
            <a:r>
              <a:rPr b="0" i="0" lang="en" sz="800" u="none" cap="none" strike="noStrike">
                <a:solidFill>
                  <a:srgbClr val="3A4A5F"/>
                </a:solidFill>
                <a:latin typeface="Calibri"/>
                <a:ea typeface="Calibri"/>
                <a:cs typeface="Calibri"/>
                <a:sym typeface="Calibri"/>
              </a:rPr>
              <a:t>One operator’s on-time figure fell from 96% to 94.8% once two counting allowances were dropped.</a:t>
            </a:r>
            <a:endParaRPr b="0" i="0" sz="800" u="none" cap="none" strike="noStrike">
              <a:solidFill>
                <a:schemeClr val="dk1"/>
              </a:solidFill>
              <a:latin typeface="Calibri"/>
              <a:ea typeface="Calibri"/>
              <a:cs typeface="Calibri"/>
              <a:sym typeface="Calibri"/>
            </a:endParaRPr>
          </a:p>
        </p:txBody>
      </p:sp>
      <p:sp>
        <p:nvSpPr>
          <p:cNvPr id="301" name="Google Shape;301;p18"/>
          <p:cNvSpPr/>
          <p:nvPr/>
        </p:nvSpPr>
        <p:spPr>
          <a:xfrm>
            <a:off x="308610" y="2892656"/>
            <a:ext cx="4183380" cy="1611630"/>
          </a:xfrm>
          <a:prstGeom prst="roundRect">
            <a:avLst>
              <a:gd fmla="val 1702" name="adj"/>
            </a:avLst>
          </a:prstGeom>
          <a:solidFill>
            <a:srgbClr val="FFFFFF"/>
          </a:solidFill>
          <a:ln cap="flat" cmpd="sng" w="12700">
            <a:solidFill>
              <a:srgbClr val="D8E6FA"/>
            </a:solidFill>
            <a:prstDash val="solid"/>
            <a:round/>
            <a:headEnd len="sm" w="sm" type="none"/>
            <a:tailEnd len="sm" w="sm" type="none"/>
          </a:ln>
          <a:effectLst>
            <a:outerShdw blurRad="101600" rotWithShape="0" algn="bl" dir="5400000" dist="12700">
              <a:srgbClr val="BBCDE6">
                <a:alpha val="25098"/>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18"/>
          <p:cNvSpPr/>
          <p:nvPr/>
        </p:nvSpPr>
        <p:spPr>
          <a:xfrm>
            <a:off x="445770" y="3304136"/>
            <a:ext cx="754380" cy="754380"/>
          </a:xfrm>
          <a:prstGeom prst="roundRect">
            <a:avLst>
              <a:gd fmla="val 7273" name="adj"/>
            </a:avLst>
          </a:prstGeom>
          <a:solidFill>
            <a:srgbClr val="E8F1FE"/>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03" name="Google Shape;303;p18"/>
          <p:cNvPicPr preferRelativeResize="0"/>
          <p:nvPr/>
        </p:nvPicPr>
        <p:blipFill rotWithShape="1">
          <a:blip r:embed="rId5">
            <a:alphaModFix/>
          </a:blip>
          <a:srcRect b="0" l="0" r="0" t="0"/>
          <a:stretch/>
        </p:blipFill>
        <p:spPr>
          <a:xfrm>
            <a:off x="634365" y="3492731"/>
            <a:ext cx="377190" cy="377190"/>
          </a:xfrm>
          <a:prstGeom prst="rect">
            <a:avLst/>
          </a:prstGeom>
          <a:noFill/>
          <a:ln>
            <a:noFill/>
          </a:ln>
        </p:spPr>
      </p:pic>
      <p:sp>
        <p:nvSpPr>
          <p:cNvPr id="304" name="Google Shape;304;p18"/>
          <p:cNvSpPr/>
          <p:nvPr/>
        </p:nvSpPr>
        <p:spPr>
          <a:xfrm>
            <a:off x="1303020" y="3043532"/>
            <a:ext cx="1250000" cy="178308"/>
          </a:xfrm>
          <a:prstGeom prst="roundRect">
            <a:avLst>
              <a:gd fmla="val 50000" name="adj"/>
            </a:avLst>
          </a:prstGeom>
          <a:solidFill>
            <a:srgbClr val="DCE9F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8"/>
          <p:cNvSpPr txBox="1"/>
          <p:nvPr/>
        </p:nvSpPr>
        <p:spPr>
          <a:xfrm>
            <a:off x="1303020" y="3043532"/>
            <a:ext cx="1250000" cy="1783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B5B"/>
              </a:buClr>
              <a:buSzPts val="700"/>
              <a:buFont typeface="Calibri"/>
              <a:buNone/>
            </a:pPr>
            <a:r>
              <a:rPr b="1" i="0" lang="en" sz="700" u="none" cap="none" strike="noStrike">
                <a:solidFill>
                  <a:srgbClr val="0F2B5B"/>
                </a:solidFill>
                <a:latin typeface="Calibri"/>
                <a:ea typeface="Calibri"/>
                <a:cs typeface="Calibri"/>
                <a:sym typeface="Calibri"/>
              </a:rPr>
              <a:t>Acts on: Before you drive</a:t>
            </a:r>
            <a:endParaRPr b="0" i="0" sz="700" u="none" cap="none" strike="noStrike">
              <a:solidFill>
                <a:schemeClr val="dk1"/>
              </a:solidFill>
              <a:latin typeface="Calibri"/>
              <a:ea typeface="Calibri"/>
              <a:cs typeface="Calibri"/>
              <a:sym typeface="Calibri"/>
            </a:endParaRPr>
          </a:p>
        </p:txBody>
      </p:sp>
      <p:sp>
        <p:nvSpPr>
          <p:cNvPr id="306" name="Google Shape;306;p18"/>
          <p:cNvSpPr txBox="1"/>
          <p:nvPr/>
        </p:nvSpPr>
        <p:spPr>
          <a:xfrm>
            <a:off x="1303020" y="3269846"/>
            <a:ext cx="3038094" cy="42519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F2B5B"/>
              </a:buClr>
              <a:buSzPts val="1200"/>
              <a:buFont typeface="Arial"/>
              <a:buNone/>
            </a:pPr>
            <a:r>
              <a:rPr b="1" i="0" lang="en" sz="1200" u="none" cap="none" strike="noStrike">
                <a:solidFill>
                  <a:srgbClr val="0F2B5B"/>
                </a:solidFill>
                <a:latin typeface="Arial"/>
                <a:ea typeface="Arial"/>
                <a:cs typeface="Arial"/>
                <a:sym typeface="Arial"/>
              </a:rPr>
              <a:t>Construction You Can See Coming</a:t>
            </a:r>
            <a:endParaRPr b="0" i="0" sz="1200" u="none" cap="none" strike="noStrike">
              <a:solidFill>
                <a:schemeClr val="dk1"/>
              </a:solidFill>
              <a:latin typeface="Calibri"/>
              <a:ea typeface="Calibri"/>
              <a:cs typeface="Calibri"/>
              <a:sym typeface="Calibri"/>
            </a:endParaRPr>
          </a:p>
        </p:txBody>
      </p:sp>
      <p:sp>
        <p:nvSpPr>
          <p:cNvPr id="307" name="Google Shape;307;p18"/>
          <p:cNvSpPr txBox="1"/>
          <p:nvPr/>
        </p:nvSpPr>
        <p:spPr>
          <a:xfrm>
            <a:off x="1303020" y="3715616"/>
            <a:ext cx="685800" cy="1509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367E8"/>
              </a:buClr>
              <a:buSzPts val="800"/>
              <a:buFont typeface="Calibri"/>
              <a:buNone/>
            </a:pPr>
            <a:r>
              <a:rPr b="1" i="0" lang="en" sz="800" u="none" cap="none" strike="noStrike">
                <a:solidFill>
                  <a:srgbClr val="1367E8"/>
                </a:solidFill>
                <a:latin typeface="Calibri"/>
                <a:ea typeface="Calibri"/>
                <a:cs typeface="Calibri"/>
                <a:sym typeface="Calibri"/>
              </a:rPr>
              <a:t>Problem:</a:t>
            </a:r>
            <a:endParaRPr b="0" i="0" sz="800" u="none" cap="none" strike="noStrike">
              <a:solidFill>
                <a:schemeClr val="dk1"/>
              </a:solidFill>
              <a:latin typeface="Calibri"/>
              <a:ea typeface="Calibri"/>
              <a:cs typeface="Calibri"/>
              <a:sym typeface="Calibri"/>
            </a:endParaRPr>
          </a:p>
        </p:txBody>
      </p:sp>
      <p:sp>
        <p:nvSpPr>
          <p:cNvPr id="308" name="Google Shape;308;p18"/>
          <p:cNvSpPr/>
          <p:nvPr/>
        </p:nvSpPr>
        <p:spPr>
          <a:xfrm>
            <a:off x="2043684" y="3715616"/>
            <a:ext cx="13716" cy="356616"/>
          </a:xfrm>
          <a:prstGeom prst="rect">
            <a:avLst/>
          </a:prstGeom>
          <a:solidFill>
            <a:srgbClr val="D8E6F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8"/>
          <p:cNvSpPr txBox="1"/>
          <p:nvPr/>
        </p:nvSpPr>
        <p:spPr>
          <a:xfrm>
            <a:off x="2112264" y="3701900"/>
            <a:ext cx="2228850" cy="384048"/>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3A4A5F"/>
              </a:buClr>
              <a:buSzPts val="800"/>
              <a:buFont typeface="Calibri"/>
              <a:buNone/>
            </a:pPr>
            <a:r>
              <a:rPr b="0" i="0" lang="en" sz="800" u="none" cap="none" strike="noStrike">
                <a:solidFill>
                  <a:srgbClr val="3A4A5F"/>
                </a:solidFill>
                <a:latin typeface="Calibri"/>
                <a:ea typeface="Calibri"/>
                <a:cs typeface="Calibri"/>
                <a:sym typeface="Calibri"/>
              </a:rPr>
              <a:t>Work zone feeds start once a zone is active; the permit behind it existed weeks earlier.</a:t>
            </a:r>
            <a:endParaRPr b="0" i="0" sz="800" u="none" cap="none" strike="noStrike">
              <a:solidFill>
                <a:schemeClr val="dk1"/>
              </a:solidFill>
              <a:latin typeface="Calibri"/>
              <a:ea typeface="Calibri"/>
              <a:cs typeface="Calibri"/>
              <a:sym typeface="Calibri"/>
            </a:endParaRPr>
          </a:p>
        </p:txBody>
      </p:sp>
      <p:sp>
        <p:nvSpPr>
          <p:cNvPr id="310" name="Google Shape;310;p18"/>
          <p:cNvSpPr txBox="1"/>
          <p:nvPr/>
        </p:nvSpPr>
        <p:spPr>
          <a:xfrm>
            <a:off x="1303020" y="4127096"/>
            <a:ext cx="685800" cy="15087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367E8"/>
              </a:buClr>
              <a:buSzPts val="800"/>
              <a:buFont typeface="Calibri"/>
              <a:buNone/>
            </a:pPr>
            <a:r>
              <a:rPr b="1" i="0" lang="en" sz="800" u="none" cap="none" strike="noStrike">
                <a:solidFill>
                  <a:srgbClr val="1367E8"/>
                </a:solidFill>
                <a:latin typeface="Calibri"/>
                <a:ea typeface="Calibri"/>
                <a:cs typeface="Calibri"/>
                <a:sym typeface="Calibri"/>
              </a:rPr>
              <a:t>Why it matters:</a:t>
            </a:r>
            <a:endParaRPr b="0" i="0" sz="800" u="none" cap="none" strike="noStrike">
              <a:solidFill>
                <a:schemeClr val="dk1"/>
              </a:solidFill>
              <a:latin typeface="Calibri"/>
              <a:ea typeface="Calibri"/>
              <a:cs typeface="Calibri"/>
              <a:sym typeface="Calibri"/>
            </a:endParaRPr>
          </a:p>
        </p:txBody>
      </p:sp>
      <p:sp>
        <p:nvSpPr>
          <p:cNvPr id="311" name="Google Shape;311;p18"/>
          <p:cNvSpPr/>
          <p:nvPr/>
        </p:nvSpPr>
        <p:spPr>
          <a:xfrm>
            <a:off x="2043684" y="4127096"/>
            <a:ext cx="13716" cy="274320"/>
          </a:xfrm>
          <a:prstGeom prst="rect">
            <a:avLst/>
          </a:prstGeom>
          <a:solidFill>
            <a:srgbClr val="D8E6F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8"/>
          <p:cNvSpPr txBox="1"/>
          <p:nvPr/>
        </p:nvSpPr>
        <p:spPr>
          <a:xfrm>
            <a:off x="2112264" y="4113380"/>
            <a:ext cx="2228850" cy="356616"/>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3A4A5F"/>
              </a:buClr>
              <a:buSzPts val="800"/>
              <a:buFont typeface="Calibri"/>
              <a:buNone/>
            </a:pPr>
            <a:r>
              <a:rPr b="0" i="0" lang="en" sz="800" u="none" cap="none" strike="noStrike">
                <a:solidFill>
                  <a:srgbClr val="3A4A5F"/>
                </a:solidFill>
                <a:latin typeface="Calibri"/>
                <a:ea typeface="Calibri"/>
                <a:cs typeface="Calibri"/>
                <a:sym typeface="Calibri"/>
              </a:rPr>
              <a:t>Only 40 work zone feeds were active nationally as of June 2026.</a:t>
            </a:r>
            <a:endParaRPr b="0" i="0" sz="800" u="none" cap="none" strike="noStrike">
              <a:solidFill>
                <a:schemeClr val="dk1"/>
              </a:solidFill>
              <a:latin typeface="Calibri"/>
              <a:ea typeface="Calibri"/>
              <a:cs typeface="Calibri"/>
              <a:sym typeface="Calibri"/>
            </a:endParaRPr>
          </a:p>
        </p:txBody>
      </p:sp>
      <p:sp>
        <p:nvSpPr>
          <p:cNvPr id="313" name="Google Shape;313;p18"/>
          <p:cNvSpPr/>
          <p:nvPr/>
        </p:nvSpPr>
        <p:spPr>
          <a:xfrm>
            <a:off x="4697730" y="2892656"/>
            <a:ext cx="4183380" cy="1611630"/>
          </a:xfrm>
          <a:prstGeom prst="roundRect">
            <a:avLst>
              <a:gd fmla="val 1702" name="adj"/>
            </a:avLst>
          </a:prstGeom>
          <a:solidFill>
            <a:srgbClr val="FFFFFF"/>
          </a:solidFill>
          <a:ln cap="flat" cmpd="sng" w="12700">
            <a:solidFill>
              <a:srgbClr val="D8E6FA"/>
            </a:solidFill>
            <a:prstDash val="solid"/>
            <a:round/>
            <a:headEnd len="sm" w="sm" type="none"/>
            <a:tailEnd len="sm" w="sm" type="none"/>
          </a:ln>
          <a:effectLst>
            <a:outerShdw blurRad="101600" rotWithShape="0" algn="bl" dir="5400000" dist="12700">
              <a:srgbClr val="BBCDE6">
                <a:alpha val="25098"/>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18"/>
          <p:cNvSpPr/>
          <p:nvPr/>
        </p:nvSpPr>
        <p:spPr>
          <a:xfrm>
            <a:off x="4834890" y="3304136"/>
            <a:ext cx="754380" cy="754380"/>
          </a:xfrm>
          <a:prstGeom prst="roundRect">
            <a:avLst>
              <a:gd fmla="val 7273" name="adj"/>
            </a:avLst>
          </a:prstGeom>
          <a:solidFill>
            <a:srgbClr val="E8F1FE"/>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15" name="Google Shape;315;p18"/>
          <p:cNvPicPr preferRelativeResize="0"/>
          <p:nvPr/>
        </p:nvPicPr>
        <p:blipFill rotWithShape="1">
          <a:blip r:embed="rId6">
            <a:alphaModFix/>
          </a:blip>
          <a:srcRect b="0" l="0" r="0" t="0"/>
          <a:stretch/>
        </p:blipFill>
        <p:spPr>
          <a:xfrm>
            <a:off x="5023485" y="3492731"/>
            <a:ext cx="377190" cy="377190"/>
          </a:xfrm>
          <a:prstGeom prst="rect">
            <a:avLst/>
          </a:prstGeom>
          <a:noFill/>
          <a:ln>
            <a:noFill/>
          </a:ln>
        </p:spPr>
      </p:pic>
      <p:sp>
        <p:nvSpPr>
          <p:cNvPr id="316" name="Google Shape;316;p18"/>
          <p:cNvSpPr/>
          <p:nvPr/>
        </p:nvSpPr>
        <p:spPr>
          <a:xfrm>
            <a:off x="5692140" y="3043532"/>
            <a:ext cx="1250000" cy="178308"/>
          </a:xfrm>
          <a:prstGeom prst="roundRect">
            <a:avLst>
              <a:gd fmla="val 50000" name="adj"/>
            </a:avLst>
          </a:prstGeom>
          <a:solidFill>
            <a:srgbClr val="DCE9F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8"/>
          <p:cNvSpPr txBox="1"/>
          <p:nvPr/>
        </p:nvSpPr>
        <p:spPr>
          <a:xfrm>
            <a:off x="5692140" y="3043532"/>
            <a:ext cx="1250000" cy="1783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B5B"/>
              </a:buClr>
              <a:buSzPts val="700"/>
              <a:buFont typeface="Calibri"/>
              <a:buNone/>
            </a:pPr>
            <a:r>
              <a:rPr b="1" i="0" lang="en" sz="700" u="none" cap="none" strike="noStrike">
                <a:solidFill>
                  <a:srgbClr val="0F2B5B"/>
                </a:solidFill>
                <a:latin typeface="Calibri"/>
                <a:ea typeface="Calibri"/>
                <a:cs typeface="Calibri"/>
                <a:sym typeface="Calibri"/>
              </a:rPr>
              <a:t>Acts on: Ride or drive</a:t>
            </a:r>
            <a:endParaRPr b="0" i="0" sz="700" u="none" cap="none" strike="noStrike">
              <a:solidFill>
                <a:schemeClr val="dk1"/>
              </a:solidFill>
              <a:latin typeface="Calibri"/>
              <a:ea typeface="Calibri"/>
              <a:cs typeface="Calibri"/>
              <a:sym typeface="Calibri"/>
            </a:endParaRPr>
          </a:p>
        </p:txBody>
      </p:sp>
      <p:sp>
        <p:nvSpPr>
          <p:cNvPr id="318" name="Google Shape;318;p18"/>
          <p:cNvSpPr txBox="1"/>
          <p:nvPr/>
        </p:nvSpPr>
        <p:spPr>
          <a:xfrm>
            <a:off x="5692140" y="3269846"/>
            <a:ext cx="3038094" cy="42519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F2B5B"/>
              </a:buClr>
              <a:buSzPts val="1200"/>
              <a:buFont typeface="Arial"/>
              <a:buNone/>
            </a:pPr>
            <a:r>
              <a:rPr b="1" i="0" lang="en" sz="1200" u="none" cap="none" strike="noStrike">
                <a:solidFill>
                  <a:srgbClr val="0F2B5B"/>
                </a:solidFill>
                <a:latin typeface="Arial"/>
                <a:ea typeface="Arial"/>
                <a:cs typeface="Arial"/>
                <a:sym typeface="Arial"/>
              </a:rPr>
              <a:t>Routes That Weigh More Than Time</a:t>
            </a:r>
            <a:endParaRPr b="0" i="0" sz="1200" u="none" cap="none" strike="noStrike">
              <a:solidFill>
                <a:schemeClr val="dk1"/>
              </a:solidFill>
              <a:latin typeface="Calibri"/>
              <a:ea typeface="Calibri"/>
              <a:cs typeface="Calibri"/>
              <a:sym typeface="Calibri"/>
            </a:endParaRPr>
          </a:p>
        </p:txBody>
      </p:sp>
      <p:sp>
        <p:nvSpPr>
          <p:cNvPr id="319" name="Google Shape;319;p18"/>
          <p:cNvSpPr txBox="1"/>
          <p:nvPr/>
        </p:nvSpPr>
        <p:spPr>
          <a:xfrm>
            <a:off x="5692140" y="3715616"/>
            <a:ext cx="685800" cy="15087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367E8"/>
              </a:buClr>
              <a:buSzPts val="800"/>
              <a:buFont typeface="Calibri"/>
              <a:buNone/>
            </a:pPr>
            <a:r>
              <a:rPr b="1" i="0" lang="en" sz="800" u="none" cap="none" strike="noStrike">
                <a:solidFill>
                  <a:srgbClr val="1367E8"/>
                </a:solidFill>
                <a:latin typeface="Calibri"/>
                <a:ea typeface="Calibri"/>
                <a:cs typeface="Calibri"/>
                <a:sym typeface="Calibri"/>
              </a:rPr>
              <a:t>Problem:</a:t>
            </a:r>
            <a:endParaRPr b="0" i="0" sz="800" u="none" cap="none" strike="noStrike">
              <a:solidFill>
                <a:schemeClr val="dk1"/>
              </a:solidFill>
              <a:latin typeface="Calibri"/>
              <a:ea typeface="Calibri"/>
              <a:cs typeface="Calibri"/>
              <a:sym typeface="Calibri"/>
            </a:endParaRPr>
          </a:p>
        </p:txBody>
      </p:sp>
      <p:sp>
        <p:nvSpPr>
          <p:cNvPr id="320" name="Google Shape;320;p18"/>
          <p:cNvSpPr/>
          <p:nvPr/>
        </p:nvSpPr>
        <p:spPr>
          <a:xfrm>
            <a:off x="6432804" y="3715616"/>
            <a:ext cx="13716" cy="356616"/>
          </a:xfrm>
          <a:prstGeom prst="rect">
            <a:avLst/>
          </a:prstGeom>
          <a:solidFill>
            <a:srgbClr val="D8E6F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8"/>
          <p:cNvSpPr txBox="1"/>
          <p:nvPr/>
        </p:nvSpPr>
        <p:spPr>
          <a:xfrm>
            <a:off x="6501384" y="3701900"/>
            <a:ext cx="2228850" cy="384048"/>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3A4A5F"/>
              </a:buClr>
              <a:buSzPts val="800"/>
              <a:buFont typeface="Calibri"/>
              <a:buNone/>
            </a:pPr>
            <a:r>
              <a:rPr b="0" i="0" lang="en" sz="800" u="none" cap="none" strike="noStrike">
                <a:solidFill>
                  <a:srgbClr val="3A4A5F"/>
                </a:solidFill>
                <a:latin typeface="Calibri"/>
                <a:ea typeface="Calibri"/>
                <a:cs typeface="Calibri"/>
                <a:sym typeface="Calibri"/>
              </a:rPr>
              <a:t>Routing ranks by time and past crashes; travelers cannot weigh risk, light or a child on board.</a:t>
            </a:r>
            <a:endParaRPr b="0" i="0" sz="800" u="none" cap="none" strike="noStrike">
              <a:solidFill>
                <a:schemeClr val="dk1"/>
              </a:solidFill>
              <a:latin typeface="Calibri"/>
              <a:ea typeface="Calibri"/>
              <a:cs typeface="Calibri"/>
              <a:sym typeface="Calibri"/>
            </a:endParaRPr>
          </a:p>
        </p:txBody>
      </p:sp>
      <p:sp>
        <p:nvSpPr>
          <p:cNvPr id="322" name="Google Shape;322;p18"/>
          <p:cNvSpPr txBox="1"/>
          <p:nvPr/>
        </p:nvSpPr>
        <p:spPr>
          <a:xfrm>
            <a:off x="5692140" y="4127096"/>
            <a:ext cx="685800" cy="15087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1367E8"/>
              </a:buClr>
              <a:buSzPts val="800"/>
              <a:buFont typeface="Calibri"/>
              <a:buNone/>
            </a:pPr>
            <a:r>
              <a:rPr b="1" i="0" lang="en" sz="800" u="none" cap="none" strike="noStrike">
                <a:solidFill>
                  <a:srgbClr val="1367E8"/>
                </a:solidFill>
                <a:latin typeface="Calibri"/>
                <a:ea typeface="Calibri"/>
                <a:cs typeface="Calibri"/>
                <a:sym typeface="Calibri"/>
              </a:rPr>
              <a:t>Why it matters:</a:t>
            </a:r>
            <a:endParaRPr b="0" i="0" sz="800" u="none" cap="none" strike="noStrike">
              <a:solidFill>
                <a:schemeClr val="dk1"/>
              </a:solidFill>
              <a:latin typeface="Calibri"/>
              <a:ea typeface="Calibri"/>
              <a:cs typeface="Calibri"/>
              <a:sym typeface="Calibri"/>
            </a:endParaRPr>
          </a:p>
        </p:txBody>
      </p:sp>
      <p:sp>
        <p:nvSpPr>
          <p:cNvPr id="323" name="Google Shape;323;p18"/>
          <p:cNvSpPr/>
          <p:nvPr/>
        </p:nvSpPr>
        <p:spPr>
          <a:xfrm>
            <a:off x="6432804" y="4127096"/>
            <a:ext cx="13716" cy="274320"/>
          </a:xfrm>
          <a:prstGeom prst="rect">
            <a:avLst/>
          </a:prstGeom>
          <a:solidFill>
            <a:srgbClr val="D8E6F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18"/>
          <p:cNvSpPr txBox="1"/>
          <p:nvPr/>
        </p:nvSpPr>
        <p:spPr>
          <a:xfrm>
            <a:off x="6494524" y="4024188"/>
            <a:ext cx="2379600" cy="356700"/>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3A4A5F"/>
              </a:buClr>
              <a:buSzPts val="800"/>
              <a:buFont typeface="Calibri"/>
              <a:buNone/>
            </a:pPr>
            <a:r>
              <a:rPr b="0" i="0" lang="en" sz="800" u="none" cap="none" strike="noStrike">
                <a:solidFill>
                  <a:srgbClr val="3A4A5F"/>
                </a:solidFill>
                <a:latin typeface="Calibri"/>
                <a:ea typeface="Calibri"/>
                <a:cs typeface="Calibri"/>
                <a:sym typeface="Calibri"/>
              </a:rPr>
              <a:t>An 8% faster route was found to carry 23% higher crash probability, a trade-off made silently.</a:t>
            </a:r>
            <a:endParaRPr b="0" i="0" sz="800" u="none" cap="none" strike="noStrike">
              <a:solidFill>
                <a:schemeClr val="dk1"/>
              </a:solidFill>
              <a:latin typeface="Calibri"/>
              <a:ea typeface="Calibri"/>
              <a:cs typeface="Calibri"/>
              <a:sym typeface="Calibri"/>
            </a:endParaRPr>
          </a:p>
        </p:txBody>
      </p:sp>
      <p:sp>
        <p:nvSpPr>
          <p:cNvPr id="325" name="Google Shape;325;p18"/>
          <p:cNvSpPr/>
          <p:nvPr/>
        </p:nvSpPr>
        <p:spPr>
          <a:xfrm>
            <a:off x="308610" y="4560000"/>
            <a:ext cx="8366760" cy="250000"/>
          </a:xfrm>
          <a:prstGeom prst="roundRect">
            <a:avLst>
              <a:gd fmla="val 11905" name="adj"/>
            </a:avLst>
          </a:prstGeom>
          <a:solidFill>
            <a:srgbClr val="EAF2FE"/>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8"/>
          <p:cNvSpPr txBox="1"/>
          <p:nvPr/>
        </p:nvSpPr>
        <p:spPr>
          <a:xfrm>
            <a:off x="514350" y="4560000"/>
            <a:ext cx="8023860" cy="2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67E8"/>
              </a:buClr>
              <a:buSzPts val="900"/>
              <a:buFont typeface="Arial"/>
              <a:buNone/>
            </a:pPr>
            <a:r>
              <a:rPr b="1" i="0" lang="en" sz="900" u="none" cap="none" strike="noStrike">
                <a:solidFill>
                  <a:srgbClr val="1367E8"/>
                </a:solidFill>
                <a:latin typeface="Arial"/>
                <a:ea typeface="Arial"/>
                <a:cs typeface="Arial"/>
                <a:sym typeface="Arial"/>
              </a:rPr>
              <a:t>The common fault: </a:t>
            </a:r>
            <a:r>
              <a:rPr b="0" i="0" lang="en" sz="900" u="none" cap="none" strike="noStrike">
                <a:solidFill>
                  <a:srgbClr val="0F2B5B"/>
                </a:solidFill>
                <a:latin typeface="Calibri"/>
                <a:ea typeface="Calibri"/>
                <a:cs typeface="Calibri"/>
                <a:sym typeface="Calibri"/>
              </a:rPr>
              <a:t>routing runs on what already happened, reports the scheduled world, stops at the address, and optimizes one number.</a:t>
            </a:r>
            <a:endParaRPr b="0" i="0" sz="900" u="none" cap="none" strike="noStrike">
              <a:solidFill>
                <a:schemeClr val="dk1"/>
              </a:solidFill>
              <a:latin typeface="Calibri"/>
              <a:ea typeface="Calibri"/>
              <a:cs typeface="Calibri"/>
              <a:sym typeface="Calibri"/>
            </a:endParaRPr>
          </a:p>
        </p:txBody>
      </p:sp>
      <p:sp>
        <p:nvSpPr>
          <p:cNvPr id="327" name="Google Shape;327;p18"/>
          <p:cNvSpPr txBox="1"/>
          <p:nvPr/>
        </p:nvSpPr>
        <p:spPr>
          <a:xfrm>
            <a:off x="308610" y="4840000"/>
            <a:ext cx="8300000" cy="18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F96"/>
              </a:buClr>
              <a:buSzPts val="700"/>
              <a:buFont typeface="Calibri"/>
              <a:buNone/>
            </a:pPr>
            <a:r>
              <a:rPr b="0" i="0" lang="en" sz="700" u="none" cap="none" strike="noStrike">
                <a:solidFill>
                  <a:srgbClr val="6E7F96"/>
                </a:solidFill>
                <a:latin typeface="Calibri"/>
                <a:ea typeface="Calibri"/>
                <a:cs typeface="Calibri"/>
                <a:sym typeface="Calibri"/>
              </a:rPr>
              <a:t>Sources: SFMTA, SFpark evaluation (June 2014); Walker, Human Transit (2010); CBS News Chicago on Metra on-time reporting; US DOT Volpe Center, Work Zone Data Exchange; Sohrabi and Lord, Texas A&amp;M, Transportation Research Part C (2022).</a:t>
            </a:r>
            <a:endParaRPr b="0" i="0" sz="700" u="none" cap="none" strike="noStrike">
              <a:solidFill>
                <a:schemeClr val="dk1"/>
              </a:solidFill>
              <a:latin typeface="Calibri"/>
              <a:ea typeface="Calibri"/>
              <a:cs typeface="Calibri"/>
              <a:sym typeface="Calibri"/>
            </a:endParaRPr>
          </a:p>
        </p:txBody>
      </p:sp>
      <p:sp>
        <p:nvSpPr>
          <p:cNvPr id="328" name="Google Shape;328;p18"/>
          <p:cNvSpPr txBox="1"/>
          <p:nvPr/>
        </p:nvSpPr>
        <p:spPr>
          <a:xfrm>
            <a:off x="8743950" y="4834890"/>
            <a:ext cx="240030"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F96"/>
              </a:buClr>
              <a:buSzPts val="800"/>
              <a:buFont typeface="Calibri"/>
              <a:buNone/>
            </a:pPr>
            <a:r>
              <a:rPr b="0" i="0" lang="en" sz="800" u="none" cap="none" strike="noStrike">
                <a:solidFill>
                  <a:srgbClr val="6E7F96"/>
                </a:solidFill>
                <a:latin typeface="Calibri"/>
                <a:ea typeface="Calibri"/>
                <a:cs typeface="Calibri"/>
                <a:sym typeface="Calibri"/>
              </a:rPr>
              <a:t>4</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