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5.xml"/><Relationship Id="rId10" Type="http://schemas.openxmlformats.org/officeDocument/2006/relationships/slide" Target="slides/slide4.xml"/><Relationship Id="rId12" Type="http://schemas.openxmlformats.org/officeDocument/2006/relationships/slide" Target="slides/slide6.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h114b4d7ffda7b788_33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h114b4d7ffda7b788_33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Open with the tension: surveillance is becoming automated and networked, while the people being watched have almost no visibility or control over how their data is collected, used or shared.</a:t>
            </a:r>
            <a:endParaRPr/>
          </a:p>
        </p:txBody>
      </p:sp>
      <p:sp>
        <p:nvSpPr>
          <p:cNvPr id="55" name="Google Shape;55;h114b4d7ffda7b788_33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114b4d7ffda7b788_33_1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h114b4d7ffda7b788_33_1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$7.5B figure is from the March 2025 raise led by a16z. Later reporting puts the private valuation near $8.4B in April 2026, so present $7.5B as the confirmed number and mention the newer one only if asked.</a:t>
            </a:r>
            <a:endParaRPr/>
          </a:p>
        </p:txBody>
      </p:sp>
      <p:sp>
        <p:nvSpPr>
          <p:cNvPr id="65" name="Google Shape;65;h114b4d7ffda7b788_33_1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h114b4d7ffda7b788_33_3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h114b4d7ffda7b788_33_3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Florida order is loud but narrow: it cancels encroachment permits on land the state controls, which independent analysis puts at roughly 2% of Florida's cameras. Contract cancellations at city council level remain the mechanism actually removing cameras.</a:t>
            </a:r>
            <a:endParaRPr/>
          </a:p>
        </p:txBody>
      </p:sp>
      <p:sp>
        <p:nvSpPr>
          <p:cNvPr id="91" name="Google Shape;91;h114b4d7ffda7b788_33_3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7fc7a84e49368118_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7fc7a84e49368118_2: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key move: the two right-hand quadrants are separated by a purchase order, not by capability. The Fourth Amendment limits what government may take, not what it may buy. That is why regulating only the government column fails.</a:t>
            </a:r>
            <a:endParaRPr/>
          </a:p>
        </p:txBody>
      </p:sp>
      <p:sp>
        <p:nvSpPr>
          <p:cNvPr id="125" name="Google Shape;125;g7fc7a84e49368118_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h114b4d7ffda7b788_33_7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h114b4d7ffda7b788_33_7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key move: the two right-hand quadrants are separated by a purchase order, not by capability. The Fourth Amendment limits what government may take, not what it may buy. That is why regulating only the government column fails.</a:t>
            </a:r>
            <a:endParaRPr/>
          </a:p>
        </p:txBody>
      </p:sp>
      <p:sp>
        <p:nvSpPr>
          <p:cNvPr id="149" name="Google Shape;149;h114b4d7ffda7b788_33_7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114b4d7ffda7b788_33_9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h114b4d7ffda7b788_33_9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If asked which is strongest, say 03. The other two are transparency measures, and the Norfolk and Georgia cases show transparency already existed and did not stop the harm.</a:t>
            </a:r>
            <a:endParaRPr/>
          </a:p>
        </p:txBody>
      </p:sp>
      <p:sp>
        <p:nvSpPr>
          <p:cNvPr id="173" name="Google Shape;173;h114b4d7ffda7b788_33_9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91D"/>
        </a:solidFill>
      </p:bgPr>
    </p:bg>
    <p:spTree>
      <p:nvGrpSpPr>
        <p:cNvPr id="56" name="Shape 56"/>
        <p:cNvGrpSpPr/>
        <p:nvPr/>
      </p:nvGrpSpPr>
      <p:grpSpPr>
        <a:xfrm>
          <a:off x="0" y="0"/>
          <a:ext cx="0" cy="0"/>
          <a:chOff x="0" y="0"/>
          <a:chExt cx="0" cy="0"/>
        </a:xfrm>
      </p:grpSpPr>
      <p:sp>
        <p:nvSpPr>
          <p:cNvPr id="57" name="Google Shape;57;p15"/>
          <p:cNvSpPr txBox="1"/>
          <p:nvPr/>
        </p:nvSpPr>
        <p:spPr>
          <a:xfrm>
            <a:off x="617220" y="582930"/>
            <a:ext cx="54864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900"/>
              <a:buFont typeface="Calibri"/>
              <a:buNone/>
            </a:pPr>
            <a:r>
              <a:rPr b="1" i="0" lang="en" sz="900" u="none" cap="none" strike="noStrike">
                <a:solidFill>
                  <a:srgbClr val="C0392B"/>
                </a:solidFill>
                <a:latin typeface="Calibri"/>
                <a:ea typeface="Calibri"/>
                <a:cs typeface="Calibri"/>
                <a:sym typeface="Calibri"/>
              </a:rPr>
              <a:t>WEEK 3  ·  DOMAIN ANALYSIS</a:t>
            </a:r>
            <a:endParaRPr b="0" i="0" sz="900" u="none" cap="none" strike="noStrike">
              <a:solidFill>
                <a:schemeClr val="dk1"/>
              </a:solidFill>
              <a:latin typeface="Calibri"/>
              <a:ea typeface="Calibri"/>
              <a:cs typeface="Calibri"/>
              <a:sym typeface="Calibri"/>
            </a:endParaRPr>
          </a:p>
        </p:txBody>
      </p:sp>
      <p:sp>
        <p:nvSpPr>
          <p:cNvPr id="58" name="Google Shape;58;p15"/>
          <p:cNvSpPr txBox="1"/>
          <p:nvPr/>
        </p:nvSpPr>
        <p:spPr>
          <a:xfrm>
            <a:off x="617220" y="1165860"/>
            <a:ext cx="7886700" cy="17830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4500"/>
              <a:buFont typeface="Cambria"/>
              <a:buNone/>
            </a:pPr>
            <a:r>
              <a:rPr b="0" i="0" lang="en" sz="4500" u="none" cap="none" strike="noStrike">
                <a:solidFill>
                  <a:srgbClr val="FFFFFF"/>
                </a:solidFill>
                <a:latin typeface="Cambria"/>
                <a:ea typeface="Cambria"/>
                <a:cs typeface="Cambria"/>
                <a:sym typeface="Cambria"/>
              </a:rPr>
              <a:t>Agency Under</a:t>
            </a:r>
            <a:endParaRPr b="0" i="0" sz="45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FFFFF"/>
              </a:buClr>
              <a:buSzPts val="4500"/>
              <a:buFont typeface="Cambria"/>
              <a:buNone/>
            </a:pPr>
            <a:r>
              <a:rPr b="0" i="0" lang="en" sz="4500" u="none" cap="none" strike="noStrike">
                <a:solidFill>
                  <a:srgbClr val="FFFFFF"/>
                </a:solidFill>
                <a:latin typeface="Cambria"/>
                <a:ea typeface="Cambria"/>
                <a:cs typeface="Cambria"/>
                <a:sym typeface="Cambria"/>
              </a:rPr>
              <a:t>Surveillance</a:t>
            </a:r>
            <a:endParaRPr b="0" i="0" sz="4500" u="none" cap="none" strike="noStrike">
              <a:solidFill>
                <a:schemeClr val="dk1"/>
              </a:solidFill>
              <a:latin typeface="Calibri"/>
              <a:ea typeface="Calibri"/>
              <a:cs typeface="Calibri"/>
              <a:sym typeface="Calibri"/>
            </a:endParaRPr>
          </a:p>
        </p:txBody>
      </p:sp>
      <p:sp>
        <p:nvSpPr>
          <p:cNvPr id="59" name="Google Shape;59;p15"/>
          <p:cNvSpPr txBox="1"/>
          <p:nvPr/>
        </p:nvSpPr>
        <p:spPr>
          <a:xfrm>
            <a:off x="617220" y="3120390"/>
            <a:ext cx="65151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BEC4"/>
              </a:buClr>
              <a:buSzPts val="1400"/>
              <a:buFont typeface="Calibri"/>
              <a:buNone/>
            </a:pPr>
            <a:r>
              <a:rPr b="0" i="0" lang="en" sz="1400" u="none" cap="none" strike="noStrike">
                <a:solidFill>
                  <a:srgbClr val="B9BEC4"/>
                </a:solidFill>
                <a:latin typeface="Calibri"/>
                <a:ea typeface="Calibri"/>
                <a:cs typeface="Calibri"/>
                <a:sym typeface="Calibri"/>
              </a:rPr>
              <a:t>Automated watching is scaling faster than anyone's ability to refuse it.</a:t>
            </a:r>
            <a:endParaRPr b="0" i="0" sz="1400" u="none" cap="none" strike="noStrike">
              <a:solidFill>
                <a:schemeClr val="dk1"/>
              </a:solidFill>
              <a:latin typeface="Calibri"/>
              <a:ea typeface="Calibri"/>
              <a:cs typeface="Calibri"/>
              <a:sym typeface="Calibri"/>
            </a:endParaRPr>
          </a:p>
        </p:txBody>
      </p:sp>
      <p:sp>
        <p:nvSpPr>
          <p:cNvPr id="60" name="Google Shape;60;p15"/>
          <p:cNvSpPr/>
          <p:nvPr/>
        </p:nvSpPr>
        <p:spPr>
          <a:xfrm>
            <a:off x="617220" y="3771900"/>
            <a:ext cx="1097280" cy="24003"/>
          </a:xfrm>
          <a:prstGeom prst="rect">
            <a:avLst/>
          </a:prstGeom>
          <a:solidFill>
            <a:srgbClr val="C0392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 name="Google Shape;61;p15"/>
          <p:cNvSpPr txBox="1"/>
          <p:nvPr/>
        </p:nvSpPr>
        <p:spPr>
          <a:xfrm>
            <a:off x="617220" y="4011930"/>
            <a:ext cx="54864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59C"/>
              </a:buClr>
              <a:buSzPts val="1100"/>
              <a:buFont typeface="Calibri"/>
              <a:buNone/>
            </a:pPr>
            <a:r>
              <a:rPr b="0" i="0" lang="en" sz="1100" u="none" cap="none" strike="noStrike">
                <a:solidFill>
                  <a:srgbClr val="8E959C"/>
                </a:solidFill>
                <a:latin typeface="Calibri"/>
                <a:ea typeface="Calibri"/>
                <a:cs typeface="Calibri"/>
                <a:sym typeface="Calibri"/>
              </a:rPr>
              <a:t>Sophia  ·  Sissi  ·  Yash  ·  Flora  ·  Daniel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3F0"/>
        </a:solidFill>
      </p:bgPr>
    </p:bg>
    <p:spTree>
      <p:nvGrpSpPr>
        <p:cNvPr id="66" name="Shape 66"/>
        <p:cNvGrpSpPr/>
        <p:nvPr/>
      </p:nvGrpSpPr>
      <p:grpSpPr>
        <a:xfrm>
          <a:off x="0" y="0"/>
          <a:ext cx="0" cy="0"/>
          <a:chOff x="0" y="0"/>
          <a:chExt cx="0" cy="0"/>
        </a:xfrm>
      </p:grpSpPr>
      <p:sp>
        <p:nvSpPr>
          <p:cNvPr id="67" name="Google Shape;67;p16"/>
          <p:cNvSpPr txBox="1"/>
          <p:nvPr/>
        </p:nvSpPr>
        <p:spPr>
          <a:xfrm>
            <a:off x="411480" y="342900"/>
            <a:ext cx="831875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2600"/>
              <a:buFont typeface="Cambria"/>
              <a:buNone/>
            </a:pPr>
            <a:r>
              <a:rPr b="0" i="0" lang="en" sz="2600" u="none" cap="none" strike="noStrike">
                <a:solidFill>
                  <a:srgbClr val="16191D"/>
                </a:solidFill>
                <a:latin typeface="Cambria"/>
                <a:ea typeface="Cambria"/>
                <a:cs typeface="Cambria"/>
                <a:sym typeface="Cambria"/>
              </a:rPr>
              <a:t>One company became the argument</a:t>
            </a:r>
            <a:endParaRPr b="0" i="0" sz="2600" u="none" cap="none" strike="noStrike">
              <a:solidFill>
                <a:schemeClr val="dk1"/>
              </a:solidFill>
              <a:latin typeface="Calibri"/>
              <a:ea typeface="Calibri"/>
              <a:cs typeface="Calibri"/>
              <a:sym typeface="Calibri"/>
            </a:endParaRPr>
          </a:p>
        </p:txBody>
      </p:sp>
      <p:sp>
        <p:nvSpPr>
          <p:cNvPr id="68" name="Google Shape;68;p16"/>
          <p:cNvSpPr txBox="1"/>
          <p:nvPr/>
        </p:nvSpPr>
        <p:spPr>
          <a:xfrm>
            <a:off x="411480" y="877824"/>
            <a:ext cx="78181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1100"/>
              <a:buFont typeface="Calibri"/>
              <a:buNone/>
            </a:pPr>
            <a:r>
              <a:rPr b="0" i="0" lang="en" sz="1100" u="none" cap="none" strike="noStrike">
                <a:solidFill>
                  <a:srgbClr val="6B7178"/>
                </a:solidFill>
                <a:latin typeface="Calibri"/>
                <a:ea typeface="Calibri"/>
                <a:cs typeface="Calibri"/>
                <a:sym typeface="Calibri"/>
              </a:rPr>
              <a:t>License plate readers, police and drone cameras, facial recognition, gunshot detection, workplace and retail monitoring, doorbell networks, and the brokers that fuse them. Flock Safety sits at the centre of the public fight.</a:t>
            </a:r>
            <a:endParaRPr b="0" i="0" sz="1100" u="none" cap="none" strike="noStrike">
              <a:solidFill>
                <a:schemeClr val="dk1"/>
              </a:solidFill>
              <a:latin typeface="Calibri"/>
              <a:ea typeface="Calibri"/>
              <a:cs typeface="Calibri"/>
              <a:sym typeface="Calibri"/>
            </a:endParaRPr>
          </a:p>
        </p:txBody>
      </p:sp>
      <p:sp>
        <p:nvSpPr>
          <p:cNvPr id="69" name="Google Shape;69;p16"/>
          <p:cNvSpPr/>
          <p:nvPr/>
        </p:nvSpPr>
        <p:spPr>
          <a:xfrm>
            <a:off x="411480" y="1474470"/>
            <a:ext cx="1920240" cy="1200150"/>
          </a:xfrm>
          <a:prstGeom prst="roundRect">
            <a:avLst>
              <a:gd fmla="val 4571"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 name="Google Shape;70;p16"/>
          <p:cNvSpPr txBox="1"/>
          <p:nvPr/>
        </p:nvSpPr>
        <p:spPr>
          <a:xfrm>
            <a:off x="582930" y="1611630"/>
            <a:ext cx="157734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2700"/>
              <a:buFont typeface="Cambria"/>
              <a:buNone/>
            </a:pPr>
            <a:r>
              <a:rPr b="1" i="0" lang="en" sz="2700" u="none" cap="none" strike="noStrike">
                <a:solidFill>
                  <a:srgbClr val="C0392B"/>
                </a:solidFill>
                <a:latin typeface="Cambria"/>
                <a:ea typeface="Cambria"/>
                <a:cs typeface="Cambria"/>
                <a:sym typeface="Cambria"/>
              </a:rPr>
              <a:t>120,000+</a:t>
            </a:r>
            <a:endParaRPr b="0" i="0" sz="2700" u="none" cap="none" strike="noStrike">
              <a:solidFill>
                <a:schemeClr val="dk1"/>
              </a:solidFill>
              <a:latin typeface="Calibri"/>
              <a:ea typeface="Calibri"/>
              <a:cs typeface="Calibri"/>
              <a:sym typeface="Calibri"/>
            </a:endParaRPr>
          </a:p>
        </p:txBody>
      </p:sp>
      <p:sp>
        <p:nvSpPr>
          <p:cNvPr id="71" name="Google Shape;71;p16"/>
          <p:cNvSpPr txBox="1"/>
          <p:nvPr/>
        </p:nvSpPr>
        <p:spPr>
          <a:xfrm>
            <a:off x="582930" y="2112264"/>
            <a:ext cx="1611630" cy="493776"/>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3E434A"/>
              </a:buClr>
              <a:buSzPts val="900"/>
              <a:buFont typeface="Calibri"/>
              <a:buNone/>
            </a:pPr>
            <a:r>
              <a:rPr b="0" i="0" lang="en" sz="900" u="none" cap="none" strike="noStrike">
                <a:solidFill>
                  <a:srgbClr val="3E434A"/>
                </a:solidFill>
                <a:latin typeface="Calibri"/>
                <a:ea typeface="Calibri"/>
                <a:cs typeface="Calibri"/>
                <a:sym typeface="Calibri"/>
              </a:rPr>
              <a:t>ALPR cameras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3E434A"/>
              </a:buClr>
              <a:buSzPts val="900"/>
              <a:buFont typeface="Calibri"/>
              <a:buNone/>
            </a:pPr>
            <a:r>
              <a:rPr b="0" i="0" lang="en" sz="900" u="none" cap="none" strike="noStrike">
                <a:solidFill>
                  <a:srgbClr val="3E434A"/>
                </a:solidFill>
                <a:latin typeface="Calibri"/>
                <a:ea typeface="Calibri"/>
                <a:cs typeface="Calibri"/>
                <a:sym typeface="Calibri"/>
              </a:rPr>
              <a:t>across 49 states</a:t>
            </a:r>
            <a:endParaRPr b="0" i="0" sz="900" u="none" cap="none" strike="noStrike">
              <a:solidFill>
                <a:schemeClr val="dk1"/>
              </a:solidFill>
              <a:latin typeface="Calibri"/>
              <a:ea typeface="Calibri"/>
              <a:cs typeface="Calibri"/>
              <a:sym typeface="Calibri"/>
            </a:endParaRPr>
          </a:p>
        </p:txBody>
      </p:sp>
      <p:sp>
        <p:nvSpPr>
          <p:cNvPr id="72" name="Google Shape;72;p16"/>
          <p:cNvSpPr/>
          <p:nvPr/>
        </p:nvSpPr>
        <p:spPr>
          <a:xfrm>
            <a:off x="2544318" y="1474470"/>
            <a:ext cx="1920240" cy="1200150"/>
          </a:xfrm>
          <a:prstGeom prst="roundRect">
            <a:avLst>
              <a:gd fmla="val 4571"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 name="Google Shape;73;p16"/>
          <p:cNvSpPr txBox="1"/>
          <p:nvPr/>
        </p:nvSpPr>
        <p:spPr>
          <a:xfrm>
            <a:off x="2715768" y="1611630"/>
            <a:ext cx="157734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2700"/>
              <a:buFont typeface="Cambria"/>
              <a:buNone/>
            </a:pPr>
            <a:r>
              <a:rPr b="1" i="0" lang="en" sz="2700" u="none" cap="none" strike="noStrike">
                <a:solidFill>
                  <a:srgbClr val="C0392B"/>
                </a:solidFill>
                <a:latin typeface="Cambria"/>
                <a:ea typeface="Cambria"/>
                <a:cs typeface="Cambria"/>
                <a:sym typeface="Cambria"/>
              </a:rPr>
              <a:t>5,000+</a:t>
            </a:r>
            <a:endParaRPr b="0" i="0" sz="2700" u="none" cap="none" strike="noStrike">
              <a:solidFill>
                <a:schemeClr val="dk1"/>
              </a:solidFill>
              <a:latin typeface="Calibri"/>
              <a:ea typeface="Calibri"/>
              <a:cs typeface="Calibri"/>
              <a:sym typeface="Calibri"/>
            </a:endParaRPr>
          </a:p>
        </p:txBody>
      </p:sp>
      <p:sp>
        <p:nvSpPr>
          <p:cNvPr id="74" name="Google Shape;74;p16"/>
          <p:cNvSpPr txBox="1"/>
          <p:nvPr/>
        </p:nvSpPr>
        <p:spPr>
          <a:xfrm>
            <a:off x="2715768" y="2112264"/>
            <a:ext cx="1611630" cy="493776"/>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3E434A"/>
              </a:buClr>
              <a:buSzPts val="900"/>
              <a:buFont typeface="Calibri"/>
              <a:buNone/>
            </a:pPr>
            <a:r>
              <a:rPr b="0" i="0" lang="en" sz="900" u="none" cap="none" strike="noStrike">
                <a:solidFill>
                  <a:srgbClr val="3E434A"/>
                </a:solidFill>
                <a:latin typeface="Calibri"/>
                <a:ea typeface="Calibri"/>
                <a:cs typeface="Calibri"/>
                <a:sym typeface="Calibri"/>
              </a:rPr>
              <a:t>law enforcement</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3E434A"/>
              </a:buClr>
              <a:buSzPts val="900"/>
              <a:buFont typeface="Calibri"/>
              <a:buNone/>
            </a:pPr>
            <a:r>
              <a:rPr b="0" i="0" lang="en" sz="900" u="none" cap="none" strike="noStrike">
                <a:solidFill>
                  <a:srgbClr val="3E434A"/>
                </a:solidFill>
                <a:latin typeface="Calibri"/>
                <a:ea typeface="Calibri"/>
                <a:cs typeface="Calibri"/>
                <a:sym typeface="Calibri"/>
              </a:rPr>
              <a:t>agencies as customers</a:t>
            </a:r>
            <a:endParaRPr b="0" i="0" sz="900" u="none" cap="none" strike="noStrike">
              <a:solidFill>
                <a:schemeClr val="dk1"/>
              </a:solidFill>
              <a:latin typeface="Calibri"/>
              <a:ea typeface="Calibri"/>
              <a:cs typeface="Calibri"/>
              <a:sym typeface="Calibri"/>
            </a:endParaRPr>
          </a:p>
        </p:txBody>
      </p:sp>
      <p:sp>
        <p:nvSpPr>
          <p:cNvPr id="75" name="Google Shape;75;p16"/>
          <p:cNvSpPr/>
          <p:nvPr/>
        </p:nvSpPr>
        <p:spPr>
          <a:xfrm>
            <a:off x="4677156" y="1474470"/>
            <a:ext cx="1920240" cy="1200150"/>
          </a:xfrm>
          <a:prstGeom prst="roundRect">
            <a:avLst>
              <a:gd fmla="val 4571"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6" name="Google Shape;76;p16"/>
          <p:cNvSpPr txBox="1"/>
          <p:nvPr/>
        </p:nvSpPr>
        <p:spPr>
          <a:xfrm>
            <a:off x="4848606" y="1611630"/>
            <a:ext cx="157734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2700"/>
              <a:buFont typeface="Cambria"/>
              <a:buNone/>
            </a:pPr>
            <a:r>
              <a:rPr b="1" i="0" lang="en" sz="2700" u="none" cap="none" strike="noStrike">
                <a:solidFill>
                  <a:srgbClr val="C0392B"/>
                </a:solidFill>
                <a:latin typeface="Cambria"/>
                <a:ea typeface="Cambria"/>
                <a:cs typeface="Cambria"/>
                <a:sym typeface="Cambria"/>
              </a:rPr>
              <a:t>$7.5B</a:t>
            </a:r>
            <a:endParaRPr b="0" i="0" sz="2700" u="none" cap="none" strike="noStrike">
              <a:solidFill>
                <a:schemeClr val="dk1"/>
              </a:solidFill>
              <a:latin typeface="Calibri"/>
              <a:ea typeface="Calibri"/>
              <a:cs typeface="Calibri"/>
              <a:sym typeface="Calibri"/>
            </a:endParaRPr>
          </a:p>
        </p:txBody>
      </p:sp>
      <p:sp>
        <p:nvSpPr>
          <p:cNvPr id="77" name="Google Shape;77;p16"/>
          <p:cNvSpPr txBox="1"/>
          <p:nvPr/>
        </p:nvSpPr>
        <p:spPr>
          <a:xfrm>
            <a:off x="4848606" y="2112264"/>
            <a:ext cx="1611630" cy="493776"/>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3E434A"/>
              </a:buClr>
              <a:buSzPts val="900"/>
              <a:buFont typeface="Calibri"/>
              <a:buNone/>
            </a:pPr>
            <a:r>
              <a:rPr b="0" i="0" lang="en" sz="900" u="none" cap="none" strike="noStrike">
                <a:solidFill>
                  <a:srgbClr val="3E434A"/>
                </a:solidFill>
                <a:latin typeface="Calibri"/>
                <a:ea typeface="Calibri"/>
                <a:cs typeface="Calibri"/>
                <a:sym typeface="Calibri"/>
              </a:rPr>
              <a:t>valuation at its</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3E434A"/>
              </a:buClr>
              <a:buSzPts val="900"/>
              <a:buFont typeface="Calibri"/>
              <a:buNone/>
            </a:pPr>
            <a:r>
              <a:rPr b="0" i="0" lang="en" sz="900" u="none" cap="none" strike="noStrike">
                <a:solidFill>
                  <a:srgbClr val="3E434A"/>
                </a:solidFill>
                <a:latin typeface="Calibri"/>
                <a:ea typeface="Calibri"/>
                <a:cs typeface="Calibri"/>
                <a:sym typeface="Calibri"/>
              </a:rPr>
              <a:t>March 2025 raise</a:t>
            </a:r>
            <a:endParaRPr b="0" i="0" sz="900" u="none" cap="none" strike="noStrike">
              <a:solidFill>
                <a:schemeClr val="dk1"/>
              </a:solidFill>
              <a:latin typeface="Calibri"/>
              <a:ea typeface="Calibri"/>
              <a:cs typeface="Calibri"/>
              <a:sym typeface="Calibri"/>
            </a:endParaRPr>
          </a:p>
        </p:txBody>
      </p:sp>
      <p:sp>
        <p:nvSpPr>
          <p:cNvPr id="78" name="Google Shape;78;p16"/>
          <p:cNvSpPr/>
          <p:nvPr/>
        </p:nvSpPr>
        <p:spPr>
          <a:xfrm>
            <a:off x="6809994" y="1474470"/>
            <a:ext cx="1920240" cy="1200150"/>
          </a:xfrm>
          <a:prstGeom prst="roundRect">
            <a:avLst>
              <a:gd fmla="val 4571"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9" name="Google Shape;79;p16"/>
          <p:cNvSpPr txBox="1"/>
          <p:nvPr/>
        </p:nvSpPr>
        <p:spPr>
          <a:xfrm>
            <a:off x="6981444" y="1611630"/>
            <a:ext cx="157734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2700"/>
              <a:buFont typeface="Cambria"/>
              <a:buNone/>
            </a:pPr>
            <a:r>
              <a:rPr b="1" i="0" lang="en" sz="2700" u="none" cap="none" strike="noStrike">
                <a:solidFill>
                  <a:srgbClr val="C0392B"/>
                </a:solidFill>
                <a:latin typeface="Cambria"/>
                <a:ea typeface="Cambria"/>
                <a:cs typeface="Cambria"/>
                <a:sym typeface="Cambria"/>
              </a:rPr>
              <a:t>50+</a:t>
            </a:r>
            <a:endParaRPr b="0" i="0" sz="2700" u="none" cap="none" strike="noStrike">
              <a:solidFill>
                <a:schemeClr val="dk1"/>
              </a:solidFill>
              <a:latin typeface="Calibri"/>
              <a:ea typeface="Calibri"/>
              <a:cs typeface="Calibri"/>
              <a:sym typeface="Calibri"/>
            </a:endParaRPr>
          </a:p>
        </p:txBody>
      </p:sp>
      <p:sp>
        <p:nvSpPr>
          <p:cNvPr id="80" name="Google Shape;80;p16"/>
          <p:cNvSpPr txBox="1"/>
          <p:nvPr/>
        </p:nvSpPr>
        <p:spPr>
          <a:xfrm>
            <a:off x="6981444" y="2112264"/>
            <a:ext cx="1611630" cy="493776"/>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3E434A"/>
              </a:buClr>
              <a:buSzPts val="900"/>
              <a:buFont typeface="Calibri"/>
              <a:buNone/>
            </a:pPr>
            <a:r>
              <a:rPr b="0" i="0" lang="en" sz="900" u="none" cap="none" strike="noStrike">
                <a:solidFill>
                  <a:srgbClr val="3E434A"/>
                </a:solidFill>
                <a:latin typeface="Calibri"/>
                <a:ea typeface="Calibri"/>
                <a:cs typeface="Calibri"/>
                <a:sym typeface="Calibri"/>
              </a:rPr>
              <a:t>officers accused of</a:t>
            </a:r>
            <a:endParaRPr b="0" i="0" sz="9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3E434A"/>
              </a:buClr>
              <a:buSzPts val="900"/>
              <a:buFont typeface="Calibri"/>
              <a:buNone/>
            </a:pPr>
            <a:r>
              <a:rPr b="0" i="0" lang="en" sz="900" u="none" cap="none" strike="noStrike">
                <a:solidFill>
                  <a:srgbClr val="3E434A"/>
                </a:solidFill>
                <a:latin typeface="Calibri"/>
                <a:ea typeface="Calibri"/>
                <a:cs typeface="Calibri"/>
                <a:sym typeface="Calibri"/>
              </a:rPr>
              <a:t>misusing the data</a:t>
            </a:r>
            <a:endParaRPr b="0" i="0" sz="900" u="none" cap="none" strike="noStrike">
              <a:solidFill>
                <a:schemeClr val="dk1"/>
              </a:solidFill>
              <a:latin typeface="Calibri"/>
              <a:ea typeface="Calibri"/>
              <a:cs typeface="Calibri"/>
              <a:sym typeface="Calibri"/>
            </a:endParaRPr>
          </a:p>
        </p:txBody>
      </p:sp>
      <p:sp>
        <p:nvSpPr>
          <p:cNvPr id="81" name="Google Shape;81;p16"/>
          <p:cNvSpPr/>
          <p:nvPr/>
        </p:nvSpPr>
        <p:spPr>
          <a:xfrm>
            <a:off x="411480" y="2914650"/>
            <a:ext cx="4018788" cy="1714500"/>
          </a:xfrm>
          <a:prstGeom prst="roundRect">
            <a:avLst>
              <a:gd fmla="val 3200" name="adj"/>
            </a:avLst>
          </a:prstGeom>
          <a:solidFill>
            <a:srgbClr val="E8E5DE"/>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 name="Google Shape;82;p16"/>
          <p:cNvSpPr txBox="1"/>
          <p:nvPr/>
        </p:nvSpPr>
        <p:spPr>
          <a:xfrm>
            <a:off x="651510" y="3086100"/>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300"/>
              <a:buFont typeface="Cambria"/>
              <a:buNone/>
            </a:pPr>
            <a:r>
              <a:rPr b="1" i="0" lang="en" sz="1300" u="none" cap="none" strike="noStrike">
                <a:solidFill>
                  <a:srgbClr val="16191D"/>
                </a:solidFill>
                <a:latin typeface="Cambria"/>
                <a:ea typeface="Cambria"/>
                <a:cs typeface="Cambria"/>
                <a:sym typeface="Cambria"/>
              </a:rPr>
              <a:t>What the misuse looks like</a:t>
            </a:r>
            <a:endParaRPr b="0" i="0" sz="1300" u="none" cap="none" strike="noStrike">
              <a:solidFill>
                <a:schemeClr val="dk1"/>
              </a:solidFill>
              <a:latin typeface="Calibri"/>
              <a:ea typeface="Calibri"/>
              <a:cs typeface="Calibri"/>
              <a:sym typeface="Calibri"/>
            </a:endParaRPr>
          </a:p>
        </p:txBody>
      </p:sp>
      <p:sp>
        <p:nvSpPr>
          <p:cNvPr id="83" name="Google Shape;83;p16"/>
          <p:cNvSpPr txBox="1"/>
          <p:nvPr/>
        </p:nvSpPr>
        <p:spPr>
          <a:xfrm>
            <a:off x="651510" y="3394710"/>
            <a:ext cx="3566160" cy="1097280"/>
          </a:xfrm>
          <a:prstGeom prst="rect">
            <a:avLst/>
          </a:prstGeom>
          <a:noFill/>
          <a:ln>
            <a:noFill/>
          </a:ln>
        </p:spPr>
        <p:txBody>
          <a:bodyPr anchorCtr="0" anchor="ctr" bIns="0" lIns="0" spcFirstLastPara="1" rIns="0" wrap="square" tIns="0">
            <a:noAutofit/>
          </a:bodyPr>
          <a:lstStyle/>
          <a:p>
            <a:pPr indent="-254000" lvl="0" marL="254000" marR="0" rtl="0" algn="l">
              <a:spcBef>
                <a:spcPts val="0"/>
              </a:spcBef>
              <a:spcAft>
                <a:spcPts val="0"/>
              </a:spcAft>
              <a:buClr>
                <a:srgbClr val="3E434A"/>
              </a:buClr>
              <a:buSzPts val="1000"/>
              <a:buFont typeface="Calibri"/>
              <a:buChar char="•"/>
            </a:pPr>
            <a:r>
              <a:rPr b="0" i="0" lang="en" sz="1000" u="none" cap="none" strike="noStrike">
                <a:solidFill>
                  <a:srgbClr val="3E434A"/>
                </a:solidFill>
                <a:latin typeface="Calibri"/>
                <a:ea typeface="Calibri"/>
                <a:cs typeface="Calibri"/>
                <a:sym typeface="Calibri"/>
              </a:rPr>
              <a:t>26 of the 50+ cases involved officers tracking wives, girlfriends, exes, or women they wanted to approach.</a:t>
            </a:r>
            <a:endParaRPr b="0" i="0" sz="1000" u="none" cap="none" strike="noStrike">
              <a:solidFill>
                <a:schemeClr val="dk1"/>
              </a:solidFill>
              <a:latin typeface="Calibri"/>
              <a:ea typeface="Calibri"/>
              <a:cs typeface="Calibri"/>
              <a:sym typeface="Calibri"/>
            </a:endParaRPr>
          </a:p>
          <a:p>
            <a:pPr indent="-254000" lvl="0" marL="254000" marR="0" rtl="0" algn="l">
              <a:spcBef>
                <a:spcPts val="500"/>
              </a:spcBef>
              <a:spcAft>
                <a:spcPts val="0"/>
              </a:spcAft>
              <a:buClr>
                <a:srgbClr val="3E434A"/>
              </a:buClr>
              <a:buSzPts val="1000"/>
              <a:buFont typeface="Calibri"/>
              <a:buChar char="•"/>
            </a:pPr>
            <a:r>
              <a:rPr b="0" i="0" lang="en" sz="1000" u="none" cap="none" strike="noStrike">
                <a:solidFill>
                  <a:srgbClr val="3E434A"/>
                </a:solidFill>
                <a:latin typeface="Calibri"/>
                <a:ea typeface="Calibri"/>
                <a:cs typeface="Calibri"/>
                <a:sym typeface="Calibri"/>
              </a:rPr>
              <a:t>One Georgia deputy searched a single woman's plate 1,639 times.</a:t>
            </a:r>
            <a:endParaRPr b="0" i="0" sz="1000" u="none" cap="none" strike="noStrike">
              <a:solidFill>
                <a:schemeClr val="dk1"/>
              </a:solidFill>
              <a:latin typeface="Calibri"/>
              <a:ea typeface="Calibri"/>
              <a:cs typeface="Calibri"/>
              <a:sym typeface="Calibri"/>
            </a:endParaRPr>
          </a:p>
          <a:p>
            <a:pPr indent="-254000" lvl="0" marL="254000" marR="0" rtl="0" algn="l">
              <a:spcBef>
                <a:spcPts val="500"/>
              </a:spcBef>
              <a:spcAft>
                <a:spcPts val="0"/>
              </a:spcAft>
              <a:buClr>
                <a:srgbClr val="3E434A"/>
              </a:buClr>
              <a:buSzPts val="1000"/>
              <a:buFont typeface="Calibri"/>
              <a:buChar char="•"/>
            </a:pPr>
            <a:r>
              <a:rPr b="0" i="0" lang="en" sz="1000" u="none" cap="none" strike="noStrike">
                <a:solidFill>
                  <a:srgbClr val="3E434A"/>
                </a:solidFill>
                <a:latin typeface="Calibri"/>
                <a:ea typeface="Calibri"/>
                <a:cs typeface="Calibri"/>
                <a:sym typeface="Calibri"/>
              </a:rPr>
              <a:t>Searches needed only a free-text reason. "Investigation" was the most common entry.</a:t>
            </a:r>
            <a:endParaRPr b="0" i="0" sz="1000" u="none" cap="none" strike="noStrike">
              <a:solidFill>
                <a:schemeClr val="dk1"/>
              </a:solidFill>
              <a:latin typeface="Calibri"/>
              <a:ea typeface="Calibri"/>
              <a:cs typeface="Calibri"/>
              <a:sym typeface="Calibri"/>
            </a:endParaRPr>
          </a:p>
        </p:txBody>
      </p:sp>
      <p:sp>
        <p:nvSpPr>
          <p:cNvPr id="84" name="Google Shape;84;p16"/>
          <p:cNvSpPr/>
          <p:nvPr/>
        </p:nvSpPr>
        <p:spPr>
          <a:xfrm>
            <a:off x="4711446" y="2914650"/>
            <a:ext cx="4018788" cy="1714500"/>
          </a:xfrm>
          <a:prstGeom prst="roundRect">
            <a:avLst>
              <a:gd fmla="val 3200" name="adj"/>
            </a:avLst>
          </a:prstGeom>
          <a:solidFill>
            <a:srgbClr val="E8E5DE"/>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16"/>
          <p:cNvSpPr txBox="1"/>
          <p:nvPr/>
        </p:nvSpPr>
        <p:spPr>
          <a:xfrm>
            <a:off x="4951476" y="3086100"/>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300"/>
              <a:buFont typeface="Cambria"/>
              <a:buNone/>
            </a:pPr>
            <a:r>
              <a:rPr b="1" i="0" lang="en" sz="1300" u="none" cap="none" strike="noStrike">
                <a:solidFill>
                  <a:srgbClr val="16191D"/>
                </a:solidFill>
                <a:latin typeface="Cambria"/>
                <a:ea typeface="Cambria"/>
                <a:cs typeface="Cambria"/>
                <a:sym typeface="Cambria"/>
              </a:rPr>
              <a:t>Why it stopped being local</a:t>
            </a:r>
            <a:endParaRPr b="0" i="0" sz="1300" u="none" cap="none" strike="noStrike">
              <a:solidFill>
                <a:schemeClr val="dk1"/>
              </a:solidFill>
              <a:latin typeface="Calibri"/>
              <a:ea typeface="Calibri"/>
              <a:cs typeface="Calibri"/>
              <a:sym typeface="Calibri"/>
            </a:endParaRPr>
          </a:p>
        </p:txBody>
      </p:sp>
      <p:sp>
        <p:nvSpPr>
          <p:cNvPr id="86" name="Google Shape;86;p16"/>
          <p:cNvSpPr txBox="1"/>
          <p:nvPr/>
        </p:nvSpPr>
        <p:spPr>
          <a:xfrm>
            <a:off x="4951476" y="3394710"/>
            <a:ext cx="3566160" cy="1097280"/>
          </a:xfrm>
          <a:prstGeom prst="rect">
            <a:avLst/>
          </a:prstGeom>
          <a:noFill/>
          <a:ln>
            <a:noFill/>
          </a:ln>
        </p:spPr>
        <p:txBody>
          <a:bodyPr anchorCtr="0" anchor="ctr" bIns="0" lIns="0" spcFirstLastPara="1" rIns="0" wrap="square" tIns="0">
            <a:noAutofit/>
          </a:bodyPr>
          <a:lstStyle/>
          <a:p>
            <a:pPr indent="-254000" lvl="0" marL="254000" marR="0" rtl="0" algn="l">
              <a:spcBef>
                <a:spcPts val="0"/>
              </a:spcBef>
              <a:spcAft>
                <a:spcPts val="0"/>
              </a:spcAft>
              <a:buClr>
                <a:srgbClr val="3E434A"/>
              </a:buClr>
              <a:buSzPts val="1000"/>
              <a:buFont typeface="Calibri"/>
              <a:buChar char="•"/>
            </a:pPr>
            <a:r>
              <a:rPr b="0" i="0" lang="en" sz="1000" u="none" cap="none" strike="noStrike">
                <a:solidFill>
                  <a:srgbClr val="3E434A"/>
                </a:solidFill>
                <a:latin typeface="Calibri"/>
                <a:ea typeface="Calibri"/>
                <a:cs typeface="Calibri"/>
                <a:sym typeface="Calibri"/>
              </a:rPr>
              <a:t>Agencies share data across the network with a click, so a local traffic tool became a national one.</a:t>
            </a:r>
            <a:endParaRPr b="0" i="0" sz="1000" u="none" cap="none" strike="noStrike">
              <a:solidFill>
                <a:schemeClr val="dk1"/>
              </a:solidFill>
              <a:latin typeface="Calibri"/>
              <a:ea typeface="Calibri"/>
              <a:cs typeface="Calibri"/>
              <a:sym typeface="Calibri"/>
            </a:endParaRPr>
          </a:p>
          <a:p>
            <a:pPr indent="-254000" lvl="0" marL="254000" marR="0" rtl="0" algn="l">
              <a:spcBef>
                <a:spcPts val="500"/>
              </a:spcBef>
              <a:spcAft>
                <a:spcPts val="0"/>
              </a:spcAft>
              <a:buClr>
                <a:srgbClr val="3E434A"/>
              </a:buClr>
              <a:buSzPts val="1000"/>
              <a:buFont typeface="Calibri"/>
              <a:buChar char="•"/>
            </a:pPr>
            <a:r>
              <a:rPr b="0" i="0" lang="en" sz="1000" u="none" cap="none" strike="noStrike">
                <a:solidFill>
                  <a:srgbClr val="3E434A"/>
                </a:solidFill>
                <a:latin typeface="Calibri"/>
                <a:ea typeface="Calibri"/>
                <a:cs typeface="Calibri"/>
                <a:sym typeface="Calibri"/>
              </a:rPr>
              <a:t>Federal immigration enforcement gained access to camera data built for local traffic use.</a:t>
            </a:r>
            <a:endParaRPr b="0" i="0" sz="1000" u="none" cap="none" strike="noStrike">
              <a:solidFill>
                <a:schemeClr val="dk1"/>
              </a:solidFill>
              <a:latin typeface="Calibri"/>
              <a:ea typeface="Calibri"/>
              <a:cs typeface="Calibri"/>
              <a:sym typeface="Calibri"/>
            </a:endParaRPr>
          </a:p>
          <a:p>
            <a:pPr indent="-254000" lvl="0" marL="254000" marR="0" rtl="0" algn="l">
              <a:spcBef>
                <a:spcPts val="500"/>
              </a:spcBef>
              <a:spcAft>
                <a:spcPts val="0"/>
              </a:spcAft>
              <a:buClr>
                <a:srgbClr val="3E434A"/>
              </a:buClr>
              <a:buSzPts val="1000"/>
              <a:buFont typeface="Calibri"/>
              <a:buChar char="•"/>
            </a:pPr>
            <a:r>
              <a:rPr b="0" i="0" lang="en" sz="1000" u="none" cap="none" strike="noStrike">
                <a:solidFill>
                  <a:srgbClr val="3E434A"/>
                </a:solidFill>
                <a:latin typeface="Calibri"/>
                <a:ea typeface="Calibri"/>
                <a:cs typeface="Calibri"/>
                <a:sym typeface="Calibri"/>
              </a:rPr>
              <a:t>Carpenter (2018) requires a warrant for cell-site location data. It binds government, not a vendor.</a:t>
            </a:r>
            <a:endParaRPr b="0" i="0" sz="1000" u="none" cap="none" strike="noStrike">
              <a:solidFill>
                <a:schemeClr val="dk1"/>
              </a:solidFill>
              <a:latin typeface="Calibri"/>
              <a:ea typeface="Calibri"/>
              <a:cs typeface="Calibri"/>
              <a:sym typeface="Calibri"/>
            </a:endParaRPr>
          </a:p>
        </p:txBody>
      </p:sp>
      <p:sp>
        <p:nvSpPr>
          <p:cNvPr id="87" name="Google Shape;87;p16"/>
          <p:cNvSpPr txBox="1"/>
          <p:nvPr/>
        </p:nvSpPr>
        <p:spPr>
          <a:xfrm>
            <a:off x="411480" y="4814316"/>
            <a:ext cx="831875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700"/>
              <a:buFont typeface="Calibri"/>
              <a:buNone/>
            </a:pPr>
            <a:r>
              <a:rPr b="0" i="0" lang="en" sz="700" u="none" cap="none" strike="noStrike">
                <a:solidFill>
                  <a:srgbClr val="6B7178"/>
                </a:solidFill>
                <a:latin typeface="Calibri"/>
                <a:ea typeface="Calibri"/>
                <a:cs typeface="Calibri"/>
                <a:sym typeface="Calibri"/>
              </a:rPr>
              <a:t>Sources: Flock Safety press release and GlobeNewswire (Mar 2025) · Washington Post ALPR misuse investigation (Aug 2026) · CNN and Institute for Justice ALPR abuse database (2026) · Carpenter v. United States, 585 U.S. 296 (2018)</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3F0"/>
        </a:solidFill>
      </p:bgPr>
    </p:bg>
    <p:spTree>
      <p:nvGrpSpPr>
        <p:cNvPr id="92" name="Shape 92"/>
        <p:cNvGrpSpPr/>
        <p:nvPr/>
      </p:nvGrpSpPr>
      <p:grpSpPr>
        <a:xfrm>
          <a:off x="0" y="0"/>
          <a:ext cx="0" cy="0"/>
          <a:chOff x="0" y="0"/>
          <a:chExt cx="0" cy="0"/>
        </a:xfrm>
      </p:grpSpPr>
      <p:sp>
        <p:nvSpPr>
          <p:cNvPr id="93" name="Google Shape;93;p17"/>
          <p:cNvSpPr txBox="1"/>
          <p:nvPr/>
        </p:nvSpPr>
        <p:spPr>
          <a:xfrm>
            <a:off x="411480" y="342900"/>
            <a:ext cx="831875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2600"/>
              <a:buFont typeface="Cambria"/>
              <a:buNone/>
            </a:pPr>
            <a:r>
              <a:rPr b="0" i="0" lang="en" sz="2600" u="none" cap="none" strike="noStrike">
                <a:solidFill>
                  <a:srgbClr val="16191D"/>
                </a:solidFill>
                <a:latin typeface="Cambria"/>
                <a:ea typeface="Cambria"/>
                <a:cs typeface="Cambria"/>
                <a:sym typeface="Cambria"/>
              </a:rPr>
              <a:t>2026 is the year it turned</a:t>
            </a:r>
            <a:endParaRPr b="0" i="0" sz="2600" u="none" cap="none" strike="noStrike">
              <a:solidFill>
                <a:schemeClr val="dk1"/>
              </a:solidFill>
              <a:latin typeface="Calibri"/>
              <a:ea typeface="Calibri"/>
              <a:cs typeface="Calibri"/>
              <a:sym typeface="Calibri"/>
            </a:endParaRPr>
          </a:p>
        </p:txBody>
      </p:sp>
      <p:sp>
        <p:nvSpPr>
          <p:cNvPr id="94" name="Google Shape;94;p17"/>
          <p:cNvSpPr txBox="1"/>
          <p:nvPr/>
        </p:nvSpPr>
        <p:spPr>
          <a:xfrm>
            <a:off x="411480" y="877824"/>
            <a:ext cx="7818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1100"/>
              <a:buFont typeface="Calibri"/>
              <a:buNone/>
            </a:pPr>
            <a:r>
              <a:rPr b="0" i="0" lang="en" sz="1100" u="none" cap="none" strike="noStrike">
                <a:solidFill>
                  <a:srgbClr val="6B7178"/>
                </a:solidFill>
                <a:latin typeface="Calibri"/>
                <a:ea typeface="Calibri"/>
                <a:cs typeface="Calibri"/>
                <a:sym typeface="Calibri"/>
              </a:rPr>
              <a:t>Five years took the technology from a specialised police tool to a national network. One year produced the backlash.</a:t>
            </a:r>
            <a:endParaRPr b="0" i="0" sz="1100" u="none" cap="none" strike="noStrike">
              <a:solidFill>
                <a:schemeClr val="dk1"/>
              </a:solidFill>
              <a:latin typeface="Calibri"/>
              <a:ea typeface="Calibri"/>
              <a:cs typeface="Calibri"/>
              <a:sym typeface="Calibri"/>
            </a:endParaRPr>
          </a:p>
        </p:txBody>
      </p:sp>
      <p:sp>
        <p:nvSpPr>
          <p:cNvPr id="95" name="Google Shape;95;p17"/>
          <p:cNvSpPr/>
          <p:nvPr/>
        </p:nvSpPr>
        <p:spPr>
          <a:xfrm>
            <a:off x="411480" y="1337310"/>
            <a:ext cx="1920240" cy="1405890"/>
          </a:xfrm>
          <a:prstGeom prst="roundRect">
            <a:avLst>
              <a:gd fmla="val 3902"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6" name="Google Shape;96;p17"/>
          <p:cNvSpPr txBox="1"/>
          <p:nvPr/>
        </p:nvSpPr>
        <p:spPr>
          <a:xfrm>
            <a:off x="582930" y="1474470"/>
            <a:ext cx="15773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Calibri"/>
              <a:buNone/>
            </a:pPr>
            <a:r>
              <a:rPr b="1" i="0" lang="en" sz="1000" u="none" cap="none" strike="noStrike">
                <a:solidFill>
                  <a:srgbClr val="C0392B"/>
                </a:solidFill>
                <a:latin typeface="Calibri"/>
                <a:ea typeface="Calibri"/>
                <a:cs typeface="Calibri"/>
                <a:sym typeface="Calibri"/>
              </a:rPr>
              <a:t>2021</a:t>
            </a:r>
            <a:endParaRPr b="0" i="0" sz="1000" u="none" cap="none" strike="noStrike">
              <a:solidFill>
                <a:schemeClr val="dk1"/>
              </a:solidFill>
              <a:latin typeface="Calibri"/>
              <a:ea typeface="Calibri"/>
              <a:cs typeface="Calibri"/>
              <a:sym typeface="Calibri"/>
            </a:endParaRPr>
          </a:p>
        </p:txBody>
      </p:sp>
      <p:sp>
        <p:nvSpPr>
          <p:cNvPr id="97" name="Google Shape;97;p17"/>
          <p:cNvSpPr txBox="1"/>
          <p:nvPr/>
        </p:nvSpPr>
        <p:spPr>
          <a:xfrm>
            <a:off x="582930" y="1714500"/>
            <a:ext cx="157734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200"/>
              <a:buFont typeface="Cambria"/>
              <a:buNone/>
            </a:pPr>
            <a:r>
              <a:rPr b="1" i="0" lang="en" sz="1200" u="none" cap="none" strike="noStrike">
                <a:solidFill>
                  <a:srgbClr val="16191D"/>
                </a:solidFill>
                <a:latin typeface="Cambria"/>
                <a:ea typeface="Cambria"/>
                <a:cs typeface="Cambria"/>
                <a:sym typeface="Cambria"/>
              </a:rPr>
              <a:t>A specialised tool</a:t>
            </a:r>
            <a:endParaRPr b="0" i="0" sz="1200" u="none" cap="none" strike="noStrike">
              <a:solidFill>
                <a:schemeClr val="dk1"/>
              </a:solidFill>
              <a:latin typeface="Calibri"/>
              <a:ea typeface="Calibri"/>
              <a:cs typeface="Calibri"/>
              <a:sym typeface="Calibri"/>
            </a:endParaRPr>
          </a:p>
        </p:txBody>
      </p:sp>
      <p:sp>
        <p:nvSpPr>
          <p:cNvPr id="98" name="Google Shape;98;p17"/>
          <p:cNvSpPr txBox="1"/>
          <p:nvPr/>
        </p:nvSpPr>
        <p:spPr>
          <a:xfrm>
            <a:off x="582930" y="2091690"/>
            <a:ext cx="1611630" cy="58293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E434A"/>
              </a:buClr>
              <a:buSzPts val="900"/>
              <a:buFont typeface="Calibri"/>
              <a:buNone/>
            </a:pPr>
            <a:r>
              <a:rPr b="0" i="0" lang="en" sz="900" u="none" cap="none" strike="noStrike">
                <a:solidFill>
                  <a:srgbClr val="3E434A"/>
                </a:solidFill>
                <a:latin typeface="Calibri"/>
                <a:ea typeface="Calibri"/>
                <a:cs typeface="Calibri"/>
                <a:sym typeface="Calibri"/>
              </a:rPr>
              <a:t>ALPRs are niche police equipment bought by a handful of departments.</a:t>
            </a:r>
            <a:endParaRPr b="0" i="0" sz="900" u="none" cap="none" strike="noStrike">
              <a:solidFill>
                <a:schemeClr val="dk1"/>
              </a:solidFill>
              <a:latin typeface="Calibri"/>
              <a:ea typeface="Calibri"/>
              <a:cs typeface="Calibri"/>
              <a:sym typeface="Calibri"/>
            </a:endParaRPr>
          </a:p>
        </p:txBody>
      </p:sp>
      <p:sp>
        <p:nvSpPr>
          <p:cNvPr id="99" name="Google Shape;99;p17"/>
          <p:cNvSpPr/>
          <p:nvPr/>
        </p:nvSpPr>
        <p:spPr>
          <a:xfrm>
            <a:off x="2544318" y="1337310"/>
            <a:ext cx="1920240" cy="1405890"/>
          </a:xfrm>
          <a:prstGeom prst="roundRect">
            <a:avLst>
              <a:gd fmla="val 3902"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0" name="Google Shape;100;p17"/>
          <p:cNvSpPr txBox="1"/>
          <p:nvPr/>
        </p:nvSpPr>
        <p:spPr>
          <a:xfrm>
            <a:off x="2715768" y="1474470"/>
            <a:ext cx="15773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Calibri"/>
              <a:buNone/>
            </a:pPr>
            <a:r>
              <a:rPr b="1" i="0" lang="en" sz="1000" u="none" cap="none" strike="noStrike">
                <a:solidFill>
                  <a:srgbClr val="C0392B"/>
                </a:solidFill>
                <a:latin typeface="Calibri"/>
                <a:ea typeface="Calibri"/>
                <a:cs typeface="Calibri"/>
                <a:sym typeface="Calibri"/>
              </a:rPr>
              <a:t>2022–24</a:t>
            </a:r>
            <a:endParaRPr b="0" i="0" sz="1000" u="none" cap="none" strike="noStrike">
              <a:solidFill>
                <a:schemeClr val="dk1"/>
              </a:solidFill>
              <a:latin typeface="Calibri"/>
              <a:ea typeface="Calibri"/>
              <a:cs typeface="Calibri"/>
              <a:sym typeface="Calibri"/>
            </a:endParaRPr>
          </a:p>
        </p:txBody>
      </p:sp>
      <p:sp>
        <p:nvSpPr>
          <p:cNvPr id="101" name="Google Shape;101;p17"/>
          <p:cNvSpPr txBox="1"/>
          <p:nvPr/>
        </p:nvSpPr>
        <p:spPr>
          <a:xfrm>
            <a:off x="2715768" y="1714500"/>
            <a:ext cx="157734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200"/>
              <a:buFont typeface="Cambria"/>
              <a:buNone/>
            </a:pPr>
            <a:r>
              <a:rPr b="1" i="0" lang="en" sz="1200" u="none" cap="none" strike="noStrike">
                <a:solidFill>
                  <a:srgbClr val="16191D"/>
                </a:solidFill>
                <a:latin typeface="Cambria"/>
                <a:ea typeface="Cambria"/>
                <a:cs typeface="Cambria"/>
                <a:sym typeface="Cambria"/>
              </a:rPr>
              <a:t>The default purchase</a:t>
            </a:r>
            <a:endParaRPr b="0" i="0" sz="1200" u="none" cap="none" strike="noStrike">
              <a:solidFill>
                <a:schemeClr val="dk1"/>
              </a:solidFill>
              <a:latin typeface="Calibri"/>
              <a:ea typeface="Calibri"/>
              <a:cs typeface="Calibri"/>
              <a:sym typeface="Calibri"/>
            </a:endParaRPr>
          </a:p>
        </p:txBody>
      </p:sp>
      <p:sp>
        <p:nvSpPr>
          <p:cNvPr id="102" name="Google Shape;102;p17"/>
          <p:cNvSpPr txBox="1"/>
          <p:nvPr/>
        </p:nvSpPr>
        <p:spPr>
          <a:xfrm>
            <a:off x="2715768" y="2091690"/>
            <a:ext cx="1611630" cy="58293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E434A"/>
              </a:buClr>
              <a:buSzPts val="900"/>
              <a:buFont typeface="Calibri"/>
              <a:buNone/>
            </a:pPr>
            <a:r>
              <a:rPr b="0" i="0" lang="en" sz="900" u="none" cap="none" strike="noStrike">
                <a:solidFill>
                  <a:srgbClr val="3E434A"/>
                </a:solidFill>
                <a:latin typeface="Calibri"/>
                <a:ea typeface="Calibri"/>
                <a:cs typeface="Calibri"/>
                <a:sym typeface="Calibri"/>
              </a:rPr>
              <a:t>VC-funded growth makes Flock standard for small cities and a common HOA amenity.</a:t>
            </a:r>
            <a:endParaRPr b="0" i="0" sz="900" u="none" cap="none" strike="noStrike">
              <a:solidFill>
                <a:schemeClr val="dk1"/>
              </a:solidFill>
              <a:latin typeface="Calibri"/>
              <a:ea typeface="Calibri"/>
              <a:cs typeface="Calibri"/>
              <a:sym typeface="Calibri"/>
            </a:endParaRPr>
          </a:p>
        </p:txBody>
      </p:sp>
      <p:sp>
        <p:nvSpPr>
          <p:cNvPr id="103" name="Google Shape;103;p17"/>
          <p:cNvSpPr/>
          <p:nvPr/>
        </p:nvSpPr>
        <p:spPr>
          <a:xfrm>
            <a:off x="4677156" y="1337310"/>
            <a:ext cx="1920240" cy="1405890"/>
          </a:xfrm>
          <a:prstGeom prst="roundRect">
            <a:avLst>
              <a:gd fmla="val 3902"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 name="Google Shape;104;p17"/>
          <p:cNvSpPr txBox="1"/>
          <p:nvPr/>
        </p:nvSpPr>
        <p:spPr>
          <a:xfrm>
            <a:off x="4848606" y="1474470"/>
            <a:ext cx="15773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Calibri"/>
              <a:buNone/>
            </a:pPr>
            <a:r>
              <a:rPr b="1" i="0" lang="en" sz="1000" u="none" cap="none" strike="noStrike">
                <a:solidFill>
                  <a:srgbClr val="C0392B"/>
                </a:solidFill>
                <a:latin typeface="Calibri"/>
                <a:ea typeface="Calibri"/>
                <a:cs typeface="Calibri"/>
                <a:sym typeface="Calibri"/>
              </a:rPr>
              <a:t>2024–25</a:t>
            </a:r>
            <a:endParaRPr b="0" i="0" sz="1000" u="none" cap="none" strike="noStrike">
              <a:solidFill>
                <a:schemeClr val="dk1"/>
              </a:solidFill>
              <a:latin typeface="Calibri"/>
              <a:ea typeface="Calibri"/>
              <a:cs typeface="Calibri"/>
              <a:sym typeface="Calibri"/>
            </a:endParaRPr>
          </a:p>
        </p:txBody>
      </p:sp>
      <p:sp>
        <p:nvSpPr>
          <p:cNvPr id="105" name="Google Shape;105;p17"/>
          <p:cNvSpPr txBox="1"/>
          <p:nvPr/>
        </p:nvSpPr>
        <p:spPr>
          <a:xfrm>
            <a:off x="4848606" y="1714500"/>
            <a:ext cx="157734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200"/>
              <a:buFont typeface="Cambria"/>
              <a:buNone/>
            </a:pPr>
            <a:r>
              <a:rPr b="1" i="0" lang="en" sz="1200" u="none" cap="none" strike="noStrike">
                <a:solidFill>
                  <a:srgbClr val="16191D"/>
                </a:solidFill>
                <a:latin typeface="Cambria"/>
                <a:ea typeface="Cambria"/>
                <a:cs typeface="Cambria"/>
                <a:sym typeface="Cambria"/>
              </a:rPr>
              <a:t>It goes national</a:t>
            </a:r>
            <a:endParaRPr b="0" i="0" sz="1200" u="none" cap="none" strike="noStrike">
              <a:solidFill>
                <a:schemeClr val="dk1"/>
              </a:solidFill>
              <a:latin typeface="Calibri"/>
              <a:ea typeface="Calibri"/>
              <a:cs typeface="Calibri"/>
              <a:sym typeface="Calibri"/>
            </a:endParaRPr>
          </a:p>
        </p:txBody>
      </p:sp>
      <p:sp>
        <p:nvSpPr>
          <p:cNvPr id="106" name="Google Shape;106;p17"/>
          <p:cNvSpPr txBox="1"/>
          <p:nvPr/>
        </p:nvSpPr>
        <p:spPr>
          <a:xfrm>
            <a:off x="4848606" y="2091690"/>
            <a:ext cx="1611630" cy="58293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E434A"/>
              </a:buClr>
              <a:buSzPts val="900"/>
              <a:buFont typeface="Calibri"/>
              <a:buNone/>
            </a:pPr>
            <a:r>
              <a:rPr b="0" i="0" lang="en" sz="900" u="none" cap="none" strike="noStrike">
                <a:solidFill>
                  <a:srgbClr val="3E434A"/>
                </a:solidFill>
                <a:latin typeface="Calibri"/>
                <a:ea typeface="Calibri"/>
                <a:cs typeface="Calibri"/>
                <a:sym typeface="Calibri"/>
              </a:rPr>
              <a:t>Cross-agency sharing reaches federal immigration enforcement.</a:t>
            </a:r>
            <a:endParaRPr b="0" i="0" sz="900" u="none" cap="none" strike="noStrike">
              <a:solidFill>
                <a:schemeClr val="dk1"/>
              </a:solidFill>
              <a:latin typeface="Calibri"/>
              <a:ea typeface="Calibri"/>
              <a:cs typeface="Calibri"/>
              <a:sym typeface="Calibri"/>
            </a:endParaRPr>
          </a:p>
        </p:txBody>
      </p:sp>
      <p:sp>
        <p:nvSpPr>
          <p:cNvPr id="107" name="Google Shape;107;p17"/>
          <p:cNvSpPr/>
          <p:nvPr/>
        </p:nvSpPr>
        <p:spPr>
          <a:xfrm>
            <a:off x="6809994" y="1337310"/>
            <a:ext cx="1920240" cy="1405890"/>
          </a:xfrm>
          <a:prstGeom prst="roundRect">
            <a:avLst>
              <a:gd fmla="val 3902"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8" name="Google Shape;108;p17"/>
          <p:cNvSpPr txBox="1"/>
          <p:nvPr/>
        </p:nvSpPr>
        <p:spPr>
          <a:xfrm>
            <a:off x="6981444" y="1474470"/>
            <a:ext cx="157734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Calibri"/>
              <a:buNone/>
            </a:pPr>
            <a:r>
              <a:rPr b="1" i="0" lang="en" sz="1000" u="none" cap="none" strike="noStrike">
                <a:solidFill>
                  <a:srgbClr val="C0392B"/>
                </a:solidFill>
                <a:latin typeface="Calibri"/>
                <a:ea typeface="Calibri"/>
                <a:cs typeface="Calibri"/>
                <a:sym typeface="Calibri"/>
              </a:rPr>
              <a:t>2026</a:t>
            </a:r>
            <a:endParaRPr b="0" i="0" sz="1000" u="none" cap="none" strike="noStrike">
              <a:solidFill>
                <a:schemeClr val="dk1"/>
              </a:solidFill>
              <a:latin typeface="Calibri"/>
              <a:ea typeface="Calibri"/>
              <a:cs typeface="Calibri"/>
              <a:sym typeface="Calibri"/>
            </a:endParaRPr>
          </a:p>
        </p:txBody>
      </p:sp>
      <p:sp>
        <p:nvSpPr>
          <p:cNvPr id="109" name="Google Shape;109;p17"/>
          <p:cNvSpPr txBox="1"/>
          <p:nvPr/>
        </p:nvSpPr>
        <p:spPr>
          <a:xfrm>
            <a:off x="6981444" y="1714500"/>
            <a:ext cx="157734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200"/>
              <a:buFont typeface="Cambria"/>
              <a:buNone/>
            </a:pPr>
            <a:r>
              <a:rPr b="1" i="0" lang="en" sz="1200" u="none" cap="none" strike="noStrike">
                <a:solidFill>
                  <a:srgbClr val="16191D"/>
                </a:solidFill>
                <a:latin typeface="Cambria"/>
                <a:ea typeface="Cambria"/>
                <a:cs typeface="Cambria"/>
                <a:sym typeface="Cambria"/>
              </a:rPr>
              <a:t>The public arrives</a:t>
            </a:r>
            <a:endParaRPr b="0" i="0" sz="1200" u="none" cap="none" strike="noStrike">
              <a:solidFill>
                <a:schemeClr val="dk1"/>
              </a:solidFill>
              <a:latin typeface="Calibri"/>
              <a:ea typeface="Calibri"/>
              <a:cs typeface="Calibri"/>
              <a:sym typeface="Calibri"/>
            </a:endParaRPr>
          </a:p>
        </p:txBody>
      </p:sp>
      <p:sp>
        <p:nvSpPr>
          <p:cNvPr id="110" name="Google Shape;110;p17"/>
          <p:cNvSpPr txBox="1"/>
          <p:nvPr/>
        </p:nvSpPr>
        <p:spPr>
          <a:xfrm>
            <a:off x="6981444" y="2091690"/>
            <a:ext cx="1611630" cy="58293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E434A"/>
              </a:buClr>
              <a:buSzPts val="900"/>
              <a:buFont typeface="Calibri"/>
              <a:buNone/>
            </a:pPr>
            <a:r>
              <a:rPr b="0" i="0" lang="en" sz="900" u="none" cap="none" strike="noStrike">
                <a:solidFill>
                  <a:srgbClr val="3E434A"/>
                </a:solidFill>
                <a:latin typeface="Calibri"/>
                <a:ea typeface="Calibri"/>
                <a:cs typeface="Calibri"/>
                <a:sym typeface="Calibri"/>
              </a:rPr>
              <a:t>Audits name individual officers; opposition turns organised and cross-partisan.</a:t>
            </a:r>
            <a:endParaRPr b="0" i="0" sz="900" u="none" cap="none" strike="noStrike">
              <a:solidFill>
                <a:schemeClr val="dk1"/>
              </a:solidFill>
              <a:latin typeface="Calibri"/>
              <a:ea typeface="Calibri"/>
              <a:cs typeface="Calibri"/>
              <a:sym typeface="Calibri"/>
            </a:endParaRPr>
          </a:p>
        </p:txBody>
      </p:sp>
      <p:sp>
        <p:nvSpPr>
          <p:cNvPr id="111" name="Google Shape;111;p17"/>
          <p:cNvSpPr/>
          <p:nvPr/>
        </p:nvSpPr>
        <p:spPr>
          <a:xfrm>
            <a:off x="411480" y="2983230"/>
            <a:ext cx="8318754" cy="1645920"/>
          </a:xfrm>
          <a:prstGeom prst="roundRect">
            <a:avLst>
              <a:gd fmla="val 3333" name="adj"/>
            </a:avLst>
          </a:prstGeom>
          <a:solidFill>
            <a:srgbClr val="16191D"/>
          </a:solidFill>
          <a:ln cap="flat" cmpd="sng" w="12700">
            <a:solidFill>
              <a:srgbClr val="16191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p17"/>
          <p:cNvSpPr txBox="1"/>
          <p:nvPr/>
        </p:nvSpPr>
        <p:spPr>
          <a:xfrm>
            <a:off x="651510" y="3154680"/>
            <a:ext cx="781812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The counter-movement, in one year</a:t>
            </a:r>
            <a:endParaRPr b="0" i="0" sz="1300" u="none" cap="none" strike="noStrike">
              <a:solidFill>
                <a:schemeClr val="dk1"/>
              </a:solidFill>
              <a:latin typeface="Calibri"/>
              <a:ea typeface="Calibri"/>
              <a:cs typeface="Calibri"/>
              <a:sym typeface="Calibri"/>
            </a:endParaRPr>
          </a:p>
        </p:txBody>
      </p:sp>
      <p:sp>
        <p:nvSpPr>
          <p:cNvPr id="113" name="Google Shape;113;p17"/>
          <p:cNvSpPr txBox="1"/>
          <p:nvPr/>
        </p:nvSpPr>
        <p:spPr>
          <a:xfrm>
            <a:off x="651510" y="3483864"/>
            <a:ext cx="1783080"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700"/>
              <a:buFont typeface="Cambria"/>
              <a:buNone/>
            </a:pPr>
            <a:r>
              <a:rPr b="1" i="0" lang="en" sz="1700" u="none" cap="none" strike="noStrike">
                <a:solidFill>
                  <a:srgbClr val="C0392B"/>
                </a:solidFill>
                <a:latin typeface="Cambria"/>
                <a:ea typeface="Cambria"/>
                <a:cs typeface="Cambria"/>
                <a:sym typeface="Cambria"/>
              </a:rPr>
              <a:t>50+</a:t>
            </a:r>
            <a:endParaRPr b="0" i="0" sz="1700" u="none" cap="none" strike="noStrike">
              <a:solidFill>
                <a:schemeClr val="dk1"/>
              </a:solidFill>
              <a:latin typeface="Calibri"/>
              <a:ea typeface="Calibri"/>
              <a:cs typeface="Calibri"/>
              <a:sym typeface="Calibri"/>
            </a:endParaRPr>
          </a:p>
        </p:txBody>
      </p:sp>
      <p:sp>
        <p:nvSpPr>
          <p:cNvPr id="114" name="Google Shape;114;p17"/>
          <p:cNvSpPr txBox="1"/>
          <p:nvPr/>
        </p:nvSpPr>
        <p:spPr>
          <a:xfrm>
            <a:off x="651510" y="3785616"/>
            <a:ext cx="1817370" cy="72009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C3C8CE"/>
              </a:buClr>
              <a:buSzPts val="900"/>
              <a:buFont typeface="Calibri"/>
              <a:buNone/>
            </a:pPr>
            <a:r>
              <a:rPr b="0" i="0" lang="en" sz="900" u="none" cap="none" strike="noStrike">
                <a:solidFill>
                  <a:srgbClr val="C3C8CE"/>
                </a:solidFill>
                <a:latin typeface="Calibri"/>
                <a:ea typeface="Calibri"/>
                <a:cs typeface="Calibri"/>
                <a:sym typeface="Calibri"/>
              </a:rPr>
              <a:t>cities and counties cancelled or deactivated ALPR systems in 2026, across 23 states</a:t>
            </a:r>
            <a:endParaRPr b="0" i="0" sz="900" u="none" cap="none" strike="noStrike">
              <a:solidFill>
                <a:schemeClr val="dk1"/>
              </a:solidFill>
              <a:latin typeface="Calibri"/>
              <a:ea typeface="Calibri"/>
              <a:cs typeface="Calibri"/>
              <a:sym typeface="Calibri"/>
            </a:endParaRPr>
          </a:p>
        </p:txBody>
      </p:sp>
      <p:sp>
        <p:nvSpPr>
          <p:cNvPr id="115" name="Google Shape;115;p17"/>
          <p:cNvSpPr txBox="1"/>
          <p:nvPr/>
        </p:nvSpPr>
        <p:spPr>
          <a:xfrm>
            <a:off x="2674620" y="3483864"/>
            <a:ext cx="1783080"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700"/>
              <a:buFont typeface="Cambria"/>
              <a:buNone/>
            </a:pPr>
            <a:r>
              <a:rPr b="1" i="0" lang="en" sz="1700" u="none" cap="none" strike="noStrike">
                <a:solidFill>
                  <a:srgbClr val="C0392B"/>
                </a:solidFill>
                <a:latin typeface="Cambria"/>
                <a:ea typeface="Cambria"/>
                <a:cs typeface="Cambria"/>
                <a:sym typeface="Cambria"/>
              </a:rPr>
              <a:t>Aug 31</a:t>
            </a:r>
            <a:endParaRPr b="0" i="0" sz="1700" u="none" cap="none" strike="noStrike">
              <a:solidFill>
                <a:schemeClr val="dk1"/>
              </a:solidFill>
              <a:latin typeface="Calibri"/>
              <a:ea typeface="Calibri"/>
              <a:cs typeface="Calibri"/>
              <a:sym typeface="Calibri"/>
            </a:endParaRPr>
          </a:p>
        </p:txBody>
      </p:sp>
      <p:sp>
        <p:nvSpPr>
          <p:cNvPr id="116" name="Google Shape;116;p17"/>
          <p:cNvSpPr txBox="1"/>
          <p:nvPr/>
        </p:nvSpPr>
        <p:spPr>
          <a:xfrm>
            <a:off x="2674620" y="3785616"/>
            <a:ext cx="1817370" cy="72009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C3C8CE"/>
              </a:buClr>
              <a:buSzPts val="900"/>
              <a:buFont typeface="Calibri"/>
              <a:buNone/>
            </a:pPr>
            <a:r>
              <a:rPr b="0" i="0" lang="en" sz="900" u="none" cap="none" strike="noStrike">
                <a:solidFill>
                  <a:srgbClr val="C3C8CE"/>
                </a:solidFill>
                <a:latin typeface="Calibri"/>
                <a:ea typeface="Calibri"/>
                <a:cs typeface="Calibri"/>
                <a:sym typeface="Calibri"/>
              </a:rPr>
              <a:t>Florida revoked every ALPR permit in state highway rights-of-way, reaching roughly 2% of the state's cameras</a:t>
            </a:r>
            <a:endParaRPr b="0" i="0" sz="900" u="none" cap="none" strike="noStrike">
              <a:solidFill>
                <a:schemeClr val="dk1"/>
              </a:solidFill>
              <a:latin typeface="Calibri"/>
              <a:ea typeface="Calibri"/>
              <a:cs typeface="Calibri"/>
              <a:sym typeface="Calibri"/>
            </a:endParaRPr>
          </a:p>
        </p:txBody>
      </p:sp>
      <p:sp>
        <p:nvSpPr>
          <p:cNvPr id="117" name="Google Shape;117;p17"/>
          <p:cNvSpPr txBox="1"/>
          <p:nvPr/>
        </p:nvSpPr>
        <p:spPr>
          <a:xfrm>
            <a:off x="4697730" y="3483864"/>
            <a:ext cx="1783080"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700"/>
              <a:buFont typeface="Cambria"/>
              <a:buNone/>
            </a:pPr>
            <a:r>
              <a:rPr b="1" i="0" lang="en" sz="1700" u="none" cap="none" strike="noStrike">
                <a:solidFill>
                  <a:srgbClr val="C0392B"/>
                </a:solidFill>
                <a:latin typeface="Cambria"/>
                <a:ea typeface="Cambria"/>
                <a:cs typeface="Cambria"/>
                <a:sym typeface="Cambria"/>
              </a:rPr>
              <a:t>30 → 7</a:t>
            </a:r>
            <a:endParaRPr b="0" i="0" sz="1700" u="none" cap="none" strike="noStrike">
              <a:solidFill>
                <a:schemeClr val="dk1"/>
              </a:solidFill>
              <a:latin typeface="Calibri"/>
              <a:ea typeface="Calibri"/>
              <a:cs typeface="Calibri"/>
              <a:sym typeface="Calibri"/>
            </a:endParaRPr>
          </a:p>
        </p:txBody>
      </p:sp>
      <p:sp>
        <p:nvSpPr>
          <p:cNvPr id="118" name="Google Shape;118;p17"/>
          <p:cNvSpPr txBox="1"/>
          <p:nvPr/>
        </p:nvSpPr>
        <p:spPr>
          <a:xfrm>
            <a:off x="4697730" y="3785616"/>
            <a:ext cx="1817370" cy="72009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C3C8CE"/>
              </a:buClr>
              <a:buSzPts val="900"/>
              <a:buFont typeface="Calibri"/>
              <a:buNone/>
            </a:pPr>
            <a:r>
              <a:rPr b="0" i="0" lang="en" sz="900" u="none" cap="none" strike="noStrike">
                <a:solidFill>
                  <a:srgbClr val="C3C8CE"/>
                </a:solidFill>
                <a:latin typeface="Calibri"/>
                <a:ea typeface="Calibri"/>
                <a:cs typeface="Calibri"/>
                <a:sym typeface="Calibri"/>
              </a:rPr>
              <a:t>days: Flock cut default retention, added case codes, and made auditing mandatory by end of 2026</a:t>
            </a:r>
            <a:endParaRPr b="0" i="0" sz="900" u="none" cap="none" strike="noStrike">
              <a:solidFill>
                <a:schemeClr val="dk1"/>
              </a:solidFill>
              <a:latin typeface="Calibri"/>
              <a:ea typeface="Calibri"/>
              <a:cs typeface="Calibri"/>
              <a:sym typeface="Calibri"/>
            </a:endParaRPr>
          </a:p>
        </p:txBody>
      </p:sp>
      <p:sp>
        <p:nvSpPr>
          <p:cNvPr id="119" name="Google Shape;119;p17"/>
          <p:cNvSpPr txBox="1"/>
          <p:nvPr/>
        </p:nvSpPr>
        <p:spPr>
          <a:xfrm>
            <a:off x="6720840" y="3483864"/>
            <a:ext cx="1783080"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700"/>
              <a:buFont typeface="Cambria"/>
              <a:buNone/>
            </a:pPr>
            <a:r>
              <a:rPr b="1" i="0" lang="en" sz="1700" u="none" cap="none" strike="noStrike">
                <a:solidFill>
                  <a:srgbClr val="C0392B"/>
                </a:solidFill>
                <a:latin typeface="Cambria"/>
                <a:ea typeface="Cambria"/>
                <a:cs typeface="Cambria"/>
                <a:sym typeface="Cambria"/>
              </a:rPr>
              <a:t>Apr 20</a:t>
            </a:r>
            <a:endParaRPr b="0" i="0" sz="1700" u="none" cap="none" strike="noStrike">
              <a:solidFill>
                <a:schemeClr val="dk1"/>
              </a:solidFill>
              <a:latin typeface="Calibri"/>
              <a:ea typeface="Calibri"/>
              <a:cs typeface="Calibri"/>
              <a:sym typeface="Calibri"/>
            </a:endParaRPr>
          </a:p>
        </p:txBody>
      </p:sp>
      <p:sp>
        <p:nvSpPr>
          <p:cNvPr id="120" name="Google Shape;120;p17"/>
          <p:cNvSpPr txBox="1"/>
          <p:nvPr/>
        </p:nvSpPr>
        <p:spPr>
          <a:xfrm>
            <a:off x="6720840" y="3785616"/>
            <a:ext cx="1817370" cy="72009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C3C8CE"/>
              </a:buClr>
              <a:buSzPts val="900"/>
              <a:buFont typeface="Calibri"/>
              <a:buNone/>
            </a:pPr>
            <a:r>
              <a:rPr b="0" i="0" lang="en" sz="900" u="none" cap="none" strike="noStrike">
                <a:solidFill>
                  <a:srgbClr val="C3C8CE"/>
                </a:solidFill>
                <a:latin typeface="Calibri"/>
                <a:ea typeface="Calibri"/>
                <a:cs typeface="Calibri"/>
                <a:sym typeface="Calibri"/>
              </a:rPr>
              <a:t>ACLU, ACLU of Virginia and EFF filed a Fourth Circuit amicus in Schmidt v. City of Norfolk</a:t>
            </a:r>
            <a:endParaRPr b="0" i="0" sz="900" u="none" cap="none" strike="noStrike">
              <a:solidFill>
                <a:schemeClr val="dk1"/>
              </a:solidFill>
              <a:latin typeface="Calibri"/>
              <a:ea typeface="Calibri"/>
              <a:cs typeface="Calibri"/>
              <a:sym typeface="Calibri"/>
            </a:endParaRPr>
          </a:p>
        </p:txBody>
      </p:sp>
      <p:sp>
        <p:nvSpPr>
          <p:cNvPr id="121" name="Google Shape;121;p17"/>
          <p:cNvSpPr txBox="1"/>
          <p:nvPr/>
        </p:nvSpPr>
        <p:spPr>
          <a:xfrm>
            <a:off x="411480" y="4814316"/>
            <a:ext cx="831875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700"/>
              <a:buFont typeface="Calibri"/>
              <a:buNone/>
            </a:pPr>
            <a:r>
              <a:rPr b="0" i="0" lang="en" sz="700" u="none" cap="none" strike="noStrike">
                <a:solidFill>
                  <a:srgbClr val="6B7178"/>
                </a:solidFill>
                <a:latin typeface="Calibri"/>
                <a:ea typeface="Calibri"/>
                <a:cs typeface="Calibri"/>
                <a:sym typeface="Calibri"/>
              </a:rPr>
              <a:t>Sources: Washington Examiner and DeFlock contract tallies (2026) · Florida DOT memorandum, 31 Aug 2026 · Flock Safety policy announcement (Aug 2026) · ACLU, Schmidt v. Norfolk amicus brief, 20 Apr 2026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3F0"/>
        </a:solidFill>
      </p:bgPr>
    </p:bg>
    <p:spTree>
      <p:nvGrpSpPr>
        <p:cNvPr id="126" name="Shape 126"/>
        <p:cNvGrpSpPr/>
        <p:nvPr/>
      </p:nvGrpSpPr>
      <p:grpSpPr>
        <a:xfrm>
          <a:off x="0" y="0"/>
          <a:ext cx="0" cy="0"/>
          <a:chOff x="0" y="0"/>
          <a:chExt cx="0" cy="0"/>
        </a:xfrm>
      </p:grpSpPr>
      <p:sp>
        <p:nvSpPr>
          <p:cNvPr id="127" name="Google Shape;127;p18"/>
          <p:cNvSpPr txBox="1"/>
          <p:nvPr/>
        </p:nvSpPr>
        <p:spPr>
          <a:xfrm>
            <a:off x="411480" y="308610"/>
            <a:ext cx="8318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2600"/>
              <a:buFont typeface="Cambria"/>
              <a:buNone/>
            </a:pPr>
            <a:r>
              <a:rPr b="0" i="0" lang="en" sz="2600" u="none" cap="none" strike="noStrike">
                <a:solidFill>
                  <a:srgbClr val="16191D"/>
                </a:solidFill>
                <a:latin typeface="Cambria"/>
                <a:ea typeface="Cambria"/>
                <a:cs typeface="Cambria"/>
                <a:sym typeface="Cambria"/>
              </a:rPr>
              <a:t>Scenario analysis</a:t>
            </a:r>
            <a:endParaRPr b="0" i="0" sz="2600" u="none" cap="none" strike="noStrike">
              <a:solidFill>
                <a:schemeClr val="dk1"/>
              </a:solidFill>
              <a:latin typeface="Calibri"/>
              <a:ea typeface="Calibri"/>
              <a:cs typeface="Calibri"/>
              <a:sym typeface="Calibri"/>
            </a:endParaRPr>
          </a:p>
        </p:txBody>
      </p:sp>
      <p:sp>
        <p:nvSpPr>
          <p:cNvPr id="128" name="Google Shape;128;p18"/>
          <p:cNvSpPr txBox="1"/>
          <p:nvPr/>
        </p:nvSpPr>
        <p:spPr>
          <a:xfrm>
            <a:off x="411480" y="754380"/>
            <a:ext cx="78180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1100"/>
              <a:buFont typeface="Calibri"/>
              <a:buNone/>
            </a:pPr>
            <a:r>
              <a:rPr b="0" i="0" lang="en" sz="1100" u="none" cap="none" strike="noStrike">
                <a:solidFill>
                  <a:srgbClr val="6B7178"/>
                </a:solidFill>
                <a:latin typeface="Calibri"/>
                <a:ea typeface="Calibri"/>
                <a:cs typeface="Calibri"/>
                <a:sym typeface="Calibri"/>
              </a:rPr>
              <a:t>Two axes: how much government is involved, and whether handing over data is optional.</a:t>
            </a:r>
            <a:endParaRPr b="0" i="0" sz="1100" u="none" cap="none" strike="noStrike">
              <a:solidFill>
                <a:schemeClr val="dk1"/>
              </a:solidFill>
              <a:latin typeface="Calibri"/>
              <a:ea typeface="Calibri"/>
              <a:cs typeface="Calibri"/>
              <a:sym typeface="Calibri"/>
            </a:endParaRPr>
          </a:p>
        </p:txBody>
      </p:sp>
      <p:sp>
        <p:nvSpPr>
          <p:cNvPr id="129" name="Google Shape;129;p18"/>
          <p:cNvSpPr txBox="1"/>
          <p:nvPr/>
        </p:nvSpPr>
        <p:spPr>
          <a:xfrm>
            <a:off x="1405890" y="1110996"/>
            <a:ext cx="3566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900"/>
              <a:buFont typeface="Calibri"/>
              <a:buNone/>
            </a:pPr>
            <a:r>
              <a:rPr b="1" i="0" lang="en" sz="900" u="none" cap="none" strike="noStrike">
                <a:solidFill>
                  <a:srgbClr val="6B7178"/>
                </a:solidFill>
                <a:latin typeface="Calibri"/>
                <a:ea typeface="Calibri"/>
                <a:cs typeface="Calibri"/>
                <a:sym typeface="Calibri"/>
              </a:rPr>
              <a:t>OPT-IN COLLECTION</a:t>
            </a:r>
            <a:endParaRPr b="0" i="0" sz="900" u="none" cap="none" strike="noStrike">
              <a:solidFill>
                <a:schemeClr val="dk1"/>
              </a:solidFill>
              <a:latin typeface="Calibri"/>
              <a:ea typeface="Calibri"/>
              <a:cs typeface="Calibri"/>
              <a:sym typeface="Calibri"/>
            </a:endParaRPr>
          </a:p>
        </p:txBody>
      </p:sp>
      <p:sp>
        <p:nvSpPr>
          <p:cNvPr id="130" name="Google Shape;130;p18"/>
          <p:cNvSpPr txBox="1"/>
          <p:nvPr/>
        </p:nvSpPr>
        <p:spPr>
          <a:xfrm>
            <a:off x="5177790" y="1110996"/>
            <a:ext cx="3566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900"/>
              <a:buFont typeface="Calibri"/>
              <a:buNone/>
            </a:pPr>
            <a:r>
              <a:rPr b="1" i="0" lang="en" sz="900" u="none" cap="none" strike="noStrike">
                <a:solidFill>
                  <a:srgbClr val="6B7178"/>
                </a:solidFill>
                <a:latin typeface="Calibri"/>
                <a:ea typeface="Calibri"/>
                <a:cs typeface="Calibri"/>
                <a:sym typeface="Calibri"/>
              </a:rPr>
              <a:t>MANDATORY COLLECTION</a:t>
            </a:r>
            <a:endParaRPr b="0" i="0" sz="900" u="none" cap="none" strike="noStrike">
              <a:solidFill>
                <a:schemeClr val="dk1"/>
              </a:solidFill>
              <a:latin typeface="Calibri"/>
              <a:ea typeface="Calibri"/>
              <a:cs typeface="Calibri"/>
              <a:sym typeface="Calibri"/>
            </a:endParaRPr>
          </a:p>
        </p:txBody>
      </p:sp>
      <p:sp>
        <p:nvSpPr>
          <p:cNvPr id="131" name="Google Shape;131;p18"/>
          <p:cNvSpPr txBox="1"/>
          <p:nvPr/>
        </p:nvSpPr>
        <p:spPr>
          <a:xfrm>
            <a:off x="411480" y="1748790"/>
            <a:ext cx="891600" cy="4800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6B7178"/>
              </a:buClr>
              <a:buSzPts val="900"/>
              <a:buFont typeface="Calibri"/>
              <a:buNone/>
            </a:pPr>
            <a:r>
              <a:rPr b="1" i="0" lang="en" sz="900" u="none" cap="none" strike="noStrike">
                <a:solidFill>
                  <a:srgbClr val="6B7178"/>
                </a:solidFill>
                <a:latin typeface="Calibri"/>
                <a:ea typeface="Calibri"/>
                <a:cs typeface="Calibri"/>
                <a:sym typeface="Calibri"/>
              </a:rPr>
              <a:t>LOW</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6B7178"/>
              </a:buClr>
              <a:buSzPts val="900"/>
              <a:buFont typeface="Calibri"/>
              <a:buNone/>
            </a:pPr>
            <a:r>
              <a:rPr b="1" i="0" lang="en" sz="900" u="none" cap="none" strike="noStrike">
                <a:solidFill>
                  <a:srgbClr val="6B7178"/>
                </a:solidFill>
                <a:latin typeface="Calibri"/>
                <a:ea typeface="Calibri"/>
                <a:cs typeface="Calibri"/>
                <a:sym typeface="Calibri"/>
              </a:rPr>
              <a:t>GOVERNMENT</a:t>
            </a:r>
            <a:endParaRPr b="0" i="0" sz="900" u="none" cap="none" strike="noStrike">
              <a:solidFill>
                <a:schemeClr val="dk1"/>
              </a:solidFill>
              <a:latin typeface="Calibri"/>
              <a:ea typeface="Calibri"/>
              <a:cs typeface="Calibri"/>
              <a:sym typeface="Calibri"/>
            </a:endParaRPr>
          </a:p>
        </p:txBody>
      </p:sp>
      <p:sp>
        <p:nvSpPr>
          <p:cNvPr id="132" name="Google Shape;132;p18"/>
          <p:cNvSpPr txBox="1"/>
          <p:nvPr/>
        </p:nvSpPr>
        <p:spPr>
          <a:xfrm>
            <a:off x="411480" y="3326130"/>
            <a:ext cx="891600" cy="4800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6B7178"/>
              </a:buClr>
              <a:buSzPts val="900"/>
              <a:buFont typeface="Calibri"/>
              <a:buNone/>
            </a:pPr>
            <a:r>
              <a:rPr b="1" i="0" lang="en" sz="900" u="none" cap="none" strike="noStrike">
                <a:solidFill>
                  <a:srgbClr val="6B7178"/>
                </a:solidFill>
                <a:latin typeface="Calibri"/>
                <a:ea typeface="Calibri"/>
                <a:cs typeface="Calibri"/>
                <a:sym typeface="Calibri"/>
              </a:rPr>
              <a:t>HIGH</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6B7178"/>
              </a:buClr>
              <a:buSzPts val="900"/>
              <a:buFont typeface="Calibri"/>
              <a:buNone/>
            </a:pPr>
            <a:r>
              <a:rPr b="1" i="0" lang="en" sz="900" u="none" cap="none" strike="noStrike">
                <a:solidFill>
                  <a:srgbClr val="6B7178"/>
                </a:solidFill>
                <a:latin typeface="Calibri"/>
                <a:ea typeface="Calibri"/>
                <a:cs typeface="Calibri"/>
                <a:sym typeface="Calibri"/>
              </a:rPr>
              <a:t>GOVERNMENT</a:t>
            </a:r>
            <a:endParaRPr b="0" i="0" sz="900" u="none" cap="none" strike="noStrike">
              <a:solidFill>
                <a:schemeClr val="dk1"/>
              </a:solidFill>
              <a:latin typeface="Calibri"/>
              <a:ea typeface="Calibri"/>
              <a:cs typeface="Calibri"/>
              <a:sym typeface="Calibri"/>
            </a:endParaRPr>
          </a:p>
        </p:txBody>
      </p:sp>
      <p:sp>
        <p:nvSpPr>
          <p:cNvPr id="133" name="Google Shape;133;p18"/>
          <p:cNvSpPr/>
          <p:nvPr/>
        </p:nvSpPr>
        <p:spPr>
          <a:xfrm>
            <a:off x="1405890" y="1357884"/>
            <a:ext cx="3566100" cy="1440300"/>
          </a:xfrm>
          <a:prstGeom prst="roundRect">
            <a:avLst>
              <a:gd fmla="val 3810"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4" name="Google Shape;134;p18"/>
          <p:cNvSpPr txBox="1"/>
          <p:nvPr/>
        </p:nvSpPr>
        <p:spPr>
          <a:xfrm>
            <a:off x="1597914" y="1495044"/>
            <a:ext cx="31548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400"/>
              <a:buFont typeface="Cambria"/>
              <a:buNone/>
            </a:pPr>
            <a:r>
              <a:rPr b="1" i="0" lang="en" sz="1400" u="none" cap="none" strike="noStrike">
                <a:solidFill>
                  <a:srgbClr val="16191D"/>
                </a:solidFill>
                <a:latin typeface="Cambria"/>
                <a:ea typeface="Cambria"/>
                <a:cs typeface="Cambria"/>
                <a:sym typeface="Cambria"/>
              </a:rPr>
              <a:t>Personal Data Ownership</a:t>
            </a:r>
            <a:endParaRPr b="0" i="0" sz="1400" u="none" cap="none" strike="noStrike">
              <a:solidFill>
                <a:schemeClr val="dk1"/>
              </a:solidFill>
              <a:latin typeface="Calibri"/>
              <a:ea typeface="Calibri"/>
              <a:cs typeface="Calibri"/>
              <a:sym typeface="Calibri"/>
            </a:endParaRPr>
          </a:p>
        </p:txBody>
      </p:sp>
      <p:sp>
        <p:nvSpPr>
          <p:cNvPr id="135" name="Google Shape;135;p18"/>
          <p:cNvSpPr/>
          <p:nvPr/>
        </p:nvSpPr>
        <p:spPr>
          <a:xfrm>
            <a:off x="5177790" y="1357884"/>
            <a:ext cx="3566100" cy="1440300"/>
          </a:xfrm>
          <a:prstGeom prst="roundRect">
            <a:avLst>
              <a:gd fmla="val 3810"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6" name="Google Shape;136;p18"/>
          <p:cNvSpPr txBox="1"/>
          <p:nvPr/>
        </p:nvSpPr>
        <p:spPr>
          <a:xfrm>
            <a:off x="5369814" y="1495044"/>
            <a:ext cx="31548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400"/>
              <a:buFont typeface="Cambria"/>
              <a:buNone/>
            </a:pPr>
            <a:r>
              <a:rPr b="1" i="0" lang="en" sz="1400" u="none" cap="none" strike="noStrike">
                <a:solidFill>
                  <a:srgbClr val="16191D"/>
                </a:solidFill>
                <a:latin typeface="Cambria"/>
                <a:ea typeface="Cambria"/>
                <a:cs typeface="Cambria"/>
                <a:sym typeface="Cambria"/>
              </a:rPr>
              <a:t>Corporate Surveillance</a:t>
            </a:r>
            <a:endParaRPr b="0" i="0" sz="1400" u="none" cap="none" strike="noStrike">
              <a:solidFill>
                <a:schemeClr val="dk1"/>
              </a:solidFill>
              <a:latin typeface="Calibri"/>
              <a:ea typeface="Calibri"/>
              <a:cs typeface="Calibri"/>
              <a:sym typeface="Calibri"/>
            </a:endParaRPr>
          </a:p>
        </p:txBody>
      </p:sp>
      <p:sp>
        <p:nvSpPr>
          <p:cNvPr id="137" name="Google Shape;137;p18"/>
          <p:cNvSpPr/>
          <p:nvPr/>
        </p:nvSpPr>
        <p:spPr>
          <a:xfrm>
            <a:off x="1405890" y="2935224"/>
            <a:ext cx="3566100" cy="1440300"/>
          </a:xfrm>
          <a:prstGeom prst="roundRect">
            <a:avLst>
              <a:gd fmla="val 3810"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8" name="Google Shape;138;p18"/>
          <p:cNvSpPr txBox="1"/>
          <p:nvPr/>
        </p:nvSpPr>
        <p:spPr>
          <a:xfrm>
            <a:off x="1597914" y="3072384"/>
            <a:ext cx="31548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400"/>
              <a:buFont typeface="Cambria"/>
              <a:buNone/>
            </a:pPr>
            <a:r>
              <a:rPr b="1" i="0" lang="en" sz="1400" u="none" cap="none" strike="noStrike">
                <a:solidFill>
                  <a:srgbClr val="16191D"/>
                </a:solidFill>
                <a:latin typeface="Cambria"/>
                <a:ea typeface="Cambria"/>
                <a:cs typeface="Cambria"/>
                <a:sym typeface="Cambria"/>
              </a:rPr>
              <a:t>Transparent Network</a:t>
            </a:r>
            <a:endParaRPr b="0" i="0" sz="1400" u="none" cap="none" strike="noStrike">
              <a:solidFill>
                <a:schemeClr val="dk1"/>
              </a:solidFill>
              <a:latin typeface="Calibri"/>
              <a:ea typeface="Calibri"/>
              <a:cs typeface="Calibri"/>
              <a:sym typeface="Calibri"/>
            </a:endParaRPr>
          </a:p>
        </p:txBody>
      </p:sp>
      <p:sp>
        <p:nvSpPr>
          <p:cNvPr id="139" name="Google Shape;139;p18"/>
          <p:cNvSpPr/>
          <p:nvPr/>
        </p:nvSpPr>
        <p:spPr>
          <a:xfrm>
            <a:off x="5177790" y="2935224"/>
            <a:ext cx="3566100" cy="1440300"/>
          </a:xfrm>
          <a:prstGeom prst="roundRect">
            <a:avLst>
              <a:gd fmla="val 3810" name="adj"/>
            </a:avLst>
          </a:prstGeom>
          <a:solidFill>
            <a:srgbClr val="16191D"/>
          </a:solidFill>
          <a:ln cap="flat" cmpd="sng" w="9525">
            <a:solidFill>
              <a:srgbClr val="16191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 name="Google Shape;140;p18"/>
          <p:cNvSpPr txBox="1"/>
          <p:nvPr/>
        </p:nvSpPr>
        <p:spPr>
          <a:xfrm>
            <a:off x="5369814" y="3072384"/>
            <a:ext cx="31548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Surveillance State</a:t>
            </a:r>
            <a:endParaRPr b="0" i="0" sz="1400" u="none" cap="none" strike="noStrike">
              <a:solidFill>
                <a:schemeClr val="dk1"/>
              </a:solidFill>
              <a:latin typeface="Calibri"/>
              <a:ea typeface="Calibri"/>
              <a:cs typeface="Calibri"/>
              <a:sym typeface="Calibri"/>
            </a:endParaRPr>
          </a:p>
        </p:txBody>
      </p:sp>
      <p:pic>
        <p:nvPicPr>
          <p:cNvPr id="141" name="Google Shape;141;p18" title="images.jpg"/>
          <p:cNvPicPr preferRelativeResize="0"/>
          <p:nvPr/>
        </p:nvPicPr>
        <p:blipFill>
          <a:blip r:embed="rId3">
            <a:alphaModFix/>
          </a:blip>
          <a:stretch>
            <a:fillRect/>
          </a:stretch>
        </p:blipFill>
        <p:spPr>
          <a:xfrm>
            <a:off x="2275800" y="1752100"/>
            <a:ext cx="1498725" cy="1000050"/>
          </a:xfrm>
          <a:prstGeom prst="rect">
            <a:avLst/>
          </a:prstGeom>
          <a:noFill/>
          <a:ln>
            <a:noFill/>
          </a:ln>
        </p:spPr>
      </p:pic>
      <p:pic>
        <p:nvPicPr>
          <p:cNvPr id="142" name="Google Shape;142;p18"/>
          <p:cNvPicPr preferRelativeResize="0"/>
          <p:nvPr/>
        </p:nvPicPr>
        <p:blipFill>
          <a:blip r:embed="rId4">
            <a:alphaModFix/>
          </a:blip>
          <a:stretch>
            <a:fillRect/>
          </a:stretch>
        </p:blipFill>
        <p:spPr>
          <a:xfrm>
            <a:off x="5470050" y="1783375"/>
            <a:ext cx="1406759" cy="937499"/>
          </a:xfrm>
          <a:prstGeom prst="rect">
            <a:avLst/>
          </a:prstGeom>
          <a:noFill/>
          <a:ln>
            <a:noFill/>
          </a:ln>
        </p:spPr>
      </p:pic>
      <p:pic>
        <p:nvPicPr>
          <p:cNvPr id="143" name="Google Shape;143;p18"/>
          <p:cNvPicPr preferRelativeResize="0"/>
          <p:nvPr/>
        </p:nvPicPr>
        <p:blipFill>
          <a:blip r:embed="rId5">
            <a:alphaModFix/>
          </a:blip>
          <a:stretch>
            <a:fillRect/>
          </a:stretch>
        </p:blipFill>
        <p:spPr>
          <a:xfrm>
            <a:off x="6876821" y="1783376"/>
            <a:ext cx="1406587" cy="937496"/>
          </a:xfrm>
          <a:prstGeom prst="rect">
            <a:avLst/>
          </a:prstGeom>
          <a:noFill/>
          <a:ln>
            <a:noFill/>
          </a:ln>
        </p:spPr>
      </p:pic>
      <p:pic>
        <p:nvPicPr>
          <p:cNvPr id="144" name="Google Shape;144;p18"/>
          <p:cNvPicPr preferRelativeResize="0"/>
          <p:nvPr/>
        </p:nvPicPr>
        <p:blipFill>
          <a:blip r:embed="rId6">
            <a:alphaModFix/>
          </a:blip>
          <a:stretch>
            <a:fillRect/>
          </a:stretch>
        </p:blipFill>
        <p:spPr>
          <a:xfrm>
            <a:off x="2118425" y="3326124"/>
            <a:ext cx="1813476" cy="1035949"/>
          </a:xfrm>
          <a:prstGeom prst="rect">
            <a:avLst/>
          </a:prstGeom>
          <a:noFill/>
          <a:ln>
            <a:noFill/>
          </a:ln>
        </p:spPr>
      </p:pic>
      <p:pic>
        <p:nvPicPr>
          <p:cNvPr id="145" name="Google Shape;145;p18"/>
          <p:cNvPicPr preferRelativeResize="0"/>
          <p:nvPr/>
        </p:nvPicPr>
        <p:blipFill>
          <a:blip r:embed="rId7">
            <a:alphaModFix/>
          </a:blip>
          <a:stretch>
            <a:fillRect/>
          </a:stretch>
        </p:blipFill>
        <p:spPr>
          <a:xfrm>
            <a:off x="6193500" y="3326125"/>
            <a:ext cx="1380221" cy="10359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3F0"/>
        </a:solidFill>
      </p:bgPr>
    </p:bg>
    <p:spTree>
      <p:nvGrpSpPr>
        <p:cNvPr id="150" name="Shape 150"/>
        <p:cNvGrpSpPr/>
        <p:nvPr/>
      </p:nvGrpSpPr>
      <p:grpSpPr>
        <a:xfrm>
          <a:off x="0" y="0"/>
          <a:ext cx="0" cy="0"/>
          <a:chOff x="0" y="0"/>
          <a:chExt cx="0" cy="0"/>
        </a:xfrm>
      </p:grpSpPr>
      <p:sp>
        <p:nvSpPr>
          <p:cNvPr id="151" name="Google Shape;151;p19"/>
          <p:cNvSpPr txBox="1"/>
          <p:nvPr/>
        </p:nvSpPr>
        <p:spPr>
          <a:xfrm>
            <a:off x="411480" y="308610"/>
            <a:ext cx="8318754"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2600"/>
              <a:buFont typeface="Cambria"/>
              <a:buNone/>
            </a:pPr>
            <a:r>
              <a:rPr b="0" i="0" lang="en" sz="2600" u="none" cap="none" strike="noStrike">
                <a:solidFill>
                  <a:srgbClr val="16191D"/>
                </a:solidFill>
                <a:latin typeface="Cambria"/>
                <a:ea typeface="Cambria"/>
                <a:cs typeface="Cambria"/>
                <a:sym typeface="Cambria"/>
              </a:rPr>
              <a:t>Scenario analysis</a:t>
            </a:r>
            <a:endParaRPr b="0" i="0" sz="2600" u="none" cap="none" strike="noStrike">
              <a:solidFill>
                <a:schemeClr val="dk1"/>
              </a:solidFill>
              <a:latin typeface="Calibri"/>
              <a:ea typeface="Calibri"/>
              <a:cs typeface="Calibri"/>
              <a:sym typeface="Calibri"/>
            </a:endParaRPr>
          </a:p>
        </p:txBody>
      </p:sp>
      <p:sp>
        <p:nvSpPr>
          <p:cNvPr id="152" name="Google Shape;152;p19"/>
          <p:cNvSpPr txBox="1"/>
          <p:nvPr/>
        </p:nvSpPr>
        <p:spPr>
          <a:xfrm>
            <a:off x="411480" y="754380"/>
            <a:ext cx="781812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1100"/>
              <a:buFont typeface="Calibri"/>
              <a:buNone/>
            </a:pPr>
            <a:r>
              <a:rPr b="0" i="0" lang="en" sz="1100" u="none" cap="none" strike="noStrike">
                <a:solidFill>
                  <a:srgbClr val="6B7178"/>
                </a:solidFill>
                <a:latin typeface="Calibri"/>
                <a:ea typeface="Calibri"/>
                <a:cs typeface="Calibri"/>
                <a:sym typeface="Calibri"/>
              </a:rPr>
              <a:t>Two axes: how much government is involved, and whether handing over data is optional.</a:t>
            </a:r>
            <a:endParaRPr b="0" i="0" sz="1100" u="none" cap="none" strike="noStrike">
              <a:solidFill>
                <a:schemeClr val="dk1"/>
              </a:solidFill>
              <a:latin typeface="Calibri"/>
              <a:ea typeface="Calibri"/>
              <a:cs typeface="Calibri"/>
              <a:sym typeface="Calibri"/>
            </a:endParaRPr>
          </a:p>
        </p:txBody>
      </p:sp>
      <p:sp>
        <p:nvSpPr>
          <p:cNvPr id="153" name="Google Shape;153;p19"/>
          <p:cNvSpPr txBox="1"/>
          <p:nvPr/>
        </p:nvSpPr>
        <p:spPr>
          <a:xfrm>
            <a:off x="1405890" y="1110996"/>
            <a:ext cx="356616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900"/>
              <a:buFont typeface="Calibri"/>
              <a:buNone/>
            </a:pPr>
            <a:r>
              <a:rPr b="1" i="0" lang="en" sz="900" u="none" cap="none" strike="noStrike">
                <a:solidFill>
                  <a:srgbClr val="6B7178"/>
                </a:solidFill>
                <a:latin typeface="Calibri"/>
                <a:ea typeface="Calibri"/>
                <a:cs typeface="Calibri"/>
                <a:sym typeface="Calibri"/>
              </a:rPr>
              <a:t>OPT-IN COLLECTION</a:t>
            </a:r>
            <a:endParaRPr b="0" i="0" sz="900" u="none" cap="none" strike="noStrike">
              <a:solidFill>
                <a:schemeClr val="dk1"/>
              </a:solidFill>
              <a:latin typeface="Calibri"/>
              <a:ea typeface="Calibri"/>
              <a:cs typeface="Calibri"/>
              <a:sym typeface="Calibri"/>
            </a:endParaRPr>
          </a:p>
        </p:txBody>
      </p:sp>
      <p:sp>
        <p:nvSpPr>
          <p:cNvPr id="154" name="Google Shape;154;p19"/>
          <p:cNvSpPr txBox="1"/>
          <p:nvPr/>
        </p:nvSpPr>
        <p:spPr>
          <a:xfrm>
            <a:off x="5177790" y="1110996"/>
            <a:ext cx="356616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900"/>
              <a:buFont typeface="Calibri"/>
              <a:buNone/>
            </a:pPr>
            <a:r>
              <a:rPr b="1" i="0" lang="en" sz="900" u="none" cap="none" strike="noStrike">
                <a:solidFill>
                  <a:srgbClr val="6B7178"/>
                </a:solidFill>
                <a:latin typeface="Calibri"/>
                <a:ea typeface="Calibri"/>
                <a:cs typeface="Calibri"/>
                <a:sym typeface="Calibri"/>
              </a:rPr>
              <a:t>MANDATORY COLLECTION</a:t>
            </a:r>
            <a:endParaRPr b="0" i="0" sz="900" u="none" cap="none" strike="noStrike">
              <a:solidFill>
                <a:schemeClr val="dk1"/>
              </a:solidFill>
              <a:latin typeface="Calibri"/>
              <a:ea typeface="Calibri"/>
              <a:cs typeface="Calibri"/>
              <a:sym typeface="Calibri"/>
            </a:endParaRPr>
          </a:p>
        </p:txBody>
      </p:sp>
      <p:sp>
        <p:nvSpPr>
          <p:cNvPr id="155" name="Google Shape;155;p19"/>
          <p:cNvSpPr txBox="1"/>
          <p:nvPr/>
        </p:nvSpPr>
        <p:spPr>
          <a:xfrm>
            <a:off x="411480" y="1748790"/>
            <a:ext cx="891540" cy="4800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6B7178"/>
              </a:buClr>
              <a:buSzPts val="900"/>
              <a:buFont typeface="Calibri"/>
              <a:buNone/>
            </a:pPr>
            <a:r>
              <a:rPr b="1" i="0" lang="en" sz="900" u="none" cap="none" strike="noStrike">
                <a:solidFill>
                  <a:srgbClr val="6B7178"/>
                </a:solidFill>
                <a:latin typeface="Calibri"/>
                <a:ea typeface="Calibri"/>
                <a:cs typeface="Calibri"/>
                <a:sym typeface="Calibri"/>
              </a:rPr>
              <a:t>LOW</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6B7178"/>
              </a:buClr>
              <a:buSzPts val="900"/>
              <a:buFont typeface="Calibri"/>
              <a:buNone/>
            </a:pPr>
            <a:r>
              <a:rPr b="1" i="0" lang="en" sz="900" u="none" cap="none" strike="noStrike">
                <a:solidFill>
                  <a:srgbClr val="6B7178"/>
                </a:solidFill>
                <a:latin typeface="Calibri"/>
                <a:ea typeface="Calibri"/>
                <a:cs typeface="Calibri"/>
                <a:sym typeface="Calibri"/>
              </a:rPr>
              <a:t>GOVERNMENT</a:t>
            </a:r>
            <a:endParaRPr b="0" i="0" sz="900" u="none" cap="none" strike="noStrike">
              <a:solidFill>
                <a:schemeClr val="dk1"/>
              </a:solidFill>
              <a:latin typeface="Calibri"/>
              <a:ea typeface="Calibri"/>
              <a:cs typeface="Calibri"/>
              <a:sym typeface="Calibri"/>
            </a:endParaRPr>
          </a:p>
        </p:txBody>
      </p:sp>
      <p:sp>
        <p:nvSpPr>
          <p:cNvPr id="156" name="Google Shape;156;p19"/>
          <p:cNvSpPr txBox="1"/>
          <p:nvPr/>
        </p:nvSpPr>
        <p:spPr>
          <a:xfrm>
            <a:off x="411480" y="3326130"/>
            <a:ext cx="891540" cy="4800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6B7178"/>
              </a:buClr>
              <a:buSzPts val="900"/>
              <a:buFont typeface="Calibri"/>
              <a:buNone/>
            </a:pPr>
            <a:r>
              <a:rPr b="1" i="0" lang="en" sz="900" u="none" cap="none" strike="noStrike">
                <a:solidFill>
                  <a:srgbClr val="6B7178"/>
                </a:solidFill>
                <a:latin typeface="Calibri"/>
                <a:ea typeface="Calibri"/>
                <a:cs typeface="Calibri"/>
                <a:sym typeface="Calibri"/>
              </a:rPr>
              <a:t>HIGH</a:t>
            </a:r>
            <a:endParaRPr b="0" i="0" sz="9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6B7178"/>
              </a:buClr>
              <a:buSzPts val="900"/>
              <a:buFont typeface="Calibri"/>
              <a:buNone/>
            </a:pPr>
            <a:r>
              <a:rPr b="1" i="0" lang="en" sz="900" u="none" cap="none" strike="noStrike">
                <a:solidFill>
                  <a:srgbClr val="6B7178"/>
                </a:solidFill>
                <a:latin typeface="Calibri"/>
                <a:ea typeface="Calibri"/>
                <a:cs typeface="Calibri"/>
                <a:sym typeface="Calibri"/>
              </a:rPr>
              <a:t>GOVERNMENT</a:t>
            </a:r>
            <a:endParaRPr b="0" i="0" sz="900" u="none" cap="none" strike="noStrike">
              <a:solidFill>
                <a:schemeClr val="dk1"/>
              </a:solidFill>
              <a:latin typeface="Calibri"/>
              <a:ea typeface="Calibri"/>
              <a:cs typeface="Calibri"/>
              <a:sym typeface="Calibri"/>
            </a:endParaRPr>
          </a:p>
        </p:txBody>
      </p:sp>
      <p:sp>
        <p:nvSpPr>
          <p:cNvPr id="157" name="Google Shape;157;p19"/>
          <p:cNvSpPr/>
          <p:nvPr/>
        </p:nvSpPr>
        <p:spPr>
          <a:xfrm>
            <a:off x="1405890" y="1357884"/>
            <a:ext cx="3566160" cy="1440180"/>
          </a:xfrm>
          <a:prstGeom prst="roundRect">
            <a:avLst>
              <a:gd fmla="val 3810"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19"/>
          <p:cNvSpPr txBox="1"/>
          <p:nvPr/>
        </p:nvSpPr>
        <p:spPr>
          <a:xfrm>
            <a:off x="1597914" y="1495044"/>
            <a:ext cx="315468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400"/>
              <a:buFont typeface="Cambria"/>
              <a:buNone/>
            </a:pPr>
            <a:r>
              <a:rPr b="1" i="0" lang="en" sz="1400" u="none" cap="none" strike="noStrike">
                <a:solidFill>
                  <a:srgbClr val="16191D"/>
                </a:solidFill>
                <a:latin typeface="Cambria"/>
                <a:ea typeface="Cambria"/>
                <a:cs typeface="Cambria"/>
                <a:sym typeface="Cambria"/>
              </a:rPr>
              <a:t>Personal Data Ownership</a:t>
            </a:r>
            <a:endParaRPr b="0" i="0" sz="1400" u="none" cap="none" strike="noStrike">
              <a:solidFill>
                <a:schemeClr val="dk1"/>
              </a:solidFill>
              <a:latin typeface="Calibri"/>
              <a:ea typeface="Calibri"/>
              <a:cs typeface="Calibri"/>
              <a:sym typeface="Calibri"/>
            </a:endParaRPr>
          </a:p>
        </p:txBody>
      </p:sp>
      <p:sp>
        <p:nvSpPr>
          <p:cNvPr id="159" name="Google Shape;159;p19"/>
          <p:cNvSpPr txBox="1"/>
          <p:nvPr/>
        </p:nvSpPr>
        <p:spPr>
          <a:xfrm>
            <a:off x="1597914" y="1810512"/>
            <a:ext cx="3188970" cy="857250"/>
          </a:xfrm>
          <a:prstGeom prst="rect">
            <a:avLst/>
          </a:prstGeom>
          <a:noFill/>
          <a:ln>
            <a:noFill/>
          </a:ln>
        </p:spPr>
        <p:txBody>
          <a:bodyPr anchorCtr="0" anchor="ctr" bIns="0" lIns="0" spcFirstLastPara="1" rIns="0" wrap="square" tIns="0">
            <a:noAutofit/>
          </a:bodyPr>
          <a:lstStyle/>
          <a:p>
            <a:pPr indent="-247650" lvl="0" marL="254000" marR="0" rtl="0" algn="l">
              <a:spcBef>
                <a:spcPts val="0"/>
              </a:spcBef>
              <a:spcAft>
                <a:spcPts val="0"/>
              </a:spcAft>
              <a:buClr>
                <a:srgbClr val="3E434A"/>
              </a:buClr>
              <a:buSzPts val="900"/>
              <a:buFont typeface="Calibri"/>
              <a:buChar char="•"/>
            </a:pPr>
            <a:r>
              <a:rPr b="0" i="0" lang="en" sz="900" u="none" cap="none" strike="noStrike">
                <a:solidFill>
                  <a:srgbClr val="3E434A"/>
                </a:solidFill>
                <a:latin typeface="Calibri"/>
                <a:ea typeface="Calibri"/>
                <a:cs typeface="Calibri"/>
                <a:sym typeface="Calibri"/>
              </a:rPr>
              <a:t>Private surveillance exists, but you can see, restrict, or delete what is held about you</a:t>
            </a:r>
            <a:endParaRPr b="0" i="0" sz="900" u="none" cap="none" strike="noStrike">
              <a:solidFill>
                <a:schemeClr val="dk1"/>
              </a:solidFill>
              <a:latin typeface="Calibri"/>
              <a:ea typeface="Calibri"/>
              <a:cs typeface="Calibri"/>
              <a:sym typeface="Calibri"/>
            </a:endParaRPr>
          </a:p>
          <a:p>
            <a:pPr indent="-247650" lvl="0" marL="254000" marR="0" rtl="0" algn="l">
              <a:spcBef>
                <a:spcPts val="500"/>
              </a:spcBef>
              <a:spcAft>
                <a:spcPts val="0"/>
              </a:spcAft>
              <a:buClr>
                <a:srgbClr val="3E434A"/>
              </a:buClr>
              <a:buSzPts val="900"/>
              <a:buFont typeface="Calibri"/>
              <a:buChar char="•"/>
            </a:pPr>
            <a:r>
              <a:rPr b="0" i="0" lang="en" sz="900" u="none" cap="none" strike="noStrike">
                <a:solidFill>
                  <a:srgbClr val="3E434A"/>
                </a:solidFill>
                <a:latin typeface="Calibri"/>
                <a:ea typeface="Calibri"/>
                <a:cs typeface="Calibri"/>
                <a:sym typeface="Calibri"/>
              </a:rPr>
              <a:t>Personal data becomes a resource companies must ask for</a:t>
            </a:r>
            <a:endParaRPr b="0" i="0" sz="900" u="none" cap="none" strike="noStrike">
              <a:solidFill>
                <a:schemeClr val="dk1"/>
              </a:solidFill>
              <a:latin typeface="Calibri"/>
              <a:ea typeface="Calibri"/>
              <a:cs typeface="Calibri"/>
              <a:sym typeface="Calibri"/>
            </a:endParaRPr>
          </a:p>
        </p:txBody>
      </p:sp>
      <p:sp>
        <p:nvSpPr>
          <p:cNvPr id="160" name="Google Shape;160;p19"/>
          <p:cNvSpPr/>
          <p:nvPr/>
        </p:nvSpPr>
        <p:spPr>
          <a:xfrm>
            <a:off x="5177790" y="1357884"/>
            <a:ext cx="3566160" cy="1440180"/>
          </a:xfrm>
          <a:prstGeom prst="roundRect">
            <a:avLst>
              <a:gd fmla="val 3810"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 name="Google Shape;161;p19"/>
          <p:cNvSpPr txBox="1"/>
          <p:nvPr/>
        </p:nvSpPr>
        <p:spPr>
          <a:xfrm>
            <a:off x="5369814" y="1495044"/>
            <a:ext cx="315468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400"/>
              <a:buFont typeface="Cambria"/>
              <a:buNone/>
            </a:pPr>
            <a:r>
              <a:rPr b="1" i="0" lang="en" sz="1400" u="none" cap="none" strike="noStrike">
                <a:solidFill>
                  <a:srgbClr val="16191D"/>
                </a:solidFill>
                <a:latin typeface="Cambria"/>
                <a:ea typeface="Cambria"/>
                <a:cs typeface="Cambria"/>
                <a:sym typeface="Cambria"/>
              </a:rPr>
              <a:t>Corporate Surveillance</a:t>
            </a:r>
            <a:endParaRPr b="0" i="0" sz="1400" u="none" cap="none" strike="noStrike">
              <a:solidFill>
                <a:schemeClr val="dk1"/>
              </a:solidFill>
              <a:latin typeface="Calibri"/>
              <a:ea typeface="Calibri"/>
              <a:cs typeface="Calibri"/>
              <a:sym typeface="Calibri"/>
            </a:endParaRPr>
          </a:p>
        </p:txBody>
      </p:sp>
      <p:sp>
        <p:nvSpPr>
          <p:cNvPr id="162" name="Google Shape;162;p19"/>
          <p:cNvSpPr txBox="1"/>
          <p:nvPr/>
        </p:nvSpPr>
        <p:spPr>
          <a:xfrm>
            <a:off x="5369814" y="1810512"/>
            <a:ext cx="3188970" cy="857250"/>
          </a:xfrm>
          <a:prstGeom prst="rect">
            <a:avLst/>
          </a:prstGeom>
          <a:noFill/>
          <a:ln>
            <a:noFill/>
          </a:ln>
        </p:spPr>
        <p:txBody>
          <a:bodyPr anchorCtr="0" anchor="ctr" bIns="0" lIns="0" spcFirstLastPara="1" rIns="0" wrap="square" tIns="0">
            <a:noAutofit/>
          </a:bodyPr>
          <a:lstStyle/>
          <a:p>
            <a:pPr indent="-247650" lvl="0" marL="254000" marR="0" rtl="0" algn="l">
              <a:spcBef>
                <a:spcPts val="0"/>
              </a:spcBef>
              <a:spcAft>
                <a:spcPts val="0"/>
              </a:spcAft>
              <a:buClr>
                <a:srgbClr val="3E434A"/>
              </a:buClr>
              <a:buSzPts val="900"/>
              <a:buFont typeface="Calibri"/>
              <a:buChar char="•"/>
            </a:pPr>
            <a:r>
              <a:rPr b="0" i="0" lang="en" sz="900" u="none" cap="none" strike="noStrike">
                <a:solidFill>
                  <a:srgbClr val="3E434A"/>
                </a:solidFill>
                <a:latin typeface="Calibri"/>
                <a:ea typeface="Calibri"/>
                <a:cs typeface="Calibri"/>
                <a:sym typeface="Calibri"/>
              </a:rPr>
              <a:t>Firms collect and use extensive personal data with little ability for you to see or control it</a:t>
            </a:r>
            <a:endParaRPr b="0" i="0" sz="900" u="none" cap="none" strike="noStrike">
              <a:solidFill>
                <a:schemeClr val="dk1"/>
              </a:solidFill>
              <a:latin typeface="Calibri"/>
              <a:ea typeface="Calibri"/>
              <a:cs typeface="Calibri"/>
              <a:sym typeface="Calibri"/>
            </a:endParaRPr>
          </a:p>
          <a:p>
            <a:pPr indent="-247650" lvl="0" marL="254000" marR="0" rtl="0" algn="l">
              <a:spcBef>
                <a:spcPts val="500"/>
              </a:spcBef>
              <a:spcAft>
                <a:spcPts val="0"/>
              </a:spcAft>
              <a:buClr>
                <a:srgbClr val="3E434A"/>
              </a:buClr>
              <a:buSzPts val="900"/>
              <a:buFont typeface="Calibri"/>
              <a:buChar char="•"/>
            </a:pPr>
            <a:r>
              <a:rPr b="0" i="0" lang="en" sz="900" u="none" cap="none" strike="noStrike">
                <a:solidFill>
                  <a:srgbClr val="3E434A"/>
                </a:solidFill>
                <a:latin typeface="Calibri"/>
                <a:ea typeface="Calibri"/>
                <a:cs typeface="Calibri"/>
                <a:sym typeface="Calibri"/>
              </a:rPr>
              <a:t>Companies predict what you will buy before you know</a:t>
            </a:r>
            <a:endParaRPr b="0" i="0" sz="900" u="none" cap="none" strike="noStrike">
              <a:solidFill>
                <a:schemeClr val="dk1"/>
              </a:solidFill>
              <a:latin typeface="Calibri"/>
              <a:ea typeface="Calibri"/>
              <a:cs typeface="Calibri"/>
              <a:sym typeface="Calibri"/>
            </a:endParaRPr>
          </a:p>
        </p:txBody>
      </p:sp>
      <p:sp>
        <p:nvSpPr>
          <p:cNvPr id="163" name="Google Shape;163;p19"/>
          <p:cNvSpPr/>
          <p:nvPr/>
        </p:nvSpPr>
        <p:spPr>
          <a:xfrm>
            <a:off x="1405890" y="2935224"/>
            <a:ext cx="3566160" cy="1440180"/>
          </a:xfrm>
          <a:prstGeom prst="roundRect">
            <a:avLst>
              <a:gd fmla="val 3810"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4" name="Google Shape;164;p19"/>
          <p:cNvSpPr txBox="1"/>
          <p:nvPr/>
        </p:nvSpPr>
        <p:spPr>
          <a:xfrm>
            <a:off x="1597914" y="3072384"/>
            <a:ext cx="315468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400"/>
              <a:buFont typeface="Cambria"/>
              <a:buNone/>
            </a:pPr>
            <a:r>
              <a:rPr b="1" i="0" lang="en" sz="1400" u="none" cap="none" strike="noStrike">
                <a:solidFill>
                  <a:srgbClr val="16191D"/>
                </a:solidFill>
                <a:latin typeface="Cambria"/>
                <a:ea typeface="Cambria"/>
                <a:cs typeface="Cambria"/>
                <a:sym typeface="Cambria"/>
              </a:rPr>
              <a:t>Transparent Network</a:t>
            </a:r>
            <a:endParaRPr b="0" i="0" sz="1400" u="none" cap="none" strike="noStrike">
              <a:solidFill>
                <a:schemeClr val="dk1"/>
              </a:solidFill>
              <a:latin typeface="Calibri"/>
              <a:ea typeface="Calibri"/>
              <a:cs typeface="Calibri"/>
              <a:sym typeface="Calibri"/>
            </a:endParaRPr>
          </a:p>
        </p:txBody>
      </p:sp>
      <p:sp>
        <p:nvSpPr>
          <p:cNvPr id="165" name="Google Shape;165;p19"/>
          <p:cNvSpPr txBox="1"/>
          <p:nvPr/>
        </p:nvSpPr>
        <p:spPr>
          <a:xfrm>
            <a:off x="1597914" y="3387852"/>
            <a:ext cx="3188970" cy="857250"/>
          </a:xfrm>
          <a:prstGeom prst="rect">
            <a:avLst/>
          </a:prstGeom>
          <a:noFill/>
          <a:ln>
            <a:noFill/>
          </a:ln>
        </p:spPr>
        <p:txBody>
          <a:bodyPr anchorCtr="0" anchor="ctr" bIns="0" lIns="0" spcFirstLastPara="1" rIns="0" wrap="square" tIns="0">
            <a:noAutofit/>
          </a:bodyPr>
          <a:lstStyle/>
          <a:p>
            <a:pPr indent="-247650" lvl="0" marL="254000" marR="0" rtl="0" algn="l">
              <a:spcBef>
                <a:spcPts val="0"/>
              </a:spcBef>
              <a:spcAft>
                <a:spcPts val="0"/>
              </a:spcAft>
              <a:buClr>
                <a:srgbClr val="3E434A"/>
              </a:buClr>
              <a:buSzPts val="900"/>
              <a:buFont typeface="Calibri"/>
              <a:buChar char="•"/>
            </a:pPr>
            <a:r>
              <a:rPr b="0" i="0" lang="en" sz="900" u="none" cap="none" strike="noStrike">
                <a:solidFill>
                  <a:srgbClr val="3E434A"/>
                </a:solidFill>
                <a:latin typeface="Calibri"/>
                <a:ea typeface="Calibri"/>
                <a:cs typeface="Calibri"/>
                <a:sym typeface="Calibri"/>
              </a:rPr>
              <a:t>The state builds the collection infrastructure, but using it is not required</a:t>
            </a:r>
            <a:endParaRPr b="0" i="0" sz="900" u="none" cap="none" strike="noStrike">
              <a:solidFill>
                <a:schemeClr val="dk1"/>
              </a:solidFill>
              <a:latin typeface="Calibri"/>
              <a:ea typeface="Calibri"/>
              <a:cs typeface="Calibri"/>
              <a:sym typeface="Calibri"/>
            </a:endParaRPr>
          </a:p>
          <a:p>
            <a:pPr indent="-247650" lvl="0" marL="254000" marR="0" rtl="0" algn="l">
              <a:spcBef>
                <a:spcPts val="500"/>
              </a:spcBef>
              <a:spcAft>
                <a:spcPts val="0"/>
              </a:spcAft>
              <a:buClr>
                <a:srgbClr val="3E434A"/>
              </a:buClr>
              <a:buSzPts val="900"/>
              <a:buFont typeface="Calibri"/>
              <a:buChar char="•"/>
            </a:pPr>
            <a:r>
              <a:rPr b="0" i="0" lang="en" sz="900" u="none" cap="none" strike="noStrike">
                <a:solidFill>
                  <a:srgbClr val="3E434A"/>
                </a:solidFill>
                <a:latin typeface="Calibri"/>
                <a:ea typeface="Calibri"/>
                <a:cs typeface="Calibri"/>
                <a:sym typeface="Calibri"/>
              </a:rPr>
              <a:t>A regulator audits algorithms; state access needs a warrant and is logged</a:t>
            </a:r>
            <a:endParaRPr b="0" i="0" sz="900" u="none" cap="none" strike="noStrike">
              <a:solidFill>
                <a:schemeClr val="dk1"/>
              </a:solidFill>
              <a:latin typeface="Calibri"/>
              <a:ea typeface="Calibri"/>
              <a:cs typeface="Calibri"/>
              <a:sym typeface="Calibri"/>
            </a:endParaRPr>
          </a:p>
        </p:txBody>
      </p:sp>
      <p:sp>
        <p:nvSpPr>
          <p:cNvPr id="166" name="Google Shape;166;p19"/>
          <p:cNvSpPr/>
          <p:nvPr/>
        </p:nvSpPr>
        <p:spPr>
          <a:xfrm>
            <a:off x="5177790" y="2935224"/>
            <a:ext cx="3566160" cy="1440180"/>
          </a:xfrm>
          <a:prstGeom prst="roundRect">
            <a:avLst>
              <a:gd fmla="val 3810" name="adj"/>
            </a:avLst>
          </a:prstGeom>
          <a:solidFill>
            <a:srgbClr val="16191D"/>
          </a:solidFill>
          <a:ln cap="flat" cmpd="sng" w="9525">
            <a:solidFill>
              <a:srgbClr val="16191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7" name="Google Shape;167;p19"/>
          <p:cNvSpPr txBox="1"/>
          <p:nvPr/>
        </p:nvSpPr>
        <p:spPr>
          <a:xfrm>
            <a:off x="5369814" y="3072384"/>
            <a:ext cx="315468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Surveillance State</a:t>
            </a:r>
            <a:endParaRPr b="0" i="0" sz="1400" u="none" cap="none" strike="noStrike">
              <a:solidFill>
                <a:schemeClr val="dk1"/>
              </a:solidFill>
              <a:latin typeface="Calibri"/>
              <a:ea typeface="Calibri"/>
              <a:cs typeface="Calibri"/>
              <a:sym typeface="Calibri"/>
            </a:endParaRPr>
          </a:p>
        </p:txBody>
      </p:sp>
      <p:sp>
        <p:nvSpPr>
          <p:cNvPr id="168" name="Google Shape;168;p19"/>
          <p:cNvSpPr txBox="1"/>
          <p:nvPr/>
        </p:nvSpPr>
        <p:spPr>
          <a:xfrm>
            <a:off x="5369814" y="3387852"/>
            <a:ext cx="3188970" cy="857250"/>
          </a:xfrm>
          <a:prstGeom prst="rect">
            <a:avLst/>
          </a:prstGeom>
          <a:noFill/>
          <a:ln>
            <a:noFill/>
          </a:ln>
        </p:spPr>
        <p:txBody>
          <a:bodyPr anchorCtr="0" anchor="ctr" bIns="0" lIns="0" spcFirstLastPara="1" rIns="0" wrap="square" tIns="0">
            <a:noAutofit/>
          </a:bodyPr>
          <a:lstStyle/>
          <a:p>
            <a:pPr indent="-247650" lvl="0" marL="254000" marR="0" rtl="0" algn="l">
              <a:spcBef>
                <a:spcPts val="0"/>
              </a:spcBef>
              <a:spcAft>
                <a:spcPts val="0"/>
              </a:spcAft>
              <a:buClr>
                <a:srgbClr val="C3C8CE"/>
              </a:buClr>
              <a:buSzPts val="900"/>
              <a:buFont typeface="Calibri"/>
              <a:buChar char="•"/>
            </a:pPr>
            <a:r>
              <a:rPr b="0" i="0" lang="en" sz="900" u="none" cap="none" strike="noStrike">
                <a:solidFill>
                  <a:srgbClr val="C3C8CE"/>
                </a:solidFill>
                <a:latin typeface="Calibri"/>
                <a:ea typeface="Calibri"/>
                <a:cs typeface="Calibri"/>
                <a:sym typeface="Calibri"/>
              </a:rPr>
              <a:t>Daily tasks require disclosure, such as a face scan to check out at the grocery store</a:t>
            </a:r>
            <a:endParaRPr b="0" i="0" sz="900" u="none" cap="none" strike="noStrike">
              <a:solidFill>
                <a:schemeClr val="dk1"/>
              </a:solidFill>
              <a:latin typeface="Calibri"/>
              <a:ea typeface="Calibri"/>
              <a:cs typeface="Calibri"/>
              <a:sym typeface="Calibri"/>
            </a:endParaRPr>
          </a:p>
          <a:p>
            <a:pPr indent="-247650" lvl="0" marL="254000" marR="0" rtl="0" algn="l">
              <a:spcBef>
                <a:spcPts val="500"/>
              </a:spcBef>
              <a:spcAft>
                <a:spcPts val="0"/>
              </a:spcAft>
              <a:buClr>
                <a:srgbClr val="C3C8CE"/>
              </a:buClr>
              <a:buSzPts val="900"/>
              <a:buFont typeface="Calibri"/>
              <a:buChar char="•"/>
            </a:pPr>
            <a:r>
              <a:rPr b="0" i="0" lang="en" sz="900" u="none" cap="none" strike="noStrike">
                <a:solidFill>
                  <a:srgbClr val="C3C8CE"/>
                </a:solidFill>
                <a:latin typeface="Calibri"/>
                <a:ea typeface="Calibri"/>
                <a:cs typeface="Calibri"/>
                <a:sym typeface="Calibri"/>
              </a:rPr>
              <a:t>Government access is unrestricted and monitoring is real-time</a:t>
            </a:r>
            <a:endParaRPr b="0" i="0" sz="900" u="none" cap="none" strike="noStrike">
              <a:solidFill>
                <a:schemeClr val="dk1"/>
              </a:solidFill>
              <a:latin typeface="Calibri"/>
              <a:ea typeface="Calibri"/>
              <a:cs typeface="Calibri"/>
              <a:sym typeface="Calibri"/>
            </a:endParaRPr>
          </a:p>
        </p:txBody>
      </p:sp>
      <p:sp>
        <p:nvSpPr>
          <p:cNvPr id="169" name="Google Shape;169;p19"/>
          <p:cNvSpPr txBox="1"/>
          <p:nvPr/>
        </p:nvSpPr>
        <p:spPr>
          <a:xfrm>
            <a:off x="1405890" y="4457700"/>
            <a:ext cx="7324344"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Calibri"/>
              <a:buNone/>
            </a:pPr>
            <a:r>
              <a:rPr b="1" i="0" lang="en" sz="1000" u="none" cap="none" strike="noStrike">
                <a:solidFill>
                  <a:srgbClr val="C0392B"/>
                </a:solidFill>
                <a:latin typeface="Calibri"/>
                <a:ea typeface="Calibri"/>
                <a:cs typeface="Calibri"/>
                <a:sym typeface="Calibri"/>
              </a:rPr>
              <a:t>Where we are now: high collection, low formal government involvement, and the state buys access rather than building it.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3F0"/>
        </a:solidFill>
      </p:bgPr>
    </p:bg>
    <p:spTree>
      <p:nvGrpSpPr>
        <p:cNvPr id="174" name="Shape 174"/>
        <p:cNvGrpSpPr/>
        <p:nvPr/>
      </p:nvGrpSpPr>
      <p:grpSpPr>
        <a:xfrm>
          <a:off x="0" y="0"/>
          <a:ext cx="0" cy="0"/>
          <a:chOff x="0" y="0"/>
          <a:chExt cx="0" cy="0"/>
        </a:xfrm>
      </p:grpSpPr>
      <p:sp>
        <p:nvSpPr>
          <p:cNvPr id="175" name="Google Shape;175;p20"/>
          <p:cNvSpPr txBox="1"/>
          <p:nvPr/>
        </p:nvSpPr>
        <p:spPr>
          <a:xfrm>
            <a:off x="411480" y="342900"/>
            <a:ext cx="831875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2400"/>
              <a:buFont typeface="Cambria"/>
              <a:buNone/>
            </a:pPr>
            <a:r>
              <a:rPr b="0" i="0" lang="en" sz="2400" u="none" cap="none" strike="noStrike">
                <a:solidFill>
                  <a:srgbClr val="16191D"/>
                </a:solidFill>
                <a:latin typeface="Cambria"/>
                <a:ea typeface="Cambria"/>
                <a:cs typeface="Cambria"/>
                <a:sym typeface="Cambria"/>
              </a:rPr>
              <a:t>Opportunities in the high-government quadrant</a:t>
            </a:r>
            <a:endParaRPr b="0" i="0" sz="2400" u="none" cap="none" strike="noStrike">
              <a:solidFill>
                <a:schemeClr val="dk1"/>
              </a:solidFill>
              <a:latin typeface="Calibri"/>
              <a:ea typeface="Calibri"/>
              <a:cs typeface="Calibri"/>
              <a:sym typeface="Calibri"/>
            </a:endParaRPr>
          </a:p>
        </p:txBody>
      </p:sp>
      <p:sp>
        <p:nvSpPr>
          <p:cNvPr id="176" name="Google Shape;176;p20"/>
          <p:cNvSpPr txBox="1"/>
          <p:nvPr/>
        </p:nvSpPr>
        <p:spPr>
          <a:xfrm>
            <a:off x="411480" y="850392"/>
            <a:ext cx="781812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1100"/>
              <a:buFont typeface="Calibri"/>
              <a:buNone/>
            </a:pPr>
            <a:r>
              <a:rPr b="0" i="0" lang="en" sz="1100" u="none" cap="none" strike="noStrike">
                <a:solidFill>
                  <a:srgbClr val="6B7178"/>
                </a:solidFill>
                <a:latin typeface="Calibri"/>
                <a:ea typeface="Calibri"/>
                <a:cs typeface="Calibri"/>
                <a:sym typeface="Calibri"/>
              </a:rPr>
              <a:t>Problems, not solutions. Each already exists in small form today.</a:t>
            </a:r>
            <a:endParaRPr b="0" i="0" sz="1100" u="none" cap="none" strike="noStrike">
              <a:solidFill>
                <a:schemeClr val="dk1"/>
              </a:solidFill>
              <a:latin typeface="Calibri"/>
              <a:ea typeface="Calibri"/>
              <a:cs typeface="Calibri"/>
              <a:sym typeface="Calibri"/>
            </a:endParaRPr>
          </a:p>
        </p:txBody>
      </p:sp>
      <p:sp>
        <p:nvSpPr>
          <p:cNvPr id="177" name="Google Shape;177;p20"/>
          <p:cNvSpPr/>
          <p:nvPr/>
        </p:nvSpPr>
        <p:spPr>
          <a:xfrm>
            <a:off x="411480" y="1220724"/>
            <a:ext cx="2647188" cy="3168396"/>
          </a:xfrm>
          <a:prstGeom prst="roundRect">
            <a:avLst>
              <a:gd fmla="val 2073"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8" name="Google Shape;178;p20"/>
          <p:cNvSpPr/>
          <p:nvPr/>
        </p:nvSpPr>
        <p:spPr>
          <a:xfrm>
            <a:off x="603504" y="1371600"/>
            <a:ext cx="288036" cy="288036"/>
          </a:xfrm>
          <a:prstGeom prst="ellipse">
            <a:avLst/>
          </a:prstGeom>
          <a:solidFill>
            <a:srgbClr val="C0392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9" name="Google Shape;179;p20"/>
          <p:cNvSpPr txBox="1"/>
          <p:nvPr/>
        </p:nvSpPr>
        <p:spPr>
          <a:xfrm>
            <a:off x="603504" y="1419606"/>
            <a:ext cx="288036"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01</a:t>
            </a:r>
            <a:endParaRPr b="0" i="0" sz="900" u="none" cap="none" strike="noStrike">
              <a:solidFill>
                <a:schemeClr val="dk1"/>
              </a:solidFill>
              <a:latin typeface="Calibri"/>
              <a:ea typeface="Calibri"/>
              <a:cs typeface="Calibri"/>
              <a:sym typeface="Calibri"/>
            </a:endParaRPr>
          </a:p>
        </p:txBody>
      </p:sp>
      <p:sp>
        <p:nvSpPr>
          <p:cNvPr id="180" name="Google Shape;180;p20"/>
          <p:cNvSpPr txBox="1"/>
          <p:nvPr/>
        </p:nvSpPr>
        <p:spPr>
          <a:xfrm>
            <a:off x="603504" y="1755648"/>
            <a:ext cx="22631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400"/>
              <a:buFont typeface="Cambria"/>
              <a:buNone/>
            </a:pPr>
            <a:r>
              <a:rPr b="1" i="0" lang="en" sz="1400" u="none" cap="none" strike="noStrike">
                <a:solidFill>
                  <a:srgbClr val="16191D"/>
                </a:solidFill>
                <a:latin typeface="Cambria"/>
                <a:ea typeface="Cambria"/>
                <a:cs typeface="Cambria"/>
                <a:sym typeface="Cambria"/>
              </a:rPr>
              <a:t>No view into your own file</a:t>
            </a:r>
            <a:endParaRPr b="0" i="0" sz="1400" u="none" cap="none" strike="noStrike">
              <a:solidFill>
                <a:schemeClr val="dk1"/>
              </a:solidFill>
              <a:latin typeface="Calibri"/>
              <a:ea typeface="Calibri"/>
              <a:cs typeface="Calibri"/>
              <a:sym typeface="Calibri"/>
            </a:endParaRPr>
          </a:p>
        </p:txBody>
      </p:sp>
      <p:sp>
        <p:nvSpPr>
          <p:cNvPr id="181" name="Google Shape;181;p20"/>
          <p:cNvSpPr txBox="1"/>
          <p:nvPr/>
        </p:nvSpPr>
        <p:spPr>
          <a:xfrm>
            <a:off x="603504" y="2139696"/>
            <a:ext cx="2276856" cy="65151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E434A"/>
              </a:buClr>
              <a:buSzPts val="900"/>
              <a:buFont typeface="Calibri"/>
              <a:buNone/>
            </a:pPr>
            <a:r>
              <a:rPr b="0" i="0" lang="en" sz="900" u="none" cap="none" strike="noStrike">
                <a:solidFill>
                  <a:srgbClr val="3E434A"/>
                </a:solidFill>
                <a:latin typeface="Calibri"/>
                <a:ea typeface="Calibri"/>
                <a:cs typeface="Calibri"/>
                <a:sym typeface="Calibri"/>
              </a:rPr>
              <a:t>People may have little visibility into when their data is accessed, why, how long it is kept, or which agencies it reaches.</a:t>
            </a:r>
            <a:endParaRPr b="0" i="0" sz="900" u="none" cap="none" strike="noStrike">
              <a:solidFill>
                <a:schemeClr val="dk1"/>
              </a:solidFill>
              <a:latin typeface="Calibri"/>
              <a:ea typeface="Calibri"/>
              <a:cs typeface="Calibri"/>
              <a:sym typeface="Calibri"/>
            </a:endParaRPr>
          </a:p>
        </p:txBody>
      </p:sp>
      <p:sp>
        <p:nvSpPr>
          <p:cNvPr id="182" name="Google Shape;182;p20"/>
          <p:cNvSpPr txBox="1"/>
          <p:nvPr/>
        </p:nvSpPr>
        <p:spPr>
          <a:xfrm>
            <a:off x="603504" y="2777490"/>
            <a:ext cx="2276856" cy="41148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C0392B"/>
              </a:buClr>
              <a:buSzPts val="900"/>
              <a:buFont typeface="Calibri"/>
              <a:buNone/>
            </a:pPr>
            <a:r>
              <a:rPr b="1" i="0" lang="en" sz="900" u="none" cap="none" strike="noStrike">
                <a:solidFill>
                  <a:srgbClr val="C0392B"/>
                </a:solidFill>
                <a:latin typeface="Calibri"/>
                <a:ea typeface="Calibri"/>
                <a:cs typeface="Calibri"/>
                <a:sym typeface="Calibri"/>
              </a:rPr>
              <a:t>WHO  </a:t>
            </a:r>
            <a:r>
              <a:rPr b="0" i="0" lang="en" sz="900" u="none" cap="none" strike="noStrike">
                <a:solidFill>
                  <a:srgbClr val="3E434A"/>
                </a:solidFill>
                <a:latin typeface="Calibri"/>
                <a:ea typeface="Calibri"/>
                <a:cs typeface="Calibri"/>
                <a:sym typeface="Calibri"/>
              </a:rPr>
              <a:t>Citizens, journalists, courts, oversight bodies</a:t>
            </a:r>
            <a:endParaRPr b="0" i="0" sz="900" u="none" cap="none" strike="noStrike">
              <a:solidFill>
                <a:schemeClr val="dk1"/>
              </a:solidFill>
              <a:latin typeface="Calibri"/>
              <a:ea typeface="Calibri"/>
              <a:cs typeface="Calibri"/>
              <a:sym typeface="Calibri"/>
            </a:endParaRPr>
          </a:p>
        </p:txBody>
      </p:sp>
      <p:sp>
        <p:nvSpPr>
          <p:cNvPr id="183" name="Google Shape;183;p20"/>
          <p:cNvSpPr txBox="1"/>
          <p:nvPr/>
        </p:nvSpPr>
        <p:spPr>
          <a:xfrm>
            <a:off x="603504" y="3168396"/>
            <a:ext cx="2276856" cy="61722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C0392B"/>
              </a:buClr>
              <a:buSzPts val="900"/>
              <a:buFont typeface="Calibri"/>
              <a:buNone/>
            </a:pPr>
            <a:r>
              <a:rPr b="1" i="0" lang="en" sz="900" u="none" cap="none" strike="noStrike">
                <a:solidFill>
                  <a:srgbClr val="C0392B"/>
                </a:solidFill>
                <a:latin typeface="Calibri"/>
                <a:ea typeface="Calibri"/>
                <a:cs typeface="Calibri"/>
                <a:sym typeface="Calibri"/>
              </a:rPr>
              <a:t>WHY  </a:t>
            </a:r>
            <a:r>
              <a:rPr b="0" i="0" lang="en" sz="900" u="none" cap="none" strike="noStrike">
                <a:solidFill>
                  <a:srgbClr val="3E434A"/>
                </a:solidFill>
                <a:latin typeface="Calibri"/>
                <a:ea typeface="Calibri"/>
                <a:cs typeface="Calibri"/>
                <a:sym typeface="Calibri"/>
              </a:rPr>
              <a:t>Without visibility, misuse cannot be challenged and errors cannot be found. As datasets connect, the consequences compound.</a:t>
            </a:r>
            <a:endParaRPr b="0" i="0" sz="900" u="none" cap="none" strike="noStrike">
              <a:solidFill>
                <a:schemeClr val="dk1"/>
              </a:solidFill>
              <a:latin typeface="Calibri"/>
              <a:ea typeface="Calibri"/>
              <a:cs typeface="Calibri"/>
              <a:sym typeface="Calibri"/>
            </a:endParaRPr>
          </a:p>
        </p:txBody>
      </p:sp>
      <p:sp>
        <p:nvSpPr>
          <p:cNvPr id="184" name="Google Shape;184;p20"/>
          <p:cNvSpPr txBox="1"/>
          <p:nvPr/>
        </p:nvSpPr>
        <p:spPr>
          <a:xfrm>
            <a:off x="603504" y="3771900"/>
            <a:ext cx="2276856" cy="58293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C0392B"/>
              </a:buClr>
              <a:buSzPts val="900"/>
              <a:buFont typeface="Calibri"/>
              <a:buNone/>
            </a:pPr>
            <a:r>
              <a:rPr b="1" i="0" lang="en" sz="900" u="none" cap="none" strike="noStrike">
                <a:solidFill>
                  <a:srgbClr val="C0392B"/>
                </a:solidFill>
                <a:latin typeface="Calibri"/>
                <a:ea typeface="Calibri"/>
                <a:cs typeface="Calibri"/>
                <a:sym typeface="Calibri"/>
              </a:rPr>
              <a:t>SIGNAL  </a:t>
            </a:r>
            <a:r>
              <a:rPr b="0" i="0" lang="en" sz="900" u="none" cap="none" strike="noStrike">
                <a:solidFill>
                  <a:srgbClr val="3E434A"/>
                </a:solidFill>
                <a:latin typeface="Calibri"/>
                <a:ea typeface="Calibri"/>
                <a:cs typeface="Calibri"/>
                <a:sym typeface="Calibri"/>
              </a:rPr>
              <a:t>GAO found Treasury did not fully implement data-protection controls before granting DOGE staff access to payment systems (Apr 2026).</a:t>
            </a:r>
            <a:endParaRPr b="0" i="0" sz="900" u="none" cap="none" strike="noStrike">
              <a:solidFill>
                <a:schemeClr val="dk1"/>
              </a:solidFill>
              <a:latin typeface="Calibri"/>
              <a:ea typeface="Calibri"/>
              <a:cs typeface="Calibri"/>
              <a:sym typeface="Calibri"/>
            </a:endParaRPr>
          </a:p>
        </p:txBody>
      </p:sp>
      <p:sp>
        <p:nvSpPr>
          <p:cNvPr id="185" name="Google Shape;185;p20"/>
          <p:cNvSpPr/>
          <p:nvPr/>
        </p:nvSpPr>
        <p:spPr>
          <a:xfrm>
            <a:off x="3264408" y="1220724"/>
            <a:ext cx="2647188" cy="3168396"/>
          </a:xfrm>
          <a:prstGeom prst="roundRect">
            <a:avLst>
              <a:gd fmla="val 2073"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6" name="Google Shape;186;p20"/>
          <p:cNvSpPr/>
          <p:nvPr/>
        </p:nvSpPr>
        <p:spPr>
          <a:xfrm>
            <a:off x="3456432" y="1371600"/>
            <a:ext cx="288036" cy="288036"/>
          </a:xfrm>
          <a:prstGeom prst="ellipse">
            <a:avLst/>
          </a:prstGeom>
          <a:solidFill>
            <a:srgbClr val="C0392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 name="Google Shape;187;p20"/>
          <p:cNvSpPr txBox="1"/>
          <p:nvPr/>
        </p:nvSpPr>
        <p:spPr>
          <a:xfrm>
            <a:off x="3456432" y="1419606"/>
            <a:ext cx="288036"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02</a:t>
            </a:r>
            <a:endParaRPr b="0" i="0" sz="900" u="none" cap="none" strike="noStrike">
              <a:solidFill>
                <a:schemeClr val="dk1"/>
              </a:solidFill>
              <a:latin typeface="Calibri"/>
              <a:ea typeface="Calibri"/>
              <a:cs typeface="Calibri"/>
              <a:sym typeface="Calibri"/>
            </a:endParaRPr>
          </a:p>
        </p:txBody>
      </p:sp>
      <p:sp>
        <p:nvSpPr>
          <p:cNvPr id="188" name="Google Shape;188;p20"/>
          <p:cNvSpPr txBox="1"/>
          <p:nvPr/>
        </p:nvSpPr>
        <p:spPr>
          <a:xfrm>
            <a:off x="3456432" y="1755648"/>
            <a:ext cx="22631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400"/>
              <a:buFont typeface="Cambria"/>
              <a:buNone/>
            </a:pPr>
            <a:r>
              <a:rPr b="1" i="0" lang="en" sz="1400" u="none" cap="none" strike="noStrike">
                <a:solidFill>
                  <a:srgbClr val="16191D"/>
                </a:solidFill>
                <a:latin typeface="Cambria"/>
                <a:ea typeface="Cambria"/>
                <a:cs typeface="Cambria"/>
                <a:sym typeface="Cambria"/>
              </a:rPr>
              <a:t>Scored without knowing why</a:t>
            </a:r>
            <a:endParaRPr b="0" i="0" sz="1400" u="none" cap="none" strike="noStrike">
              <a:solidFill>
                <a:schemeClr val="dk1"/>
              </a:solidFill>
              <a:latin typeface="Calibri"/>
              <a:ea typeface="Calibri"/>
              <a:cs typeface="Calibri"/>
              <a:sym typeface="Calibri"/>
            </a:endParaRPr>
          </a:p>
        </p:txBody>
      </p:sp>
      <p:sp>
        <p:nvSpPr>
          <p:cNvPr id="189" name="Google Shape;189;p20"/>
          <p:cNvSpPr txBox="1"/>
          <p:nvPr/>
        </p:nvSpPr>
        <p:spPr>
          <a:xfrm>
            <a:off x="3456432" y="2139696"/>
            <a:ext cx="2276856" cy="65151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E434A"/>
              </a:buClr>
              <a:buSzPts val="900"/>
              <a:buFont typeface="Calibri"/>
              <a:buNone/>
            </a:pPr>
            <a:r>
              <a:rPr b="0" i="0" lang="en" sz="900" u="none" cap="none" strike="noStrike">
                <a:solidFill>
                  <a:srgbClr val="3E434A"/>
                </a:solidFill>
                <a:latin typeface="Calibri"/>
                <a:ea typeface="Calibri"/>
                <a:cs typeface="Calibri"/>
                <a:sym typeface="Calibri"/>
              </a:rPr>
              <a:t>Government systems may continuously score, classify or predict behaviour without people knowing what data shaped the decision.</a:t>
            </a:r>
            <a:endParaRPr b="0" i="0" sz="900" u="none" cap="none" strike="noStrike">
              <a:solidFill>
                <a:schemeClr val="dk1"/>
              </a:solidFill>
              <a:latin typeface="Calibri"/>
              <a:ea typeface="Calibri"/>
              <a:cs typeface="Calibri"/>
              <a:sym typeface="Calibri"/>
            </a:endParaRPr>
          </a:p>
        </p:txBody>
      </p:sp>
      <p:sp>
        <p:nvSpPr>
          <p:cNvPr id="190" name="Google Shape;190;p20"/>
          <p:cNvSpPr txBox="1"/>
          <p:nvPr/>
        </p:nvSpPr>
        <p:spPr>
          <a:xfrm>
            <a:off x="3456432" y="2777490"/>
            <a:ext cx="2276856" cy="41148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C0392B"/>
              </a:buClr>
              <a:buSzPts val="900"/>
              <a:buFont typeface="Calibri"/>
              <a:buNone/>
            </a:pPr>
            <a:r>
              <a:rPr b="1" i="0" lang="en" sz="900" u="none" cap="none" strike="noStrike">
                <a:solidFill>
                  <a:srgbClr val="C0392B"/>
                </a:solidFill>
                <a:latin typeface="Calibri"/>
                <a:ea typeface="Calibri"/>
                <a:cs typeface="Calibri"/>
                <a:sym typeface="Calibri"/>
              </a:rPr>
              <a:t>WHO  </a:t>
            </a:r>
            <a:r>
              <a:rPr b="0" i="0" lang="en" sz="900" u="none" cap="none" strike="noStrike">
                <a:solidFill>
                  <a:srgbClr val="3E434A"/>
                </a:solidFill>
                <a:latin typeface="Calibri"/>
                <a:ea typeface="Calibri"/>
                <a:cs typeface="Calibri"/>
                <a:sym typeface="Calibri"/>
              </a:rPr>
              <a:t>Benefit and licence applicants, people flagged by risk scoring</a:t>
            </a:r>
            <a:endParaRPr b="0" i="0" sz="900" u="none" cap="none" strike="noStrike">
              <a:solidFill>
                <a:schemeClr val="dk1"/>
              </a:solidFill>
              <a:latin typeface="Calibri"/>
              <a:ea typeface="Calibri"/>
              <a:cs typeface="Calibri"/>
              <a:sym typeface="Calibri"/>
            </a:endParaRPr>
          </a:p>
        </p:txBody>
      </p:sp>
      <p:sp>
        <p:nvSpPr>
          <p:cNvPr id="191" name="Google Shape;191;p20"/>
          <p:cNvSpPr txBox="1"/>
          <p:nvPr/>
        </p:nvSpPr>
        <p:spPr>
          <a:xfrm>
            <a:off x="3456432" y="3168396"/>
            <a:ext cx="2276856" cy="61722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C0392B"/>
              </a:buClr>
              <a:buSzPts val="900"/>
              <a:buFont typeface="Calibri"/>
              <a:buNone/>
            </a:pPr>
            <a:r>
              <a:rPr b="1" i="0" lang="en" sz="900" u="none" cap="none" strike="noStrike">
                <a:solidFill>
                  <a:srgbClr val="C0392B"/>
                </a:solidFill>
                <a:latin typeface="Calibri"/>
                <a:ea typeface="Calibri"/>
                <a:cs typeface="Calibri"/>
                <a:sym typeface="Calibri"/>
              </a:rPr>
              <a:t>WHY  </a:t>
            </a:r>
            <a:r>
              <a:rPr b="0" i="0" lang="en" sz="900" u="none" cap="none" strike="noStrike">
                <a:solidFill>
                  <a:srgbClr val="3E434A"/>
                </a:solidFill>
                <a:latin typeface="Calibri"/>
                <a:ea typeface="Calibri"/>
                <a:cs typeface="Calibri"/>
                <a:sym typeface="Calibri"/>
              </a:rPr>
              <a:t>Algorithmic judgments affect major life opportunities, and correcting a bad profile built from thousands of signals is very hard.</a:t>
            </a:r>
            <a:endParaRPr b="0" i="0" sz="900" u="none" cap="none" strike="noStrike">
              <a:solidFill>
                <a:schemeClr val="dk1"/>
              </a:solidFill>
              <a:latin typeface="Calibri"/>
              <a:ea typeface="Calibri"/>
              <a:cs typeface="Calibri"/>
              <a:sym typeface="Calibri"/>
            </a:endParaRPr>
          </a:p>
        </p:txBody>
      </p:sp>
      <p:sp>
        <p:nvSpPr>
          <p:cNvPr id="192" name="Google Shape;192;p20"/>
          <p:cNvSpPr txBox="1"/>
          <p:nvPr/>
        </p:nvSpPr>
        <p:spPr>
          <a:xfrm>
            <a:off x="3456432" y="3771900"/>
            <a:ext cx="2276856" cy="58293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C0392B"/>
              </a:buClr>
              <a:buSzPts val="900"/>
              <a:buFont typeface="Calibri"/>
              <a:buNone/>
            </a:pPr>
            <a:r>
              <a:rPr b="1" i="0" lang="en" sz="900" u="none" cap="none" strike="noStrike">
                <a:solidFill>
                  <a:srgbClr val="C0392B"/>
                </a:solidFill>
                <a:latin typeface="Calibri"/>
                <a:ea typeface="Calibri"/>
                <a:cs typeface="Calibri"/>
                <a:sym typeface="Calibri"/>
              </a:rPr>
              <a:t>SIGNAL  </a:t>
            </a:r>
            <a:r>
              <a:rPr b="0" i="0" lang="en" sz="900" u="none" cap="none" strike="noStrike">
                <a:solidFill>
                  <a:srgbClr val="3E434A"/>
                </a:solidFill>
                <a:latin typeface="Calibri"/>
                <a:ea typeface="Calibri"/>
                <a:cs typeface="Calibri"/>
                <a:sym typeface="Calibri"/>
              </a:rPr>
              <a:t>Across 11 selected agencies, GAO found reported AI use cases nearly doubled, from 571 in 2023 to 1,110 in 2024.</a:t>
            </a:r>
            <a:endParaRPr b="0" i="0" sz="900" u="none" cap="none" strike="noStrike">
              <a:solidFill>
                <a:schemeClr val="dk1"/>
              </a:solidFill>
              <a:latin typeface="Calibri"/>
              <a:ea typeface="Calibri"/>
              <a:cs typeface="Calibri"/>
              <a:sym typeface="Calibri"/>
            </a:endParaRPr>
          </a:p>
        </p:txBody>
      </p:sp>
      <p:sp>
        <p:nvSpPr>
          <p:cNvPr id="193" name="Google Shape;193;p20"/>
          <p:cNvSpPr/>
          <p:nvPr/>
        </p:nvSpPr>
        <p:spPr>
          <a:xfrm>
            <a:off x="6117336" y="1220724"/>
            <a:ext cx="2647188" cy="3168396"/>
          </a:xfrm>
          <a:prstGeom prst="roundRect">
            <a:avLst>
              <a:gd fmla="val 2073" name="adj"/>
            </a:avLst>
          </a:prstGeom>
          <a:solidFill>
            <a:srgbClr val="FFFFFF"/>
          </a:solidFill>
          <a:ln cap="flat" cmpd="sng" w="9525">
            <a:solidFill>
              <a:srgbClr val="DDDAD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4" name="Google Shape;194;p20"/>
          <p:cNvSpPr/>
          <p:nvPr/>
        </p:nvSpPr>
        <p:spPr>
          <a:xfrm>
            <a:off x="6309360" y="1371600"/>
            <a:ext cx="288036" cy="288036"/>
          </a:xfrm>
          <a:prstGeom prst="ellipse">
            <a:avLst/>
          </a:prstGeom>
          <a:solidFill>
            <a:srgbClr val="C0392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5" name="Google Shape;195;p20"/>
          <p:cNvSpPr txBox="1"/>
          <p:nvPr/>
        </p:nvSpPr>
        <p:spPr>
          <a:xfrm>
            <a:off x="6309360" y="1419606"/>
            <a:ext cx="288036"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03</a:t>
            </a:r>
            <a:endParaRPr b="0" i="0" sz="900" u="none" cap="none" strike="noStrike">
              <a:solidFill>
                <a:schemeClr val="dk1"/>
              </a:solidFill>
              <a:latin typeface="Calibri"/>
              <a:ea typeface="Calibri"/>
              <a:cs typeface="Calibri"/>
              <a:sym typeface="Calibri"/>
            </a:endParaRPr>
          </a:p>
        </p:txBody>
      </p:sp>
      <p:sp>
        <p:nvSpPr>
          <p:cNvPr id="196" name="Google Shape;196;p20"/>
          <p:cNvSpPr txBox="1"/>
          <p:nvPr/>
        </p:nvSpPr>
        <p:spPr>
          <a:xfrm>
            <a:off x="6309360" y="1755648"/>
            <a:ext cx="22631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91D"/>
              </a:buClr>
              <a:buSzPts val="1400"/>
              <a:buFont typeface="Cambria"/>
              <a:buNone/>
            </a:pPr>
            <a:r>
              <a:rPr b="1" i="0" lang="en" sz="1400" u="none" cap="none" strike="noStrike">
                <a:solidFill>
                  <a:srgbClr val="16191D"/>
                </a:solidFill>
                <a:latin typeface="Cambria"/>
                <a:ea typeface="Cambria"/>
                <a:cs typeface="Cambria"/>
                <a:sym typeface="Cambria"/>
              </a:rPr>
              <a:t>Make the search costly</a:t>
            </a:r>
            <a:endParaRPr b="0" i="0" sz="1400" u="none" cap="none" strike="noStrike">
              <a:solidFill>
                <a:schemeClr val="dk1"/>
              </a:solidFill>
              <a:latin typeface="Calibri"/>
              <a:ea typeface="Calibri"/>
              <a:cs typeface="Calibri"/>
              <a:sym typeface="Calibri"/>
            </a:endParaRPr>
          </a:p>
        </p:txBody>
      </p:sp>
      <p:sp>
        <p:nvSpPr>
          <p:cNvPr id="197" name="Google Shape;197;p20"/>
          <p:cNvSpPr txBox="1"/>
          <p:nvPr/>
        </p:nvSpPr>
        <p:spPr>
          <a:xfrm>
            <a:off x="6309360" y="2139696"/>
            <a:ext cx="2276856" cy="65151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E434A"/>
              </a:buClr>
              <a:buSzPts val="900"/>
              <a:buFont typeface="Calibri"/>
              <a:buNone/>
            </a:pPr>
            <a:r>
              <a:rPr b="0" i="0" lang="en" sz="900" u="none" cap="none" strike="noStrike">
                <a:solidFill>
                  <a:srgbClr val="3E434A"/>
                </a:solidFill>
                <a:latin typeface="Calibri"/>
                <a:ea typeface="Calibri"/>
                <a:cs typeface="Calibri"/>
                <a:sym typeface="Calibri"/>
              </a:rPr>
              <a:t>There will be a need to make each surveillance query hard to run, not merely easy to review afterward.</a:t>
            </a:r>
            <a:endParaRPr b="0" i="0" sz="900" u="none" cap="none" strike="noStrike">
              <a:solidFill>
                <a:schemeClr val="dk1"/>
              </a:solidFill>
              <a:latin typeface="Calibri"/>
              <a:ea typeface="Calibri"/>
              <a:cs typeface="Calibri"/>
              <a:sym typeface="Calibri"/>
            </a:endParaRPr>
          </a:p>
        </p:txBody>
      </p:sp>
      <p:sp>
        <p:nvSpPr>
          <p:cNvPr id="198" name="Google Shape;198;p20"/>
          <p:cNvSpPr txBox="1"/>
          <p:nvPr/>
        </p:nvSpPr>
        <p:spPr>
          <a:xfrm>
            <a:off x="6309360" y="2777490"/>
            <a:ext cx="2276856" cy="41148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C0392B"/>
              </a:buClr>
              <a:buSzPts val="900"/>
              <a:buFont typeface="Calibri"/>
              <a:buNone/>
            </a:pPr>
            <a:r>
              <a:rPr b="1" i="0" lang="en" sz="900" u="none" cap="none" strike="noStrike">
                <a:solidFill>
                  <a:srgbClr val="C0392B"/>
                </a:solidFill>
                <a:latin typeface="Calibri"/>
                <a:ea typeface="Calibri"/>
                <a:cs typeface="Calibri"/>
                <a:sym typeface="Calibri"/>
              </a:rPr>
              <a:t>WHO  </a:t>
            </a:r>
            <a:r>
              <a:rPr b="0" i="0" lang="en" sz="900" u="none" cap="none" strike="noStrike">
                <a:solidFill>
                  <a:srgbClr val="3E434A"/>
                </a:solidFill>
                <a:latin typeface="Calibri"/>
                <a:ea typeface="Calibri"/>
                <a:cs typeface="Calibri"/>
                <a:sym typeface="Calibri"/>
              </a:rPr>
              <a:t>People searched for personal reasons; agencies facing liability</a:t>
            </a:r>
            <a:endParaRPr b="0" i="0" sz="900" u="none" cap="none" strike="noStrike">
              <a:solidFill>
                <a:schemeClr val="dk1"/>
              </a:solidFill>
              <a:latin typeface="Calibri"/>
              <a:ea typeface="Calibri"/>
              <a:cs typeface="Calibri"/>
              <a:sym typeface="Calibri"/>
            </a:endParaRPr>
          </a:p>
        </p:txBody>
      </p:sp>
      <p:sp>
        <p:nvSpPr>
          <p:cNvPr id="199" name="Google Shape;199;p20"/>
          <p:cNvSpPr txBox="1"/>
          <p:nvPr/>
        </p:nvSpPr>
        <p:spPr>
          <a:xfrm>
            <a:off x="6309360" y="3168396"/>
            <a:ext cx="2276856" cy="61722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C0392B"/>
              </a:buClr>
              <a:buSzPts val="900"/>
              <a:buFont typeface="Calibri"/>
              <a:buNone/>
            </a:pPr>
            <a:r>
              <a:rPr b="1" i="0" lang="en" sz="900" u="none" cap="none" strike="noStrike">
                <a:solidFill>
                  <a:srgbClr val="C0392B"/>
                </a:solidFill>
                <a:latin typeface="Calibri"/>
                <a:ea typeface="Calibri"/>
                <a:cs typeface="Calibri"/>
                <a:sym typeface="Calibri"/>
              </a:rPr>
              <a:t>WHY  </a:t>
            </a:r>
            <a:r>
              <a:rPr b="0" i="0" lang="en" sz="900" u="none" cap="none" strike="noStrike">
                <a:solidFill>
                  <a:srgbClr val="3E434A"/>
                </a:solidFill>
                <a:latin typeface="Calibri"/>
                <a:ea typeface="Calibri"/>
                <a:cs typeface="Calibri"/>
                <a:sym typeface="Calibri"/>
              </a:rPr>
              <a:t>Every existing control is a log, and a log only reports what already happened. One deputy ran 1,639 searches before anyone noticed.</a:t>
            </a:r>
            <a:endParaRPr b="0" i="0" sz="900" u="none" cap="none" strike="noStrike">
              <a:solidFill>
                <a:schemeClr val="dk1"/>
              </a:solidFill>
              <a:latin typeface="Calibri"/>
              <a:ea typeface="Calibri"/>
              <a:cs typeface="Calibri"/>
              <a:sym typeface="Calibri"/>
            </a:endParaRPr>
          </a:p>
        </p:txBody>
      </p:sp>
      <p:sp>
        <p:nvSpPr>
          <p:cNvPr id="200" name="Google Shape;200;p20"/>
          <p:cNvSpPr txBox="1"/>
          <p:nvPr/>
        </p:nvSpPr>
        <p:spPr>
          <a:xfrm>
            <a:off x="6309360" y="3771900"/>
            <a:ext cx="2276856" cy="58293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C0392B"/>
              </a:buClr>
              <a:buSzPts val="900"/>
              <a:buFont typeface="Calibri"/>
              <a:buNone/>
            </a:pPr>
            <a:r>
              <a:rPr b="1" i="0" lang="en" sz="900" u="none" cap="none" strike="noStrike">
                <a:solidFill>
                  <a:srgbClr val="C0392B"/>
                </a:solidFill>
                <a:latin typeface="Calibri"/>
                <a:ea typeface="Calibri"/>
                <a:cs typeface="Calibri"/>
                <a:sym typeface="Calibri"/>
              </a:rPr>
              <a:t>SIGNAL  </a:t>
            </a:r>
            <a:r>
              <a:rPr b="0" i="0" lang="en" sz="900" u="none" cap="none" strike="noStrike">
                <a:solidFill>
                  <a:srgbClr val="3E434A"/>
                </a:solidFill>
                <a:latin typeface="Calibri"/>
                <a:ea typeface="Calibri"/>
                <a:cs typeface="Calibri"/>
                <a:sym typeface="Calibri"/>
              </a:rPr>
              <a:t>50+ officers charged or accused; one victim brought the audit logs to a judge and was still denied a restraining order.</a:t>
            </a:r>
            <a:endParaRPr b="0" i="0" sz="900" u="none" cap="none" strike="noStrike">
              <a:solidFill>
                <a:schemeClr val="dk1"/>
              </a:solidFill>
              <a:latin typeface="Calibri"/>
              <a:ea typeface="Calibri"/>
              <a:cs typeface="Calibri"/>
              <a:sym typeface="Calibri"/>
            </a:endParaRPr>
          </a:p>
        </p:txBody>
      </p:sp>
      <p:sp>
        <p:nvSpPr>
          <p:cNvPr id="201" name="Google Shape;201;p20"/>
          <p:cNvSpPr txBox="1"/>
          <p:nvPr/>
        </p:nvSpPr>
        <p:spPr>
          <a:xfrm>
            <a:off x="411480" y="4491990"/>
            <a:ext cx="831875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Calibri"/>
              <a:buNone/>
            </a:pPr>
            <a:r>
              <a:rPr b="1" i="0" lang="en" sz="1000" u="none" cap="none" strike="noStrike">
                <a:solidFill>
                  <a:srgbClr val="C0392B"/>
                </a:solidFill>
                <a:latin typeface="Calibri"/>
                <a:ea typeface="Calibri"/>
                <a:cs typeface="Calibri"/>
                <a:sym typeface="Calibri"/>
              </a:rPr>
              <a:t>The lesson from Norfolk and Georgia: the audit logs already existed. Knowing was not enough.</a:t>
            </a:r>
            <a:endParaRPr b="0" i="0" sz="1000" u="none" cap="none" strike="noStrike">
              <a:solidFill>
                <a:schemeClr val="dk1"/>
              </a:solidFill>
              <a:latin typeface="Calibri"/>
              <a:ea typeface="Calibri"/>
              <a:cs typeface="Calibri"/>
              <a:sym typeface="Calibri"/>
            </a:endParaRPr>
          </a:p>
        </p:txBody>
      </p:sp>
      <p:sp>
        <p:nvSpPr>
          <p:cNvPr id="202" name="Google Shape;202;p20"/>
          <p:cNvSpPr txBox="1"/>
          <p:nvPr/>
        </p:nvSpPr>
        <p:spPr>
          <a:xfrm>
            <a:off x="411480" y="4814316"/>
            <a:ext cx="831875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178"/>
              </a:buClr>
              <a:buSzPts val="700"/>
              <a:buFont typeface="Calibri"/>
              <a:buNone/>
            </a:pPr>
            <a:r>
              <a:rPr b="0" i="0" lang="en" sz="700" u="none" cap="none" strike="noStrike">
                <a:solidFill>
                  <a:srgbClr val="6B7178"/>
                </a:solidFill>
                <a:latin typeface="Calibri"/>
                <a:ea typeface="Calibri"/>
                <a:cs typeface="Calibri"/>
                <a:sym typeface="Calibri"/>
              </a:rPr>
              <a:t>Sources: GAO-26-108131, Treasury Needs to Fully Implement Data Protection Controls (28 Apr 2026) · GAO-25-107653, Generative AI Use and Management at Federal Agencies (29 Jul 2025) · Washington Post (Aug 2026) · Institute for Justice ALPR abuse database (2026)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