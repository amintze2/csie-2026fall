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8.xml" ContentType="application/vnd.openxmlformats-officedocument.presentationml.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9"/>
  </p:sldIdLst>
  <p:sldSz cy="6858000" cx="12192000"/>
  <p:notesSz cx="6858000" cy="12192000"/>
  <p:embeddedFontLst>
    <p:embeddedFont>
      <p:font typeface="IBM Plex Sans"/>
      <p:regular r:id="rId12"/>
      <p:bold r:id="rId13"/>
      <p:italic r:id="rId14"/>
      <p:boldItalic r:id="rId15"/>
    </p:embeddedFont>
    <p:embeddedFont>
      <p:font typeface="Space Grotesk"/>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iFjqd+iEJiBg/1SCVgEKzFZtSG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IBMPlexSans-bold.fntdata"/><Relationship Id="rId12" Type="http://schemas.openxmlformats.org/officeDocument/2006/relationships/font" Target="fonts/IBMPlexSan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IBMPlexSans-boldItalic.fntdata"/><Relationship Id="rId14" Type="http://schemas.openxmlformats.org/officeDocument/2006/relationships/font" Target="fonts/IBMPlexSans-italic.fntdata"/><Relationship Id="rId17" Type="http://schemas.openxmlformats.org/officeDocument/2006/relationships/font" Target="fonts/SpaceGrotesk-bold.fntdata"/><Relationship Id="rId16" Type="http://schemas.openxmlformats.org/officeDocument/2006/relationships/font" Target="fonts/SpaceGrotesk-regular.fntdata"/><Relationship Id="rId5" Type="http://schemas.openxmlformats.org/officeDocument/2006/relationships/slide" Target="slides/slide1.xml"/><Relationship Id="rId6" Type="http://schemas.openxmlformats.org/officeDocument/2006/relationships/slide" Target="slides/slide2.xml"/><Relationship Id="rId18"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  <Relationship Id="rId19" Type="http://schemas.openxmlformats.org/officeDocument/2006/relationships/slide" Target="slides/slide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Domain: surveillance technology and personal data. Axes: government vs. private ownership, and after-the-fact enforcement vs. prediction.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X-axis: who owns the data (government vs. private). Y-axis: when it is used (after the fact to enforce punishment vs. before, to predict). Discomfort is our own rating of how little power a person has to see, question or escape the system; the two bottom quadrants get the deep dives.</a:t>
            </a:r>
            <a:endParaRPr/>
          </a:p>
        </p:txBody>
      </p:sp>
      <p:sp>
        <p:nvSpPr>
          <p:cNvPr id="75" name="Google Shape;7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across each row: same questions for every future, so the four scenarios stay parallel.</a:t>
            </a:r>
            <a:endParaRPr/>
          </a:p>
        </p:txBody>
      </p:sp>
      <p:sp>
        <p:nvSpPr>
          <p:cNvPr id="128" name="Google Shape;12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scenario1.png"/><Relationship Id="rId6" Type="http://schemas.openxmlformats.org/officeDocument/2006/relationships/image" Target="../media/scenario2.png"/><Relationship Id="rId7" Type="http://schemas.openxmlformats.org/officeDocument/2006/relationships/image" Target="../media/scenario3.png"/><Relationship Id="rId8" Type="http://schemas.openxmlformats.org/officeDocument/2006/relationships/image" Target="../media/scenario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5" name="Shape 15"/>
        <p:cNvGrpSpPr/>
        <p:nvPr/>
      </p:nvGrpSpPr>
      <p:grpSpPr>
        <a:xfrm>
          <a:off x="0" y="0"/>
          <a:ext cx="0" cy="0"/>
          <a:chOff x="0" y="0"/>
          <a:chExt cx="0" cy="0"/>
        </a:xfrm>
      </p:grpSpPr>
      <p:sp>
        <p:nvSpPr>
          <p:cNvPr id="16" name="Google Shape;16;p1"/>
          <p:cNvSpPr/>
          <p:nvPr/>
        </p:nvSpPr>
        <p:spPr>
          <a:xfrm>
            <a:off x="8128000" y="1905000"/>
            <a:ext cx="1479572" cy="1479572"/>
          </a:xfrm>
          <a:prstGeom prst="roundRect">
            <a:avLst>
              <a:gd fmla="val 5150" name="adj"/>
            </a:avLst>
          </a:prstGeom>
          <a:solidFill>
            <a:srgbClr val="2F6FB0">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9696428" y="1905000"/>
            <a:ext cx="1479572" cy="1479572"/>
          </a:xfrm>
          <a:prstGeom prst="roundRect">
            <a:avLst>
              <a:gd fmla="val 5150" name="adj"/>
            </a:avLst>
          </a:prstGeom>
          <a:solidFill>
            <a:srgbClr val="F2994A">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8137525" y="3482953"/>
            <a:ext cx="1460522" cy="1460522"/>
          </a:xfrm>
          <a:prstGeom prst="roundRect">
            <a:avLst>
              <a:gd fmla="val 4565" name="adj"/>
            </a:avLst>
          </a:prstGeom>
          <a:no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9705953" y="3482953"/>
            <a:ext cx="1460522" cy="1460522"/>
          </a:xfrm>
          <a:prstGeom prst="roundRect">
            <a:avLst>
              <a:gd fmla="val 4565" name="adj"/>
            </a:avLst>
          </a:prstGeom>
          <a:noFill/>
          <a:ln cap="flat" cmpd="sng" w="19050">
            <a:solidFill>
              <a:srgbClr val="F299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812767" y="1618699"/>
            <a:ext cx="10883461" cy="25652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2994A"/>
              </a:buClr>
              <a:buSzPts val="1300"/>
              <a:buFont typeface="IBM Plex Sans"/>
              <a:buNone/>
            </a:pPr>
            <a:r>
              <a:rPr b="1" i="0" lang="en-US" sz="1300" u="none" cap="none" strike="noStrike">
                <a:solidFill>
                  <a:srgbClr val="F2994A"/>
                </a:solidFill>
                <a:latin typeface="IBM Plex Sans"/>
                <a:ea typeface="IBM Plex Sans"/>
                <a:cs typeface="IBM Plex Sans"/>
                <a:sym typeface="IBM Plex Sans"/>
              </a:rPr>
              <a:t>SCENARIO ANALYSIS</a:t>
            </a:r>
            <a:endParaRPr b="0" i="0" sz="1300" u="none" cap="none" strike="noStrike">
              <a:solidFill>
                <a:schemeClr val="dk1"/>
              </a:solidFill>
              <a:latin typeface="Calibri"/>
              <a:ea typeface="Calibri"/>
              <a:cs typeface="Calibri"/>
              <a:sym typeface="Calibri"/>
            </a:endParaRPr>
          </a:p>
        </p:txBody>
      </p:sp>
      <p:sp>
        <p:nvSpPr>
          <p:cNvPr id="21" name="Google Shape;21;p1"/>
          <p:cNvSpPr/>
          <p:nvPr/>
        </p:nvSpPr>
        <p:spPr>
          <a:xfrm>
            <a:off x="812767" y="2078412"/>
            <a:ext cx="6932930" cy="1579827"/>
          </a:xfrm>
          <a:prstGeom prst="rect">
            <a:avLst/>
          </a:prstGeom>
          <a:noFill/>
          <a:ln>
            <a:noFill/>
          </a:ln>
        </p:spPr>
        <p:txBody>
          <a:bodyPr anchorCtr="0" anchor="t" bIns="0" lIns="0" spcFirstLastPara="1" rIns="0" wrap="square" tIns="0">
            <a:normAutofit/>
          </a:bodyPr>
          <a:lstStyle/>
          <a:p>
            <a:pPr indent="0" lvl="0" marL="0" marR="0" rtl="0" algn="l">
              <a:lnSpc>
                <a:spcPct val="102000"/>
              </a:lnSpc>
              <a:spcBef>
                <a:spcPts val="0"/>
              </a:spcBef>
              <a:spcAft>
                <a:spcPts val="0"/>
              </a:spcAft>
              <a:buClr>
                <a:srgbClr val="F6F4EF"/>
              </a:buClr>
              <a:buSzPts val="6000"/>
              <a:buFont typeface="Space Grotesk"/>
              <a:buNone/>
            </a:pPr>
            <a:r>
              <a:rPr b="1" i="0" lang="en-US" sz="6000" u="none" cap="none" strike="noStrike">
                <a:solidFill>
                  <a:srgbClr val="F6F4EF"/>
                </a:solidFill>
                <a:latin typeface="Space Grotesk"/>
                <a:ea typeface="Space Grotesk"/>
                <a:cs typeface="Space Grotesk"/>
                <a:sym typeface="Space Grotesk"/>
              </a:rPr>
              <a:t>Who Watches the Watchers?</a:t>
            </a:r>
            <a:endParaRPr b="0" i="0" sz="6000" u="none" cap="none" strike="noStrike">
              <a:solidFill>
                <a:schemeClr val="dk1"/>
              </a:solidFill>
              <a:latin typeface="Calibri"/>
              <a:ea typeface="Calibri"/>
              <a:cs typeface="Calibri"/>
              <a:sym typeface="Calibri"/>
            </a:endParaRPr>
          </a:p>
        </p:txBody>
      </p:sp>
      <p:sp>
        <p:nvSpPr>
          <p:cNvPr id="22" name="Google Shape;22;p1"/>
          <p:cNvSpPr/>
          <p:nvPr/>
        </p:nvSpPr>
        <p:spPr>
          <a:xfrm>
            <a:off x="812767" y="4219592"/>
            <a:ext cx="6933000" cy="9510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9D3E3"/>
              </a:buClr>
              <a:buSzPts val="1800"/>
              <a:buFont typeface="IBM Plex Sans"/>
              <a:buNone/>
            </a:pPr>
            <a:r>
              <a:rPr b="0" i="0" lang="en-US" sz="1800" u="none" cap="none" strike="noStrike">
                <a:solidFill>
                  <a:srgbClr val="C9D3E3"/>
                </a:solidFill>
                <a:latin typeface="IBM Plex Sans"/>
                <a:ea typeface="IBM Plex Sans"/>
                <a:cs typeface="IBM Plex Sans"/>
                <a:sym typeface="IBM Plex Sans"/>
              </a:rPr>
              <a:t>A scenario analysis of surveillance data: who owns it, whether it punishes what you did or predicts what you will do</a:t>
            </a:r>
            <a:r>
              <a:rPr lang="en-US" sz="1800">
                <a:solidFill>
                  <a:srgbClr val="C9D3E3"/>
                </a:solidFill>
                <a:latin typeface="IBM Plex Sans"/>
                <a:ea typeface="IBM Plex Sans"/>
                <a:cs typeface="IBM Plex Sans"/>
                <a:sym typeface="IBM Plex Sans"/>
              </a:rPr>
              <a:t>.</a:t>
            </a:r>
            <a:endParaRPr b="0" i="0" sz="1800" u="none" cap="none" strike="noStrike">
              <a:solidFill>
                <a:schemeClr val="dk1"/>
              </a:solidFill>
              <a:latin typeface="Calibri"/>
              <a:ea typeface="Calibri"/>
              <a:cs typeface="Calibri"/>
              <a:sym typeface="Calibri"/>
            </a:endParaRPr>
          </a:p>
        </p:txBody>
      </p:sp>
      <p:sp>
        <p:nvSpPr>
          <p:cNvPr id="23" name="Google Shape;23;p1"/>
          <p:cNvSpPr/>
          <p:nvPr/>
        </p:nvSpPr>
        <p:spPr>
          <a:xfrm>
            <a:off x="812767" y="5280342"/>
            <a:ext cx="10883400" cy="274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E3"/>
              </a:buClr>
              <a:buSzPts val="1400"/>
              <a:buFont typeface="IBM Plex Sans"/>
              <a:buNone/>
            </a:pPr>
            <a:r>
              <a:rPr lang="en-US">
                <a:solidFill>
                  <a:srgbClr val="C9D3E3"/>
                </a:solidFill>
                <a:latin typeface="IBM Plex Sans"/>
                <a:ea typeface="IBM Plex Sans"/>
                <a:cs typeface="IBM Plex Sans"/>
                <a:sym typeface="IBM Plex Sans"/>
              </a:rPr>
              <a:t>Owen Barlett, Jonathan Locala, Jason Jiang, Sylvia Yam</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F"/>
        </a:solidFill>
      </p:bgPr>
    </p:bg>
    <p:spTree>
      <p:nvGrpSpPr>
        <p:cNvPr id="28" name="Shape 28"/>
        <p:cNvGrpSpPr/>
        <p:nvPr/>
      </p:nvGrpSpPr>
      <p:grpSpPr>
        <a:xfrm>
          <a:off x="0" y="0"/>
          <a:ext cx="0" cy="0"/>
          <a:chOff x="0" y="0"/>
          <a:chExt cx="0" cy="0"/>
        </a:xfrm>
      </p:grpSpPr>
      <p:sp>
        <p:nvSpPr>
          <p:cNvPr id="29" name="Google Shape;29;p2"/>
          <p:cNvSpPr/>
          <p:nvPr/>
        </p:nvSpPr>
        <p:spPr>
          <a:xfrm>
            <a:off x="812767" y="609589"/>
            <a:ext cx="10883461" cy="23877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F"/>
              </a:buClr>
              <a:buSzPts val="1200"/>
              <a:buFont typeface="IBM Plex Sans"/>
              <a:buNone/>
            </a:pPr>
            <a:r>
              <a:rPr b="1" i="0" lang="en-US" sz="1200" u="none" cap="none" strike="noStrike">
                <a:solidFill>
                  <a:srgbClr val="B4501F"/>
                </a:solidFill>
                <a:latin typeface="IBM Plex Sans"/>
                <a:ea typeface="IBM Plex Sans"/>
                <a:cs typeface="IBM Plex Sans"/>
                <a:sym typeface="IBM Plex Sans"/>
              </a:rPr>
              <a:t>BACKGROUND</a:t>
            </a:r>
            <a:endParaRPr b="0" i="0" sz="1200" u="none" cap="none" strike="noStrike">
              <a:solidFill>
                <a:schemeClr val="dk1"/>
              </a:solidFill>
              <a:latin typeface="Calibri"/>
              <a:ea typeface="Calibri"/>
              <a:cs typeface="Calibri"/>
              <a:sym typeface="Calibri"/>
            </a:endParaRPr>
          </a:p>
        </p:txBody>
      </p:sp>
      <p:sp>
        <p:nvSpPr>
          <p:cNvPr id="30" name="Google Shape;30;p2"/>
          <p:cNvSpPr/>
          <p:nvPr/>
        </p:nvSpPr>
        <p:spPr>
          <a:xfrm>
            <a:off x="812775" y="1000724"/>
            <a:ext cx="10883400" cy="9270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4213D"/>
              </a:buClr>
              <a:buSzPts val="2800"/>
              <a:buFont typeface="Space Grotesk"/>
              <a:buNone/>
            </a:pPr>
            <a:r>
              <a:rPr b="1" i="0" lang="en-US" sz="2800" u="none" cap="none" strike="noStrike">
                <a:solidFill>
                  <a:srgbClr val="14213D"/>
                </a:solidFill>
                <a:latin typeface="Space Grotesk"/>
                <a:ea typeface="Space Grotesk"/>
                <a:cs typeface="Space Grotesk"/>
                <a:sym typeface="Space Grotesk"/>
              </a:rPr>
              <a:t>Surveillance went from a police tool to a national data network</a:t>
            </a:r>
            <a:endParaRPr b="0" i="0" sz="2800" u="none" cap="none" strike="noStrike">
              <a:solidFill>
                <a:schemeClr val="dk1"/>
              </a:solidFill>
              <a:latin typeface="Calibri"/>
              <a:ea typeface="Calibri"/>
              <a:cs typeface="Calibri"/>
              <a:sym typeface="Calibri"/>
            </a:endParaRPr>
          </a:p>
        </p:txBody>
      </p:sp>
      <p:sp>
        <p:nvSpPr>
          <p:cNvPr id="31" name="Google Shape;31;p2"/>
          <p:cNvSpPr/>
          <p:nvPr/>
        </p:nvSpPr>
        <p:spPr>
          <a:xfrm>
            <a:off x="812775" y="1960785"/>
            <a:ext cx="6255300" cy="309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600"/>
              <a:buFont typeface="Space Grotesk"/>
              <a:buNone/>
            </a:pPr>
            <a:r>
              <a:rPr b="1" i="0" lang="en-US" sz="1600" u="none" cap="none" strike="noStrike">
                <a:solidFill>
                  <a:srgbClr val="14213D"/>
                </a:solidFill>
                <a:latin typeface="Space Grotesk"/>
                <a:ea typeface="Space Grotesk"/>
                <a:cs typeface="Space Grotesk"/>
                <a:sym typeface="Space Grotesk"/>
              </a:rPr>
              <a:t>What changed in the last five years</a:t>
            </a:r>
            <a:endParaRPr b="0" i="0" sz="1600" u="none" cap="none" strike="noStrike">
              <a:solidFill>
                <a:schemeClr val="dk1"/>
              </a:solidFill>
              <a:latin typeface="Calibri"/>
              <a:ea typeface="Calibri"/>
              <a:cs typeface="Calibri"/>
              <a:sym typeface="Calibri"/>
            </a:endParaRPr>
          </a:p>
        </p:txBody>
      </p:sp>
      <p:sp>
        <p:nvSpPr>
          <p:cNvPr id="32" name="Google Shape;32;p2"/>
          <p:cNvSpPr/>
          <p:nvPr/>
        </p:nvSpPr>
        <p:spPr>
          <a:xfrm>
            <a:off x="812775" y="2357231"/>
            <a:ext cx="6255300" cy="2905500"/>
          </a:xfrm>
          <a:prstGeom prst="rect">
            <a:avLst/>
          </a:prstGeom>
          <a:noFill/>
          <a:ln>
            <a:noFill/>
          </a:ln>
        </p:spPr>
        <p:txBody>
          <a:bodyPr anchorCtr="0" anchor="t" bIns="0" lIns="0" spcFirstLastPara="1" rIns="0" wrap="square" tIns="0">
            <a:normAutofit/>
          </a:bodyPr>
          <a:lstStyle/>
          <a:p>
            <a:pPr indent="-168656" lvl="0" marL="198120" marR="0" rtl="0" algn="l">
              <a:lnSpc>
                <a:spcPct val="138000"/>
              </a:lnSpc>
              <a:spcBef>
                <a:spcPts val="0"/>
              </a:spcBef>
              <a:spcAft>
                <a:spcPts val="0"/>
              </a:spcAft>
              <a:buClr>
                <a:srgbClr val="3D4656"/>
              </a:buClr>
              <a:buSzPts val="1300"/>
              <a:buFont typeface="IBM Plex Sans"/>
              <a:buChar char="•"/>
            </a:pPr>
            <a:r>
              <a:rPr b="0" i="0" lang="en-US" sz="1300" u="none" cap="none" strike="noStrike">
                <a:solidFill>
                  <a:srgbClr val="3D4656"/>
                </a:solidFill>
                <a:latin typeface="IBM Plex Sans"/>
                <a:ea typeface="IBM Plex Sans"/>
                <a:cs typeface="IBM Plex Sans"/>
                <a:sym typeface="IBM Plex Sans"/>
              </a:rPr>
              <a:t>2021: license-plate readers (ALPRs) were a specialized police tool. VC-funded Flock Safety made them a default purchase for small cities, HOAs and retailers.</a:t>
            </a:r>
            <a:endParaRPr b="0" i="0" sz="1300" u="none" cap="none" strike="noStrike">
              <a:solidFill>
                <a:schemeClr val="dk1"/>
              </a:solidFill>
              <a:latin typeface="Calibri"/>
              <a:ea typeface="Calibri"/>
              <a:cs typeface="Calibri"/>
              <a:sym typeface="Calibri"/>
            </a:endParaRPr>
          </a:p>
          <a:p>
            <a:pPr indent="-168656" lvl="0" marL="198120" marR="0" rtl="0" algn="l">
              <a:lnSpc>
                <a:spcPct val="138000"/>
              </a:lnSpc>
              <a:spcBef>
                <a:spcPts val="0"/>
              </a:spcBef>
              <a:spcAft>
                <a:spcPts val="0"/>
              </a:spcAft>
              <a:buClr>
                <a:srgbClr val="3D4656"/>
              </a:buClr>
              <a:buSzPts val="1300"/>
              <a:buFont typeface="IBM Plex Sans"/>
              <a:buChar char="•"/>
            </a:pPr>
            <a:r>
              <a:rPr b="0" i="0" lang="en-US" sz="1300" u="none" cap="none" strike="noStrike">
                <a:solidFill>
                  <a:srgbClr val="3D4656"/>
                </a:solidFill>
                <a:latin typeface="IBM Plex Sans"/>
                <a:ea typeface="IBM Plex Sans"/>
                <a:cs typeface="IBM Plex Sans"/>
                <a:sym typeface="IBM Plex Sans"/>
              </a:rPr>
              <a:t>Data became shareable across agencies in one click, then reachable by federal immigration enforcement. A local traffic tool became a national tracking network.</a:t>
            </a:r>
            <a:endParaRPr b="0" i="0" sz="1300" u="none" cap="none" strike="noStrike">
              <a:solidFill>
                <a:schemeClr val="dk1"/>
              </a:solidFill>
              <a:latin typeface="Calibri"/>
              <a:ea typeface="Calibri"/>
              <a:cs typeface="Calibri"/>
              <a:sym typeface="Calibri"/>
            </a:endParaRPr>
          </a:p>
          <a:p>
            <a:pPr indent="-168656" lvl="0" marL="198120" marR="0" rtl="0" algn="l">
              <a:lnSpc>
                <a:spcPct val="138000"/>
              </a:lnSpc>
              <a:spcBef>
                <a:spcPts val="0"/>
              </a:spcBef>
              <a:spcAft>
                <a:spcPts val="0"/>
              </a:spcAft>
              <a:buClr>
                <a:srgbClr val="3D4656"/>
              </a:buClr>
              <a:buSzPts val="1300"/>
              <a:buFont typeface="IBM Plex Sans"/>
              <a:buChar char="•"/>
            </a:pPr>
            <a:r>
              <a:rPr b="0" i="0" lang="en-US" sz="1300" u="none" cap="none" strike="noStrike">
                <a:solidFill>
                  <a:srgbClr val="3D4656"/>
                </a:solidFill>
                <a:latin typeface="IBM Plex Sans"/>
                <a:ea typeface="IBM Plex Sans"/>
                <a:cs typeface="IBM Plex Sans"/>
                <a:sym typeface="IBM Plex Sans"/>
              </a:rPr>
              <a:t>Real-time crime centers now fuse plate, camera and gunshot data; drone-as-first-responder programs have launched.</a:t>
            </a:r>
            <a:endParaRPr b="0" i="0" sz="1300" u="none" cap="none" strike="noStrike">
              <a:solidFill>
                <a:schemeClr val="dk1"/>
              </a:solidFill>
              <a:latin typeface="Calibri"/>
              <a:ea typeface="Calibri"/>
              <a:cs typeface="Calibri"/>
              <a:sym typeface="Calibri"/>
            </a:endParaRPr>
          </a:p>
          <a:p>
            <a:pPr indent="-168656" lvl="0" marL="198120" marR="0" rtl="0" algn="l">
              <a:lnSpc>
                <a:spcPct val="138000"/>
              </a:lnSpc>
              <a:spcBef>
                <a:spcPts val="0"/>
              </a:spcBef>
              <a:spcAft>
                <a:spcPts val="0"/>
              </a:spcAft>
              <a:buClr>
                <a:srgbClr val="3D4656"/>
              </a:buClr>
              <a:buSzPts val="1300"/>
              <a:buFont typeface="IBM Plex Sans"/>
              <a:buChar char="•"/>
            </a:pPr>
            <a:r>
              <a:rPr b="0" i="0" lang="en-US" sz="1300" u="none" cap="none" strike="noStrike">
                <a:solidFill>
                  <a:srgbClr val="3D4656"/>
                </a:solidFill>
                <a:latin typeface="IBM Plex Sans"/>
                <a:ea typeface="IBM Plex Sans"/>
                <a:cs typeface="IBM Plex Sans"/>
                <a:sym typeface="IBM Plex Sans"/>
              </a:rPr>
              <a:t>A private layer grew alongside it: data brokers sell phone locations, and AI chatbots now hold people's most intimate conversations.</a:t>
            </a:r>
            <a:endParaRPr b="0" i="0" sz="1300" u="none" cap="none" strike="noStrike">
              <a:solidFill>
                <a:schemeClr val="dk1"/>
              </a:solidFill>
              <a:latin typeface="Calibri"/>
              <a:ea typeface="Calibri"/>
              <a:cs typeface="Calibri"/>
              <a:sym typeface="Calibri"/>
            </a:endParaRPr>
          </a:p>
          <a:p>
            <a:pPr indent="-168656" lvl="0" marL="198120" marR="0" rtl="0" algn="l">
              <a:lnSpc>
                <a:spcPct val="138000"/>
              </a:lnSpc>
              <a:spcBef>
                <a:spcPts val="0"/>
              </a:spcBef>
              <a:spcAft>
                <a:spcPts val="0"/>
              </a:spcAft>
              <a:buClr>
                <a:srgbClr val="3D4656"/>
              </a:buClr>
              <a:buSzPts val="1300"/>
              <a:buFont typeface="IBM Plex Sans"/>
              <a:buChar char="•"/>
            </a:pPr>
            <a:r>
              <a:rPr b="0" i="0" lang="en-US" sz="1300" u="none" cap="none" strike="noStrike">
                <a:solidFill>
                  <a:srgbClr val="3D4656"/>
                </a:solidFill>
                <a:latin typeface="IBM Plex Sans"/>
                <a:ea typeface="IBM Plex Sans"/>
                <a:cs typeface="IBM Plex Sans"/>
                <a:sym typeface="IBM Plex Sans"/>
              </a:rPr>
              <a:t>Backlash crossed party lines: cities are canceling contracts, and residents are physically removing cameras.</a:t>
            </a:r>
            <a:endParaRPr b="0" i="0" sz="1300" u="none" cap="none" strike="noStrike">
              <a:solidFill>
                <a:schemeClr val="dk1"/>
              </a:solidFill>
              <a:latin typeface="Calibri"/>
              <a:ea typeface="Calibri"/>
              <a:cs typeface="Calibri"/>
              <a:sym typeface="Calibri"/>
            </a:endParaRPr>
          </a:p>
        </p:txBody>
      </p:sp>
      <p:sp>
        <p:nvSpPr>
          <p:cNvPr id="33" name="Google Shape;33;p2"/>
          <p:cNvSpPr/>
          <p:nvPr/>
        </p:nvSpPr>
        <p:spPr>
          <a:xfrm>
            <a:off x="7190769" y="1960783"/>
            <a:ext cx="4188464" cy="1175246"/>
          </a:xfrm>
          <a:prstGeom prst="roundRect">
            <a:avLst>
              <a:gd fmla="val 8645" name="adj"/>
            </a:avLst>
          </a:pr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7393947" y="2138550"/>
            <a:ext cx="3895572" cy="431756"/>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2994A"/>
              </a:buClr>
              <a:buSzPts val="2930"/>
              <a:buFont typeface="Space Grotesk"/>
              <a:buNone/>
            </a:pPr>
            <a:r>
              <a:rPr b="1" i="0" lang="en-US" sz="2930" u="none" cap="none" strike="noStrike">
                <a:solidFill>
                  <a:srgbClr val="F2994A"/>
                </a:solidFill>
                <a:latin typeface="Space Grotesk"/>
                <a:ea typeface="Space Grotesk"/>
                <a:cs typeface="Space Grotesk"/>
                <a:sym typeface="Space Grotesk"/>
              </a:rPr>
              <a:t>100,000+</a:t>
            </a:r>
            <a:endParaRPr b="0" i="0" sz="2930" u="none" cap="none" strike="noStrike">
              <a:solidFill>
                <a:schemeClr val="dk1"/>
              </a:solidFill>
              <a:latin typeface="Calibri"/>
              <a:ea typeface="Calibri"/>
              <a:cs typeface="Calibri"/>
              <a:sym typeface="Calibri"/>
            </a:endParaRPr>
          </a:p>
        </p:txBody>
      </p:sp>
      <p:sp>
        <p:nvSpPr>
          <p:cNvPr id="35" name="Google Shape;35;p2"/>
          <p:cNvSpPr/>
          <p:nvPr/>
        </p:nvSpPr>
        <p:spPr>
          <a:xfrm>
            <a:off x="7393947" y="2570262"/>
            <a:ext cx="3895572" cy="4134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4E9F1"/>
              </a:buClr>
              <a:buSzPts val="1095"/>
              <a:buFont typeface="IBM Plex Sans"/>
              <a:buNone/>
            </a:pPr>
            <a:r>
              <a:rPr b="0" i="0" lang="en-US" sz="1095" u="none" cap="none" strike="noStrike">
                <a:solidFill>
                  <a:srgbClr val="E4E9F1"/>
                </a:solidFill>
                <a:latin typeface="IBM Plex Sans"/>
                <a:ea typeface="IBM Plex Sans"/>
                <a:cs typeface="IBM Plex Sans"/>
                <a:sym typeface="IBM Plex Sans"/>
              </a:rPr>
              <a:t>Flock cameras deployed across the U.S.; 800 new city contracts approved in 2026 alone</a:t>
            </a:r>
            <a:endParaRPr b="0" i="0" sz="1095" u="none" cap="none" strike="noStrike">
              <a:solidFill>
                <a:schemeClr val="dk1"/>
              </a:solidFill>
              <a:latin typeface="Calibri"/>
              <a:ea typeface="Calibri"/>
              <a:cs typeface="Calibri"/>
              <a:sym typeface="Calibri"/>
            </a:endParaRPr>
          </a:p>
        </p:txBody>
      </p:sp>
      <p:sp>
        <p:nvSpPr>
          <p:cNvPr id="36" name="Google Shape;36;p2"/>
          <p:cNvSpPr/>
          <p:nvPr/>
        </p:nvSpPr>
        <p:spPr>
          <a:xfrm>
            <a:off x="7190769" y="3263030"/>
            <a:ext cx="4188464" cy="1175191"/>
          </a:xfrm>
          <a:prstGeom prst="roundRect">
            <a:avLst>
              <a:gd fmla="val 8645" name="adj"/>
            </a:avLst>
          </a:pr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7393947" y="3440796"/>
            <a:ext cx="3895572" cy="431756"/>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2994A"/>
              </a:buClr>
              <a:buSzPts val="2930"/>
              <a:buFont typeface="Space Grotesk"/>
              <a:buNone/>
            </a:pPr>
            <a:r>
              <a:rPr b="1" i="0" lang="en-US" sz="2930" u="none" cap="none" strike="noStrike">
                <a:solidFill>
                  <a:srgbClr val="F2994A"/>
                </a:solidFill>
                <a:latin typeface="Space Grotesk"/>
                <a:ea typeface="Space Grotesk"/>
                <a:cs typeface="Space Grotesk"/>
                <a:sym typeface="Space Grotesk"/>
              </a:rPr>
              <a:t>3,500</a:t>
            </a:r>
            <a:endParaRPr b="0" i="0" sz="2930" u="none" cap="none" strike="noStrike">
              <a:solidFill>
                <a:schemeClr val="dk1"/>
              </a:solidFill>
              <a:latin typeface="Calibri"/>
              <a:ea typeface="Calibri"/>
              <a:cs typeface="Calibri"/>
              <a:sym typeface="Calibri"/>
            </a:endParaRPr>
          </a:p>
        </p:txBody>
      </p:sp>
      <p:sp>
        <p:nvSpPr>
          <p:cNvPr id="38" name="Google Shape;38;p2"/>
          <p:cNvSpPr/>
          <p:nvPr/>
        </p:nvSpPr>
        <p:spPr>
          <a:xfrm>
            <a:off x="7393947" y="3872509"/>
            <a:ext cx="3895572" cy="4133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4E9F1"/>
              </a:buClr>
              <a:buSzPts val="1095"/>
              <a:buFont typeface="IBM Plex Sans"/>
              <a:buNone/>
            </a:pPr>
            <a:r>
              <a:rPr b="0" i="0" lang="en-US" sz="1095" u="none" cap="none" strike="noStrike">
                <a:solidFill>
                  <a:srgbClr val="E4E9F1"/>
                </a:solidFill>
                <a:latin typeface="IBM Plex Sans"/>
                <a:ea typeface="IBM Plex Sans"/>
                <a:cs typeface="IBM Plex Sans"/>
                <a:sym typeface="IBM Plex Sans"/>
              </a:rPr>
              <a:t>police "wellness checks" triggered by Facebook's suicide-prediction AI in its first year</a:t>
            </a:r>
            <a:endParaRPr b="0" i="0" sz="1095" u="none" cap="none" strike="noStrike">
              <a:solidFill>
                <a:schemeClr val="dk1"/>
              </a:solidFill>
              <a:latin typeface="Calibri"/>
              <a:ea typeface="Calibri"/>
              <a:cs typeface="Calibri"/>
              <a:sym typeface="Calibri"/>
            </a:endParaRPr>
          </a:p>
        </p:txBody>
      </p:sp>
      <p:sp>
        <p:nvSpPr>
          <p:cNvPr id="39" name="Google Shape;39;p2"/>
          <p:cNvSpPr/>
          <p:nvPr/>
        </p:nvSpPr>
        <p:spPr>
          <a:xfrm>
            <a:off x="7190769" y="4565221"/>
            <a:ext cx="4188464" cy="1175191"/>
          </a:xfrm>
          <a:prstGeom prst="roundRect">
            <a:avLst>
              <a:gd fmla="val 8645" name="adj"/>
            </a:avLst>
          </a:pr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7393947" y="4742987"/>
            <a:ext cx="3895572" cy="431756"/>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2994A"/>
              </a:buClr>
              <a:buSzPts val="2930"/>
              <a:buFont typeface="Space Grotesk"/>
              <a:buNone/>
            </a:pPr>
            <a:r>
              <a:rPr b="1" i="0" lang="en-US" sz="2930" u="none" cap="none" strike="noStrike">
                <a:solidFill>
                  <a:srgbClr val="F2994A"/>
                </a:solidFill>
                <a:latin typeface="Space Grotesk"/>
                <a:ea typeface="Space Grotesk"/>
                <a:cs typeface="Space Grotesk"/>
                <a:sym typeface="Space Grotesk"/>
              </a:rPr>
              <a:t>1.6 million</a:t>
            </a:r>
            <a:endParaRPr b="0" i="0" sz="2930" u="none" cap="none" strike="noStrike">
              <a:solidFill>
                <a:schemeClr val="dk1"/>
              </a:solidFill>
              <a:latin typeface="Calibri"/>
              <a:ea typeface="Calibri"/>
              <a:cs typeface="Calibri"/>
              <a:sym typeface="Calibri"/>
            </a:endParaRPr>
          </a:p>
        </p:txBody>
      </p:sp>
      <p:sp>
        <p:nvSpPr>
          <p:cNvPr id="41" name="Google Shape;41;p2"/>
          <p:cNvSpPr/>
          <p:nvPr/>
        </p:nvSpPr>
        <p:spPr>
          <a:xfrm>
            <a:off x="7393947" y="5174700"/>
            <a:ext cx="3895572" cy="4133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4E9F1"/>
              </a:buClr>
              <a:buSzPts val="1095"/>
              <a:buFont typeface="IBM Plex Sans"/>
              <a:buNone/>
            </a:pPr>
            <a:r>
              <a:rPr b="0" i="0" lang="en-US" sz="1095" u="none" cap="none" strike="noStrike">
                <a:solidFill>
                  <a:srgbClr val="E4E9F1"/>
                </a:solidFill>
                <a:latin typeface="IBM Plex Sans"/>
                <a:ea typeface="IBM Plex Sans"/>
                <a:cs typeface="IBM Plex Sans"/>
                <a:sym typeface="IBM Plex Sans"/>
              </a:rPr>
              <a:t>searches of San Francisco's plate data by federal and out-of-state agencies in 7 months</a:t>
            </a:r>
            <a:endParaRPr b="0" i="0" sz="1095" u="none" cap="none" strike="noStrike">
              <a:solidFill>
                <a:schemeClr val="dk1"/>
              </a:solidFill>
              <a:latin typeface="Calibri"/>
              <a:ea typeface="Calibri"/>
              <a:cs typeface="Calibri"/>
              <a:sym typeface="Calibri"/>
            </a:endParaRPr>
          </a:p>
        </p:txBody>
      </p:sp>
      <p:sp>
        <p:nvSpPr>
          <p:cNvPr id="42" name="Google Shape;42;p2"/>
          <p:cNvSpPr/>
          <p:nvPr/>
        </p:nvSpPr>
        <p:spPr>
          <a:xfrm>
            <a:off x="812767" y="6157020"/>
            <a:ext cx="10883347" cy="42161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5B6472"/>
              </a:buClr>
              <a:buSzPts val="1200"/>
              <a:buFont typeface="IBM Plex Sans"/>
              <a:buNone/>
            </a:pPr>
            <a:r>
              <a:rPr b="0" i="0" lang="en-US" sz="1200" u="none" cap="none" strike="noStrike">
                <a:solidFill>
                  <a:srgbClr val="5B6472"/>
                </a:solidFill>
                <a:latin typeface="IBM Plex Sans"/>
                <a:ea typeface="IBM Plex Sans"/>
                <a:cs typeface="IBM Plex Sans"/>
                <a:sym typeface="IBM Plex Sans"/>
              </a:rPr>
              <a:t>Sources: TechTimes, "Flock Safety Crosses 100,000 Cameras as 53 Cities Cancel," Jun 29, 2026; NPR, "Why some cities are canceling Flock license plate reader contracts," Feb 17, 2026; NPR, "Facebook Increasingly Reliant on A.I. to Predict Suicide Risk," Nov 17, 2018.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F"/>
        </a:solidFill>
      </p:bgPr>
    </p:bg>
    <p:spTree>
      <p:nvGrpSpPr>
        <p:cNvPr id="47" name="Shape 47"/>
        <p:cNvGrpSpPr/>
        <p:nvPr/>
      </p:nvGrpSpPr>
      <p:grpSpPr>
        <a:xfrm>
          <a:off x="0" y="0"/>
          <a:ext cx="0" cy="0"/>
          <a:chOff x="0" y="0"/>
          <a:chExt cx="0" cy="0"/>
        </a:xfrm>
      </p:grpSpPr>
      <p:sp>
        <p:nvSpPr>
          <p:cNvPr id="48" name="Google Shape;48;p3"/>
          <p:cNvSpPr/>
          <p:nvPr/>
        </p:nvSpPr>
        <p:spPr>
          <a:xfrm>
            <a:off x="812767" y="609589"/>
            <a:ext cx="10883461" cy="23877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F"/>
              </a:buClr>
              <a:buSzPts val="1200"/>
              <a:buFont typeface="IBM Plex Sans"/>
              <a:buNone/>
            </a:pPr>
            <a:r>
              <a:rPr b="1" i="0" lang="en-US" sz="1200" u="none" cap="none" strike="noStrike">
                <a:solidFill>
                  <a:srgbClr val="B4501F"/>
                </a:solidFill>
                <a:latin typeface="IBM Plex Sans"/>
                <a:ea typeface="IBM Plex Sans"/>
                <a:cs typeface="IBM Plex Sans"/>
                <a:sym typeface="IBM Plex Sans"/>
              </a:rPr>
              <a:t>BACKGROUND</a:t>
            </a:r>
            <a:endParaRPr b="0" i="0" sz="1200" u="none" cap="none" strike="noStrike">
              <a:solidFill>
                <a:schemeClr val="dk1"/>
              </a:solidFill>
              <a:latin typeface="Calibri"/>
              <a:ea typeface="Calibri"/>
              <a:cs typeface="Calibri"/>
              <a:sym typeface="Calibri"/>
            </a:endParaRPr>
          </a:p>
        </p:txBody>
      </p:sp>
      <p:sp>
        <p:nvSpPr>
          <p:cNvPr id="49" name="Google Shape;49;p3"/>
          <p:cNvSpPr/>
          <p:nvPr/>
        </p:nvSpPr>
        <p:spPr>
          <a:xfrm>
            <a:off x="812775" y="1000724"/>
            <a:ext cx="10883400" cy="4710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4213D"/>
              </a:buClr>
              <a:buSzPts val="2800"/>
              <a:buFont typeface="Space Grotesk"/>
              <a:buNone/>
            </a:pPr>
            <a:r>
              <a:rPr b="1" i="0" lang="en-US" sz="2800" u="none" cap="none" strike="noStrike">
                <a:solidFill>
                  <a:srgbClr val="14213D"/>
                </a:solidFill>
                <a:latin typeface="Space Grotesk"/>
                <a:ea typeface="Space Grotesk"/>
                <a:cs typeface="Space Grotesk"/>
                <a:sym typeface="Space Grotesk"/>
              </a:rPr>
              <a:t>Surveillance is everywhere. Accountability is not.</a:t>
            </a:r>
            <a:endParaRPr b="0" i="0" sz="2800" u="none" cap="none" strike="noStrike">
              <a:solidFill>
                <a:schemeClr val="dk1"/>
              </a:solidFill>
              <a:latin typeface="Calibri"/>
              <a:ea typeface="Calibri"/>
              <a:cs typeface="Calibri"/>
              <a:sym typeface="Calibri"/>
            </a:endParaRPr>
          </a:p>
        </p:txBody>
      </p:sp>
      <p:sp>
        <p:nvSpPr>
          <p:cNvPr id="50" name="Google Shape;50;p3"/>
          <p:cNvSpPr/>
          <p:nvPr/>
        </p:nvSpPr>
        <p:spPr>
          <a:xfrm>
            <a:off x="815950" y="1647410"/>
            <a:ext cx="2520900" cy="2168400"/>
          </a:xfrm>
          <a:prstGeom prst="roundRect">
            <a:avLst>
              <a:gd fmla="val 4469" name="adj"/>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994070" y="1848759"/>
            <a:ext cx="2229600" cy="5454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500"/>
              <a:buFont typeface="Space Grotesk"/>
              <a:buNone/>
            </a:pPr>
            <a:r>
              <a:rPr b="1" i="0" lang="en-US" sz="1500" u="none" cap="none" strike="noStrike">
                <a:solidFill>
                  <a:srgbClr val="14213D"/>
                </a:solidFill>
                <a:latin typeface="Space Grotesk"/>
                <a:ea typeface="Space Grotesk"/>
                <a:cs typeface="Space Grotesk"/>
                <a:sym typeface="Space Grotesk"/>
              </a:rPr>
              <a:t>Government-side vendors</a:t>
            </a:r>
            <a:endParaRPr b="0" i="0" sz="1500" u="none" cap="none" strike="noStrike">
              <a:solidFill>
                <a:schemeClr val="dk1"/>
              </a:solidFill>
              <a:latin typeface="Calibri"/>
              <a:ea typeface="Calibri"/>
              <a:cs typeface="Calibri"/>
              <a:sym typeface="Calibri"/>
            </a:endParaRPr>
          </a:p>
        </p:txBody>
      </p:sp>
      <p:sp>
        <p:nvSpPr>
          <p:cNvPr id="52" name="Google Shape;52;p3"/>
          <p:cNvSpPr/>
          <p:nvPr/>
        </p:nvSpPr>
        <p:spPr>
          <a:xfrm>
            <a:off x="994070" y="2451666"/>
            <a:ext cx="2229600" cy="11913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Flock Safety (plate readers, drones), Motorola (Vigilant), Axon (Fusus crime centers), SoundThinking (ShotSpotter), Clearview AI (face ID)</a:t>
            </a:r>
            <a:endParaRPr b="0" i="0" sz="1200" u="none" cap="none" strike="noStrike">
              <a:solidFill>
                <a:schemeClr val="dk1"/>
              </a:solidFill>
              <a:latin typeface="Calibri"/>
              <a:ea typeface="Calibri"/>
              <a:cs typeface="Calibri"/>
              <a:sym typeface="Calibri"/>
            </a:endParaRPr>
          </a:p>
        </p:txBody>
      </p:sp>
      <p:sp>
        <p:nvSpPr>
          <p:cNvPr id="53" name="Google Shape;53;p3"/>
          <p:cNvSpPr/>
          <p:nvPr/>
        </p:nvSpPr>
        <p:spPr>
          <a:xfrm>
            <a:off x="3495625" y="1647410"/>
            <a:ext cx="2520900" cy="2168400"/>
          </a:xfrm>
          <a:prstGeom prst="roundRect">
            <a:avLst>
              <a:gd fmla="val 4469" name="adj"/>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3673745" y="1848759"/>
            <a:ext cx="2229600" cy="2871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500"/>
              <a:buFont typeface="Space Grotesk"/>
              <a:buNone/>
            </a:pPr>
            <a:r>
              <a:rPr b="1" i="0" lang="en-US" sz="1500" u="none" cap="none" strike="noStrike">
                <a:solidFill>
                  <a:srgbClr val="14213D"/>
                </a:solidFill>
                <a:latin typeface="Space Grotesk"/>
                <a:ea typeface="Space Grotesk"/>
                <a:cs typeface="Space Grotesk"/>
                <a:sym typeface="Space Grotesk"/>
              </a:rPr>
              <a:t>Buyers</a:t>
            </a:r>
            <a:endParaRPr b="0" i="0" sz="1500" u="none" cap="none" strike="noStrike">
              <a:solidFill>
                <a:schemeClr val="dk1"/>
              </a:solidFill>
              <a:latin typeface="Calibri"/>
              <a:ea typeface="Calibri"/>
              <a:cs typeface="Calibri"/>
              <a:sym typeface="Calibri"/>
            </a:endParaRPr>
          </a:p>
        </p:txBody>
      </p:sp>
      <p:sp>
        <p:nvSpPr>
          <p:cNvPr id="55" name="Google Shape;55;p3"/>
          <p:cNvSpPr/>
          <p:nvPr/>
        </p:nvSpPr>
        <p:spPr>
          <a:xfrm>
            <a:off x="3673745" y="2193267"/>
            <a:ext cx="2229600" cy="9588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~18,000 U.S. police agencies, HOAs, retailers, schools, and federal agencies (FBI, ICE) that buy location data from brokers</a:t>
            </a:r>
            <a:endParaRPr b="0" i="0" sz="1200" u="none" cap="none" strike="noStrike">
              <a:solidFill>
                <a:schemeClr val="dk1"/>
              </a:solidFill>
              <a:latin typeface="Calibri"/>
              <a:ea typeface="Calibri"/>
              <a:cs typeface="Calibri"/>
              <a:sym typeface="Calibri"/>
            </a:endParaRPr>
          </a:p>
        </p:txBody>
      </p:sp>
      <p:sp>
        <p:nvSpPr>
          <p:cNvPr id="56" name="Google Shape;56;p3"/>
          <p:cNvSpPr/>
          <p:nvPr/>
        </p:nvSpPr>
        <p:spPr>
          <a:xfrm>
            <a:off x="6175356" y="1647410"/>
            <a:ext cx="2520900" cy="2168400"/>
          </a:xfrm>
          <a:prstGeom prst="roundRect">
            <a:avLst>
              <a:gd fmla="val 4469" name="adj"/>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6353475" y="1848759"/>
            <a:ext cx="2229600" cy="2871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500"/>
              <a:buFont typeface="Space Grotesk"/>
              <a:buNone/>
            </a:pPr>
            <a:r>
              <a:rPr b="1" i="0" lang="en-US" sz="1500" u="none" cap="none" strike="noStrike">
                <a:solidFill>
                  <a:srgbClr val="14213D"/>
                </a:solidFill>
                <a:latin typeface="Space Grotesk"/>
                <a:ea typeface="Space Grotesk"/>
                <a:cs typeface="Space Grotesk"/>
                <a:sym typeface="Space Grotesk"/>
              </a:rPr>
              <a:t>Private data holders</a:t>
            </a:r>
            <a:endParaRPr b="0" i="0" sz="1500" u="none" cap="none" strike="noStrike">
              <a:solidFill>
                <a:schemeClr val="dk1"/>
              </a:solidFill>
              <a:latin typeface="Calibri"/>
              <a:ea typeface="Calibri"/>
              <a:cs typeface="Calibri"/>
              <a:sym typeface="Calibri"/>
            </a:endParaRPr>
          </a:p>
        </p:txBody>
      </p:sp>
      <p:sp>
        <p:nvSpPr>
          <p:cNvPr id="58" name="Google Shape;58;p3"/>
          <p:cNvSpPr/>
          <p:nvPr/>
        </p:nvSpPr>
        <p:spPr>
          <a:xfrm>
            <a:off x="6353475" y="2193267"/>
            <a:ext cx="2229600" cy="11913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Data brokers (Kochava), carmakers (GM OnStar), face-scanning stores (Wegmans, Walmart, Kroger), Amazon Ring, AI chat platforms</a:t>
            </a:r>
            <a:endParaRPr b="0" i="0" sz="1200" u="none" cap="none" strike="noStrike">
              <a:solidFill>
                <a:schemeClr val="dk1"/>
              </a:solidFill>
              <a:latin typeface="Calibri"/>
              <a:ea typeface="Calibri"/>
              <a:cs typeface="Calibri"/>
              <a:sym typeface="Calibri"/>
            </a:endParaRPr>
          </a:p>
        </p:txBody>
      </p:sp>
      <p:sp>
        <p:nvSpPr>
          <p:cNvPr id="59" name="Google Shape;59;p3"/>
          <p:cNvSpPr/>
          <p:nvPr/>
        </p:nvSpPr>
        <p:spPr>
          <a:xfrm>
            <a:off x="8855032" y="1647410"/>
            <a:ext cx="2520900" cy="2168400"/>
          </a:xfrm>
          <a:prstGeom prst="roundRect">
            <a:avLst>
              <a:gd fmla="val 4469" name="adj"/>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9033151" y="1848759"/>
            <a:ext cx="2229600" cy="2871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500"/>
              <a:buFont typeface="Space Grotesk"/>
              <a:buNone/>
            </a:pPr>
            <a:r>
              <a:rPr b="1" i="0" lang="en-US" sz="1500" u="none" cap="none" strike="noStrike">
                <a:solidFill>
                  <a:srgbClr val="14213D"/>
                </a:solidFill>
                <a:latin typeface="Space Grotesk"/>
                <a:ea typeface="Space Grotesk"/>
                <a:cs typeface="Space Grotesk"/>
                <a:sym typeface="Space Grotesk"/>
              </a:rPr>
              <a:t>Pushback and courts</a:t>
            </a:r>
            <a:endParaRPr b="0" i="0" sz="1500" u="none" cap="none" strike="noStrike">
              <a:solidFill>
                <a:schemeClr val="dk1"/>
              </a:solidFill>
              <a:latin typeface="Calibri"/>
              <a:ea typeface="Calibri"/>
              <a:cs typeface="Calibri"/>
              <a:sym typeface="Calibri"/>
            </a:endParaRPr>
          </a:p>
        </p:txBody>
      </p:sp>
      <p:sp>
        <p:nvSpPr>
          <p:cNvPr id="61" name="Google Shape;61;p3"/>
          <p:cNvSpPr/>
          <p:nvPr/>
        </p:nvSpPr>
        <p:spPr>
          <a:xfrm>
            <a:off x="9033151" y="2193267"/>
            <a:ext cx="2229600" cy="11913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ACLU, EFF, DeFlock.org, the FTC; Carpenter v. U.S. (2018) requires a warrant to demand phone location data, not to buy it</a:t>
            </a:r>
            <a:endParaRPr b="0" i="0" sz="1200" u="none" cap="none" strike="noStrike">
              <a:solidFill>
                <a:schemeClr val="dk1"/>
              </a:solidFill>
              <a:latin typeface="Calibri"/>
              <a:ea typeface="Calibri"/>
              <a:cs typeface="Calibri"/>
              <a:sym typeface="Calibri"/>
            </a:endParaRPr>
          </a:p>
        </p:txBody>
      </p:sp>
      <p:sp>
        <p:nvSpPr>
          <p:cNvPr id="62" name="Google Shape;62;p3"/>
          <p:cNvSpPr/>
          <p:nvPr/>
        </p:nvSpPr>
        <p:spPr>
          <a:xfrm>
            <a:off x="812775" y="4020251"/>
            <a:ext cx="3420600" cy="1412400"/>
          </a:xfrm>
          <a:prstGeom prst="roundRect">
            <a:avLst>
              <a:gd fmla="val 7115" name="adj"/>
            </a:avLst>
          </a:prstGeom>
          <a:solidFill>
            <a:srgbClr val="E6EC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990542" y="4221200"/>
            <a:ext cx="3156900" cy="270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4F82"/>
              </a:buClr>
              <a:buSzPts val="1400"/>
              <a:buFont typeface="Space Grotesk"/>
              <a:buNone/>
            </a:pPr>
            <a:r>
              <a:rPr b="1" i="0" lang="en-US" sz="1400" u="none" cap="none" strike="noStrike">
                <a:solidFill>
                  <a:srgbClr val="1F4F82"/>
                </a:solidFill>
                <a:latin typeface="Space Grotesk"/>
                <a:ea typeface="Space Grotesk"/>
                <a:cs typeface="Space Grotesk"/>
                <a:sym typeface="Space Grotesk"/>
              </a:rPr>
              <a:t>The defenders' case</a:t>
            </a:r>
            <a:endParaRPr b="0" i="0" sz="1400" u="none" cap="none" strike="noStrike">
              <a:solidFill>
                <a:schemeClr val="dk1"/>
              </a:solidFill>
              <a:latin typeface="Calibri"/>
              <a:ea typeface="Calibri"/>
              <a:cs typeface="Calibri"/>
              <a:sym typeface="Calibri"/>
            </a:endParaRPr>
          </a:p>
        </p:txBody>
      </p:sp>
      <p:sp>
        <p:nvSpPr>
          <p:cNvPr id="64" name="Google Shape;64;p3"/>
          <p:cNvSpPr/>
          <p:nvPr/>
        </p:nvSpPr>
        <p:spPr>
          <a:xfrm>
            <a:off x="990542" y="4534181"/>
            <a:ext cx="3156900" cy="7263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Flock says its cameras aided 1M+ investigations and helped find nearly 10,000 missing people in 2025.</a:t>
            </a:r>
            <a:endParaRPr b="0" i="0" sz="1200" u="none" cap="none" strike="noStrike">
              <a:solidFill>
                <a:schemeClr val="dk1"/>
              </a:solidFill>
              <a:latin typeface="Calibri"/>
              <a:ea typeface="Calibri"/>
              <a:cs typeface="Calibri"/>
              <a:sym typeface="Calibri"/>
            </a:endParaRPr>
          </a:p>
        </p:txBody>
      </p:sp>
      <p:sp>
        <p:nvSpPr>
          <p:cNvPr id="65" name="Google Shape;65;p3"/>
          <p:cNvSpPr/>
          <p:nvPr/>
        </p:nvSpPr>
        <p:spPr>
          <a:xfrm>
            <a:off x="4385693" y="4020251"/>
            <a:ext cx="3420600" cy="1412400"/>
          </a:xfrm>
          <a:prstGeom prst="roundRect">
            <a:avLst>
              <a:gd fmla="val 7115" name="adj"/>
            </a:avLst>
          </a:pr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4563460" y="4221200"/>
            <a:ext cx="3156900" cy="270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2994A"/>
              </a:buClr>
              <a:buSzPts val="1400"/>
              <a:buFont typeface="Space Grotesk"/>
              <a:buNone/>
            </a:pPr>
            <a:r>
              <a:rPr b="1" i="0" lang="en-US" sz="1400" u="none" cap="none" strike="noStrike">
                <a:solidFill>
                  <a:srgbClr val="F2994A"/>
                </a:solidFill>
                <a:latin typeface="Space Grotesk"/>
                <a:ea typeface="Space Grotesk"/>
                <a:cs typeface="Space Grotesk"/>
                <a:sym typeface="Space Grotesk"/>
              </a:rPr>
              <a:t>The chilling effect</a:t>
            </a:r>
            <a:endParaRPr b="0" i="0" sz="1400" u="none" cap="none" strike="noStrike">
              <a:solidFill>
                <a:schemeClr val="dk1"/>
              </a:solidFill>
              <a:latin typeface="Calibri"/>
              <a:ea typeface="Calibri"/>
              <a:cs typeface="Calibri"/>
              <a:sym typeface="Calibri"/>
            </a:endParaRPr>
          </a:p>
        </p:txBody>
      </p:sp>
      <p:sp>
        <p:nvSpPr>
          <p:cNvPr id="67" name="Google Shape;67;p3"/>
          <p:cNvSpPr/>
          <p:nvPr/>
        </p:nvSpPr>
        <p:spPr>
          <a:xfrm>
            <a:off x="4563460" y="4534181"/>
            <a:ext cx="3156900" cy="7263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E4E9F1"/>
              </a:buClr>
              <a:buSzPts val="1200"/>
              <a:buFont typeface="IBM Plex Sans"/>
              <a:buNone/>
            </a:pPr>
            <a:r>
              <a:rPr b="0" i="0" lang="en-US" sz="1200" u="none" cap="none" strike="noStrike">
                <a:solidFill>
                  <a:srgbClr val="E4E9F1"/>
                </a:solidFill>
                <a:latin typeface="IBM Plex Sans"/>
                <a:ea typeface="IBM Plex Sans"/>
                <a:cs typeface="IBM Plex Sans"/>
                <a:sym typeface="IBM Plex Sans"/>
              </a:rPr>
              <a:t>Watched people self-censor: Wikipedia views of terrorism-related articles fell after the 2013 Snowden leaks.</a:t>
            </a:r>
            <a:endParaRPr b="0" i="0" sz="1200" u="none" cap="none" strike="noStrike">
              <a:solidFill>
                <a:schemeClr val="dk1"/>
              </a:solidFill>
              <a:latin typeface="Calibri"/>
              <a:ea typeface="Calibri"/>
              <a:cs typeface="Calibri"/>
              <a:sym typeface="Calibri"/>
            </a:endParaRPr>
          </a:p>
        </p:txBody>
      </p:sp>
      <p:sp>
        <p:nvSpPr>
          <p:cNvPr id="68" name="Google Shape;68;p3"/>
          <p:cNvSpPr/>
          <p:nvPr/>
        </p:nvSpPr>
        <p:spPr>
          <a:xfrm>
            <a:off x="7958668" y="4020251"/>
            <a:ext cx="3420600" cy="1412400"/>
          </a:xfrm>
          <a:prstGeom prst="roundRect">
            <a:avLst>
              <a:gd fmla="val 7115" name="adj"/>
            </a:avLst>
          </a:prstGeom>
          <a:solidFill>
            <a:srgbClr val="F6E3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8136435" y="4221200"/>
            <a:ext cx="3156900" cy="270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A3A14"/>
              </a:buClr>
              <a:buSzPts val="1400"/>
              <a:buFont typeface="Space Grotesk"/>
              <a:buNone/>
            </a:pPr>
            <a:r>
              <a:rPr b="1" i="0" lang="en-US" sz="1400" u="none" cap="none" strike="noStrike">
                <a:solidFill>
                  <a:srgbClr val="8A3A14"/>
                </a:solidFill>
                <a:latin typeface="Space Grotesk"/>
                <a:ea typeface="Space Grotesk"/>
                <a:cs typeface="Space Grotesk"/>
                <a:sym typeface="Space Grotesk"/>
              </a:rPr>
              <a:t>Weak signals</a:t>
            </a:r>
            <a:endParaRPr b="0" i="0" sz="1400" u="none" cap="none" strike="noStrike">
              <a:solidFill>
                <a:schemeClr val="dk1"/>
              </a:solidFill>
              <a:latin typeface="Calibri"/>
              <a:ea typeface="Calibri"/>
              <a:cs typeface="Calibri"/>
              <a:sym typeface="Calibri"/>
            </a:endParaRPr>
          </a:p>
        </p:txBody>
      </p:sp>
      <p:sp>
        <p:nvSpPr>
          <p:cNvPr id="70" name="Google Shape;70;p3"/>
          <p:cNvSpPr/>
          <p:nvPr/>
        </p:nvSpPr>
        <p:spPr>
          <a:xfrm>
            <a:off x="8136435" y="4534181"/>
            <a:ext cx="3156900" cy="7263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53 cities canceled or rejected Flock. Rite Aid was banned from face ID after false matches.</a:t>
            </a:r>
            <a:endParaRPr b="0" i="0" sz="1200" u="none" cap="none" strike="noStrike">
              <a:solidFill>
                <a:schemeClr val="dk1"/>
              </a:solidFill>
              <a:latin typeface="Calibri"/>
              <a:ea typeface="Calibri"/>
              <a:cs typeface="Calibri"/>
              <a:sym typeface="Calibri"/>
            </a:endParaRPr>
          </a:p>
        </p:txBody>
      </p:sp>
      <p:sp>
        <p:nvSpPr>
          <p:cNvPr id="71" name="Google Shape;71;p3"/>
          <p:cNvSpPr/>
          <p:nvPr/>
        </p:nvSpPr>
        <p:spPr>
          <a:xfrm>
            <a:off x="812767" y="5958914"/>
            <a:ext cx="10883347" cy="61972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5B6472"/>
              </a:buClr>
              <a:buSzPts val="1200"/>
              <a:buFont typeface="IBM Plex Sans"/>
              <a:buNone/>
            </a:pPr>
            <a:r>
              <a:rPr b="0" i="0" lang="en-US" sz="1200" u="none" cap="none" strike="noStrike">
                <a:solidFill>
                  <a:srgbClr val="5B6472"/>
                </a:solidFill>
                <a:latin typeface="IBM Plex Sans"/>
                <a:ea typeface="IBM Plex Sans"/>
                <a:cs typeface="IBM Plex Sans"/>
                <a:sym typeface="IBM Plex Sans"/>
              </a:rPr>
              <a:t>Sources: NPR, "Your data is everywhere. The government is buying it without a warrant," Mar 25, 2026; CNN, "Wegmans is scanning your face at some stores," Jan 12, 2026; FTC, GM/OnStar order, Jan 2026; FTC, Rite Aid order, Dec 19, 2023; Penney, Berkeley Tech. Law Journal 31(1), 2016; Carpenter v. U.S., 585 U.S. 296 (2018); TechTimes, Jun 29,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F"/>
        </a:solidFill>
      </p:bgPr>
    </p:bg>
    <p:spTree>
      <p:nvGrpSpPr>
        <p:cNvPr id="76" name="Shape 76"/>
        <p:cNvGrpSpPr/>
        <p:nvPr/>
      </p:nvGrpSpPr>
      <p:grpSpPr>
        <a:xfrm>
          <a:off x="0" y="0"/>
          <a:ext cx="0" cy="0"/>
          <a:chOff x="0" y="0"/>
          <a:chExt cx="0" cy="0"/>
        </a:xfrm>
      </p:grpSpPr>
      <p:sp>
        <p:nvSpPr>
          <p:cNvPr id="77" name="Google Shape;77;p4"/>
          <p:cNvSpPr/>
          <p:nvPr/>
        </p:nvSpPr>
        <p:spPr>
          <a:xfrm>
            <a:off x="812767" y="330177"/>
            <a:ext cx="6540500" cy="388596"/>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4213D"/>
              </a:buClr>
              <a:buSzPts val="2600"/>
              <a:buFont typeface="Space Grotesk"/>
              <a:buNone/>
            </a:pPr>
            <a:r>
              <a:rPr b="1" i="0" lang="en-US" sz="2600" u="none" cap="none" strike="noStrike">
                <a:solidFill>
                  <a:srgbClr val="14213D"/>
                </a:solidFill>
                <a:latin typeface="Space Grotesk"/>
                <a:ea typeface="Space Grotesk"/>
                <a:cs typeface="Space Grotesk"/>
                <a:sym typeface="Space Grotesk"/>
              </a:rPr>
              <a:t>Four futures for surveillance data</a:t>
            </a:r>
            <a:endParaRPr b="0" i="0" sz="2600" u="none" cap="none" strike="noStrike">
              <a:solidFill>
                <a:schemeClr val="dk1"/>
              </a:solidFill>
              <a:latin typeface="Calibri"/>
              <a:ea typeface="Calibri"/>
              <a:cs typeface="Calibri"/>
              <a:sym typeface="Calibri"/>
            </a:endParaRPr>
          </a:p>
        </p:txBody>
      </p:sp>
      <p:pic>
        <p:nvPicPr>
          <p:cNvPr descr="connector" id="78" name="Google Shape;78;p4"/>
          <p:cNvPicPr preferRelativeResize="0"/>
          <p:nvPr/>
        </p:nvPicPr>
        <p:blipFill rotWithShape="1">
          <a:blip r:embed="rId3">
            <a:alphaModFix/>
          </a:blip>
          <a:srcRect b="-5" l="0" r="0" t="-5"/>
          <a:stretch/>
        </p:blipFill>
        <p:spPr>
          <a:xfrm>
            <a:off x="6045178" y="1257266"/>
            <a:ext cx="101589" cy="4902178"/>
          </a:xfrm>
          <a:prstGeom prst="rect">
            <a:avLst/>
          </a:prstGeom>
          <a:noFill/>
          <a:ln>
            <a:noFill/>
          </a:ln>
        </p:spPr>
      </p:pic>
      <p:pic>
        <p:nvPicPr>
          <p:cNvPr descr="connector" id="79" name="Google Shape;79;p4"/>
          <p:cNvPicPr preferRelativeResize="0"/>
          <p:nvPr/>
        </p:nvPicPr>
        <p:blipFill rotWithShape="1">
          <a:blip r:embed="rId4">
            <a:alphaModFix/>
          </a:blip>
          <a:srcRect b="0" l="-5" r="-5" t="0"/>
          <a:stretch/>
        </p:blipFill>
        <p:spPr>
          <a:xfrm>
            <a:off x="3035267" y="3651250"/>
            <a:ext cx="6121356" cy="101589"/>
          </a:xfrm>
          <a:prstGeom prst="rect">
            <a:avLst/>
          </a:prstGeom>
          <a:noFill/>
          <a:ln>
            <a:noFill/>
          </a:ln>
        </p:spPr>
      </p:pic>
      <p:sp>
        <p:nvSpPr>
          <p:cNvPr id="80" name="Google Shape;80;p4"/>
          <p:cNvSpPr/>
          <p:nvPr/>
        </p:nvSpPr>
        <p:spPr>
          <a:xfrm>
            <a:off x="819117" y="1352527"/>
            <a:ext cx="5118067" cy="2133567"/>
          </a:xfrm>
          <a:prstGeom prst="roundRect">
            <a:avLst>
              <a:gd fmla="val 5060" name="adj"/>
            </a:avLst>
          </a:prstGeom>
          <a:solidFill>
            <a:srgbClr val="FCFBF8"/>
          </a:solidFill>
          <a:ln cap="flat" cmpd="sng" w="1270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1051939" y="1559939"/>
            <a:ext cx="3208302" cy="23877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4F82"/>
              </a:buClr>
              <a:buSzPts val="1200"/>
              <a:buFont typeface="IBM Plex Sans"/>
              <a:buNone/>
            </a:pPr>
            <a:r>
              <a:rPr b="1" i="0" lang="en-US" sz="1200" u="none" cap="none" strike="noStrike">
                <a:solidFill>
                  <a:srgbClr val="1F4F82"/>
                </a:solidFill>
                <a:latin typeface="IBM Plex Sans"/>
                <a:ea typeface="IBM Plex Sans"/>
                <a:cs typeface="IBM Plex Sans"/>
                <a:sym typeface="IBM Plex Sans"/>
              </a:rPr>
              <a:t>1 · GOVERNMENT × ENFORCE</a:t>
            </a:r>
            <a:endParaRPr b="0" i="0" sz="1200" u="none" cap="none" strike="noStrike">
              <a:solidFill>
                <a:schemeClr val="dk1"/>
              </a:solidFill>
              <a:latin typeface="Calibri"/>
              <a:ea typeface="Calibri"/>
              <a:cs typeface="Calibri"/>
              <a:sym typeface="Calibri"/>
            </a:endParaRPr>
          </a:p>
        </p:txBody>
      </p:sp>
      <p:sp>
        <p:nvSpPr>
          <p:cNvPr id="82" name="Google Shape;82;p4"/>
          <p:cNvSpPr/>
          <p:nvPr/>
        </p:nvSpPr>
        <p:spPr>
          <a:xfrm>
            <a:off x="1051939" y="1932175"/>
            <a:ext cx="3208302" cy="360704"/>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4213D"/>
              </a:buClr>
              <a:buSzPts val="2000"/>
              <a:buFont typeface="Space Grotesk"/>
              <a:buNone/>
            </a:pPr>
            <a:r>
              <a:rPr b="1" i="0" lang="en-US" sz="2000" u="none" cap="none" strike="noStrike">
                <a:solidFill>
                  <a:srgbClr val="14213D"/>
                </a:solidFill>
                <a:latin typeface="Space Grotesk"/>
                <a:ea typeface="Space Grotesk"/>
                <a:cs typeface="Space Grotesk"/>
                <a:sym typeface="Space Grotesk"/>
              </a:rPr>
              <a:t>The Digital Witness</a:t>
            </a:r>
            <a:endParaRPr b="0" i="0" sz="2000" u="none" cap="none" strike="noStrike">
              <a:solidFill>
                <a:schemeClr val="dk1"/>
              </a:solidFill>
              <a:latin typeface="Calibri"/>
              <a:ea typeface="Calibri"/>
              <a:cs typeface="Calibri"/>
              <a:sym typeface="Calibri"/>
            </a:endParaRPr>
          </a:p>
        </p:txBody>
      </p:sp>
      <p:sp>
        <p:nvSpPr>
          <p:cNvPr id="83" name="Google Shape;83;p4"/>
          <p:cNvSpPr/>
          <p:nvPr/>
        </p:nvSpPr>
        <p:spPr>
          <a:xfrm>
            <a:off x="1051939" y="2306339"/>
            <a:ext cx="3208302" cy="7600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Every trace is kept as evidence, and AI "lie detectors" help decide guilt.</a:t>
            </a:r>
            <a:endParaRPr b="0" i="0" sz="1200" u="none" cap="none" strike="noStrike">
              <a:solidFill>
                <a:schemeClr val="dk1"/>
              </a:solidFill>
              <a:latin typeface="Calibri"/>
              <a:ea typeface="Calibri"/>
              <a:cs typeface="Calibri"/>
              <a:sym typeface="Calibri"/>
            </a:endParaRPr>
          </a:p>
        </p:txBody>
      </p:sp>
      <p:sp>
        <p:nvSpPr>
          <p:cNvPr id="84" name="Google Shape;84;p4"/>
          <p:cNvSpPr/>
          <p:nvPr/>
        </p:nvSpPr>
        <p:spPr>
          <a:xfrm>
            <a:off x="1051939" y="3140218"/>
            <a:ext cx="228589" cy="63500"/>
          </a:xfrm>
          <a:prstGeom prst="roundRect">
            <a:avLst>
              <a:gd fmla="val 50000" name="adj"/>
            </a:avLst>
          </a:prstGeom>
          <a:solidFill>
            <a:srgbClr val="B450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1331295" y="3140218"/>
            <a:ext cx="228589" cy="63500"/>
          </a:xfrm>
          <a:prstGeom prst="roundRect">
            <a:avLst>
              <a:gd fmla="val 50000" name="adj"/>
            </a:avLst>
          </a:prstGeom>
          <a:solidFill>
            <a:srgbClr val="B450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1610651" y="3140218"/>
            <a:ext cx="228589" cy="63500"/>
          </a:xfrm>
          <a:prstGeom prst="roundRect">
            <a:avLst>
              <a:gd fmla="val 50000" name="adj"/>
            </a:avLst>
          </a:prstGeom>
          <a:solidFill>
            <a:srgbClr val="DDD8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1890007" y="3140218"/>
            <a:ext cx="228589" cy="63500"/>
          </a:xfrm>
          <a:prstGeom prst="roundRect">
            <a:avLst>
              <a:gd fmla="val 50000" name="adj"/>
            </a:avLst>
          </a:prstGeom>
          <a:solidFill>
            <a:srgbClr val="DDD8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a:off x="2169363" y="3140218"/>
            <a:ext cx="228589" cy="63500"/>
          </a:xfrm>
          <a:prstGeom prst="roundRect">
            <a:avLst>
              <a:gd fmla="val 50000" name="adj"/>
            </a:avLst>
          </a:prstGeom>
          <a:solidFill>
            <a:srgbClr val="DDD8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2448719" y="3065307"/>
            <a:ext cx="1080636" cy="23877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B6472"/>
              </a:buClr>
              <a:buSzPts val="1200"/>
              <a:buFont typeface="IBM Plex Sans"/>
              <a:buNone/>
            </a:pPr>
            <a:r>
              <a:rPr b="0" i="0" lang="en-US" sz="1200" u="none" cap="none" strike="noStrike">
                <a:solidFill>
                  <a:srgbClr val="5B6472"/>
                </a:solidFill>
                <a:latin typeface="IBM Plex Sans"/>
                <a:ea typeface="IBM Plex Sans"/>
                <a:cs typeface="IBM Plex Sans"/>
                <a:sym typeface="IBM Plex Sans"/>
              </a:rPr>
              <a:t>Discomfort 2/5</a:t>
            </a:r>
            <a:endParaRPr b="0" i="0" sz="1200" u="none" cap="none" strike="noStrike">
              <a:solidFill>
                <a:schemeClr val="dk1"/>
              </a:solidFill>
              <a:latin typeface="Calibri"/>
              <a:ea typeface="Calibri"/>
              <a:cs typeface="Calibri"/>
              <a:sym typeface="Calibri"/>
            </a:endParaRPr>
          </a:p>
        </p:txBody>
      </p:sp>
      <p:sp>
        <p:nvSpPr>
          <p:cNvPr id="90" name="Google Shape;90;p4"/>
          <p:cNvSpPr/>
          <p:nvPr/>
        </p:nvSpPr>
        <p:spPr>
          <a:xfrm>
            <a:off x="6254706" y="1352527"/>
            <a:ext cx="5118067" cy="2133567"/>
          </a:xfrm>
          <a:prstGeom prst="roundRect">
            <a:avLst>
              <a:gd fmla="val 5060" name="adj"/>
            </a:avLst>
          </a:prstGeom>
          <a:solidFill>
            <a:srgbClr val="FCFBF8"/>
          </a:solidFill>
          <a:ln cap="flat" cmpd="sng" w="12700">
            <a:solidFill>
              <a:srgbClr val="B450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6487528" y="1559939"/>
            <a:ext cx="3208302" cy="23877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3A14"/>
              </a:buClr>
              <a:buSzPts val="1200"/>
              <a:buFont typeface="IBM Plex Sans"/>
              <a:buNone/>
            </a:pPr>
            <a:r>
              <a:rPr b="1" i="0" lang="en-US" sz="1200" u="none" cap="none" strike="noStrike">
                <a:solidFill>
                  <a:srgbClr val="8A3A14"/>
                </a:solidFill>
                <a:latin typeface="IBM Plex Sans"/>
                <a:ea typeface="IBM Plex Sans"/>
                <a:cs typeface="IBM Plex Sans"/>
                <a:sym typeface="IBM Plex Sans"/>
              </a:rPr>
              <a:t>2 · PRIVATE × ENFORCE</a:t>
            </a:r>
            <a:endParaRPr b="0" i="0" sz="1200" u="none" cap="none" strike="noStrike">
              <a:solidFill>
                <a:schemeClr val="dk1"/>
              </a:solidFill>
              <a:latin typeface="Calibri"/>
              <a:ea typeface="Calibri"/>
              <a:cs typeface="Calibri"/>
              <a:sym typeface="Calibri"/>
            </a:endParaRPr>
          </a:p>
        </p:txBody>
      </p:sp>
      <p:sp>
        <p:nvSpPr>
          <p:cNvPr id="92" name="Google Shape;92;p4"/>
          <p:cNvSpPr/>
          <p:nvPr/>
        </p:nvSpPr>
        <p:spPr>
          <a:xfrm>
            <a:off x="6487528" y="1932175"/>
            <a:ext cx="3208302" cy="360704"/>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4213D"/>
              </a:buClr>
              <a:buSzPts val="2000"/>
              <a:buFont typeface="Space Grotesk"/>
              <a:buNone/>
            </a:pPr>
            <a:r>
              <a:rPr b="1" i="0" lang="en-US" sz="2000" u="none" cap="none" strike="noStrike">
                <a:solidFill>
                  <a:srgbClr val="14213D"/>
                </a:solidFill>
                <a:latin typeface="Space Grotesk"/>
                <a:ea typeface="Space Grotesk"/>
                <a:cs typeface="Space Grotesk"/>
                <a:sym typeface="Space Grotesk"/>
              </a:rPr>
              <a:t>Your Routine for Sale</a:t>
            </a:r>
            <a:endParaRPr b="0" i="0" sz="2000" u="none" cap="none" strike="noStrike">
              <a:solidFill>
                <a:schemeClr val="dk1"/>
              </a:solidFill>
              <a:latin typeface="Calibri"/>
              <a:ea typeface="Calibri"/>
              <a:cs typeface="Calibri"/>
              <a:sym typeface="Calibri"/>
            </a:endParaRPr>
          </a:p>
        </p:txBody>
      </p:sp>
      <p:sp>
        <p:nvSpPr>
          <p:cNvPr id="93" name="Google Shape;93;p4"/>
          <p:cNvSpPr/>
          <p:nvPr/>
        </p:nvSpPr>
        <p:spPr>
          <a:xfrm>
            <a:off x="6487528" y="2306339"/>
            <a:ext cx="3208302" cy="7600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Companies learn your routine and sell it to advertisers, insurers, even stalkers.</a:t>
            </a:r>
            <a:endParaRPr b="0" i="0" sz="1200" u="none" cap="none" strike="noStrike">
              <a:solidFill>
                <a:schemeClr val="dk1"/>
              </a:solidFill>
              <a:latin typeface="Calibri"/>
              <a:ea typeface="Calibri"/>
              <a:cs typeface="Calibri"/>
              <a:sym typeface="Calibri"/>
            </a:endParaRPr>
          </a:p>
        </p:txBody>
      </p:sp>
      <p:sp>
        <p:nvSpPr>
          <p:cNvPr id="94" name="Google Shape;94;p4"/>
          <p:cNvSpPr/>
          <p:nvPr/>
        </p:nvSpPr>
        <p:spPr>
          <a:xfrm>
            <a:off x="6487528" y="3140218"/>
            <a:ext cx="228589" cy="63500"/>
          </a:xfrm>
          <a:prstGeom prst="roundRect">
            <a:avLst>
              <a:gd fmla="val 50000" name="adj"/>
            </a:avLst>
          </a:prstGeom>
          <a:solidFill>
            <a:srgbClr val="B450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6766885" y="3140218"/>
            <a:ext cx="228589" cy="63500"/>
          </a:xfrm>
          <a:prstGeom prst="roundRect">
            <a:avLst>
              <a:gd fmla="val 50000" name="adj"/>
            </a:avLst>
          </a:prstGeom>
          <a:solidFill>
            <a:srgbClr val="B450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7046240" y="3140218"/>
            <a:ext cx="228589" cy="63500"/>
          </a:xfrm>
          <a:prstGeom prst="roundRect">
            <a:avLst>
              <a:gd fmla="val 50000" name="adj"/>
            </a:avLst>
          </a:prstGeom>
          <a:solidFill>
            <a:srgbClr val="B450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7325596" y="3140218"/>
            <a:ext cx="228589" cy="63500"/>
          </a:xfrm>
          <a:prstGeom prst="roundRect">
            <a:avLst>
              <a:gd fmla="val 50000" name="adj"/>
            </a:avLst>
          </a:prstGeom>
          <a:solidFill>
            <a:srgbClr val="DDD8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7604952" y="3140218"/>
            <a:ext cx="228589" cy="63500"/>
          </a:xfrm>
          <a:prstGeom prst="roundRect">
            <a:avLst>
              <a:gd fmla="val 50000" name="adj"/>
            </a:avLst>
          </a:prstGeom>
          <a:solidFill>
            <a:srgbClr val="DDD8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819117" y="3917939"/>
            <a:ext cx="5118067" cy="2133567"/>
          </a:xfrm>
          <a:prstGeom prst="roundRect">
            <a:avLst>
              <a:gd fmla="val 5060" name="adj"/>
            </a:avLst>
          </a:prstGeom>
          <a:solidFill>
            <a:srgbClr val="E6ECF4"/>
          </a:solidFill>
          <a:ln cap="flat" cmpd="sng" w="12700">
            <a:solidFill>
              <a:srgbClr val="1F4F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1051939" y="4125350"/>
            <a:ext cx="3208302" cy="23877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4F82"/>
              </a:buClr>
              <a:buSzPts val="1200"/>
              <a:buFont typeface="IBM Plex Sans"/>
              <a:buNone/>
            </a:pPr>
            <a:r>
              <a:rPr b="1" i="0" lang="en-US" sz="1200" u="none" cap="none" strike="noStrike">
                <a:solidFill>
                  <a:srgbClr val="1F4F82"/>
                </a:solidFill>
                <a:latin typeface="IBM Plex Sans"/>
                <a:ea typeface="IBM Plex Sans"/>
                <a:cs typeface="IBM Plex Sans"/>
                <a:sym typeface="IBM Plex Sans"/>
              </a:rPr>
              <a:t>3 · GOVERNMENT × PREDICT</a:t>
            </a:r>
            <a:endParaRPr b="0" i="0" sz="1200" u="none" cap="none" strike="noStrike">
              <a:solidFill>
                <a:schemeClr val="dk1"/>
              </a:solidFill>
              <a:latin typeface="Calibri"/>
              <a:ea typeface="Calibri"/>
              <a:cs typeface="Calibri"/>
              <a:sym typeface="Calibri"/>
            </a:endParaRPr>
          </a:p>
        </p:txBody>
      </p:sp>
      <p:sp>
        <p:nvSpPr>
          <p:cNvPr id="101" name="Google Shape;101;p4"/>
          <p:cNvSpPr/>
          <p:nvPr/>
        </p:nvSpPr>
        <p:spPr>
          <a:xfrm>
            <a:off x="1051939" y="4497586"/>
            <a:ext cx="3208302" cy="360704"/>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4213D"/>
              </a:buClr>
              <a:buSzPts val="2000"/>
              <a:buFont typeface="Space Grotesk"/>
              <a:buNone/>
            </a:pPr>
            <a:r>
              <a:rPr b="1" i="0" lang="en-US" sz="2000" u="none" cap="none" strike="noStrike">
                <a:solidFill>
                  <a:srgbClr val="14213D"/>
                </a:solidFill>
                <a:latin typeface="Space Grotesk"/>
                <a:ea typeface="Space Grotesk"/>
                <a:cs typeface="Space Grotesk"/>
                <a:sym typeface="Space Grotesk"/>
              </a:rPr>
              <a:t>The Pre-Crime State</a:t>
            </a:r>
            <a:endParaRPr b="0" i="0" sz="2000" u="none" cap="none" strike="noStrike">
              <a:solidFill>
                <a:schemeClr val="dk1"/>
              </a:solidFill>
              <a:latin typeface="Calibri"/>
              <a:ea typeface="Calibri"/>
              <a:cs typeface="Calibri"/>
              <a:sym typeface="Calibri"/>
            </a:endParaRPr>
          </a:p>
        </p:txBody>
      </p:sp>
      <p:sp>
        <p:nvSpPr>
          <p:cNvPr id="102" name="Google Shape;102;p4"/>
          <p:cNvSpPr/>
          <p:nvPr/>
        </p:nvSpPr>
        <p:spPr>
          <a:xfrm>
            <a:off x="1051939" y="4871750"/>
            <a:ext cx="3208302" cy="7600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Police act on risk scores: drones follow flagged people, stops happen without evidence.</a:t>
            </a:r>
            <a:endParaRPr b="0" i="0" sz="1200" u="none" cap="none" strike="noStrike">
              <a:solidFill>
                <a:schemeClr val="dk1"/>
              </a:solidFill>
              <a:latin typeface="Calibri"/>
              <a:ea typeface="Calibri"/>
              <a:cs typeface="Calibri"/>
              <a:sym typeface="Calibri"/>
            </a:endParaRPr>
          </a:p>
        </p:txBody>
      </p:sp>
      <p:sp>
        <p:nvSpPr>
          <p:cNvPr id="103" name="Google Shape;103;p4"/>
          <p:cNvSpPr/>
          <p:nvPr/>
        </p:nvSpPr>
        <p:spPr>
          <a:xfrm>
            <a:off x="1051939" y="5705628"/>
            <a:ext cx="228589" cy="63500"/>
          </a:xfrm>
          <a:prstGeom prst="roundRect">
            <a:avLst>
              <a:gd fmla="val 50000" name="adj"/>
            </a:avLst>
          </a:prstGeom>
          <a:solidFill>
            <a:srgbClr val="B450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1331295" y="5705628"/>
            <a:ext cx="228589" cy="63500"/>
          </a:xfrm>
          <a:prstGeom prst="roundRect">
            <a:avLst>
              <a:gd fmla="val 50000" name="adj"/>
            </a:avLst>
          </a:prstGeom>
          <a:solidFill>
            <a:srgbClr val="B450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1610651" y="5705628"/>
            <a:ext cx="228589" cy="63500"/>
          </a:xfrm>
          <a:prstGeom prst="roundRect">
            <a:avLst>
              <a:gd fmla="val 50000" name="adj"/>
            </a:avLst>
          </a:prstGeom>
          <a:solidFill>
            <a:srgbClr val="B450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1890007" y="5705628"/>
            <a:ext cx="228589" cy="63500"/>
          </a:xfrm>
          <a:prstGeom prst="roundRect">
            <a:avLst>
              <a:gd fmla="val 50000" name="adj"/>
            </a:avLst>
          </a:prstGeom>
          <a:solidFill>
            <a:srgbClr val="B450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2169363" y="5705628"/>
            <a:ext cx="228589" cy="63500"/>
          </a:xfrm>
          <a:prstGeom prst="roundRect">
            <a:avLst>
              <a:gd fmla="val 50000" name="adj"/>
            </a:avLst>
          </a:prstGeom>
          <a:solidFill>
            <a:srgbClr val="C9D3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6254706" y="3917939"/>
            <a:ext cx="5118067" cy="2133567"/>
          </a:xfrm>
          <a:prstGeom prst="roundRect">
            <a:avLst>
              <a:gd fmla="val 5060" name="adj"/>
            </a:avLst>
          </a:prstGeom>
          <a:solidFill>
            <a:srgbClr val="F6E3D6"/>
          </a:solidFill>
          <a:ln cap="flat" cmpd="sng" w="12700">
            <a:solidFill>
              <a:srgbClr val="8A3A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6487528" y="4125350"/>
            <a:ext cx="3208302" cy="23877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3A14"/>
              </a:buClr>
              <a:buSzPts val="1200"/>
              <a:buFont typeface="IBM Plex Sans"/>
              <a:buNone/>
            </a:pPr>
            <a:r>
              <a:rPr b="1" i="0" lang="en-US" sz="1200" u="none" cap="none" strike="noStrike">
                <a:solidFill>
                  <a:srgbClr val="8A3A14"/>
                </a:solidFill>
                <a:latin typeface="IBM Plex Sans"/>
                <a:ea typeface="IBM Plex Sans"/>
                <a:cs typeface="IBM Plex Sans"/>
                <a:sym typeface="IBM Plex Sans"/>
              </a:rPr>
              <a:t>4 · PRIVATE × PREDICT</a:t>
            </a:r>
            <a:endParaRPr b="0" i="0" sz="1200" u="none" cap="none" strike="noStrike">
              <a:solidFill>
                <a:schemeClr val="dk1"/>
              </a:solidFill>
              <a:latin typeface="Calibri"/>
              <a:ea typeface="Calibri"/>
              <a:cs typeface="Calibri"/>
              <a:sym typeface="Calibri"/>
            </a:endParaRPr>
          </a:p>
        </p:txBody>
      </p:sp>
      <p:sp>
        <p:nvSpPr>
          <p:cNvPr id="110" name="Google Shape;110;p4"/>
          <p:cNvSpPr/>
          <p:nvPr/>
        </p:nvSpPr>
        <p:spPr>
          <a:xfrm>
            <a:off x="6487528" y="4497586"/>
            <a:ext cx="3208302" cy="360704"/>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4213D"/>
              </a:buClr>
              <a:buSzPts val="2000"/>
              <a:buFont typeface="Space Grotesk"/>
              <a:buNone/>
            </a:pPr>
            <a:r>
              <a:rPr b="1" i="0" lang="en-US" sz="2000" u="none" cap="none" strike="noStrike">
                <a:solidFill>
                  <a:srgbClr val="14213D"/>
                </a:solidFill>
                <a:latin typeface="Space Grotesk"/>
                <a:ea typeface="Space Grotesk"/>
                <a:cs typeface="Space Grotesk"/>
                <a:sym typeface="Space Grotesk"/>
              </a:rPr>
              <a:t>The Scored Citizen</a:t>
            </a:r>
            <a:endParaRPr b="0" i="0" sz="2000" u="none" cap="none" strike="noStrike">
              <a:solidFill>
                <a:schemeClr val="dk1"/>
              </a:solidFill>
              <a:latin typeface="Calibri"/>
              <a:ea typeface="Calibri"/>
              <a:cs typeface="Calibri"/>
              <a:sym typeface="Calibri"/>
            </a:endParaRPr>
          </a:p>
        </p:txBody>
      </p:sp>
      <p:sp>
        <p:nvSpPr>
          <p:cNvPr id="111" name="Google Shape;111;p4"/>
          <p:cNvSpPr/>
          <p:nvPr/>
        </p:nvSpPr>
        <p:spPr>
          <a:xfrm>
            <a:off x="6487528" y="4871750"/>
            <a:ext cx="3208302" cy="7600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Company scores from chats, faces and purchases decide access and can bring police.</a:t>
            </a:r>
            <a:endParaRPr b="0" i="0" sz="1200" u="none" cap="none" strike="noStrike">
              <a:solidFill>
                <a:schemeClr val="dk1"/>
              </a:solidFill>
              <a:latin typeface="Calibri"/>
              <a:ea typeface="Calibri"/>
              <a:cs typeface="Calibri"/>
              <a:sym typeface="Calibri"/>
            </a:endParaRPr>
          </a:p>
        </p:txBody>
      </p:sp>
      <p:sp>
        <p:nvSpPr>
          <p:cNvPr id="112" name="Google Shape;112;p4"/>
          <p:cNvSpPr/>
          <p:nvPr/>
        </p:nvSpPr>
        <p:spPr>
          <a:xfrm>
            <a:off x="6487528" y="5705628"/>
            <a:ext cx="228589" cy="63500"/>
          </a:xfrm>
          <a:prstGeom prst="roundRect">
            <a:avLst>
              <a:gd fmla="val 50000" name="adj"/>
            </a:avLst>
          </a:prstGeom>
          <a:solidFill>
            <a:srgbClr val="B450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6766885" y="5705628"/>
            <a:ext cx="228589" cy="63500"/>
          </a:xfrm>
          <a:prstGeom prst="roundRect">
            <a:avLst>
              <a:gd fmla="val 50000" name="adj"/>
            </a:avLst>
          </a:prstGeom>
          <a:solidFill>
            <a:srgbClr val="B450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7046240" y="5705628"/>
            <a:ext cx="228589" cy="63500"/>
          </a:xfrm>
          <a:prstGeom prst="roundRect">
            <a:avLst>
              <a:gd fmla="val 50000" name="adj"/>
            </a:avLst>
          </a:prstGeom>
          <a:solidFill>
            <a:srgbClr val="B450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7325596" y="5705628"/>
            <a:ext cx="228589" cy="63500"/>
          </a:xfrm>
          <a:prstGeom prst="roundRect">
            <a:avLst>
              <a:gd fmla="val 50000" name="adj"/>
            </a:avLst>
          </a:prstGeom>
          <a:solidFill>
            <a:srgbClr val="B450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7604952" y="5705628"/>
            <a:ext cx="228589" cy="63500"/>
          </a:xfrm>
          <a:prstGeom prst="roundRect">
            <a:avLst>
              <a:gd fmla="val 50000" name="adj"/>
            </a:avLst>
          </a:prstGeom>
          <a:solidFill>
            <a:srgbClr val="B450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4318000" y="952500"/>
            <a:ext cx="3556000" cy="314909"/>
          </a:xfrm>
          <a:prstGeom prst="roundRect">
            <a:avLst>
              <a:gd fmla="val 48395" name="adj"/>
            </a:avLst>
          </a:pr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4395470" y="1003300"/>
            <a:ext cx="3401060" cy="238709"/>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F6F4EF"/>
              </a:buClr>
              <a:buSzPts val="1200"/>
              <a:buFont typeface="IBM Plex Sans"/>
              <a:buNone/>
            </a:pPr>
            <a:r>
              <a:rPr b="1" i="0" lang="en-US" sz="1200" u="none" cap="none" strike="noStrike">
                <a:solidFill>
                  <a:srgbClr val="F6F4EF"/>
                </a:solidFill>
                <a:latin typeface="IBM Plex Sans"/>
                <a:ea typeface="IBM Plex Sans"/>
                <a:cs typeface="IBM Plex Sans"/>
                <a:sym typeface="IBM Plex Sans"/>
              </a:rPr>
              <a:t>▲ USED TO ENFORCE · AFTER</a:t>
            </a:r>
            <a:endParaRPr b="0" i="0" sz="1200" u="none" cap="none" strike="noStrike">
              <a:solidFill>
                <a:schemeClr val="dk1"/>
              </a:solidFill>
              <a:latin typeface="Calibri"/>
              <a:ea typeface="Calibri"/>
              <a:cs typeface="Calibri"/>
              <a:sym typeface="Calibri"/>
            </a:endParaRPr>
          </a:p>
        </p:txBody>
      </p:sp>
      <p:sp>
        <p:nvSpPr>
          <p:cNvPr id="119" name="Google Shape;119;p4"/>
          <p:cNvSpPr/>
          <p:nvPr/>
        </p:nvSpPr>
        <p:spPr>
          <a:xfrm>
            <a:off x="4318000" y="6146767"/>
            <a:ext cx="3556000" cy="314909"/>
          </a:xfrm>
          <a:prstGeom prst="roundRect">
            <a:avLst>
              <a:gd fmla="val 48395" name="adj"/>
            </a:avLst>
          </a:pr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4395470" y="6197567"/>
            <a:ext cx="3401060" cy="238709"/>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F6F4EF"/>
              </a:buClr>
              <a:buSzPts val="1200"/>
              <a:buFont typeface="IBM Plex Sans"/>
              <a:buNone/>
            </a:pPr>
            <a:r>
              <a:rPr b="1" i="0" lang="en-US" sz="1200" u="none" cap="none" strike="noStrike">
                <a:solidFill>
                  <a:srgbClr val="F6F4EF"/>
                </a:solidFill>
                <a:latin typeface="IBM Plex Sans"/>
                <a:ea typeface="IBM Plex Sans"/>
                <a:cs typeface="IBM Plex Sans"/>
                <a:sym typeface="IBM Plex Sans"/>
              </a:rPr>
              <a:t>▼ USED TO PREDICT · BEFORE</a:t>
            </a:r>
            <a:endParaRPr b="0" i="0" sz="1200" u="none" cap="none" strike="noStrike">
              <a:solidFill>
                <a:schemeClr val="dk1"/>
              </a:solidFill>
              <a:latin typeface="Calibri"/>
              <a:ea typeface="Calibri"/>
              <a:cs typeface="Calibri"/>
              <a:sym typeface="Calibri"/>
            </a:endParaRPr>
          </a:p>
        </p:txBody>
      </p:sp>
      <p:sp>
        <p:nvSpPr>
          <p:cNvPr id="121" name="Google Shape;121;p4"/>
          <p:cNvSpPr/>
          <p:nvPr/>
        </p:nvSpPr>
        <p:spPr>
          <a:xfrm>
            <a:off x="812767" y="3556000"/>
            <a:ext cx="2159000" cy="314909"/>
          </a:xfrm>
          <a:prstGeom prst="roundRect">
            <a:avLst>
              <a:gd fmla="val 48395" name="adj"/>
            </a:avLst>
          </a:prstGeom>
          <a:solidFill>
            <a:srgbClr val="2F6F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911192" y="3606800"/>
            <a:ext cx="1962150" cy="238709"/>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F6F4EF"/>
              </a:buClr>
              <a:buSzPts val="1200"/>
              <a:buFont typeface="IBM Plex Sans"/>
              <a:buNone/>
            </a:pPr>
            <a:r>
              <a:rPr b="1" i="0" lang="en-US" sz="1200" u="none" cap="none" strike="noStrike">
                <a:solidFill>
                  <a:srgbClr val="F6F4EF"/>
                </a:solidFill>
                <a:latin typeface="IBM Plex Sans"/>
                <a:ea typeface="IBM Plex Sans"/>
                <a:cs typeface="IBM Plex Sans"/>
                <a:sym typeface="IBM Plex Sans"/>
              </a:rPr>
              <a:t>◀ GOVERNMENT</a:t>
            </a:r>
            <a:endParaRPr b="0" i="0" sz="1200" u="none" cap="none" strike="noStrike">
              <a:solidFill>
                <a:schemeClr val="dk1"/>
              </a:solidFill>
              <a:latin typeface="Calibri"/>
              <a:ea typeface="Calibri"/>
              <a:cs typeface="Calibri"/>
              <a:sym typeface="Calibri"/>
            </a:endParaRPr>
          </a:p>
        </p:txBody>
      </p:sp>
      <p:sp>
        <p:nvSpPr>
          <p:cNvPr id="123" name="Google Shape;123;p4"/>
          <p:cNvSpPr/>
          <p:nvPr/>
        </p:nvSpPr>
        <p:spPr>
          <a:xfrm>
            <a:off x="9220178" y="3556000"/>
            <a:ext cx="2159000" cy="314909"/>
          </a:xfrm>
          <a:prstGeom prst="roundRect">
            <a:avLst>
              <a:gd fmla="val 48395" name="adj"/>
            </a:avLst>
          </a:prstGeom>
          <a:solidFill>
            <a:srgbClr val="F299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9318603" y="3606800"/>
            <a:ext cx="1962150" cy="238709"/>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14213D"/>
              </a:buClr>
              <a:buSzPts val="1200"/>
              <a:buFont typeface="IBM Plex Sans"/>
              <a:buNone/>
            </a:pPr>
            <a:r>
              <a:rPr b="1" i="0" lang="en-US" sz="1200" u="none" cap="none" strike="noStrike">
                <a:solidFill>
                  <a:srgbClr val="14213D"/>
                </a:solidFill>
                <a:latin typeface="IBM Plex Sans"/>
                <a:ea typeface="IBM Plex Sans"/>
                <a:cs typeface="IBM Plex Sans"/>
                <a:sym typeface="IBM Plex Sans"/>
              </a:rPr>
              <a:t>PRIVATE ▶</a:t>
            </a:r>
            <a:endParaRPr b="0" i="0" sz="1200" u="none" cap="none" strike="noStrike">
              <a:solidFill>
                <a:schemeClr val="dk1"/>
              </a:solidFill>
              <a:latin typeface="Calibri"/>
              <a:ea typeface="Calibri"/>
              <a:cs typeface="Calibri"/>
              <a:sym typeface="Calibri"/>
            </a:endParaRPr>
          </a:p>
        </p:txBody>
      </p:sp>
      <p:pic>
        <p:nvPicPr>
          <p:cNvPr id="901" name="Scenario 1 illustration" descr="Street camera watching a car, with a timestamped evidence file"/>
          <p:cNvPicPr>
            <a:picLocks noChangeAspect="1"/>
          </p:cNvPicPr>
          <p:nvPr/>
        </p:nvPicPr>
        <p:blipFill>
          <a:blip r:embed="rId5"/>
          <a:stretch>
            <a:fillRect/>
          </a:stretch>
        </p:blipFill>
        <p:spPr>
          <a:xfrm>
            <a:off x="4420401" y="1769310"/>
            <a:ext cx="1300000" cy="1300000"/>
          </a:xfrm>
          <a:prstGeom prst="rect">
            <a:avLst/>
          </a:prstGeom>
        </p:spPr>
      </p:pic>
      <p:pic>
        <p:nvPicPr>
          <p:cNvPr id="902" name="Scenario 2 illustration" descr="Phone showing a tracked route, with a price tag selling it to advertisers, insurers and stalkers"/>
          <p:cNvPicPr>
            <a:picLocks noChangeAspect="1"/>
          </p:cNvPicPr>
          <p:nvPr/>
        </p:nvPicPr>
        <p:blipFill>
          <a:blip r:embed="rId6"/>
          <a:stretch>
            <a:fillRect/>
          </a:stretch>
        </p:blipFill>
        <p:spPr>
          <a:xfrm>
            <a:off x="9855990" y="1769310"/>
            <a:ext cx="1300000" cy="1300000"/>
          </a:xfrm>
          <a:prstGeom prst="rect">
            <a:avLst/>
          </a:prstGeom>
        </p:spPr>
      </p:pic>
      <p:pic>
        <p:nvPicPr>
          <p:cNvPr id="903" name="Scenario 3 illustration" descr="Drone over a city grid, targeting a person in a block flagged as high risk"/>
          <p:cNvPicPr>
            <a:picLocks noChangeAspect="1"/>
          </p:cNvPicPr>
          <p:nvPr/>
        </p:nvPicPr>
        <p:blipFill>
          <a:blip r:embed="rId7"/>
          <a:stretch>
            <a:fillRect/>
          </a:stretch>
        </p:blipFill>
        <p:spPr>
          <a:xfrm>
            <a:off x="4420401" y="4334722"/>
            <a:ext cx="1300000" cy="1300000"/>
          </a:xfrm>
          <a:prstGeom prst="rect">
            <a:avLst/>
          </a:prstGeom>
        </p:spPr>
      </p:pic>
      <p:pic>
        <p:nvPicPr>
          <p:cNvPr id="904" name="Scenario 4 illustration" descr="Face scan of a person beside a low score gauge fed by chats and purchases"/>
          <p:cNvPicPr>
            <a:picLocks noChangeAspect="1"/>
          </p:cNvPicPr>
          <p:nvPr/>
        </p:nvPicPr>
        <p:blipFill>
          <a:blip r:embed="rId8"/>
          <a:stretch>
            <a:fillRect/>
          </a:stretch>
        </p:blipFill>
        <p:spPr>
          <a:xfrm>
            <a:off x="9855990" y="4334722"/>
            <a:ext cx="1300000" cy="130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6F4EF"/>
        </a:solidFill>
      </p:bgPr>
    </p:bg>
    <p:spTree>
      <p:nvGrpSpPr>
        <p:cNvPr id="129" name="Shape 129"/>
        <p:cNvGrpSpPr/>
        <p:nvPr/>
      </p:nvGrpSpPr>
      <p:grpSpPr>
        <a:xfrm>
          <a:off x="0" y="0"/>
          <a:ext cx="0" cy="0"/>
          <a:chOff x="0" y="0"/>
          <a:chExt cx="0" cy="0"/>
        </a:xfrm>
      </p:grpSpPr>
      <p:sp>
        <p:nvSpPr>
          <p:cNvPr id="130" name="Google Shape;130;p5"/>
          <p:cNvSpPr/>
          <p:nvPr/>
        </p:nvSpPr>
        <p:spPr>
          <a:xfrm>
            <a:off x="330550" y="3780300"/>
            <a:ext cx="1558500" cy="619800"/>
          </a:xfrm>
          <a:prstGeom prst="roundRect">
            <a:avLst>
              <a:gd fmla="val 5502"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321650" y="4871950"/>
            <a:ext cx="1558500" cy="619800"/>
          </a:xfrm>
          <a:prstGeom prst="roundRect">
            <a:avLst>
              <a:gd fmla="val 5502"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812767" y="558769"/>
            <a:ext cx="10883461" cy="226373"/>
          </a:xfrm>
          <a:prstGeom prst="rect">
            <a:avLst/>
          </a:prstGeom>
          <a:noFill/>
          <a:ln>
            <a:noFill/>
          </a:ln>
        </p:spPr>
        <p:txBody>
          <a:bodyPr anchorCtr="0" anchor="t" bIns="0" lIns="0" spcFirstLastPara="1" rIns="0" wrap="square" tIns="0">
            <a:normAutofit/>
          </a:bodyPr>
          <a:lstStyle/>
          <a:p>
            <a:pPr indent="0" lvl="0" marL="0" marR="0" rtl="0" algn="l">
              <a:lnSpc>
                <a:spcPct val="139948"/>
              </a:lnSpc>
              <a:spcBef>
                <a:spcPts val="0"/>
              </a:spcBef>
              <a:spcAft>
                <a:spcPts val="0"/>
              </a:spcAft>
              <a:buClr>
                <a:srgbClr val="B4501F"/>
              </a:buClr>
              <a:buSzPts val="1159"/>
              <a:buFont typeface="IBM Plex Sans"/>
              <a:buNone/>
            </a:pPr>
            <a:r>
              <a:rPr b="1" i="0" lang="en-US" sz="1159" u="none" cap="none" strike="noStrike">
                <a:solidFill>
                  <a:srgbClr val="B4501F"/>
                </a:solidFill>
                <a:latin typeface="IBM Plex Sans"/>
                <a:ea typeface="IBM Plex Sans"/>
                <a:cs typeface="IBM Plex Sans"/>
                <a:sym typeface="IBM Plex Sans"/>
              </a:rPr>
              <a:t>SCENARIO ANALYSIS · FOUR FUTURES SIDE BY SIDE</a:t>
            </a:r>
            <a:endParaRPr b="0" i="0" sz="1159" u="none" cap="none" strike="noStrike">
              <a:solidFill>
                <a:schemeClr val="dk1"/>
              </a:solidFill>
              <a:latin typeface="Calibri"/>
              <a:ea typeface="Calibri"/>
              <a:cs typeface="Calibri"/>
              <a:sym typeface="Calibri"/>
            </a:endParaRPr>
          </a:p>
        </p:txBody>
      </p:sp>
      <p:sp>
        <p:nvSpPr>
          <p:cNvPr id="133" name="Google Shape;133;p5"/>
          <p:cNvSpPr/>
          <p:nvPr/>
        </p:nvSpPr>
        <p:spPr>
          <a:xfrm>
            <a:off x="812767" y="912096"/>
            <a:ext cx="10883461" cy="367539"/>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4213D"/>
              </a:buClr>
              <a:buSzPts val="2470"/>
              <a:buFont typeface="Space Grotesk"/>
              <a:buNone/>
            </a:pPr>
            <a:r>
              <a:rPr b="1" i="0" lang="en-US" sz="2470" u="none" cap="none" strike="noStrike">
                <a:solidFill>
                  <a:srgbClr val="14213D"/>
                </a:solidFill>
                <a:latin typeface="Space Grotesk"/>
                <a:ea typeface="Space Grotesk"/>
                <a:cs typeface="Space Grotesk"/>
                <a:sym typeface="Space Grotesk"/>
              </a:rPr>
              <a:t>The further down and right, the less power you have</a:t>
            </a:r>
            <a:endParaRPr b="0" i="0" sz="2470" u="none" cap="none" strike="noStrike">
              <a:solidFill>
                <a:schemeClr val="dk1"/>
              </a:solidFill>
              <a:latin typeface="Calibri"/>
              <a:ea typeface="Calibri"/>
              <a:cs typeface="Calibri"/>
              <a:sym typeface="Calibri"/>
            </a:endParaRPr>
          </a:p>
        </p:txBody>
      </p:sp>
      <p:sp>
        <p:nvSpPr>
          <p:cNvPr id="134" name="Google Shape;134;p5"/>
          <p:cNvSpPr/>
          <p:nvPr/>
        </p:nvSpPr>
        <p:spPr>
          <a:xfrm>
            <a:off x="2192475" y="1406575"/>
            <a:ext cx="2227263" cy="860943"/>
          </a:xfrm>
          <a:custGeom>
            <a:rect b="b" l="l" r="r" t="t"/>
            <a:pathLst>
              <a:path extrusionOk="0" h="860943" w="1460500">
                <a:moveTo>
                  <a:pt x="63500" y="0"/>
                </a:moveTo>
                <a:lnTo>
                  <a:pt x="1397000" y="0"/>
                </a:lnTo>
                <a:cubicBezTo>
                  <a:pt x="1413841" y="0"/>
                  <a:pt x="1429993" y="6690"/>
                  <a:pt x="1441901" y="18599"/>
                </a:cubicBezTo>
                <a:cubicBezTo>
                  <a:pt x="1453810" y="30507"/>
                  <a:pt x="1460500" y="46659"/>
                  <a:pt x="1460500" y="63500"/>
                </a:cubicBezTo>
                <a:lnTo>
                  <a:pt x="1460500" y="860943"/>
                </a:lnTo>
                <a:lnTo>
                  <a:pt x="0" y="860943"/>
                </a:lnTo>
                <a:lnTo>
                  <a:pt x="0" y="63500"/>
                </a:lnTo>
                <a:cubicBezTo>
                  <a:pt x="0" y="28430"/>
                  <a:pt x="28430" y="0"/>
                  <a:pt x="63500" y="0"/>
                </a:cubicBezTo>
                <a:close/>
              </a:path>
            </a:pathLst>
          </a:custGeom>
          <a:solidFill>
            <a:srgbClr val="2F6F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p:nvPr/>
        </p:nvSpPr>
        <p:spPr>
          <a:xfrm>
            <a:off x="2386248" y="1508162"/>
            <a:ext cx="1918200" cy="23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4E9F1"/>
              </a:buClr>
              <a:buSzPts val="1200"/>
              <a:buFont typeface="IBM Plex Sans"/>
              <a:buNone/>
            </a:pPr>
            <a:r>
              <a:rPr b="0" i="0" lang="en-US" sz="1200" u="none" cap="none" strike="noStrike">
                <a:solidFill>
                  <a:srgbClr val="E4E9F1"/>
                </a:solidFill>
                <a:latin typeface="IBM Plex Sans"/>
                <a:ea typeface="IBM Plex Sans"/>
                <a:cs typeface="IBM Plex Sans"/>
                <a:sym typeface="IBM Plex Sans"/>
              </a:rPr>
              <a:t>1 · Gov · Enforce</a:t>
            </a:r>
            <a:endParaRPr b="0" i="0" sz="1200" u="none" cap="none" strike="noStrike">
              <a:solidFill>
                <a:schemeClr val="dk1"/>
              </a:solidFill>
              <a:latin typeface="Calibri"/>
              <a:ea typeface="Calibri"/>
              <a:cs typeface="Calibri"/>
              <a:sym typeface="Calibri"/>
            </a:endParaRPr>
          </a:p>
        </p:txBody>
      </p:sp>
      <p:sp>
        <p:nvSpPr>
          <p:cNvPr id="136" name="Google Shape;136;p5"/>
          <p:cNvSpPr/>
          <p:nvPr/>
        </p:nvSpPr>
        <p:spPr>
          <a:xfrm>
            <a:off x="2386248" y="1746894"/>
            <a:ext cx="1918200" cy="4443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6F4EF"/>
              </a:buClr>
              <a:buSzPts val="1500"/>
              <a:buFont typeface="Space Grotesk"/>
              <a:buNone/>
            </a:pPr>
            <a:r>
              <a:rPr b="1" i="0" lang="en-US" sz="1500" u="none" cap="none" strike="noStrike">
                <a:solidFill>
                  <a:srgbClr val="F6F4EF"/>
                </a:solidFill>
                <a:latin typeface="Space Grotesk"/>
                <a:ea typeface="Space Grotesk"/>
                <a:cs typeface="Space Grotesk"/>
                <a:sym typeface="Space Grotesk"/>
              </a:rPr>
              <a:t>The Digital Witness</a:t>
            </a:r>
            <a:endParaRPr b="0" i="0" sz="1500" u="none" cap="none" strike="noStrike">
              <a:solidFill>
                <a:schemeClr val="dk1"/>
              </a:solidFill>
              <a:latin typeface="Calibri"/>
              <a:ea typeface="Calibri"/>
              <a:cs typeface="Calibri"/>
              <a:sym typeface="Calibri"/>
            </a:endParaRPr>
          </a:p>
        </p:txBody>
      </p:sp>
      <p:sp>
        <p:nvSpPr>
          <p:cNvPr id="137" name="Google Shape;137;p5"/>
          <p:cNvSpPr/>
          <p:nvPr/>
        </p:nvSpPr>
        <p:spPr>
          <a:xfrm>
            <a:off x="4602784" y="1406568"/>
            <a:ext cx="2225697" cy="860943"/>
          </a:xfrm>
          <a:custGeom>
            <a:rect b="b" l="l" r="r" t="t"/>
            <a:pathLst>
              <a:path extrusionOk="0" h="860943" w="2225697">
                <a:moveTo>
                  <a:pt x="63500" y="0"/>
                </a:moveTo>
                <a:lnTo>
                  <a:pt x="2162197" y="0"/>
                </a:lnTo>
                <a:cubicBezTo>
                  <a:pt x="2179038" y="0"/>
                  <a:pt x="2195190" y="6690"/>
                  <a:pt x="2207098" y="18599"/>
                </a:cubicBezTo>
                <a:cubicBezTo>
                  <a:pt x="2219007" y="30507"/>
                  <a:pt x="2225697" y="46659"/>
                  <a:pt x="2225697" y="63500"/>
                </a:cubicBezTo>
                <a:lnTo>
                  <a:pt x="2225697" y="860943"/>
                </a:lnTo>
                <a:lnTo>
                  <a:pt x="0" y="860943"/>
                </a:lnTo>
                <a:lnTo>
                  <a:pt x="0" y="63500"/>
                </a:lnTo>
                <a:cubicBezTo>
                  <a:pt x="0" y="28430"/>
                  <a:pt x="28430" y="0"/>
                  <a:pt x="63500" y="0"/>
                </a:cubicBezTo>
                <a:close/>
              </a:path>
            </a:pathLst>
          </a:custGeom>
          <a:solidFill>
            <a:srgbClr val="B450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p:nvPr/>
        </p:nvSpPr>
        <p:spPr>
          <a:xfrm>
            <a:off x="4729784" y="1508156"/>
            <a:ext cx="2030700" cy="23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6E3D6"/>
              </a:buClr>
              <a:buSzPts val="1200"/>
              <a:buFont typeface="IBM Plex Sans"/>
              <a:buNone/>
            </a:pPr>
            <a:r>
              <a:rPr b="0" i="0" lang="en-US" sz="1200" u="none" cap="none" strike="noStrike">
                <a:solidFill>
                  <a:srgbClr val="F6E3D6"/>
                </a:solidFill>
                <a:latin typeface="IBM Plex Sans"/>
                <a:ea typeface="IBM Plex Sans"/>
                <a:cs typeface="IBM Plex Sans"/>
                <a:sym typeface="IBM Plex Sans"/>
              </a:rPr>
              <a:t>2 · Private · Enforce</a:t>
            </a:r>
            <a:endParaRPr b="0" i="0" sz="1200" u="none" cap="none" strike="noStrike">
              <a:solidFill>
                <a:schemeClr val="dk1"/>
              </a:solidFill>
              <a:latin typeface="Calibri"/>
              <a:ea typeface="Calibri"/>
              <a:cs typeface="Calibri"/>
              <a:sym typeface="Calibri"/>
            </a:endParaRPr>
          </a:p>
        </p:txBody>
      </p:sp>
      <p:sp>
        <p:nvSpPr>
          <p:cNvPr id="139" name="Google Shape;139;p5"/>
          <p:cNvSpPr/>
          <p:nvPr/>
        </p:nvSpPr>
        <p:spPr>
          <a:xfrm>
            <a:off x="4729784" y="1746889"/>
            <a:ext cx="2030700" cy="2349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6F4EF"/>
              </a:buClr>
              <a:buSzPts val="1500"/>
              <a:buFont typeface="Space Grotesk"/>
              <a:buNone/>
            </a:pPr>
            <a:r>
              <a:rPr b="1" i="0" lang="en-US" sz="1500" u="none" cap="none" strike="noStrike">
                <a:solidFill>
                  <a:srgbClr val="F6F4EF"/>
                </a:solidFill>
                <a:latin typeface="Space Grotesk"/>
                <a:ea typeface="Space Grotesk"/>
                <a:cs typeface="Space Grotesk"/>
                <a:sym typeface="Space Grotesk"/>
              </a:rPr>
              <a:t>Your Routine for Sale</a:t>
            </a:r>
            <a:endParaRPr b="0" i="0" sz="1500" u="none" cap="none" strike="noStrike">
              <a:solidFill>
                <a:schemeClr val="dk1"/>
              </a:solidFill>
              <a:latin typeface="Calibri"/>
              <a:ea typeface="Calibri"/>
              <a:cs typeface="Calibri"/>
              <a:sym typeface="Calibri"/>
            </a:endParaRPr>
          </a:p>
        </p:txBody>
      </p:sp>
      <p:sp>
        <p:nvSpPr>
          <p:cNvPr id="140" name="Google Shape;140;p5"/>
          <p:cNvSpPr/>
          <p:nvPr/>
        </p:nvSpPr>
        <p:spPr>
          <a:xfrm>
            <a:off x="7070498" y="1406568"/>
            <a:ext cx="2225752" cy="860943"/>
          </a:xfrm>
          <a:custGeom>
            <a:rect b="b" l="l" r="r" t="t"/>
            <a:pathLst>
              <a:path extrusionOk="0" h="860943" w="2225752">
                <a:moveTo>
                  <a:pt x="63500" y="0"/>
                </a:moveTo>
                <a:lnTo>
                  <a:pt x="2162252" y="0"/>
                </a:lnTo>
                <a:cubicBezTo>
                  <a:pt x="2179093" y="0"/>
                  <a:pt x="2195245" y="6690"/>
                  <a:pt x="2207153" y="18599"/>
                </a:cubicBezTo>
                <a:cubicBezTo>
                  <a:pt x="2219062" y="30507"/>
                  <a:pt x="2225752" y="46659"/>
                  <a:pt x="2225752" y="63500"/>
                </a:cubicBezTo>
                <a:lnTo>
                  <a:pt x="2225752" y="860943"/>
                </a:lnTo>
                <a:lnTo>
                  <a:pt x="0" y="860943"/>
                </a:lnTo>
                <a:lnTo>
                  <a:pt x="0" y="63500"/>
                </a:lnTo>
                <a:cubicBezTo>
                  <a:pt x="0" y="28430"/>
                  <a:pt x="28430" y="0"/>
                  <a:pt x="63500" y="0"/>
                </a:cubicBezTo>
                <a:close/>
              </a:path>
            </a:pathLst>
          </a:custGeom>
          <a:solidFill>
            <a:srgbClr val="1F4F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7197498" y="1508156"/>
            <a:ext cx="2031000" cy="23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4E9F1"/>
              </a:buClr>
              <a:buSzPts val="1200"/>
              <a:buFont typeface="IBM Plex Sans"/>
              <a:buNone/>
            </a:pPr>
            <a:r>
              <a:rPr b="0" i="0" lang="en-US" sz="1200" u="none" cap="none" strike="noStrike">
                <a:solidFill>
                  <a:srgbClr val="E4E9F1"/>
                </a:solidFill>
                <a:latin typeface="IBM Plex Sans"/>
                <a:ea typeface="IBM Plex Sans"/>
                <a:cs typeface="IBM Plex Sans"/>
                <a:sym typeface="IBM Plex Sans"/>
              </a:rPr>
              <a:t>3 · Gov · Predict</a:t>
            </a:r>
            <a:endParaRPr b="0" i="0" sz="1200" u="none" cap="none" strike="noStrike">
              <a:solidFill>
                <a:schemeClr val="dk1"/>
              </a:solidFill>
              <a:latin typeface="Calibri"/>
              <a:ea typeface="Calibri"/>
              <a:cs typeface="Calibri"/>
              <a:sym typeface="Calibri"/>
            </a:endParaRPr>
          </a:p>
        </p:txBody>
      </p:sp>
      <p:sp>
        <p:nvSpPr>
          <p:cNvPr id="142" name="Google Shape;142;p5"/>
          <p:cNvSpPr/>
          <p:nvPr/>
        </p:nvSpPr>
        <p:spPr>
          <a:xfrm>
            <a:off x="7197498" y="1746889"/>
            <a:ext cx="2031000" cy="2349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6F4EF"/>
              </a:buClr>
              <a:buSzPts val="1500"/>
              <a:buFont typeface="Space Grotesk"/>
              <a:buNone/>
            </a:pPr>
            <a:r>
              <a:rPr b="1" i="0" lang="en-US" sz="1500" u="none" cap="none" strike="noStrike">
                <a:solidFill>
                  <a:srgbClr val="F6F4EF"/>
                </a:solidFill>
                <a:latin typeface="Space Grotesk"/>
                <a:ea typeface="Space Grotesk"/>
                <a:cs typeface="Space Grotesk"/>
                <a:sym typeface="Space Grotesk"/>
              </a:rPr>
              <a:t>The Pre-Crime State</a:t>
            </a:r>
            <a:endParaRPr b="0" i="0" sz="1500" u="none" cap="none" strike="noStrike">
              <a:solidFill>
                <a:schemeClr val="dk1"/>
              </a:solidFill>
              <a:latin typeface="Calibri"/>
              <a:ea typeface="Calibri"/>
              <a:cs typeface="Calibri"/>
              <a:sym typeface="Calibri"/>
            </a:endParaRPr>
          </a:p>
        </p:txBody>
      </p:sp>
      <p:sp>
        <p:nvSpPr>
          <p:cNvPr id="143" name="Google Shape;143;p5"/>
          <p:cNvSpPr/>
          <p:nvPr/>
        </p:nvSpPr>
        <p:spPr>
          <a:xfrm>
            <a:off x="9470517" y="1406593"/>
            <a:ext cx="2225697" cy="860943"/>
          </a:xfrm>
          <a:custGeom>
            <a:rect b="b" l="l" r="r" t="t"/>
            <a:pathLst>
              <a:path extrusionOk="0" h="860943" w="2225697">
                <a:moveTo>
                  <a:pt x="63500" y="0"/>
                </a:moveTo>
                <a:lnTo>
                  <a:pt x="2162197" y="0"/>
                </a:lnTo>
                <a:cubicBezTo>
                  <a:pt x="2179038" y="0"/>
                  <a:pt x="2195190" y="6690"/>
                  <a:pt x="2207098" y="18599"/>
                </a:cubicBezTo>
                <a:cubicBezTo>
                  <a:pt x="2219007" y="30507"/>
                  <a:pt x="2225697" y="46659"/>
                  <a:pt x="2225697" y="63500"/>
                </a:cubicBezTo>
                <a:lnTo>
                  <a:pt x="2225697" y="860943"/>
                </a:lnTo>
                <a:lnTo>
                  <a:pt x="0" y="860943"/>
                </a:lnTo>
                <a:lnTo>
                  <a:pt x="0" y="63500"/>
                </a:lnTo>
                <a:cubicBezTo>
                  <a:pt x="0" y="28430"/>
                  <a:pt x="28430" y="0"/>
                  <a:pt x="63500" y="0"/>
                </a:cubicBezTo>
                <a:close/>
              </a:path>
            </a:pathLst>
          </a:custGeom>
          <a:solidFill>
            <a:srgbClr val="8A3A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9597517" y="1508181"/>
            <a:ext cx="2030700" cy="23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6E3D6"/>
              </a:buClr>
              <a:buSzPts val="1200"/>
              <a:buFont typeface="IBM Plex Sans"/>
              <a:buNone/>
            </a:pPr>
            <a:r>
              <a:rPr b="0" i="0" lang="en-US" sz="1200" u="none" cap="none" strike="noStrike">
                <a:solidFill>
                  <a:srgbClr val="F6E3D6"/>
                </a:solidFill>
                <a:latin typeface="IBM Plex Sans"/>
                <a:ea typeface="IBM Plex Sans"/>
                <a:cs typeface="IBM Plex Sans"/>
                <a:sym typeface="IBM Plex Sans"/>
              </a:rPr>
              <a:t>4 · Private · Predict</a:t>
            </a:r>
            <a:endParaRPr b="0" i="0" sz="1200" u="none" cap="none" strike="noStrike">
              <a:solidFill>
                <a:schemeClr val="dk1"/>
              </a:solidFill>
              <a:latin typeface="Calibri"/>
              <a:ea typeface="Calibri"/>
              <a:cs typeface="Calibri"/>
              <a:sym typeface="Calibri"/>
            </a:endParaRPr>
          </a:p>
        </p:txBody>
      </p:sp>
      <p:sp>
        <p:nvSpPr>
          <p:cNvPr id="145" name="Google Shape;145;p5"/>
          <p:cNvSpPr/>
          <p:nvPr/>
        </p:nvSpPr>
        <p:spPr>
          <a:xfrm>
            <a:off x="9597517" y="1746914"/>
            <a:ext cx="2030700" cy="2349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6F4EF"/>
              </a:buClr>
              <a:buSzPts val="1500"/>
              <a:buFont typeface="Space Grotesk"/>
              <a:buNone/>
            </a:pPr>
            <a:r>
              <a:rPr b="1" i="0" lang="en-US" sz="1500" u="none" cap="none" strike="noStrike">
                <a:solidFill>
                  <a:srgbClr val="F6F4EF"/>
                </a:solidFill>
                <a:latin typeface="Space Grotesk"/>
                <a:ea typeface="Space Grotesk"/>
                <a:cs typeface="Space Grotesk"/>
                <a:sym typeface="Space Grotesk"/>
              </a:rPr>
              <a:t>The Scored Citizen</a:t>
            </a:r>
            <a:endParaRPr b="0" i="0" sz="1500" u="none" cap="none" strike="noStrike">
              <a:solidFill>
                <a:schemeClr val="dk1"/>
              </a:solidFill>
              <a:latin typeface="Calibri"/>
              <a:ea typeface="Calibri"/>
              <a:cs typeface="Calibri"/>
              <a:sym typeface="Calibri"/>
            </a:endParaRPr>
          </a:p>
        </p:txBody>
      </p:sp>
      <p:sp>
        <p:nvSpPr>
          <p:cNvPr id="146" name="Google Shape;146;p5"/>
          <p:cNvSpPr/>
          <p:nvPr/>
        </p:nvSpPr>
        <p:spPr>
          <a:xfrm>
            <a:off x="2197319" y="2321454"/>
            <a:ext cx="2218800" cy="1147800"/>
          </a:xfrm>
          <a:prstGeom prst="rect">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2391631" y="2423394"/>
            <a:ext cx="1907700" cy="969300"/>
          </a:xfrm>
          <a:prstGeom prst="rect">
            <a:avLst/>
          </a:prstGeom>
          <a:noFill/>
          <a:ln>
            <a:noFill/>
          </a:ln>
        </p:spPr>
        <p:txBody>
          <a:bodyPr anchorCtr="0" anchor="t" bIns="0" lIns="0" spcFirstLastPara="1" rIns="0" wrap="square" tIns="0">
            <a:normAutofit/>
          </a:bodyPr>
          <a:lstStyle/>
          <a:p>
            <a:pPr indent="0" lvl="0" marL="0" marR="0" rtl="0" algn="l">
              <a:lnSpc>
                <a:spcPct val="129965"/>
              </a:lnSpc>
              <a:spcBef>
                <a:spcPts val="0"/>
              </a:spcBef>
              <a:spcAft>
                <a:spcPts val="0"/>
              </a:spcAft>
              <a:buClr>
                <a:srgbClr val="3D4656"/>
              </a:buClr>
              <a:buSzPts val="1148"/>
              <a:buFont typeface="IBM Plex Sans"/>
              <a:buNone/>
            </a:pPr>
            <a:r>
              <a:rPr b="0" i="0" lang="en-US" sz="1148" u="none" cap="none" strike="noStrike">
                <a:solidFill>
                  <a:srgbClr val="3D4656"/>
                </a:solidFill>
                <a:latin typeface="IBM Plex Sans"/>
                <a:ea typeface="IBM Plex Sans"/>
                <a:cs typeface="IBM Plex Sans"/>
                <a:sym typeface="IBM Plex Sans"/>
              </a:rPr>
              <a:t>Every plate read and phone ping is kept as evidence; AI "lie detectors" score interviews</a:t>
            </a:r>
            <a:endParaRPr b="0" i="0" sz="1148" u="none" cap="none" strike="noStrike">
              <a:solidFill>
                <a:schemeClr val="dk1"/>
              </a:solidFill>
              <a:latin typeface="Calibri"/>
              <a:ea typeface="Calibri"/>
              <a:cs typeface="Calibri"/>
              <a:sym typeface="Calibri"/>
            </a:endParaRPr>
          </a:p>
        </p:txBody>
      </p:sp>
      <p:sp>
        <p:nvSpPr>
          <p:cNvPr id="148" name="Google Shape;148;p5"/>
          <p:cNvSpPr/>
          <p:nvPr/>
        </p:nvSpPr>
        <p:spPr>
          <a:xfrm>
            <a:off x="4605959" y="2321452"/>
            <a:ext cx="2219400" cy="1147800"/>
          </a:xfrm>
          <a:prstGeom prst="rect">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a:off x="4733312" y="2423393"/>
            <a:ext cx="2023500" cy="6198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Apps, cars and doorbells learn your routine and sell it to whoever pays</a:t>
            </a:r>
            <a:endParaRPr b="0" i="0" sz="1200" u="none" cap="none" strike="noStrike">
              <a:solidFill>
                <a:schemeClr val="dk1"/>
              </a:solidFill>
              <a:latin typeface="Calibri"/>
              <a:ea typeface="Calibri"/>
              <a:cs typeface="Calibri"/>
              <a:sym typeface="Calibri"/>
            </a:endParaRPr>
          </a:p>
        </p:txBody>
      </p:sp>
      <p:sp>
        <p:nvSpPr>
          <p:cNvPr id="150" name="Google Shape;150;p5"/>
          <p:cNvSpPr/>
          <p:nvPr/>
        </p:nvSpPr>
        <p:spPr>
          <a:xfrm>
            <a:off x="7073673" y="2321452"/>
            <a:ext cx="2219400" cy="1147800"/>
          </a:xfrm>
          <a:prstGeom prst="rect">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7201026" y="2423393"/>
            <a:ext cx="2023500" cy="6198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Police act on risk scores before any crime; drones follow the flagged</a:t>
            </a:r>
            <a:endParaRPr b="0" i="0" sz="1200" u="none" cap="none" strike="noStrike">
              <a:solidFill>
                <a:schemeClr val="dk1"/>
              </a:solidFill>
              <a:latin typeface="Calibri"/>
              <a:ea typeface="Calibri"/>
              <a:cs typeface="Calibri"/>
              <a:sym typeface="Calibri"/>
            </a:endParaRPr>
          </a:p>
        </p:txBody>
      </p:sp>
      <p:sp>
        <p:nvSpPr>
          <p:cNvPr id="152" name="Google Shape;152;p5"/>
          <p:cNvSpPr/>
          <p:nvPr/>
        </p:nvSpPr>
        <p:spPr>
          <a:xfrm>
            <a:off x="9473692" y="2321477"/>
            <a:ext cx="2219400" cy="1147800"/>
          </a:xfrm>
          <a:prstGeom prst="rect">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9601045" y="2423418"/>
            <a:ext cx="2023500" cy="6198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Companies score you from chats, faces and purchases; scores decide access</a:t>
            </a:r>
            <a:endParaRPr b="0" i="0" sz="1200" u="none" cap="none" strike="noStrike">
              <a:solidFill>
                <a:schemeClr val="dk1"/>
              </a:solidFill>
              <a:latin typeface="Calibri"/>
              <a:ea typeface="Calibri"/>
              <a:cs typeface="Calibri"/>
              <a:sym typeface="Calibri"/>
            </a:endParaRPr>
          </a:p>
        </p:txBody>
      </p:sp>
      <p:sp>
        <p:nvSpPr>
          <p:cNvPr id="154" name="Google Shape;154;p5"/>
          <p:cNvSpPr/>
          <p:nvPr/>
        </p:nvSpPr>
        <p:spPr>
          <a:xfrm>
            <a:off x="2197319" y="3526403"/>
            <a:ext cx="2218800" cy="1147800"/>
          </a:xfrm>
          <a:prstGeom prst="rect">
            <a:avLst/>
          </a:prstGeom>
          <a:solidFill>
            <a:srgbClr val="EFEBE3"/>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2391631" y="3628346"/>
            <a:ext cx="1907700" cy="969300"/>
          </a:xfrm>
          <a:prstGeom prst="rect">
            <a:avLst/>
          </a:prstGeom>
          <a:noFill/>
          <a:ln>
            <a:noFill/>
          </a:ln>
        </p:spPr>
        <p:txBody>
          <a:bodyPr anchorCtr="0" anchor="t" bIns="0" lIns="0" spcFirstLastPara="1" rIns="0" wrap="square" tIns="0">
            <a:normAutofit/>
          </a:bodyPr>
          <a:lstStyle/>
          <a:p>
            <a:pPr indent="0" lvl="0" marL="0" marR="0" rtl="0" algn="l">
              <a:lnSpc>
                <a:spcPct val="129965"/>
              </a:lnSpc>
              <a:spcBef>
                <a:spcPts val="0"/>
              </a:spcBef>
              <a:spcAft>
                <a:spcPts val="0"/>
              </a:spcAft>
              <a:buClr>
                <a:srgbClr val="3D4656"/>
              </a:buClr>
              <a:buSzPts val="1148"/>
              <a:buFont typeface="IBM Plex Sans"/>
              <a:buNone/>
            </a:pPr>
            <a:r>
              <a:rPr b="0" i="0" lang="en-US" sz="1148" u="none" cap="none" strike="noStrike">
                <a:solidFill>
                  <a:srgbClr val="3D4656"/>
                </a:solidFill>
                <a:latin typeface="IBM Plex Sans"/>
                <a:ea typeface="IBM Plex Sans"/>
                <a:cs typeface="IBM Plex Sans"/>
                <a:sym typeface="IBM Plex Sans"/>
              </a:rPr>
              <a:t>You drove past a crime scene; weeks later you must prove where you were</a:t>
            </a:r>
            <a:endParaRPr b="0" i="0" sz="1148" u="none" cap="none" strike="noStrike">
              <a:solidFill>
                <a:schemeClr val="dk1"/>
              </a:solidFill>
              <a:latin typeface="Calibri"/>
              <a:ea typeface="Calibri"/>
              <a:cs typeface="Calibri"/>
              <a:sym typeface="Calibri"/>
            </a:endParaRPr>
          </a:p>
        </p:txBody>
      </p:sp>
      <p:sp>
        <p:nvSpPr>
          <p:cNvPr id="156" name="Google Shape;156;p5"/>
          <p:cNvSpPr/>
          <p:nvPr/>
        </p:nvSpPr>
        <p:spPr>
          <a:xfrm>
            <a:off x="4605959" y="3526408"/>
            <a:ext cx="2219400" cy="1147800"/>
          </a:xfrm>
          <a:prstGeom prst="rect">
            <a:avLst/>
          </a:prstGeom>
          <a:solidFill>
            <a:srgbClr val="EFEBE3"/>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4733312" y="3628352"/>
            <a:ext cx="2023500" cy="6198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You visit a clinic; your insurer reprices you, and an ex knows your schedule</a:t>
            </a:r>
            <a:endParaRPr b="0" i="0" sz="1200" u="none" cap="none" strike="noStrike">
              <a:solidFill>
                <a:schemeClr val="dk1"/>
              </a:solidFill>
              <a:latin typeface="Calibri"/>
              <a:ea typeface="Calibri"/>
              <a:cs typeface="Calibri"/>
              <a:sym typeface="Calibri"/>
            </a:endParaRPr>
          </a:p>
        </p:txBody>
      </p:sp>
      <p:sp>
        <p:nvSpPr>
          <p:cNvPr id="158" name="Google Shape;158;p5"/>
          <p:cNvSpPr/>
          <p:nvPr/>
        </p:nvSpPr>
        <p:spPr>
          <a:xfrm>
            <a:off x="7073673" y="3526408"/>
            <a:ext cx="2219400" cy="1147800"/>
          </a:xfrm>
          <a:prstGeom prst="rect">
            <a:avLst/>
          </a:prstGeom>
          <a:solidFill>
            <a:srgbClr val="EFEBE3"/>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7201026" y="3628352"/>
            <a:ext cx="2023500" cy="6198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Your block is flagged "hot"; you're stopped for a score, not an act</a:t>
            </a:r>
            <a:endParaRPr b="0" i="0" sz="1200" u="none" cap="none" strike="noStrike">
              <a:solidFill>
                <a:schemeClr val="dk1"/>
              </a:solidFill>
              <a:latin typeface="Calibri"/>
              <a:ea typeface="Calibri"/>
              <a:cs typeface="Calibri"/>
              <a:sym typeface="Calibri"/>
            </a:endParaRPr>
          </a:p>
        </p:txBody>
      </p:sp>
      <p:sp>
        <p:nvSpPr>
          <p:cNvPr id="160" name="Google Shape;160;p5"/>
          <p:cNvSpPr/>
          <p:nvPr/>
        </p:nvSpPr>
        <p:spPr>
          <a:xfrm>
            <a:off x="9473692" y="3526433"/>
            <a:ext cx="2219400" cy="1147800"/>
          </a:xfrm>
          <a:prstGeom prst="rect">
            <a:avLst/>
          </a:prstGeom>
          <a:solidFill>
            <a:srgbClr val="EFEBE3"/>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9601045" y="3628377"/>
            <a:ext cx="2023500" cy="6198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You tell an AI chatbot you feel like ending it; police arrive within the hour</a:t>
            </a:r>
            <a:endParaRPr b="0" i="0" sz="1200" u="none" cap="none" strike="noStrike">
              <a:solidFill>
                <a:schemeClr val="dk1"/>
              </a:solidFill>
              <a:latin typeface="Calibri"/>
              <a:ea typeface="Calibri"/>
              <a:cs typeface="Calibri"/>
              <a:sym typeface="Calibri"/>
            </a:endParaRPr>
          </a:p>
        </p:txBody>
      </p:sp>
      <p:sp>
        <p:nvSpPr>
          <p:cNvPr id="162" name="Google Shape;162;p5"/>
          <p:cNvSpPr/>
          <p:nvPr/>
        </p:nvSpPr>
        <p:spPr>
          <a:xfrm>
            <a:off x="330575" y="2499950"/>
            <a:ext cx="1558500" cy="619800"/>
          </a:xfrm>
          <a:prstGeom prst="roundRect">
            <a:avLst>
              <a:gd fmla="val 5502"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2197319" y="4731355"/>
            <a:ext cx="2218800" cy="798300"/>
          </a:xfrm>
          <a:prstGeom prst="rect">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2391631" y="4833295"/>
            <a:ext cx="1907700" cy="6198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A judge, with a lawyer and rules of evidence</a:t>
            </a:r>
            <a:endParaRPr b="0" i="0" sz="1200" u="none" cap="none" strike="noStrike">
              <a:solidFill>
                <a:schemeClr val="dk1"/>
              </a:solidFill>
              <a:latin typeface="Calibri"/>
              <a:ea typeface="Calibri"/>
              <a:cs typeface="Calibri"/>
              <a:sym typeface="Calibri"/>
            </a:endParaRPr>
          </a:p>
        </p:txBody>
      </p:sp>
      <p:sp>
        <p:nvSpPr>
          <p:cNvPr id="165" name="Google Shape;165;p5"/>
          <p:cNvSpPr/>
          <p:nvPr/>
        </p:nvSpPr>
        <p:spPr>
          <a:xfrm>
            <a:off x="4605959" y="4731367"/>
            <a:ext cx="2219400" cy="798300"/>
          </a:xfrm>
          <a:prstGeom prst="rect">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4733312" y="4833308"/>
            <a:ext cx="2023500" cy="2235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The FTC, years later, if it acts</a:t>
            </a:r>
            <a:endParaRPr b="0" i="0" sz="1200" u="none" cap="none" strike="noStrike">
              <a:solidFill>
                <a:schemeClr val="dk1"/>
              </a:solidFill>
              <a:latin typeface="Calibri"/>
              <a:ea typeface="Calibri"/>
              <a:cs typeface="Calibri"/>
              <a:sym typeface="Calibri"/>
            </a:endParaRPr>
          </a:p>
        </p:txBody>
      </p:sp>
      <p:sp>
        <p:nvSpPr>
          <p:cNvPr id="167" name="Google Shape;167;p5"/>
          <p:cNvSpPr/>
          <p:nvPr/>
        </p:nvSpPr>
        <p:spPr>
          <a:xfrm>
            <a:off x="7073673" y="4731367"/>
            <a:ext cx="2219400" cy="798300"/>
          </a:xfrm>
          <a:prstGeom prst="rect">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7201026" y="4833308"/>
            <a:ext cx="2023500" cy="4215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A court, but only after the stop, arguing with a model</a:t>
            </a:r>
            <a:endParaRPr b="0" i="0" sz="1200" u="none" cap="none" strike="noStrike">
              <a:solidFill>
                <a:schemeClr val="dk1"/>
              </a:solidFill>
              <a:latin typeface="Calibri"/>
              <a:ea typeface="Calibri"/>
              <a:cs typeface="Calibri"/>
              <a:sym typeface="Calibri"/>
            </a:endParaRPr>
          </a:p>
        </p:txBody>
      </p:sp>
      <p:sp>
        <p:nvSpPr>
          <p:cNvPr id="169" name="Google Shape;169;p5"/>
          <p:cNvSpPr/>
          <p:nvPr/>
        </p:nvSpPr>
        <p:spPr>
          <a:xfrm>
            <a:off x="9473692" y="4731392"/>
            <a:ext cx="2219400" cy="798300"/>
          </a:xfrm>
          <a:prstGeom prst="rect">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9601045" y="4833333"/>
            <a:ext cx="2023500" cy="4215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No one: no notice, no warrant, no right to dispute</a:t>
            </a:r>
            <a:endParaRPr b="0" i="0" sz="1200" u="none" cap="none" strike="noStrike">
              <a:solidFill>
                <a:schemeClr val="dk1"/>
              </a:solidFill>
              <a:latin typeface="Calibri"/>
              <a:ea typeface="Calibri"/>
              <a:cs typeface="Calibri"/>
              <a:sym typeface="Calibri"/>
            </a:endParaRPr>
          </a:p>
        </p:txBody>
      </p:sp>
      <p:sp>
        <p:nvSpPr>
          <p:cNvPr id="171" name="Google Shape;171;p5"/>
          <p:cNvSpPr/>
          <p:nvPr/>
        </p:nvSpPr>
        <p:spPr>
          <a:xfrm>
            <a:off x="479128" y="2568250"/>
            <a:ext cx="11238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6F4EF"/>
              </a:buClr>
              <a:buSzPts val="1200"/>
              <a:buFont typeface="IBM Plex Sans"/>
              <a:buNone/>
            </a:pPr>
            <a:r>
              <a:rPr b="1" i="0" lang="en-US" sz="1200" u="none" cap="none" strike="noStrike">
                <a:solidFill>
                  <a:srgbClr val="F6F4EF"/>
                </a:solidFill>
                <a:latin typeface="IBM Plex Sans"/>
                <a:ea typeface="IBM Plex Sans"/>
                <a:cs typeface="IBM Plex Sans"/>
                <a:sym typeface="IBM Plex Sans"/>
              </a:rPr>
              <a:t>How it differs from today</a:t>
            </a:r>
            <a:endParaRPr b="0" i="0" sz="1200" u="none" cap="none" strike="noStrike">
              <a:solidFill>
                <a:schemeClr val="dk1"/>
              </a:solidFill>
              <a:latin typeface="Calibri"/>
              <a:ea typeface="Calibri"/>
              <a:cs typeface="Calibri"/>
              <a:sym typeface="Calibri"/>
            </a:endParaRPr>
          </a:p>
        </p:txBody>
      </p:sp>
      <p:sp>
        <p:nvSpPr>
          <p:cNvPr id="172" name="Google Shape;172;p5"/>
          <p:cNvSpPr/>
          <p:nvPr/>
        </p:nvSpPr>
        <p:spPr>
          <a:xfrm>
            <a:off x="539003" y="3878001"/>
            <a:ext cx="11238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6F4EF"/>
              </a:buClr>
              <a:buSzPts val="1200"/>
              <a:buFont typeface="IBM Plex Sans"/>
              <a:buNone/>
            </a:pPr>
            <a:r>
              <a:rPr b="1" i="0" lang="en-US" sz="1200" u="none" cap="none" strike="noStrike">
                <a:solidFill>
                  <a:srgbClr val="F6F4EF"/>
                </a:solidFill>
                <a:latin typeface="IBM Plex Sans"/>
                <a:ea typeface="IBM Plex Sans"/>
                <a:cs typeface="IBM Plex Sans"/>
                <a:sym typeface="IBM Plex Sans"/>
              </a:rPr>
              <a:t>A day in this future</a:t>
            </a:r>
            <a:endParaRPr b="0" i="0" sz="1200" u="none" cap="none" strike="noStrike">
              <a:solidFill>
                <a:schemeClr val="dk1"/>
              </a:solidFill>
              <a:latin typeface="Calibri"/>
              <a:ea typeface="Calibri"/>
              <a:cs typeface="Calibri"/>
              <a:sym typeface="Calibri"/>
            </a:endParaRPr>
          </a:p>
        </p:txBody>
      </p:sp>
      <p:sp>
        <p:nvSpPr>
          <p:cNvPr id="173" name="Google Shape;173;p5"/>
          <p:cNvSpPr/>
          <p:nvPr/>
        </p:nvSpPr>
        <p:spPr>
          <a:xfrm>
            <a:off x="492575" y="4924675"/>
            <a:ext cx="1234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6F4EF"/>
              </a:buClr>
              <a:buSzPts val="1200"/>
              <a:buFont typeface="IBM Plex Sans"/>
              <a:buNone/>
            </a:pPr>
            <a:r>
              <a:rPr b="1" i="0" lang="en-US" sz="1200" u="none" cap="none" strike="noStrike">
                <a:solidFill>
                  <a:srgbClr val="F6F4EF"/>
                </a:solidFill>
                <a:latin typeface="IBM Plex Sans"/>
                <a:ea typeface="IBM Plex Sans"/>
                <a:cs typeface="IBM Plex Sans"/>
                <a:sym typeface="IBM Plex Sans"/>
              </a:rPr>
              <a:t>Who you can appeal to</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F"/>
        </a:solidFill>
      </p:bgPr>
    </p:bg>
    <p:spTree>
      <p:nvGrpSpPr>
        <p:cNvPr id="178" name="Shape 178"/>
        <p:cNvGrpSpPr/>
        <p:nvPr/>
      </p:nvGrpSpPr>
      <p:grpSpPr>
        <a:xfrm>
          <a:off x="0" y="0"/>
          <a:ext cx="0" cy="0"/>
          <a:chOff x="0" y="0"/>
          <a:chExt cx="0" cy="0"/>
        </a:xfrm>
      </p:grpSpPr>
      <p:sp>
        <p:nvSpPr>
          <p:cNvPr id="179" name="Google Shape;179;p6"/>
          <p:cNvSpPr/>
          <p:nvPr/>
        </p:nvSpPr>
        <p:spPr>
          <a:xfrm>
            <a:off x="812767" y="558766"/>
            <a:ext cx="10883461" cy="23877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F"/>
              </a:buClr>
              <a:buSzPts val="1200"/>
              <a:buFont typeface="IBM Plex Sans"/>
              <a:buNone/>
            </a:pPr>
            <a:r>
              <a:rPr b="1" i="0" lang="en-US" sz="1200" u="none" cap="none" strike="noStrike">
                <a:solidFill>
                  <a:srgbClr val="B4501F"/>
                </a:solidFill>
                <a:latin typeface="IBM Plex Sans"/>
                <a:ea typeface="IBM Plex Sans"/>
                <a:cs typeface="IBM Plex Sans"/>
                <a:sym typeface="IBM Plex Sans"/>
              </a:rPr>
              <a:t>DEEP DIVE · SCENARIO 4 · PRIVATE × PREDICT · DISCOMFORT 5/5</a:t>
            </a:r>
            <a:endParaRPr b="0" i="0" sz="1200" u="none" cap="none" strike="noStrike">
              <a:solidFill>
                <a:schemeClr val="dk1"/>
              </a:solidFill>
              <a:latin typeface="Calibri"/>
              <a:ea typeface="Calibri"/>
              <a:cs typeface="Calibri"/>
              <a:sym typeface="Calibri"/>
            </a:endParaRPr>
          </a:p>
        </p:txBody>
      </p:sp>
      <p:sp>
        <p:nvSpPr>
          <p:cNvPr id="180" name="Google Shape;180;p6"/>
          <p:cNvSpPr/>
          <p:nvPr/>
        </p:nvSpPr>
        <p:spPr>
          <a:xfrm>
            <a:off x="812775" y="924500"/>
            <a:ext cx="10883400" cy="4146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4213D"/>
              </a:buClr>
              <a:buSzPts val="2600"/>
              <a:buFont typeface="Space Grotesk"/>
              <a:buNone/>
            </a:pPr>
            <a:r>
              <a:rPr b="1" i="0" lang="en-US" sz="2600" u="none" cap="none" strike="noStrike">
                <a:solidFill>
                  <a:srgbClr val="14213D"/>
                </a:solidFill>
                <a:latin typeface="Space Grotesk"/>
                <a:ea typeface="Space Grotesk"/>
                <a:cs typeface="Space Grotesk"/>
                <a:sym typeface="Space Grotesk"/>
              </a:rPr>
              <a:t>The Scored Citizen, pushed to the extreme</a:t>
            </a:r>
            <a:endParaRPr b="0" i="0" sz="2600" u="none" cap="none" strike="noStrike">
              <a:solidFill>
                <a:schemeClr val="dk1"/>
              </a:solidFill>
              <a:latin typeface="Calibri"/>
              <a:ea typeface="Calibri"/>
              <a:cs typeface="Calibri"/>
              <a:sym typeface="Calibri"/>
            </a:endParaRPr>
          </a:p>
        </p:txBody>
      </p:sp>
      <p:sp>
        <p:nvSpPr>
          <p:cNvPr id="181" name="Google Shape;181;p6"/>
          <p:cNvSpPr/>
          <p:nvPr/>
        </p:nvSpPr>
        <p:spPr>
          <a:xfrm>
            <a:off x="812775" y="1474574"/>
            <a:ext cx="5793600" cy="7404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4213D"/>
              </a:buClr>
              <a:buSzPts val="1300"/>
              <a:buFont typeface="IBM Plex Sans"/>
              <a:buNone/>
            </a:pPr>
            <a:r>
              <a:rPr b="0" i="0" lang="en-US" sz="1300" u="none" cap="none" strike="noStrike">
                <a:solidFill>
                  <a:srgbClr val="14213D"/>
                </a:solidFill>
                <a:latin typeface="IBM Plex Sans"/>
                <a:ea typeface="IBM Plex Sans"/>
                <a:cs typeface="IBM Plex Sans"/>
                <a:sym typeface="IBM Plex Sans"/>
              </a:rPr>
              <a:t>Every company that touches your life scores you: your car, your grocery store, your chatbot. The scores are traded, combined and passed to police. You never see them.</a:t>
            </a:r>
            <a:endParaRPr b="0" i="0" sz="1300" u="none" cap="none" strike="noStrike">
              <a:solidFill>
                <a:schemeClr val="dk1"/>
              </a:solidFill>
              <a:latin typeface="Calibri"/>
              <a:ea typeface="Calibri"/>
              <a:cs typeface="Calibri"/>
              <a:sym typeface="Calibri"/>
            </a:endParaRPr>
          </a:p>
        </p:txBody>
      </p:sp>
      <p:sp>
        <p:nvSpPr>
          <p:cNvPr id="182" name="Google Shape;182;p6"/>
          <p:cNvSpPr/>
          <p:nvPr/>
        </p:nvSpPr>
        <p:spPr>
          <a:xfrm>
            <a:off x="812838" y="2379807"/>
            <a:ext cx="5793600" cy="271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A3A14"/>
              </a:buClr>
              <a:buSzPts val="1500"/>
              <a:buFont typeface="Space Grotesk"/>
              <a:buNone/>
            </a:pPr>
            <a:r>
              <a:rPr b="1" i="0" lang="en-US" sz="1500" u="none" cap="none" strike="noStrike">
                <a:solidFill>
                  <a:srgbClr val="8A3A14"/>
                </a:solidFill>
                <a:latin typeface="Space Grotesk"/>
                <a:ea typeface="Space Grotesk"/>
                <a:cs typeface="Space Grotesk"/>
                <a:sym typeface="Space Grotesk"/>
              </a:rPr>
              <a:t>One day in this future</a:t>
            </a:r>
            <a:endParaRPr b="0" i="0" sz="1500" u="none" cap="none" strike="noStrike">
              <a:solidFill>
                <a:schemeClr val="dk1"/>
              </a:solidFill>
              <a:latin typeface="Calibri"/>
              <a:ea typeface="Calibri"/>
              <a:cs typeface="Calibri"/>
              <a:sym typeface="Calibri"/>
            </a:endParaRPr>
          </a:p>
        </p:txBody>
      </p:sp>
      <p:sp>
        <p:nvSpPr>
          <p:cNvPr id="183" name="Google Shape;183;p6"/>
          <p:cNvSpPr/>
          <p:nvPr/>
        </p:nvSpPr>
        <p:spPr>
          <a:xfrm>
            <a:off x="812838" y="2718510"/>
            <a:ext cx="1003200" cy="449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3A14"/>
              </a:buClr>
              <a:buSzPts val="1200"/>
              <a:buFont typeface="IBM Plex Sans"/>
              <a:buNone/>
            </a:pPr>
            <a:r>
              <a:rPr b="1" i="0" lang="en-US" sz="1200" u="none" cap="none" strike="noStrike">
                <a:solidFill>
                  <a:srgbClr val="8A3A14"/>
                </a:solidFill>
                <a:latin typeface="IBM Plex Sans"/>
                <a:ea typeface="IBM Plex Sans"/>
                <a:cs typeface="IBM Plex Sans"/>
                <a:sym typeface="IBM Plex Sans"/>
              </a:rPr>
              <a:t>7:40 AM</a:t>
            </a:r>
            <a:endParaRPr b="0" i="0" sz="1200" u="none" cap="none" strike="noStrike">
              <a:solidFill>
                <a:schemeClr val="dk1"/>
              </a:solidFill>
              <a:latin typeface="Calibri"/>
              <a:ea typeface="Calibri"/>
              <a:cs typeface="Calibri"/>
              <a:sym typeface="Calibri"/>
            </a:endParaRPr>
          </a:p>
        </p:txBody>
      </p:sp>
      <p:sp>
        <p:nvSpPr>
          <p:cNvPr id="184" name="Google Shape;184;p6"/>
          <p:cNvSpPr/>
          <p:nvPr/>
        </p:nvSpPr>
        <p:spPr>
          <a:xfrm>
            <a:off x="1765337" y="2718510"/>
            <a:ext cx="4812600" cy="4497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Your car reports a hard brake. Your insurance premium rises before you reach work.</a:t>
            </a:r>
            <a:endParaRPr b="0" i="0" sz="1200" u="none" cap="none" strike="noStrike">
              <a:solidFill>
                <a:schemeClr val="dk1"/>
              </a:solidFill>
              <a:latin typeface="Calibri"/>
              <a:ea typeface="Calibri"/>
              <a:cs typeface="Calibri"/>
              <a:sym typeface="Calibri"/>
            </a:endParaRPr>
          </a:p>
        </p:txBody>
      </p:sp>
      <p:sp>
        <p:nvSpPr>
          <p:cNvPr id="185" name="Google Shape;185;p6"/>
          <p:cNvSpPr/>
          <p:nvPr/>
        </p:nvSpPr>
        <p:spPr>
          <a:xfrm>
            <a:off x="812838" y="3141252"/>
            <a:ext cx="1003200" cy="449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3A14"/>
              </a:buClr>
              <a:buSzPts val="1200"/>
              <a:buFont typeface="IBM Plex Sans"/>
              <a:buNone/>
            </a:pPr>
            <a:r>
              <a:rPr b="1" i="0" lang="en-US" sz="1200" u="none" cap="none" strike="noStrike">
                <a:solidFill>
                  <a:srgbClr val="8A3A14"/>
                </a:solidFill>
                <a:latin typeface="IBM Plex Sans"/>
                <a:ea typeface="IBM Plex Sans"/>
                <a:cs typeface="IBM Plex Sans"/>
                <a:sym typeface="IBM Plex Sans"/>
              </a:rPr>
              <a:t>12:30 PM</a:t>
            </a:r>
            <a:endParaRPr b="0" i="0" sz="1200" u="none" cap="none" strike="noStrike">
              <a:solidFill>
                <a:schemeClr val="dk1"/>
              </a:solidFill>
              <a:latin typeface="Calibri"/>
              <a:ea typeface="Calibri"/>
              <a:cs typeface="Calibri"/>
              <a:sym typeface="Calibri"/>
            </a:endParaRPr>
          </a:p>
        </p:txBody>
      </p:sp>
      <p:sp>
        <p:nvSpPr>
          <p:cNvPr id="186" name="Google Shape;186;p6"/>
          <p:cNvSpPr/>
          <p:nvPr/>
        </p:nvSpPr>
        <p:spPr>
          <a:xfrm>
            <a:off x="1765337" y="3141252"/>
            <a:ext cx="4812600" cy="4497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A store camera matches your face to a "misconduct" list you never knew existed. Security walks you out.</a:t>
            </a:r>
            <a:endParaRPr b="0" i="0" sz="1200" u="none" cap="none" strike="noStrike">
              <a:solidFill>
                <a:schemeClr val="dk1"/>
              </a:solidFill>
              <a:latin typeface="Calibri"/>
              <a:ea typeface="Calibri"/>
              <a:cs typeface="Calibri"/>
              <a:sym typeface="Calibri"/>
            </a:endParaRPr>
          </a:p>
        </p:txBody>
      </p:sp>
      <p:sp>
        <p:nvSpPr>
          <p:cNvPr id="187" name="Google Shape;187;p6"/>
          <p:cNvSpPr/>
          <p:nvPr/>
        </p:nvSpPr>
        <p:spPr>
          <a:xfrm>
            <a:off x="812838" y="3563996"/>
            <a:ext cx="1003200" cy="449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3A14"/>
              </a:buClr>
              <a:buSzPts val="1200"/>
              <a:buFont typeface="IBM Plex Sans"/>
              <a:buNone/>
            </a:pPr>
            <a:r>
              <a:rPr b="1" i="0" lang="en-US" sz="1200" u="none" cap="none" strike="noStrike">
                <a:solidFill>
                  <a:srgbClr val="8A3A14"/>
                </a:solidFill>
                <a:latin typeface="IBM Plex Sans"/>
                <a:ea typeface="IBM Plex Sans"/>
                <a:cs typeface="IBM Plex Sans"/>
                <a:sym typeface="IBM Plex Sans"/>
              </a:rPr>
              <a:t>11:50 PM</a:t>
            </a:r>
            <a:endParaRPr b="0" i="0" sz="1200" u="none" cap="none" strike="noStrike">
              <a:solidFill>
                <a:schemeClr val="dk1"/>
              </a:solidFill>
              <a:latin typeface="Calibri"/>
              <a:ea typeface="Calibri"/>
              <a:cs typeface="Calibri"/>
              <a:sym typeface="Calibri"/>
            </a:endParaRPr>
          </a:p>
        </p:txBody>
      </p:sp>
      <p:sp>
        <p:nvSpPr>
          <p:cNvPr id="188" name="Google Shape;188;p6"/>
          <p:cNvSpPr/>
          <p:nvPr/>
        </p:nvSpPr>
        <p:spPr>
          <a:xfrm>
            <a:off x="1765337" y="3563996"/>
            <a:ext cx="4812600" cy="4497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You tell an AI chatbot like Claude you feel like ending it. The chat is flagged, and police knock within the hour.</a:t>
            </a:r>
            <a:endParaRPr b="0" i="0" sz="1200" u="none" cap="none" strike="noStrike">
              <a:solidFill>
                <a:schemeClr val="dk1"/>
              </a:solidFill>
              <a:latin typeface="Calibri"/>
              <a:ea typeface="Calibri"/>
              <a:cs typeface="Calibri"/>
              <a:sym typeface="Calibri"/>
            </a:endParaRPr>
          </a:p>
        </p:txBody>
      </p:sp>
      <p:sp>
        <p:nvSpPr>
          <p:cNvPr id="189" name="Google Shape;189;p6"/>
          <p:cNvSpPr/>
          <p:nvPr/>
        </p:nvSpPr>
        <p:spPr>
          <a:xfrm>
            <a:off x="812838" y="3986742"/>
            <a:ext cx="1003200" cy="4497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3A14"/>
              </a:buClr>
              <a:buSzPts val="1200"/>
              <a:buFont typeface="IBM Plex Sans"/>
              <a:buNone/>
            </a:pPr>
            <a:r>
              <a:rPr b="1" i="0" lang="en-US" sz="1200" u="none" cap="none" strike="noStrike">
                <a:solidFill>
                  <a:srgbClr val="8A3A14"/>
                </a:solidFill>
                <a:latin typeface="IBM Plex Sans"/>
                <a:ea typeface="IBM Plex Sans"/>
                <a:cs typeface="IBM Plex Sans"/>
                <a:sym typeface="IBM Plex Sans"/>
              </a:rPr>
              <a:t>Next month</a:t>
            </a:r>
            <a:endParaRPr b="0" i="0" sz="1200" u="none" cap="none" strike="noStrike">
              <a:solidFill>
                <a:schemeClr val="dk1"/>
              </a:solidFill>
              <a:latin typeface="Calibri"/>
              <a:ea typeface="Calibri"/>
              <a:cs typeface="Calibri"/>
              <a:sym typeface="Calibri"/>
            </a:endParaRPr>
          </a:p>
        </p:txBody>
      </p:sp>
      <p:sp>
        <p:nvSpPr>
          <p:cNvPr id="190" name="Google Shape;190;p6"/>
          <p:cNvSpPr/>
          <p:nvPr/>
        </p:nvSpPr>
        <p:spPr>
          <a:xfrm>
            <a:off x="1765337" y="3986742"/>
            <a:ext cx="4812600" cy="4497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The flag turns up in a job background check. No one can tell you who created it or how to remove it.</a:t>
            </a:r>
            <a:endParaRPr b="0" i="0" sz="1200" u="none" cap="none" strike="noStrike">
              <a:solidFill>
                <a:schemeClr val="dk1"/>
              </a:solidFill>
              <a:latin typeface="Calibri"/>
              <a:ea typeface="Calibri"/>
              <a:cs typeface="Calibri"/>
              <a:sym typeface="Calibri"/>
            </a:endParaRPr>
          </a:p>
        </p:txBody>
      </p:sp>
      <p:sp>
        <p:nvSpPr>
          <p:cNvPr id="191" name="Google Shape;191;p6"/>
          <p:cNvSpPr/>
          <p:nvPr/>
        </p:nvSpPr>
        <p:spPr>
          <a:xfrm>
            <a:off x="6694927" y="1477963"/>
            <a:ext cx="4681200" cy="2839200"/>
          </a:xfrm>
          <a:prstGeom prst="roundRect">
            <a:avLst>
              <a:gd fmla="val 3912" name="adj"/>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a:off x="6873051" y="1640897"/>
            <a:ext cx="4454700" cy="2547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400"/>
              <a:buFont typeface="Space Grotesk"/>
              <a:buNone/>
            </a:pPr>
            <a:r>
              <a:rPr b="1" i="0" lang="en-US" sz="1400" u="none" cap="none" strike="noStrike">
                <a:solidFill>
                  <a:srgbClr val="14213D"/>
                </a:solidFill>
                <a:latin typeface="Space Grotesk"/>
                <a:ea typeface="Space Grotesk"/>
                <a:cs typeface="Space Grotesk"/>
                <a:sym typeface="Space Grotesk"/>
              </a:rPr>
              <a:t>Signals: it's already starting</a:t>
            </a:r>
            <a:endParaRPr b="0" i="0" sz="1400" u="none" cap="none" strike="noStrike">
              <a:solidFill>
                <a:schemeClr val="dk1"/>
              </a:solidFill>
              <a:latin typeface="Calibri"/>
              <a:ea typeface="Calibri"/>
              <a:cs typeface="Calibri"/>
              <a:sym typeface="Calibri"/>
            </a:endParaRPr>
          </a:p>
        </p:txBody>
      </p:sp>
      <p:sp>
        <p:nvSpPr>
          <p:cNvPr id="193" name="Google Shape;193;p6"/>
          <p:cNvSpPr/>
          <p:nvPr/>
        </p:nvSpPr>
        <p:spPr>
          <a:xfrm>
            <a:off x="6873051" y="1936309"/>
            <a:ext cx="4454700" cy="1743900"/>
          </a:xfrm>
          <a:prstGeom prst="rect">
            <a:avLst/>
          </a:prstGeom>
          <a:noFill/>
          <a:ln>
            <a:noFill/>
          </a:ln>
        </p:spPr>
        <p:txBody>
          <a:bodyPr anchorCtr="0" anchor="t" bIns="0" lIns="0" spcFirstLastPara="1" rIns="0" wrap="square" tIns="0">
            <a:normAutofit/>
          </a:bodyPr>
          <a:lstStyle/>
          <a:p>
            <a:pPr indent="-155194" lvl="0" marL="182880" marR="0" rtl="0" algn="l">
              <a:lnSpc>
                <a:spcPct val="132000"/>
              </a:lnSpc>
              <a:spcBef>
                <a:spcPts val="0"/>
              </a:spcBef>
              <a:spcAft>
                <a:spcPts val="0"/>
              </a:spcAft>
              <a:buClr>
                <a:srgbClr val="3D4656"/>
              </a:buClr>
              <a:buSzPts val="1200"/>
              <a:buFont typeface="IBM Plex Sans"/>
              <a:buChar char="•"/>
            </a:pPr>
            <a:r>
              <a:rPr b="0" i="0" lang="en-US" sz="1200" u="none" cap="none" strike="noStrike">
                <a:solidFill>
                  <a:srgbClr val="3D4656"/>
                </a:solidFill>
                <a:latin typeface="IBM Plex Sans"/>
                <a:ea typeface="IBM Plex Sans"/>
                <a:cs typeface="IBM Plex Sans"/>
                <a:sym typeface="IBM Plex Sans"/>
              </a:rPr>
              <a:t>Facebook's suicide-prediction AI sent ~3,500 police wellness checks in a year. It won't share its accuracy.</a:t>
            </a:r>
            <a:endParaRPr b="0" i="0" sz="1200" u="none" cap="none" strike="noStrike">
              <a:solidFill>
                <a:schemeClr val="dk1"/>
              </a:solidFill>
              <a:latin typeface="Calibri"/>
              <a:ea typeface="Calibri"/>
              <a:cs typeface="Calibri"/>
              <a:sym typeface="Calibri"/>
            </a:endParaRPr>
          </a:p>
          <a:p>
            <a:pPr indent="-155194" lvl="0" marL="182880" marR="0" rtl="0" algn="l">
              <a:lnSpc>
                <a:spcPct val="132000"/>
              </a:lnSpc>
              <a:spcBef>
                <a:spcPts val="0"/>
              </a:spcBef>
              <a:spcAft>
                <a:spcPts val="0"/>
              </a:spcAft>
              <a:buClr>
                <a:srgbClr val="3D4656"/>
              </a:buClr>
              <a:buSzPts val="1200"/>
              <a:buFont typeface="IBM Plex Sans"/>
              <a:buChar char="•"/>
            </a:pPr>
            <a:r>
              <a:rPr b="0" i="0" lang="en-US" sz="1200" u="none" cap="none" strike="noStrike">
                <a:solidFill>
                  <a:srgbClr val="3D4656"/>
                </a:solidFill>
                <a:latin typeface="IBM Plex Sans"/>
                <a:ea typeface="IBM Plex Sans"/>
                <a:cs typeface="IBM Plex Sans"/>
                <a:sym typeface="IBM Plex Sans"/>
              </a:rPr>
              <a:t>OpenAI tells police when chats show imminent, credible risk to others (Apr 2026).</a:t>
            </a:r>
            <a:endParaRPr b="0" i="0" sz="1200" u="none" cap="none" strike="noStrike">
              <a:solidFill>
                <a:schemeClr val="dk1"/>
              </a:solidFill>
              <a:latin typeface="Calibri"/>
              <a:ea typeface="Calibri"/>
              <a:cs typeface="Calibri"/>
              <a:sym typeface="Calibri"/>
            </a:endParaRPr>
          </a:p>
          <a:p>
            <a:pPr indent="-155194" lvl="0" marL="182880" marR="0" rtl="0" algn="l">
              <a:lnSpc>
                <a:spcPct val="132000"/>
              </a:lnSpc>
              <a:spcBef>
                <a:spcPts val="0"/>
              </a:spcBef>
              <a:spcAft>
                <a:spcPts val="0"/>
              </a:spcAft>
              <a:buClr>
                <a:srgbClr val="3D4656"/>
              </a:buClr>
              <a:buSzPts val="1200"/>
              <a:buFont typeface="IBM Plex Sans"/>
              <a:buChar char="•"/>
            </a:pPr>
            <a:r>
              <a:rPr b="0" i="0" lang="en-US" sz="1200" u="none" cap="none" strike="noStrike">
                <a:solidFill>
                  <a:srgbClr val="3D4656"/>
                </a:solidFill>
                <a:latin typeface="IBM Plex Sans"/>
                <a:ea typeface="IBM Plex Sans"/>
                <a:cs typeface="IBM Plex Sans"/>
                <a:sym typeface="IBM Plex Sans"/>
              </a:rPr>
              <a:t>GM sold drivers' location and driving data to consumer reporting agencies (FTC order, Jan 2026).</a:t>
            </a:r>
            <a:endParaRPr b="0" i="0" sz="1200" u="none" cap="none" strike="noStrike">
              <a:solidFill>
                <a:schemeClr val="dk1"/>
              </a:solidFill>
              <a:latin typeface="Calibri"/>
              <a:ea typeface="Calibri"/>
              <a:cs typeface="Calibri"/>
              <a:sym typeface="Calibri"/>
            </a:endParaRPr>
          </a:p>
          <a:p>
            <a:pPr indent="-155194" lvl="0" marL="182880" marR="0" rtl="0" algn="l">
              <a:lnSpc>
                <a:spcPct val="132000"/>
              </a:lnSpc>
              <a:spcBef>
                <a:spcPts val="0"/>
              </a:spcBef>
              <a:spcAft>
                <a:spcPts val="0"/>
              </a:spcAft>
              <a:buClr>
                <a:srgbClr val="3D4656"/>
              </a:buClr>
              <a:buSzPts val="1200"/>
              <a:buFont typeface="IBM Plex Sans"/>
              <a:buChar char="•"/>
            </a:pPr>
            <a:r>
              <a:rPr b="0" i="0" lang="en-US" sz="1200" u="none" cap="none" strike="noStrike">
                <a:solidFill>
                  <a:srgbClr val="3D4656"/>
                </a:solidFill>
                <a:latin typeface="IBM Plex Sans"/>
                <a:ea typeface="IBM Plex Sans"/>
                <a:cs typeface="IBM Plex Sans"/>
                <a:sym typeface="IBM Plex Sans"/>
              </a:rPr>
              <a:t>Wegmans scans faces in some NYC stores; Rite Aid's system falsely flagged shoppers, mostly women and people of color.</a:t>
            </a:r>
            <a:endParaRPr b="0" i="0" sz="1200" u="none" cap="none" strike="noStrike">
              <a:solidFill>
                <a:schemeClr val="dk1"/>
              </a:solidFill>
              <a:latin typeface="Calibri"/>
              <a:ea typeface="Calibri"/>
              <a:cs typeface="Calibri"/>
              <a:sym typeface="Calibri"/>
            </a:endParaRPr>
          </a:p>
        </p:txBody>
      </p:sp>
      <p:sp>
        <p:nvSpPr>
          <p:cNvPr id="194" name="Google Shape;194;p6"/>
          <p:cNvSpPr/>
          <p:nvPr/>
        </p:nvSpPr>
        <p:spPr>
          <a:xfrm>
            <a:off x="6691752" y="4436460"/>
            <a:ext cx="4687500" cy="1258200"/>
          </a:xfrm>
          <a:prstGeom prst="roundRect">
            <a:avLst>
              <a:gd fmla="val 9154" name="adj"/>
            </a:avLst>
          </a:prstGeom>
          <a:solidFill>
            <a:srgbClr val="8A3A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6869519" y="4633856"/>
            <a:ext cx="4461900" cy="3096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6F4EF"/>
              </a:buClr>
              <a:buSzPts val="1400"/>
              <a:buFont typeface="Space Grotesk"/>
              <a:buNone/>
            </a:pPr>
            <a:r>
              <a:rPr b="1" i="0" lang="en-US" sz="1400" u="none" cap="none" strike="noStrike">
                <a:solidFill>
                  <a:srgbClr val="F6F4EF"/>
                </a:solidFill>
                <a:latin typeface="Space Grotesk"/>
                <a:ea typeface="Space Grotesk"/>
                <a:cs typeface="Space Grotesk"/>
                <a:sym typeface="Space Grotesk"/>
              </a:rPr>
              <a:t>Why it's the most uncomfortable</a:t>
            </a:r>
            <a:endParaRPr b="0" i="0" sz="1400" u="none" cap="none" strike="noStrike">
              <a:solidFill>
                <a:schemeClr val="dk1"/>
              </a:solidFill>
              <a:latin typeface="Calibri"/>
              <a:ea typeface="Calibri"/>
              <a:cs typeface="Calibri"/>
              <a:sym typeface="Calibri"/>
            </a:endParaRPr>
          </a:p>
        </p:txBody>
      </p:sp>
      <p:sp>
        <p:nvSpPr>
          <p:cNvPr id="196" name="Google Shape;196;p6"/>
          <p:cNvSpPr/>
          <p:nvPr/>
        </p:nvSpPr>
        <p:spPr>
          <a:xfrm>
            <a:off x="6869519" y="4976088"/>
            <a:ext cx="4461900" cy="554100"/>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F6E3D6"/>
              </a:buClr>
              <a:buSzPts val="1200"/>
              <a:buFont typeface="IBM Plex Sans"/>
              <a:buNone/>
            </a:pPr>
            <a:r>
              <a:rPr b="0" i="0" lang="en-US" sz="1200" u="none" cap="none" strike="noStrike">
                <a:solidFill>
                  <a:srgbClr val="F6E3D6"/>
                </a:solidFill>
                <a:latin typeface="IBM Plex Sans"/>
                <a:ea typeface="IBM Plex Sans"/>
                <a:cs typeface="IBM Plex Sans"/>
                <a:sym typeface="IBM Plex Sans"/>
              </a:rPr>
              <a:t>You're judged for a prediction, by a company the Constitution doesn't bind, and you may never learn the score exists.</a:t>
            </a:r>
            <a:endParaRPr b="0" i="0" sz="1200" u="none" cap="none" strike="noStrike">
              <a:solidFill>
                <a:schemeClr val="dk1"/>
              </a:solidFill>
              <a:latin typeface="Calibri"/>
              <a:ea typeface="Calibri"/>
              <a:cs typeface="Calibri"/>
              <a:sym typeface="Calibri"/>
            </a:endParaRPr>
          </a:p>
        </p:txBody>
      </p:sp>
      <p:sp>
        <p:nvSpPr>
          <p:cNvPr id="197" name="Google Shape;197;p6"/>
          <p:cNvSpPr/>
          <p:nvPr/>
        </p:nvSpPr>
        <p:spPr>
          <a:xfrm>
            <a:off x="812767" y="6157020"/>
            <a:ext cx="10883347" cy="42161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5B6472"/>
              </a:buClr>
              <a:buSzPts val="1200"/>
              <a:buFont typeface="IBM Plex Sans"/>
              <a:buNone/>
            </a:pPr>
            <a:r>
              <a:rPr b="0" i="0" lang="en-US" sz="1200" u="none" cap="none" strike="noStrike">
                <a:solidFill>
                  <a:srgbClr val="5B6472"/>
                </a:solidFill>
                <a:latin typeface="IBM Plex Sans"/>
                <a:ea typeface="IBM Plex Sans"/>
                <a:cs typeface="IBM Plex Sans"/>
                <a:sym typeface="IBM Plex Sans"/>
              </a:rPr>
              <a:t>Sources: NPR, Nov 17, 2018 (Facebook); OpenAI, "Our commitment to community safety," Apr 28, 2026; FTC, GM/OnStar final order, Jan 14, 2026; CNN, Jan 12, 2026 (Wegmans); FTC, Rite Aid order, Dec 19, 2023.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F"/>
        </a:solidFill>
      </p:bgPr>
    </p:bg>
    <p:spTree>
      <p:nvGrpSpPr>
        <p:cNvPr id="202" name="Shape 202"/>
        <p:cNvGrpSpPr/>
        <p:nvPr/>
      </p:nvGrpSpPr>
      <p:grpSpPr>
        <a:xfrm>
          <a:off x="0" y="0"/>
          <a:ext cx="0" cy="0"/>
          <a:chOff x="0" y="0"/>
          <a:chExt cx="0" cy="0"/>
        </a:xfrm>
      </p:grpSpPr>
      <p:sp>
        <p:nvSpPr>
          <p:cNvPr id="203" name="Google Shape;203;p7"/>
          <p:cNvSpPr/>
          <p:nvPr/>
        </p:nvSpPr>
        <p:spPr>
          <a:xfrm>
            <a:off x="812767" y="558766"/>
            <a:ext cx="10883461" cy="23877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4F82"/>
              </a:buClr>
              <a:buSzPts val="1200"/>
              <a:buFont typeface="IBM Plex Sans"/>
              <a:buNone/>
            </a:pPr>
            <a:r>
              <a:rPr b="1" i="0" lang="en-US" sz="1200" u="none" cap="none" strike="noStrike">
                <a:solidFill>
                  <a:srgbClr val="1F4F82"/>
                </a:solidFill>
                <a:latin typeface="IBM Plex Sans"/>
                <a:ea typeface="IBM Plex Sans"/>
                <a:cs typeface="IBM Plex Sans"/>
                <a:sym typeface="IBM Plex Sans"/>
              </a:rPr>
              <a:t>DEEP DIVE · SCENARIO 3 · GOVERNMENT × PREDICT · DISCOMFORT 4/5</a:t>
            </a:r>
            <a:endParaRPr b="0" i="0" sz="1200" u="none" cap="none" strike="noStrike">
              <a:solidFill>
                <a:schemeClr val="dk1"/>
              </a:solidFill>
              <a:latin typeface="Calibri"/>
              <a:ea typeface="Calibri"/>
              <a:cs typeface="Calibri"/>
              <a:sym typeface="Calibri"/>
            </a:endParaRPr>
          </a:p>
        </p:txBody>
      </p:sp>
      <p:sp>
        <p:nvSpPr>
          <p:cNvPr id="204" name="Google Shape;204;p7"/>
          <p:cNvSpPr/>
          <p:nvPr/>
        </p:nvSpPr>
        <p:spPr>
          <a:xfrm>
            <a:off x="812775" y="924500"/>
            <a:ext cx="10883400" cy="4425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4213D"/>
              </a:buClr>
              <a:buSzPts val="2600"/>
              <a:buFont typeface="Space Grotesk"/>
              <a:buNone/>
            </a:pPr>
            <a:r>
              <a:rPr b="1" i="0" lang="en-US" sz="2600" u="none" cap="none" strike="noStrike">
                <a:solidFill>
                  <a:srgbClr val="14213D"/>
                </a:solidFill>
                <a:latin typeface="Space Grotesk"/>
                <a:ea typeface="Space Grotesk"/>
                <a:cs typeface="Space Grotesk"/>
                <a:sym typeface="Space Grotesk"/>
              </a:rPr>
              <a:t>The Pre-Crime State, pushed to the extreme</a:t>
            </a:r>
            <a:endParaRPr b="0" i="0" sz="2600" u="none" cap="none" strike="noStrike">
              <a:solidFill>
                <a:schemeClr val="dk1"/>
              </a:solidFill>
              <a:latin typeface="Calibri"/>
              <a:ea typeface="Calibri"/>
              <a:cs typeface="Calibri"/>
              <a:sym typeface="Calibri"/>
            </a:endParaRPr>
          </a:p>
        </p:txBody>
      </p:sp>
      <p:sp>
        <p:nvSpPr>
          <p:cNvPr id="205" name="Google Shape;205;p7"/>
          <p:cNvSpPr/>
          <p:nvPr/>
        </p:nvSpPr>
        <p:spPr>
          <a:xfrm>
            <a:off x="812775" y="1511454"/>
            <a:ext cx="5589900" cy="7902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4213D"/>
              </a:buClr>
              <a:buSzPts val="1300"/>
              <a:buFont typeface="IBM Plex Sans"/>
              <a:buNone/>
            </a:pPr>
            <a:r>
              <a:rPr b="0" i="0" lang="en-US" sz="1300" u="none" cap="none" strike="noStrike">
                <a:solidFill>
                  <a:srgbClr val="14213D"/>
                </a:solidFill>
                <a:latin typeface="IBM Plex Sans"/>
                <a:ea typeface="IBM Plex Sans"/>
                <a:cs typeface="IBM Plex Sans"/>
                <a:sym typeface="IBM Plex Sans"/>
              </a:rPr>
              <a:t>Cameras, plate readers and purchased data feed one risk model. Your score, not your actions, decides how often police visit you and your family.</a:t>
            </a:r>
            <a:endParaRPr b="0" i="0" sz="1300" u="none" cap="none" strike="noStrike">
              <a:solidFill>
                <a:schemeClr val="dk1"/>
              </a:solidFill>
              <a:latin typeface="Calibri"/>
              <a:ea typeface="Calibri"/>
              <a:cs typeface="Calibri"/>
              <a:sym typeface="Calibri"/>
            </a:endParaRPr>
          </a:p>
        </p:txBody>
      </p:sp>
      <p:sp>
        <p:nvSpPr>
          <p:cNvPr id="206" name="Google Shape;206;p7"/>
          <p:cNvSpPr/>
          <p:nvPr/>
        </p:nvSpPr>
        <p:spPr>
          <a:xfrm>
            <a:off x="812775" y="2373783"/>
            <a:ext cx="5589900" cy="288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F4F82"/>
              </a:buClr>
              <a:buSzPts val="1500"/>
              <a:buFont typeface="Space Grotesk"/>
              <a:buNone/>
            </a:pPr>
            <a:r>
              <a:rPr b="1" i="0" lang="en-US" sz="1500" u="none" cap="none" strike="noStrike">
                <a:solidFill>
                  <a:srgbClr val="1F4F82"/>
                </a:solidFill>
                <a:latin typeface="Space Grotesk"/>
                <a:ea typeface="Space Grotesk"/>
                <a:cs typeface="Space Grotesk"/>
                <a:sym typeface="Space Grotesk"/>
              </a:rPr>
              <a:t>One day in this future</a:t>
            </a:r>
            <a:endParaRPr b="0" i="0" sz="1500" u="none" cap="none" strike="noStrike">
              <a:solidFill>
                <a:schemeClr val="dk1"/>
              </a:solidFill>
              <a:latin typeface="Calibri"/>
              <a:ea typeface="Calibri"/>
              <a:cs typeface="Calibri"/>
              <a:sym typeface="Calibri"/>
            </a:endParaRPr>
          </a:p>
        </p:txBody>
      </p:sp>
      <p:sp>
        <p:nvSpPr>
          <p:cNvPr id="207" name="Google Shape;207;p7"/>
          <p:cNvSpPr/>
          <p:nvPr/>
        </p:nvSpPr>
        <p:spPr>
          <a:xfrm>
            <a:off x="812775" y="2735193"/>
            <a:ext cx="1003200" cy="480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4F82"/>
              </a:buClr>
              <a:buSzPts val="1200"/>
              <a:buFont typeface="IBM Plex Sans"/>
              <a:buNone/>
            </a:pPr>
            <a:r>
              <a:rPr b="1" i="0" lang="en-US" sz="1200" u="none" cap="none" strike="noStrike">
                <a:solidFill>
                  <a:srgbClr val="1F4F82"/>
                </a:solidFill>
                <a:latin typeface="IBM Plex Sans"/>
                <a:ea typeface="IBM Plex Sans"/>
                <a:cs typeface="IBM Plex Sans"/>
                <a:sym typeface="IBM Plex Sans"/>
              </a:rPr>
              <a:t>6:30 AM</a:t>
            </a:r>
            <a:endParaRPr b="0" i="0" sz="1200" u="none" cap="none" strike="noStrike">
              <a:solidFill>
                <a:schemeClr val="dk1"/>
              </a:solidFill>
              <a:latin typeface="Calibri"/>
              <a:ea typeface="Calibri"/>
              <a:cs typeface="Calibri"/>
              <a:sym typeface="Calibri"/>
            </a:endParaRPr>
          </a:p>
        </p:txBody>
      </p:sp>
      <p:sp>
        <p:nvSpPr>
          <p:cNvPr id="208" name="Google Shape;208;p7"/>
          <p:cNvSpPr/>
          <p:nvPr/>
        </p:nvSpPr>
        <p:spPr>
          <a:xfrm>
            <a:off x="1765274" y="2735193"/>
            <a:ext cx="4608900" cy="48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A deputy knocks to "check in" because your 17-year-old is on a prolific-offender list.</a:t>
            </a:r>
            <a:endParaRPr b="0" i="0" sz="1200" u="none" cap="none" strike="noStrike">
              <a:solidFill>
                <a:schemeClr val="dk1"/>
              </a:solidFill>
              <a:latin typeface="Calibri"/>
              <a:ea typeface="Calibri"/>
              <a:cs typeface="Calibri"/>
              <a:sym typeface="Calibri"/>
            </a:endParaRPr>
          </a:p>
        </p:txBody>
      </p:sp>
      <p:sp>
        <p:nvSpPr>
          <p:cNvPr id="209" name="Google Shape;209;p7"/>
          <p:cNvSpPr/>
          <p:nvPr/>
        </p:nvSpPr>
        <p:spPr>
          <a:xfrm>
            <a:off x="812775" y="3186281"/>
            <a:ext cx="1003200" cy="480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4F82"/>
              </a:buClr>
              <a:buSzPts val="1200"/>
              <a:buFont typeface="IBM Plex Sans"/>
              <a:buNone/>
            </a:pPr>
            <a:r>
              <a:rPr b="1" i="0" lang="en-US" sz="1200" u="none" cap="none" strike="noStrike">
                <a:solidFill>
                  <a:srgbClr val="1F4F82"/>
                </a:solidFill>
                <a:latin typeface="IBM Plex Sans"/>
                <a:ea typeface="IBM Plex Sans"/>
                <a:cs typeface="IBM Plex Sans"/>
                <a:sym typeface="IBM Plex Sans"/>
              </a:rPr>
              <a:t>8:10 AM</a:t>
            </a:r>
            <a:endParaRPr b="0" i="0" sz="1200" u="none" cap="none" strike="noStrike">
              <a:solidFill>
                <a:schemeClr val="dk1"/>
              </a:solidFill>
              <a:latin typeface="Calibri"/>
              <a:ea typeface="Calibri"/>
              <a:cs typeface="Calibri"/>
              <a:sym typeface="Calibri"/>
            </a:endParaRPr>
          </a:p>
        </p:txBody>
      </p:sp>
      <p:sp>
        <p:nvSpPr>
          <p:cNvPr id="210" name="Google Shape;210;p7"/>
          <p:cNvSpPr/>
          <p:nvPr/>
        </p:nvSpPr>
        <p:spPr>
          <a:xfrm>
            <a:off x="1765274" y="3186281"/>
            <a:ext cx="4608900" cy="48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Plate readers log your commute; each read nudges your household's score up.</a:t>
            </a:r>
            <a:endParaRPr b="0" i="0" sz="1200" u="none" cap="none" strike="noStrike">
              <a:solidFill>
                <a:schemeClr val="dk1"/>
              </a:solidFill>
              <a:latin typeface="Calibri"/>
              <a:ea typeface="Calibri"/>
              <a:cs typeface="Calibri"/>
              <a:sym typeface="Calibri"/>
            </a:endParaRPr>
          </a:p>
        </p:txBody>
      </p:sp>
      <p:sp>
        <p:nvSpPr>
          <p:cNvPr id="211" name="Google Shape;211;p7"/>
          <p:cNvSpPr/>
          <p:nvPr/>
        </p:nvSpPr>
        <p:spPr>
          <a:xfrm>
            <a:off x="812775" y="3637370"/>
            <a:ext cx="1003200" cy="480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4F82"/>
              </a:buClr>
              <a:buSzPts val="1200"/>
              <a:buFont typeface="IBM Plex Sans"/>
              <a:buNone/>
            </a:pPr>
            <a:r>
              <a:rPr b="1" i="0" lang="en-US" sz="1200" u="none" cap="none" strike="noStrike">
                <a:solidFill>
                  <a:srgbClr val="1F4F82"/>
                </a:solidFill>
                <a:latin typeface="IBM Plex Sans"/>
                <a:ea typeface="IBM Plex Sans"/>
                <a:cs typeface="IBM Plex Sans"/>
                <a:sym typeface="IBM Plex Sans"/>
              </a:rPr>
              <a:t>4:00 PM</a:t>
            </a:r>
            <a:endParaRPr b="0" i="0" sz="1200" u="none" cap="none" strike="noStrike">
              <a:solidFill>
                <a:schemeClr val="dk1"/>
              </a:solidFill>
              <a:latin typeface="Calibri"/>
              <a:ea typeface="Calibri"/>
              <a:cs typeface="Calibri"/>
              <a:sym typeface="Calibri"/>
            </a:endParaRPr>
          </a:p>
        </p:txBody>
      </p:sp>
      <p:sp>
        <p:nvSpPr>
          <p:cNvPr id="212" name="Google Shape;212;p7"/>
          <p:cNvSpPr/>
          <p:nvPr/>
        </p:nvSpPr>
        <p:spPr>
          <a:xfrm>
            <a:off x="1765274" y="3637370"/>
            <a:ext cx="4608900" cy="48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The deputy returns and cites you for tall grass and a missing house number.</a:t>
            </a:r>
            <a:endParaRPr b="0" i="0" sz="1200" u="none" cap="none" strike="noStrike">
              <a:solidFill>
                <a:schemeClr val="dk1"/>
              </a:solidFill>
              <a:latin typeface="Calibri"/>
              <a:ea typeface="Calibri"/>
              <a:cs typeface="Calibri"/>
              <a:sym typeface="Calibri"/>
            </a:endParaRPr>
          </a:p>
        </p:txBody>
      </p:sp>
      <p:sp>
        <p:nvSpPr>
          <p:cNvPr id="213" name="Google Shape;213;p7"/>
          <p:cNvSpPr/>
          <p:nvPr/>
        </p:nvSpPr>
        <p:spPr>
          <a:xfrm>
            <a:off x="812775" y="4088461"/>
            <a:ext cx="1003200" cy="480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4F82"/>
              </a:buClr>
              <a:buSzPts val="1200"/>
              <a:buFont typeface="IBM Plex Sans"/>
              <a:buNone/>
            </a:pPr>
            <a:r>
              <a:rPr b="1" i="0" lang="en-US" sz="1200" u="none" cap="none" strike="noStrike">
                <a:solidFill>
                  <a:srgbClr val="1F4F82"/>
                </a:solidFill>
                <a:latin typeface="IBM Plex Sans"/>
                <a:ea typeface="IBM Plex Sans"/>
                <a:cs typeface="IBM Plex Sans"/>
                <a:sym typeface="IBM Plex Sans"/>
              </a:rPr>
              <a:t>9:00 PM</a:t>
            </a:r>
            <a:endParaRPr b="0" i="0" sz="1200" u="none" cap="none" strike="noStrike">
              <a:solidFill>
                <a:schemeClr val="dk1"/>
              </a:solidFill>
              <a:latin typeface="Calibri"/>
              <a:ea typeface="Calibri"/>
              <a:cs typeface="Calibri"/>
              <a:sym typeface="Calibri"/>
            </a:endParaRPr>
          </a:p>
        </p:txBody>
      </p:sp>
      <p:sp>
        <p:nvSpPr>
          <p:cNvPr id="214" name="Google Shape;214;p7"/>
          <p:cNvSpPr/>
          <p:nvPr/>
        </p:nvSpPr>
        <p:spPr>
          <a:xfrm>
            <a:off x="1765274" y="4088461"/>
            <a:ext cx="4608900" cy="48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A drone follows you through a "hot" block. You're stopped and searched on a prediction.</a:t>
            </a:r>
            <a:endParaRPr b="0" i="0" sz="1200" u="none" cap="none" strike="noStrike">
              <a:solidFill>
                <a:schemeClr val="dk1"/>
              </a:solidFill>
              <a:latin typeface="Calibri"/>
              <a:ea typeface="Calibri"/>
              <a:cs typeface="Calibri"/>
              <a:sym typeface="Calibri"/>
            </a:endParaRPr>
          </a:p>
        </p:txBody>
      </p:sp>
      <p:sp>
        <p:nvSpPr>
          <p:cNvPr id="215" name="Google Shape;215;p7"/>
          <p:cNvSpPr/>
          <p:nvPr/>
        </p:nvSpPr>
        <p:spPr>
          <a:xfrm>
            <a:off x="6497155" y="1515068"/>
            <a:ext cx="4878900" cy="3021000"/>
          </a:xfrm>
          <a:prstGeom prst="roundRect">
            <a:avLst>
              <a:gd fmla="val 3231" name="adj"/>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6675274" y="1688929"/>
            <a:ext cx="4658400" cy="2721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400"/>
              <a:buFont typeface="Space Grotesk"/>
              <a:buNone/>
            </a:pPr>
            <a:r>
              <a:rPr b="1" i="0" lang="en-US" sz="1400" u="none" cap="none" strike="noStrike">
                <a:solidFill>
                  <a:srgbClr val="14213D"/>
                </a:solidFill>
                <a:latin typeface="Space Grotesk"/>
                <a:ea typeface="Space Grotesk"/>
                <a:cs typeface="Space Grotesk"/>
                <a:sym typeface="Space Grotesk"/>
              </a:rPr>
              <a:t>Signals: it has already happened</a:t>
            </a:r>
            <a:endParaRPr b="0" i="0" sz="1400" u="none" cap="none" strike="noStrike">
              <a:solidFill>
                <a:schemeClr val="dk1"/>
              </a:solidFill>
              <a:latin typeface="Calibri"/>
              <a:ea typeface="Calibri"/>
              <a:cs typeface="Calibri"/>
              <a:sym typeface="Calibri"/>
            </a:endParaRPr>
          </a:p>
        </p:txBody>
      </p:sp>
      <p:sp>
        <p:nvSpPr>
          <p:cNvPr id="217" name="Google Shape;217;p7"/>
          <p:cNvSpPr/>
          <p:nvPr/>
        </p:nvSpPr>
        <p:spPr>
          <a:xfrm>
            <a:off x="6675274" y="2004149"/>
            <a:ext cx="4658400" cy="1860900"/>
          </a:xfrm>
          <a:prstGeom prst="rect">
            <a:avLst/>
          </a:prstGeom>
          <a:noFill/>
          <a:ln>
            <a:noFill/>
          </a:ln>
        </p:spPr>
        <p:txBody>
          <a:bodyPr anchorCtr="0" anchor="t" bIns="0" lIns="0" spcFirstLastPara="1" rIns="0" wrap="square" tIns="0">
            <a:normAutofit/>
          </a:bodyPr>
          <a:lstStyle/>
          <a:p>
            <a:pPr indent="-155194" lvl="0" marL="182880" marR="0" rtl="0" algn="l">
              <a:lnSpc>
                <a:spcPct val="132000"/>
              </a:lnSpc>
              <a:spcBef>
                <a:spcPts val="0"/>
              </a:spcBef>
              <a:spcAft>
                <a:spcPts val="0"/>
              </a:spcAft>
              <a:buClr>
                <a:srgbClr val="3D4656"/>
              </a:buClr>
              <a:buSzPts val="1200"/>
              <a:buFont typeface="IBM Plex Sans"/>
              <a:buChar char="•"/>
            </a:pPr>
            <a:r>
              <a:rPr b="0" i="0" lang="en-US" sz="1200" u="none" cap="none" strike="noStrike">
                <a:solidFill>
                  <a:srgbClr val="3D4656"/>
                </a:solidFill>
                <a:latin typeface="IBM Plex Sans"/>
                <a:ea typeface="IBM Plex Sans"/>
                <a:cs typeface="IBM Plex Sans"/>
                <a:sym typeface="IBM Plex Sans"/>
              </a:rPr>
              <a:t>Pasco County, FL listed "prolific offenders," many under 18, and cited families for tall grass. A deputy said the goal was to "get them to move away or go to prison." The sheriff admitted constitutional violations (Dec 2024).</a:t>
            </a:r>
            <a:endParaRPr b="0" i="0" sz="1200" u="none" cap="none" strike="noStrike">
              <a:solidFill>
                <a:schemeClr val="dk1"/>
              </a:solidFill>
              <a:latin typeface="Calibri"/>
              <a:ea typeface="Calibri"/>
              <a:cs typeface="Calibri"/>
              <a:sym typeface="Calibri"/>
            </a:endParaRPr>
          </a:p>
          <a:p>
            <a:pPr indent="-155194" lvl="0" marL="182880" marR="0" rtl="0" algn="l">
              <a:lnSpc>
                <a:spcPct val="132000"/>
              </a:lnSpc>
              <a:spcBef>
                <a:spcPts val="0"/>
              </a:spcBef>
              <a:spcAft>
                <a:spcPts val="0"/>
              </a:spcAft>
              <a:buClr>
                <a:srgbClr val="3D4656"/>
              </a:buClr>
              <a:buSzPts val="1200"/>
              <a:buFont typeface="IBM Plex Sans"/>
              <a:buChar char="•"/>
            </a:pPr>
            <a:r>
              <a:rPr b="0" i="0" lang="en-US" sz="1200" u="none" cap="none" strike="noStrike">
                <a:solidFill>
                  <a:srgbClr val="3D4656"/>
                </a:solidFill>
                <a:latin typeface="IBM Plex Sans"/>
                <a:ea typeface="IBM Plex Sans"/>
                <a:cs typeface="IBM Plex Sans"/>
                <a:sym typeface="IBM Plex Sans"/>
              </a:rPr>
              <a:t>Geolitica's predictions matched under 1% of crimes in Plainfield, NJ (2023).</a:t>
            </a:r>
            <a:endParaRPr b="0" i="0" sz="1200" u="none" cap="none" strike="noStrike">
              <a:solidFill>
                <a:schemeClr val="dk1"/>
              </a:solidFill>
              <a:latin typeface="Calibri"/>
              <a:ea typeface="Calibri"/>
              <a:cs typeface="Calibri"/>
              <a:sym typeface="Calibri"/>
            </a:endParaRPr>
          </a:p>
          <a:p>
            <a:pPr indent="-155194" lvl="0" marL="182880" marR="0" rtl="0" algn="l">
              <a:lnSpc>
                <a:spcPct val="132000"/>
              </a:lnSpc>
              <a:spcBef>
                <a:spcPts val="0"/>
              </a:spcBef>
              <a:spcAft>
                <a:spcPts val="0"/>
              </a:spcAft>
              <a:buClr>
                <a:srgbClr val="3D4656"/>
              </a:buClr>
              <a:buSzPts val="1200"/>
              <a:buFont typeface="IBM Plex Sans"/>
              <a:buChar char="•"/>
            </a:pPr>
            <a:r>
              <a:rPr b="0" i="0" lang="en-US" sz="1200" u="none" cap="none" strike="noStrike">
                <a:solidFill>
                  <a:srgbClr val="3D4656"/>
                </a:solidFill>
                <a:latin typeface="IBM Plex Sans"/>
                <a:ea typeface="IBM Plex Sans"/>
                <a:cs typeface="IBM Plex Sans"/>
                <a:sym typeface="IBM Plex Sans"/>
              </a:rPr>
              <a:t>Models trained on past arrests send police back to the same neighborhoods (Lum &amp; Isaac, 2016).</a:t>
            </a:r>
            <a:endParaRPr b="0" i="0" sz="1200" u="none" cap="none" strike="noStrike">
              <a:solidFill>
                <a:schemeClr val="dk1"/>
              </a:solidFill>
              <a:latin typeface="Calibri"/>
              <a:ea typeface="Calibri"/>
              <a:cs typeface="Calibri"/>
              <a:sym typeface="Calibri"/>
            </a:endParaRPr>
          </a:p>
        </p:txBody>
      </p:sp>
      <p:sp>
        <p:nvSpPr>
          <p:cNvPr id="218" name="Google Shape;218;p7"/>
          <p:cNvSpPr/>
          <p:nvPr/>
        </p:nvSpPr>
        <p:spPr>
          <a:xfrm>
            <a:off x="812775" y="4713006"/>
            <a:ext cx="10566600" cy="775800"/>
          </a:xfrm>
          <a:prstGeom prst="roundRect">
            <a:avLst>
              <a:gd fmla="val 13042" name="adj"/>
            </a:avLst>
          </a:pr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7"/>
          <p:cNvSpPr/>
          <p:nvPr/>
        </p:nvSpPr>
        <p:spPr>
          <a:xfrm>
            <a:off x="1097783" y="4872022"/>
            <a:ext cx="9618000" cy="487200"/>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E4E9F1"/>
              </a:buClr>
              <a:buSzPts val="1200"/>
              <a:buFont typeface="IBM Plex Sans"/>
              <a:buNone/>
            </a:pPr>
            <a:r>
              <a:rPr b="0" i="0" lang="en-US" sz="1200" u="none" cap="none" strike="noStrike">
                <a:solidFill>
                  <a:srgbClr val="E4E9F1"/>
                </a:solidFill>
                <a:latin typeface="IBM Plex Sans"/>
                <a:ea typeface="IBM Plex Sans"/>
                <a:cs typeface="IBM Plex Sans"/>
                <a:sym typeface="IBM Plex Sans"/>
              </a:rPr>
              <a:t>The Constitution limits what police can demand, not what they can buy. The FBI and ICE already buy phone location data without a warrant, so private scores can flow straight to the state.</a:t>
            </a:r>
            <a:endParaRPr b="0" i="0" sz="1200" u="none" cap="none" strike="noStrike">
              <a:solidFill>
                <a:schemeClr val="dk1"/>
              </a:solidFill>
              <a:latin typeface="Calibri"/>
              <a:ea typeface="Calibri"/>
              <a:cs typeface="Calibri"/>
              <a:sym typeface="Calibri"/>
            </a:endParaRPr>
          </a:p>
        </p:txBody>
      </p:sp>
      <p:sp>
        <p:nvSpPr>
          <p:cNvPr id="220" name="Google Shape;220;p7"/>
          <p:cNvSpPr/>
          <p:nvPr/>
        </p:nvSpPr>
        <p:spPr>
          <a:xfrm>
            <a:off x="812767" y="6157020"/>
            <a:ext cx="10883347" cy="42161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5B6472"/>
              </a:buClr>
              <a:buSzPts val="1200"/>
              <a:buFont typeface="IBM Plex Sans"/>
              <a:buNone/>
            </a:pPr>
            <a:r>
              <a:rPr b="0" i="0" lang="en-US" sz="1200" u="none" cap="none" strike="noStrike">
                <a:solidFill>
                  <a:srgbClr val="5B6472"/>
                </a:solidFill>
                <a:latin typeface="IBM Plex Sans"/>
                <a:ea typeface="IBM Plex Sans"/>
                <a:cs typeface="IBM Plex Sans"/>
                <a:sym typeface="IBM Plex Sans"/>
              </a:rPr>
              <a:t>Sources: Institute for Justice, "Case Closed: Pasco Sheriff Admits Predictive Policing Program Violated Constitution," Dec 2024; The Markup, Oct 2, 2023; Lum &amp; Isaac, "To predict and serve?" Significance 13(5), 2016; NPR, Mar 25, 2026; Carpenter v. U.S. (2018).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F"/>
        </a:solidFill>
      </p:bgPr>
    </p:bg>
    <p:spTree>
      <p:nvGrpSpPr>
        <p:cNvPr id="47" name="Shape 47"/>
        <p:cNvGrpSpPr/>
        <p:nvPr/>
      </p:nvGrpSpPr>
      <p:grpSpPr>
        <a:xfrm>
          <a:off x="0" y="0"/>
          <a:ext cx="0" cy="0"/>
          <a:chOff x="0" y="0"/>
          <a:chExt cx="0" cy="0"/>
        </a:xfrm>
      </p:grpSpPr>
      <p:sp>
        <p:nvSpPr>
          <p:cNvPr id="48" name="Google Shape;48;p3"/>
          <p:cNvSpPr/>
          <p:nvPr/>
        </p:nvSpPr>
        <p:spPr>
          <a:xfrm>
            <a:off x="812767" y="609589"/>
            <a:ext cx="10883461" cy="23877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01F"/>
              </a:buClr>
              <a:buSzPts val="1200"/>
              <a:buFont typeface="IBM Plex Sans"/>
              <a:buNone/>
            </a:pPr>
            <a:r>
              <a:rPr b="1" i="0" lang="en-US" sz="1200" u="none" cap="none" strike="noStrike">
                <a:solidFill>
                  <a:srgbClr val="B4501F"/>
                </a:solidFill>
                <a:latin typeface="IBM Plex Sans"/>
                <a:ea typeface="IBM Plex Sans"/>
                <a:cs typeface="IBM Plex Sans"/>
                <a:sym typeface="IBM Plex Sans"/>
              </a:rPr>
              <a:t>OPPORTUNITY</a:t>
            </a:r>
            <a:endParaRPr b="0" i="0" sz="1200" u="none" cap="none" strike="noStrike">
              <a:solidFill>
                <a:schemeClr val="dk1"/>
              </a:solidFill>
              <a:latin typeface="Calibri"/>
              <a:ea typeface="Calibri"/>
              <a:cs typeface="Calibri"/>
              <a:sym typeface="Calibri"/>
            </a:endParaRPr>
          </a:p>
        </p:txBody>
      </p:sp>
      <p:sp>
        <p:nvSpPr>
          <p:cNvPr id="49" name="Google Shape;49;p3"/>
          <p:cNvSpPr/>
          <p:nvPr/>
        </p:nvSpPr>
        <p:spPr>
          <a:xfrm>
            <a:off x="812775" y="1000724"/>
            <a:ext cx="10883400" cy="4710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4213D"/>
              </a:buClr>
              <a:buSzPts val="2800"/>
              <a:buFont typeface="Space Grotesk"/>
              <a:buNone/>
            </a:pPr>
            <a:r>
              <a:rPr b="1" i="0" lang="en-US" sz="2800" u="none" cap="none" strike="noStrike">
                <a:solidFill>
                  <a:srgbClr val="14213D"/>
                </a:solidFill>
                <a:latin typeface="Space Grotesk"/>
                <a:ea typeface="Space Grotesk"/>
                <a:cs typeface="Space Grotesk"/>
                <a:sym typeface="Space Grotesk"/>
              </a:rPr>
              <a:t>Every future is missing an appeal. Build it.</a:t>
            </a:r>
            <a:endParaRPr b="0" i="0" sz="2800" u="none" cap="none" strike="noStrike">
              <a:solidFill>
                <a:schemeClr val="dk1"/>
              </a:solidFill>
              <a:latin typeface="Calibri"/>
              <a:ea typeface="Calibri"/>
              <a:cs typeface="Calibri"/>
              <a:sym typeface="Calibri"/>
            </a:endParaRPr>
          </a:p>
        </p:txBody>
      </p:sp>
      <p:sp>
        <p:nvSpPr>
          <p:cNvPr id="50" name="Google Shape;50;p3"/>
          <p:cNvSpPr/>
          <p:nvPr/>
        </p:nvSpPr>
        <p:spPr>
          <a:xfrm>
            <a:off x="815950" y="1647410"/>
            <a:ext cx="2520900" cy="2168400"/>
          </a:xfrm>
          <a:prstGeom prst="roundRect">
            <a:avLst>
              <a:gd fmla="val 4469" name="adj"/>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994070" y="1848759"/>
            <a:ext cx="2229600" cy="2871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500"/>
              <a:buFont typeface="Space Grotesk"/>
              <a:buNone/>
            </a:pPr>
            <a:r>
              <a:rPr b="1" i="0" lang="en-US" sz="1500" u="none" cap="none" strike="noStrike">
                <a:solidFill>
                  <a:srgbClr val="14213D"/>
                </a:solidFill>
                <a:latin typeface="Space Grotesk"/>
                <a:ea typeface="Space Grotesk"/>
                <a:cs typeface="Space Grotesk"/>
                <a:sym typeface="Space Grotesk"/>
              </a:rPr>
              <a:t>Right to your score</a:t>
            </a:r>
            <a:endParaRPr b="0" i="0" sz="1500" u="none" cap="none" strike="noStrike">
              <a:solidFill>
                <a:schemeClr val="dk1"/>
              </a:solidFill>
              <a:latin typeface="Calibri"/>
              <a:ea typeface="Calibri"/>
              <a:cs typeface="Calibri"/>
              <a:sym typeface="Calibri"/>
            </a:endParaRPr>
          </a:p>
        </p:txBody>
      </p:sp>
      <p:sp>
        <p:nvSpPr>
          <p:cNvPr id="52" name="Google Shape;52;p3"/>
          <p:cNvSpPr/>
          <p:nvPr/>
        </p:nvSpPr>
        <p:spPr>
          <a:xfrm>
            <a:off x="994070" y="2193267"/>
            <a:ext cx="2229600" cy="15000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Let people see, dispute and delete private risk scores, the way credit reports already allow.</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900"/>
              </a:spcBef>
              <a:spcAft>
                <a:spcPts val="0"/>
              </a:spcAft>
              <a:buClr>
                <a:srgbClr val="3D4656"/>
              </a:buClr>
              <a:buSzPts val="1200"/>
              <a:buFont typeface="IBM Plex Sans"/>
              <a:buNone/>
            </a:pPr>
            <a:r>
              <a:rPr b="1" i="0" lang="en-US" sz="1100" u="none" cap="none" strike="noStrike">
                <a:solidFill>
                  <a:srgbClr val="B4501F"/>
                </a:solidFill>
                <a:latin typeface="IBM Plex Sans"/>
                <a:ea typeface="IBM Plex Sans"/>
                <a:cs typeface="IBM Plex Sans"/>
                <a:sym typeface="IBM Plex Sans"/>
              </a:rPr>
              <a:t>Answers scenario 4</a:t>
            </a:r>
            <a:endParaRPr b="0" i="0" sz="1200" u="none" cap="none" strike="noStrike">
              <a:solidFill>
                <a:schemeClr val="dk1"/>
              </a:solidFill>
              <a:latin typeface="Calibri"/>
              <a:ea typeface="Calibri"/>
              <a:cs typeface="Calibri"/>
              <a:sym typeface="Calibri"/>
            </a:endParaRPr>
          </a:p>
        </p:txBody>
      </p:sp>
      <p:sp>
        <p:nvSpPr>
          <p:cNvPr id="53" name="Google Shape;53;p3"/>
          <p:cNvSpPr/>
          <p:nvPr/>
        </p:nvSpPr>
        <p:spPr>
          <a:xfrm>
            <a:off x="3495625" y="1647410"/>
            <a:ext cx="2520900" cy="2168400"/>
          </a:xfrm>
          <a:prstGeom prst="roundRect">
            <a:avLst>
              <a:gd fmla="val 4469" name="adj"/>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3673745" y="1848759"/>
            <a:ext cx="2229600" cy="2871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500"/>
              <a:buFont typeface="Space Grotesk"/>
              <a:buNone/>
            </a:pPr>
            <a:r>
              <a:rPr b="1" i="0" lang="en-US" sz="1500" u="none" cap="none" strike="noStrike">
                <a:solidFill>
                  <a:srgbClr val="14213D"/>
                </a:solidFill>
                <a:latin typeface="Space Grotesk"/>
                <a:ea typeface="Space Grotesk"/>
                <a:cs typeface="Space Grotesk"/>
                <a:sym typeface="Space Grotesk"/>
              </a:rPr>
              <a:t>No warrant, no data</a:t>
            </a:r>
            <a:endParaRPr b="0" i="0" sz="1500" u="none" cap="none" strike="noStrike">
              <a:solidFill>
                <a:schemeClr val="dk1"/>
              </a:solidFill>
              <a:latin typeface="Calibri"/>
              <a:ea typeface="Calibri"/>
              <a:cs typeface="Calibri"/>
              <a:sym typeface="Calibri"/>
            </a:endParaRPr>
          </a:p>
        </p:txBody>
      </p:sp>
      <p:sp>
        <p:nvSpPr>
          <p:cNvPr id="55" name="Google Shape;55;p3"/>
          <p:cNvSpPr/>
          <p:nvPr/>
        </p:nvSpPr>
        <p:spPr>
          <a:xfrm>
            <a:off x="3673745" y="2193267"/>
            <a:ext cx="2229600" cy="15000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Require a warrant to buy data that police would need a warrant to demand.</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900"/>
              </a:spcBef>
              <a:spcAft>
                <a:spcPts val="0"/>
              </a:spcAft>
              <a:buClr>
                <a:srgbClr val="3D4656"/>
              </a:buClr>
              <a:buSzPts val="1200"/>
              <a:buFont typeface="IBM Plex Sans"/>
              <a:buNone/>
            </a:pPr>
            <a:r>
              <a:rPr b="1" i="0" lang="en-US" sz="1100" u="none" cap="none" strike="noStrike">
                <a:solidFill>
                  <a:srgbClr val="B4501F"/>
                </a:solidFill>
                <a:latin typeface="IBM Plex Sans"/>
                <a:ea typeface="IBM Plex Sans"/>
                <a:cs typeface="IBM Plex Sans"/>
                <a:sym typeface="IBM Plex Sans"/>
              </a:rPr>
              <a:t>Cuts the pipe from 4 to 3</a:t>
            </a:r>
            <a:endParaRPr b="0" i="0" sz="1200" u="none" cap="none" strike="noStrike">
              <a:solidFill>
                <a:schemeClr val="dk1"/>
              </a:solidFill>
              <a:latin typeface="Calibri"/>
              <a:ea typeface="Calibri"/>
              <a:cs typeface="Calibri"/>
              <a:sym typeface="Calibri"/>
            </a:endParaRPr>
          </a:p>
        </p:txBody>
      </p:sp>
      <p:sp>
        <p:nvSpPr>
          <p:cNvPr id="56" name="Google Shape;56;p3"/>
          <p:cNvSpPr/>
          <p:nvPr/>
        </p:nvSpPr>
        <p:spPr>
          <a:xfrm>
            <a:off x="6175356" y="1647410"/>
            <a:ext cx="2520900" cy="2168400"/>
          </a:xfrm>
          <a:prstGeom prst="roundRect">
            <a:avLst>
              <a:gd fmla="val 4469" name="adj"/>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6353475" y="1848759"/>
            <a:ext cx="2229600" cy="2871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500"/>
              <a:buFont typeface="Space Grotesk"/>
              <a:buNone/>
            </a:pPr>
            <a:r>
              <a:rPr b="1" i="0" lang="en-US" sz="1500" u="none" cap="none" strike="noStrike">
                <a:solidFill>
                  <a:srgbClr val="14213D"/>
                </a:solidFill>
                <a:latin typeface="Space Grotesk"/>
                <a:ea typeface="Space Grotesk"/>
                <a:cs typeface="Space Grotesk"/>
                <a:sym typeface="Space Grotesk"/>
              </a:rPr>
              <a:t>Audit before use</a:t>
            </a:r>
            <a:endParaRPr b="0" i="0" sz="1500" u="none" cap="none" strike="noStrike">
              <a:solidFill>
                <a:schemeClr val="dk1"/>
              </a:solidFill>
              <a:latin typeface="Calibri"/>
              <a:ea typeface="Calibri"/>
              <a:cs typeface="Calibri"/>
              <a:sym typeface="Calibri"/>
            </a:endParaRPr>
          </a:p>
        </p:txBody>
      </p:sp>
      <p:sp>
        <p:nvSpPr>
          <p:cNvPr id="58" name="Google Shape;58;p3"/>
          <p:cNvSpPr/>
          <p:nvPr/>
        </p:nvSpPr>
        <p:spPr>
          <a:xfrm>
            <a:off x="6353475" y="2193267"/>
            <a:ext cx="2229600" cy="15000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Independent accuracy and bias tests before a model scores anyone. Geolitica hit under 1%.</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900"/>
              </a:spcBef>
              <a:spcAft>
                <a:spcPts val="0"/>
              </a:spcAft>
              <a:buClr>
                <a:srgbClr val="3D4656"/>
              </a:buClr>
              <a:buSzPts val="1200"/>
              <a:buFont typeface="IBM Plex Sans"/>
              <a:buNone/>
            </a:pPr>
            <a:r>
              <a:rPr b="1" i="0" lang="en-US" sz="1100" u="none" cap="none" strike="noStrike">
                <a:solidFill>
                  <a:srgbClr val="B4501F"/>
                </a:solidFill>
                <a:latin typeface="IBM Plex Sans"/>
                <a:ea typeface="IBM Plex Sans"/>
                <a:cs typeface="IBM Plex Sans"/>
                <a:sym typeface="IBM Plex Sans"/>
              </a:rPr>
              <a:t>Answers scenarios 3 and 4</a:t>
            </a:r>
            <a:endParaRPr b="0" i="0" sz="1200" u="none" cap="none" strike="noStrike">
              <a:solidFill>
                <a:schemeClr val="dk1"/>
              </a:solidFill>
              <a:latin typeface="Calibri"/>
              <a:ea typeface="Calibri"/>
              <a:cs typeface="Calibri"/>
              <a:sym typeface="Calibri"/>
            </a:endParaRPr>
          </a:p>
        </p:txBody>
      </p:sp>
      <p:sp>
        <p:nvSpPr>
          <p:cNvPr id="59" name="Google Shape;59;p3"/>
          <p:cNvSpPr/>
          <p:nvPr/>
        </p:nvSpPr>
        <p:spPr>
          <a:xfrm>
            <a:off x="8855032" y="1647410"/>
            <a:ext cx="2520900" cy="2168400"/>
          </a:xfrm>
          <a:prstGeom prst="roundRect">
            <a:avLst>
              <a:gd fmla="val 4469" name="adj"/>
            </a:avLst>
          </a:prstGeom>
          <a:solidFill>
            <a:srgbClr val="FCFBF8"/>
          </a:solidFill>
          <a:ln cap="flat" cmpd="sng" w="9525">
            <a:solidFill>
              <a:srgbClr val="DDD8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9033151" y="1848759"/>
            <a:ext cx="2229600" cy="2871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500"/>
              <a:buFont typeface="Space Grotesk"/>
              <a:buNone/>
            </a:pPr>
            <a:r>
              <a:rPr b="1" i="0" lang="en-US" sz="1500" u="none" cap="none" strike="noStrike">
                <a:solidFill>
                  <a:srgbClr val="14213D"/>
                </a:solidFill>
                <a:latin typeface="Space Grotesk"/>
                <a:ea typeface="Space Grotesk"/>
                <a:cs typeface="Space Grotesk"/>
                <a:sym typeface="Space Grotesk"/>
              </a:rPr>
              <a:t>Privacy-first tools</a:t>
            </a:r>
            <a:endParaRPr b="0" i="0" sz="1500" u="none" cap="none" strike="noStrike">
              <a:solidFill>
                <a:schemeClr val="dk1"/>
              </a:solidFill>
              <a:latin typeface="Calibri"/>
              <a:ea typeface="Calibri"/>
              <a:cs typeface="Calibri"/>
              <a:sym typeface="Calibri"/>
            </a:endParaRPr>
          </a:p>
        </p:txBody>
      </p:sp>
      <p:sp>
        <p:nvSpPr>
          <p:cNvPr id="61" name="Google Shape;61;p3"/>
          <p:cNvSpPr/>
          <p:nvPr/>
        </p:nvSpPr>
        <p:spPr>
          <a:xfrm>
            <a:off x="9033151" y="2193267"/>
            <a:ext cx="2229600" cy="15000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4656"/>
              </a:buClr>
              <a:buSzPts val="1200"/>
              <a:buFont typeface="IBM Plex Sans"/>
              <a:buNone/>
            </a:pPr>
            <a:r>
              <a:rPr b="0" i="0" lang="en-US" sz="1200" u="none" cap="none" strike="noStrike">
                <a:solidFill>
                  <a:srgbClr val="3D4656"/>
                </a:solidFill>
                <a:latin typeface="IBM Plex Sans"/>
                <a:ea typeface="IBM Plex Sans"/>
                <a:cs typeface="IBM Plex Sans"/>
                <a:sym typeface="IBM Plex Sans"/>
              </a:rPr>
              <a:t>Plate readers that keep data local, delete data fast and log every search. 53 cities leaving Flock need them.</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900"/>
              </a:spcBef>
              <a:spcAft>
                <a:spcPts val="0"/>
              </a:spcAft>
              <a:buClr>
                <a:srgbClr val="3D4656"/>
              </a:buClr>
              <a:buSzPts val="1200"/>
              <a:buFont typeface="IBM Plex Sans"/>
              <a:buNone/>
            </a:pPr>
            <a:r>
              <a:rPr b="1" i="0" lang="en-US" sz="1100" u="none" cap="none" strike="noStrike">
                <a:solidFill>
                  <a:srgbClr val="B4501F"/>
                </a:solidFill>
                <a:latin typeface="IBM Plex Sans"/>
                <a:ea typeface="IBM Plex Sans"/>
                <a:cs typeface="IBM Plex Sans"/>
                <a:sym typeface="IBM Plex Sans"/>
              </a:rPr>
              <a:t>Answers scenarios 1 and 3</a:t>
            </a:r>
            <a:endParaRPr b="0" i="0" sz="1200" u="none" cap="none" strike="noStrike">
              <a:solidFill>
                <a:schemeClr val="dk1"/>
              </a:solidFill>
              <a:latin typeface="Calibri"/>
              <a:ea typeface="Calibri"/>
              <a:cs typeface="Calibri"/>
              <a:sym typeface="Calibri"/>
            </a:endParaRPr>
          </a:p>
        </p:txBody>
      </p:sp>
      <p:sp>
        <p:nvSpPr>
          <p:cNvPr id="65" name="Google Shape;65;p3"/>
          <p:cNvSpPr/>
          <p:nvPr/>
        </p:nvSpPr>
        <p:spPr>
          <a:xfrm>
            <a:off x="812775" y="4050000"/>
            <a:ext cx="10563157" cy="1300000"/>
          </a:xfrm>
          <a:prstGeom prst="roundRect">
            <a:avLst>
              <a:gd fmla="val 7115" name="adj"/>
            </a:avLst>
          </a:pr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1080000" y="4280000"/>
            <a:ext cx="10030000" cy="270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2994A"/>
              </a:buClr>
              <a:buSzPts val="1400"/>
              <a:buFont typeface="Space Grotesk"/>
              <a:buNone/>
            </a:pPr>
            <a:r>
              <a:rPr b="1" i="0" lang="en-US" sz="1400" u="none" cap="none" strike="noStrike">
                <a:solidFill>
                  <a:srgbClr val="F2994A"/>
                </a:solidFill>
                <a:latin typeface="Space Grotesk"/>
                <a:ea typeface="Space Grotesk"/>
                <a:cs typeface="Space Grotesk"/>
                <a:sym typeface="Space Grotesk"/>
              </a:rPr>
              <a:t>The common thread</a:t>
            </a:r>
            <a:endParaRPr b="0" i="0" sz="1400" u="none" cap="none" strike="noStrike">
              <a:solidFill>
                <a:schemeClr val="dk1"/>
              </a:solidFill>
              <a:latin typeface="Calibri"/>
              <a:ea typeface="Calibri"/>
              <a:cs typeface="Calibri"/>
              <a:sym typeface="Calibri"/>
            </a:endParaRPr>
          </a:p>
        </p:txBody>
      </p:sp>
      <p:sp>
        <p:nvSpPr>
          <p:cNvPr id="67" name="Google Shape;67;p3"/>
          <p:cNvSpPr/>
          <p:nvPr/>
        </p:nvSpPr>
        <p:spPr>
          <a:xfrm>
            <a:off x="1080000" y="4600000"/>
            <a:ext cx="10030000" cy="6000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E4E9F1"/>
              </a:buClr>
              <a:buSzPts val="1200"/>
              <a:buFont typeface="IBM Plex Sans"/>
              <a:buNone/>
            </a:pPr>
            <a:r>
              <a:rPr b="0" i="0" lang="en-US" sz="1200" u="none" cap="none" strike="noStrike">
                <a:solidFill>
                  <a:srgbClr val="E4E9F1"/>
                </a:solidFill>
                <a:latin typeface="IBM Plex Sans"/>
                <a:ea typeface="IBM Plex Sans"/>
                <a:cs typeface="IBM Plex Sans"/>
                <a:sym typeface="IBM Plex Sans"/>
              </a:rPr>
              <a:t>Our four futures differ in who owns the data and when it is used, but each gets worse as your power to see, question and appeal shrinks. The opportunity is to build that appeal, in law and in product, before the scores are everywhere.</a:t>
            </a:r>
            <a:endParaRPr b="0" i="0" sz="1200" u="none" cap="none" strike="noStrike">
              <a:solidFill>
                <a:schemeClr val="dk1"/>
              </a:solidFill>
              <a:latin typeface="Calibri"/>
              <a:ea typeface="Calibri"/>
              <a:cs typeface="Calibri"/>
              <a:sym typeface="Calibri"/>
            </a:endParaRPr>
          </a:p>
        </p:txBody>
      </p:sp>
      <p:sp>
        <p:nvSpPr>
          <p:cNvPr id="71" name="Google Shape;71;p3"/>
          <p:cNvSpPr/>
          <p:nvPr/>
        </p:nvSpPr>
        <p:spPr>
          <a:xfrm>
            <a:off x="812767" y="5958914"/>
            <a:ext cx="10883347" cy="61972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5B6472"/>
              </a:buClr>
              <a:buSzPts val="1200"/>
              <a:buFont typeface="IBM Plex Sans"/>
              <a:buNone/>
            </a:pPr>
            <a:r>
              <a:rPr b="0" i="0" lang="en-US" sz="1200" u="none" cap="none" strike="noStrike">
                <a:solidFill>
                  <a:srgbClr val="5B6472"/>
                </a:solidFill>
                <a:latin typeface="IBM Plex Sans"/>
                <a:ea typeface="IBM Plex Sans"/>
                <a:cs typeface="IBM Plex Sans"/>
                <a:sym typeface="IBM Plex Sans"/>
              </a:rPr>
              <a:t>Sources: Fair Credit Reporting Act, 15 U.S.C. §§ 1681g, 1681i; Carpenter v. U.S., 585 U.S. 296 (2018); NPR, Mar 25, 2026; The Markup, Oct 2, 2023; TechTimes, Jun 29,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2026-09-27T20:39:09Z</dcterms:created>
  <dc:creator>PptxGenJS</dc:creator>
</cp:coreProperties>
</file>