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4b17fb35b0b10cae_1_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4b17fb35b0b10cae_1_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Our domain is the software talent system. The focal point is the junior / entry-level engineer role — the step where beginners become experienced engineers.</a:t>
            </a:r>
            <a:endParaRPr/>
          </a:p>
        </p:txBody>
      </p:sp>
      <p:sp>
        <p:nvSpPr>
          <p:cNvPr id="64" name="Google Shape;64;h4b17fb35b0b10cae_1_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4b17fb35b0b10cae_1_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4b17fb35b0b10cae_1_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Message: software engineering is not dying. Long-term demand is still strong (+16%), but the step where beginners gain experience is shrinking (−65% new-grad hiring, 6.1% CS grad unemployment). AI is one force among several — cost pressure, the post-pandemic correction, offshoring and changing skill requirements interact.</a:t>
            </a:r>
            <a:endParaRPr/>
          </a:p>
        </p:txBody>
      </p:sp>
      <p:sp>
        <p:nvSpPr>
          <p:cNvPr id="88" name="Google Shape;88;h4b17fb35b0b10cae_1_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4b17fb35b0b10cae_1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h4b17fb35b0b10cae_1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Like the submarine example, where the propulsion sub-system was the reverse salient, the bottleneck here is not the junior engineer's skill — it is the learning sub-system inside the junior role. The junior role bundled production and learning; AI unbundled them. Above the focal point sits a constraint most people miss: training is an externality, so each firm prefers to hire experienced engineers that someone else trained.</a:t>
            </a:r>
            <a:endParaRPr/>
          </a:p>
        </p:txBody>
      </p:sp>
      <p:sp>
        <p:nvSpPr>
          <p:cNvPr id="143" name="Google Shape;143;h4b17fb35b0b10cae_1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4b17fb35b0b10cae_1_12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h4b17fb35b0b10cae_1_12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Value-model shift: a junior used to pay for their own training through routine work; the potential came for free. AI took over much of that routine work, so the cross-subsidy disappeared and potential now has to be paid for separately. Firms (perceive they) can get the output from a senior plus AI. Efficiency goes up, but the experience-collection step disappears. The chart shows this is not 'engineering is dying': engineering hiring fell only 11% while new-grad hiring fell 65–76%.</a:t>
            </a:r>
            <a:endParaRPr/>
          </a:p>
        </p:txBody>
      </p:sp>
      <p:sp>
        <p:nvSpPr>
          <p:cNvPr id="181" name="Google Shape;181;h4b17fb35b0b10cae_1_12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4b17fb35b0b10cae_1_17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h4b17fb35b0b10cae_1_17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four opportunities are organized around the hiring gate and climb the four innovation levels: before the gate (remove a constraint in the talent ecosystem), at the gate (better interactions between candidates and employers), after the gate (redesign the team so juniors manage AI instead of competing with it), and re-imagining the system (treat experience as shared infrastructure, like medical residency). Opportunity 3 answers the value-model shift directly: if firms now value management and judgment, let juniors practice them by leading AI agents.</a:t>
            </a:r>
            <a:endParaRPr/>
          </a:p>
        </p:txBody>
      </p:sp>
      <p:sp>
        <p:nvSpPr>
          <p:cNvPr id="228" name="Google Shape;228;h4b17fb35b0b10cae_1_17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chemeClr val="dk1"/>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548640" y="1062990"/>
            <a:ext cx="7886700" cy="10974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type="title"/>
          </p:nvPr>
        </p:nvSpPr>
        <p:spPr>
          <a:xfrm>
            <a:off x="411480" y="205740"/>
            <a:ext cx="8298300" cy="5487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2300"/>
              <a:buFont typeface="Arial"/>
              <a:buNone/>
              <a:defRPr b="1" i="0" sz="2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6" name="Google Shape;56;p15"/>
          <p:cNvSpPr txBox="1"/>
          <p:nvPr>
            <p:ph idx="12" type="sldNum"/>
          </p:nvPr>
        </p:nvSpPr>
        <p:spPr>
          <a:xfrm>
            <a:off x="8435340" y="4800600"/>
            <a:ext cx="342900" cy="2058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dk2"/>
                </a:solidFill>
                <a:latin typeface="Calibri"/>
                <a:ea typeface="Calibri"/>
                <a:cs typeface="Calibri"/>
                <a:sym typeface="Calibri"/>
              </a:defRPr>
            </a:lvl1pPr>
            <a:lvl2pPr indent="0" lvl="1" marL="0" marR="0" algn="r">
              <a:spcBef>
                <a:spcPts val="0"/>
              </a:spcBef>
              <a:buNone/>
              <a:defRPr b="0" i="0" sz="800" u="none" cap="none" strike="noStrike">
                <a:solidFill>
                  <a:schemeClr val="dk2"/>
                </a:solidFill>
                <a:latin typeface="Calibri"/>
                <a:ea typeface="Calibri"/>
                <a:cs typeface="Calibri"/>
                <a:sym typeface="Calibri"/>
              </a:defRPr>
            </a:lvl2pPr>
            <a:lvl3pPr indent="0" lvl="2" marL="0" marR="0" algn="r">
              <a:spcBef>
                <a:spcPts val="0"/>
              </a:spcBef>
              <a:buNone/>
              <a:defRPr b="0" i="0" sz="800" u="none" cap="none" strike="noStrike">
                <a:solidFill>
                  <a:schemeClr val="dk2"/>
                </a:solidFill>
                <a:latin typeface="Calibri"/>
                <a:ea typeface="Calibri"/>
                <a:cs typeface="Calibri"/>
                <a:sym typeface="Calibri"/>
              </a:defRPr>
            </a:lvl3pPr>
            <a:lvl4pPr indent="0" lvl="3" marL="0" marR="0" algn="r">
              <a:spcBef>
                <a:spcPts val="0"/>
              </a:spcBef>
              <a:buNone/>
              <a:defRPr b="0" i="0" sz="800" u="none" cap="none" strike="noStrike">
                <a:solidFill>
                  <a:schemeClr val="dk2"/>
                </a:solidFill>
                <a:latin typeface="Calibri"/>
                <a:ea typeface="Calibri"/>
                <a:cs typeface="Calibri"/>
                <a:sym typeface="Calibri"/>
              </a:defRPr>
            </a:lvl4pPr>
            <a:lvl5pPr indent="0" lvl="4" marL="0" marR="0" algn="r">
              <a:spcBef>
                <a:spcPts val="0"/>
              </a:spcBef>
              <a:buNone/>
              <a:defRPr b="0" i="0" sz="800" u="none" cap="none" strike="noStrike">
                <a:solidFill>
                  <a:schemeClr val="dk2"/>
                </a:solidFill>
                <a:latin typeface="Calibri"/>
                <a:ea typeface="Calibri"/>
                <a:cs typeface="Calibri"/>
                <a:sym typeface="Calibri"/>
              </a:defRPr>
            </a:lvl5pPr>
            <a:lvl6pPr indent="0" lvl="5" marL="0" marR="0" algn="r">
              <a:spcBef>
                <a:spcPts val="0"/>
              </a:spcBef>
              <a:buNone/>
              <a:defRPr b="0" i="0" sz="800" u="none" cap="none" strike="noStrike">
                <a:solidFill>
                  <a:schemeClr val="dk2"/>
                </a:solidFill>
                <a:latin typeface="Calibri"/>
                <a:ea typeface="Calibri"/>
                <a:cs typeface="Calibri"/>
                <a:sym typeface="Calibri"/>
              </a:defRPr>
            </a:lvl6pPr>
            <a:lvl7pPr indent="0" lvl="6" marL="0" marR="0" algn="r">
              <a:spcBef>
                <a:spcPts val="0"/>
              </a:spcBef>
              <a:buNone/>
              <a:defRPr b="0" i="0" sz="800" u="none" cap="none" strike="noStrike">
                <a:solidFill>
                  <a:schemeClr val="dk2"/>
                </a:solidFill>
                <a:latin typeface="Calibri"/>
                <a:ea typeface="Calibri"/>
                <a:cs typeface="Calibri"/>
                <a:sym typeface="Calibri"/>
              </a:defRPr>
            </a:lvl7pPr>
            <a:lvl8pPr indent="0" lvl="7" marL="0" marR="0" algn="r">
              <a:spcBef>
                <a:spcPts val="0"/>
              </a:spcBef>
              <a:buNone/>
              <a:defRPr b="0" i="0" sz="800" u="none" cap="none" strike="noStrike">
                <a:solidFill>
                  <a:schemeClr val="dk2"/>
                </a:solidFill>
                <a:latin typeface="Calibri"/>
                <a:ea typeface="Calibri"/>
                <a:cs typeface="Calibri"/>
                <a:sym typeface="Calibri"/>
              </a:defRPr>
            </a:lvl8pPr>
            <a:lvl9pPr indent="0" lvl="8" marL="0" marR="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TINT">
  <p:cSld name="CONTENT_TINT">
    <p:bg>
      <p:bgPr>
        <a:solidFill>
          <a:schemeClr val="lt2"/>
        </a:solidFill>
      </p:bgPr>
    </p:bg>
    <p:spTree>
      <p:nvGrpSpPr>
        <p:cNvPr id="57" name="Shape 57"/>
        <p:cNvGrpSpPr/>
        <p:nvPr/>
      </p:nvGrpSpPr>
      <p:grpSpPr>
        <a:xfrm>
          <a:off x="0" y="0"/>
          <a:ext cx="0" cy="0"/>
          <a:chOff x="0" y="0"/>
          <a:chExt cx="0" cy="0"/>
        </a:xfrm>
      </p:grpSpPr>
      <p:sp>
        <p:nvSpPr>
          <p:cNvPr id="58" name="Google Shape;58;p16"/>
          <p:cNvSpPr txBox="1"/>
          <p:nvPr>
            <p:ph type="title"/>
          </p:nvPr>
        </p:nvSpPr>
        <p:spPr>
          <a:xfrm>
            <a:off x="411480" y="205740"/>
            <a:ext cx="8298300" cy="5487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2300"/>
              <a:buFont typeface="Arial"/>
              <a:buNone/>
              <a:defRPr b="1" i="0" sz="2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9" name="Google Shape;59;p16"/>
          <p:cNvSpPr txBox="1"/>
          <p:nvPr>
            <p:ph idx="12" type="sldNum"/>
          </p:nvPr>
        </p:nvSpPr>
        <p:spPr>
          <a:xfrm>
            <a:off x="8435340" y="4800600"/>
            <a:ext cx="342900" cy="2058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dk2"/>
                </a:solidFill>
                <a:latin typeface="Calibri"/>
                <a:ea typeface="Calibri"/>
                <a:cs typeface="Calibri"/>
                <a:sym typeface="Calibri"/>
              </a:defRPr>
            </a:lvl1pPr>
            <a:lvl2pPr indent="0" lvl="1" marL="0" marR="0" algn="r">
              <a:spcBef>
                <a:spcPts val="0"/>
              </a:spcBef>
              <a:buNone/>
              <a:defRPr b="0" i="0" sz="800" u="none" cap="none" strike="noStrike">
                <a:solidFill>
                  <a:schemeClr val="dk2"/>
                </a:solidFill>
                <a:latin typeface="Calibri"/>
                <a:ea typeface="Calibri"/>
                <a:cs typeface="Calibri"/>
                <a:sym typeface="Calibri"/>
              </a:defRPr>
            </a:lvl2pPr>
            <a:lvl3pPr indent="0" lvl="2" marL="0" marR="0" algn="r">
              <a:spcBef>
                <a:spcPts val="0"/>
              </a:spcBef>
              <a:buNone/>
              <a:defRPr b="0" i="0" sz="800" u="none" cap="none" strike="noStrike">
                <a:solidFill>
                  <a:schemeClr val="dk2"/>
                </a:solidFill>
                <a:latin typeface="Calibri"/>
                <a:ea typeface="Calibri"/>
                <a:cs typeface="Calibri"/>
                <a:sym typeface="Calibri"/>
              </a:defRPr>
            </a:lvl3pPr>
            <a:lvl4pPr indent="0" lvl="3" marL="0" marR="0" algn="r">
              <a:spcBef>
                <a:spcPts val="0"/>
              </a:spcBef>
              <a:buNone/>
              <a:defRPr b="0" i="0" sz="800" u="none" cap="none" strike="noStrike">
                <a:solidFill>
                  <a:schemeClr val="dk2"/>
                </a:solidFill>
                <a:latin typeface="Calibri"/>
                <a:ea typeface="Calibri"/>
                <a:cs typeface="Calibri"/>
                <a:sym typeface="Calibri"/>
              </a:defRPr>
            </a:lvl4pPr>
            <a:lvl5pPr indent="0" lvl="4" marL="0" marR="0" algn="r">
              <a:spcBef>
                <a:spcPts val="0"/>
              </a:spcBef>
              <a:buNone/>
              <a:defRPr b="0" i="0" sz="800" u="none" cap="none" strike="noStrike">
                <a:solidFill>
                  <a:schemeClr val="dk2"/>
                </a:solidFill>
                <a:latin typeface="Calibri"/>
                <a:ea typeface="Calibri"/>
                <a:cs typeface="Calibri"/>
                <a:sym typeface="Calibri"/>
              </a:defRPr>
            </a:lvl5pPr>
            <a:lvl6pPr indent="0" lvl="5" marL="0" marR="0" algn="r">
              <a:spcBef>
                <a:spcPts val="0"/>
              </a:spcBef>
              <a:buNone/>
              <a:defRPr b="0" i="0" sz="800" u="none" cap="none" strike="noStrike">
                <a:solidFill>
                  <a:schemeClr val="dk2"/>
                </a:solidFill>
                <a:latin typeface="Calibri"/>
                <a:ea typeface="Calibri"/>
                <a:cs typeface="Calibri"/>
                <a:sym typeface="Calibri"/>
              </a:defRPr>
            </a:lvl6pPr>
            <a:lvl7pPr indent="0" lvl="6" marL="0" marR="0" algn="r">
              <a:spcBef>
                <a:spcPts val="0"/>
              </a:spcBef>
              <a:buNone/>
              <a:defRPr b="0" i="0" sz="800" u="none" cap="none" strike="noStrike">
                <a:solidFill>
                  <a:schemeClr val="dk2"/>
                </a:solidFill>
                <a:latin typeface="Calibri"/>
                <a:ea typeface="Calibri"/>
                <a:cs typeface="Calibri"/>
                <a:sym typeface="Calibri"/>
              </a:defRPr>
            </a:lvl7pPr>
            <a:lvl8pPr indent="0" lvl="7" marL="0" marR="0" algn="r">
              <a:spcBef>
                <a:spcPts val="0"/>
              </a:spcBef>
              <a:buNone/>
              <a:defRPr b="0" i="0" sz="800" u="none" cap="none" strike="noStrike">
                <a:solidFill>
                  <a:schemeClr val="dk2"/>
                </a:solidFill>
                <a:latin typeface="Calibri"/>
                <a:ea typeface="Calibri"/>
                <a:cs typeface="Calibri"/>
                <a:sym typeface="Calibri"/>
              </a:defRPr>
            </a:lvl8pPr>
            <a:lvl9pPr indent="0" lvl="8" marL="0" marR="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0" name="Shape 6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435340" y="4800600"/>
            <a:ext cx="342900" cy="20580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800" u="none" cap="none" strike="noStrike">
                <a:solidFill>
                  <a:schemeClr val="dk2"/>
                </a:solidFill>
                <a:latin typeface="Calibri"/>
                <a:ea typeface="Calibri"/>
                <a:cs typeface="Calibri"/>
                <a:sym typeface="Calibri"/>
              </a:defRPr>
            </a:lvl1pPr>
            <a:lvl2pPr indent="0" lvl="1" marL="0" marR="0" rtl="0" algn="r">
              <a:spcBef>
                <a:spcPts val="0"/>
              </a:spcBef>
              <a:buNone/>
              <a:defRPr b="0" i="0" sz="800" u="none" cap="none" strike="noStrike">
                <a:solidFill>
                  <a:schemeClr val="dk2"/>
                </a:solidFill>
                <a:latin typeface="Calibri"/>
                <a:ea typeface="Calibri"/>
                <a:cs typeface="Calibri"/>
                <a:sym typeface="Calibri"/>
              </a:defRPr>
            </a:lvl2pPr>
            <a:lvl3pPr indent="0" lvl="2" marL="0" marR="0" rtl="0" algn="r">
              <a:spcBef>
                <a:spcPts val="0"/>
              </a:spcBef>
              <a:buNone/>
              <a:defRPr b="0" i="0" sz="800" u="none" cap="none" strike="noStrike">
                <a:solidFill>
                  <a:schemeClr val="dk2"/>
                </a:solidFill>
                <a:latin typeface="Calibri"/>
                <a:ea typeface="Calibri"/>
                <a:cs typeface="Calibri"/>
                <a:sym typeface="Calibri"/>
              </a:defRPr>
            </a:lvl3pPr>
            <a:lvl4pPr indent="0" lvl="3" marL="0" marR="0" rtl="0" algn="r">
              <a:spcBef>
                <a:spcPts val="0"/>
              </a:spcBef>
              <a:buNone/>
              <a:defRPr b="0" i="0" sz="800" u="none" cap="none" strike="noStrike">
                <a:solidFill>
                  <a:schemeClr val="dk2"/>
                </a:solidFill>
                <a:latin typeface="Calibri"/>
                <a:ea typeface="Calibri"/>
                <a:cs typeface="Calibri"/>
                <a:sym typeface="Calibri"/>
              </a:defRPr>
            </a:lvl4pPr>
            <a:lvl5pPr indent="0" lvl="4" marL="0" marR="0" rtl="0" algn="r">
              <a:spcBef>
                <a:spcPts val="0"/>
              </a:spcBef>
              <a:buNone/>
              <a:defRPr b="0" i="0" sz="800" u="none" cap="none" strike="noStrike">
                <a:solidFill>
                  <a:schemeClr val="dk2"/>
                </a:solidFill>
                <a:latin typeface="Calibri"/>
                <a:ea typeface="Calibri"/>
                <a:cs typeface="Calibri"/>
                <a:sym typeface="Calibri"/>
              </a:defRPr>
            </a:lvl5pPr>
            <a:lvl6pPr indent="0" lvl="5" marL="0" marR="0" rtl="0" algn="r">
              <a:spcBef>
                <a:spcPts val="0"/>
              </a:spcBef>
              <a:buNone/>
              <a:defRPr b="0" i="0" sz="800" u="none" cap="none" strike="noStrike">
                <a:solidFill>
                  <a:schemeClr val="dk2"/>
                </a:solidFill>
                <a:latin typeface="Calibri"/>
                <a:ea typeface="Calibri"/>
                <a:cs typeface="Calibri"/>
                <a:sym typeface="Calibri"/>
              </a:defRPr>
            </a:lvl6pPr>
            <a:lvl7pPr indent="0" lvl="6" marL="0" marR="0" rtl="0" algn="r">
              <a:spcBef>
                <a:spcPts val="0"/>
              </a:spcBef>
              <a:buNone/>
              <a:defRPr b="0" i="0" sz="800" u="none" cap="none" strike="noStrike">
                <a:solidFill>
                  <a:schemeClr val="dk2"/>
                </a:solidFill>
                <a:latin typeface="Calibri"/>
                <a:ea typeface="Calibri"/>
                <a:cs typeface="Calibri"/>
                <a:sym typeface="Calibri"/>
              </a:defRPr>
            </a:lvl7pPr>
            <a:lvl8pPr indent="0" lvl="7" marL="0" marR="0" rtl="0" algn="r">
              <a:spcBef>
                <a:spcPts val="0"/>
              </a:spcBef>
              <a:buNone/>
              <a:defRPr b="0" i="0" sz="800" u="none" cap="none" strike="noStrike">
                <a:solidFill>
                  <a:schemeClr val="dk2"/>
                </a:solidFill>
                <a:latin typeface="Calibri"/>
                <a:ea typeface="Calibri"/>
                <a:cs typeface="Calibri"/>
                <a:sym typeface="Calibri"/>
              </a:defRPr>
            </a:lvl8pPr>
            <a:lvl9pPr indent="0" lvl="8" marL="0" marR="0" rtl="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8"/>
          <p:cNvSpPr txBox="1"/>
          <p:nvPr/>
        </p:nvSpPr>
        <p:spPr>
          <a:xfrm>
            <a:off x="548640" y="685800"/>
            <a:ext cx="7543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 sz="1100" u="none" cap="none" strike="noStrike">
                <a:solidFill>
                  <a:schemeClr val="accent1"/>
                </a:solidFill>
                <a:latin typeface="Calibri"/>
                <a:ea typeface="Calibri"/>
                <a:cs typeface="Calibri"/>
                <a:sym typeface="Calibri"/>
              </a:rPr>
              <a:t>OPPORTUNITIES ANALYSIS  ·  NESTED HIERARCHIES</a:t>
            </a:r>
            <a:endParaRPr b="0" i="0" sz="1100" u="none" cap="none" strike="noStrike">
              <a:solidFill>
                <a:schemeClr val="dk1"/>
              </a:solidFill>
              <a:latin typeface="Calibri"/>
              <a:ea typeface="Calibri"/>
              <a:cs typeface="Calibri"/>
              <a:sym typeface="Calibri"/>
            </a:endParaRPr>
          </a:p>
        </p:txBody>
      </p:sp>
      <p:sp>
        <p:nvSpPr>
          <p:cNvPr id="67" name="Google Shape;67;p18"/>
          <p:cNvSpPr txBox="1"/>
          <p:nvPr>
            <p:ph type="title"/>
          </p:nvPr>
        </p:nvSpPr>
        <p:spPr>
          <a:xfrm>
            <a:off x="548640" y="1062990"/>
            <a:ext cx="788670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3300"/>
              <a:buFont typeface="Arial"/>
              <a:buNone/>
            </a:pPr>
            <a:r>
              <a:rPr b="1" lang="en" sz="3300">
                <a:solidFill>
                  <a:schemeClr val="lt1"/>
                </a:solidFill>
              </a:rPr>
              <a:t>Disappearing Junior-Level Software Jobs</a:t>
            </a:r>
            <a:endParaRPr sz="3300"/>
          </a:p>
        </p:txBody>
      </p:sp>
      <p:sp>
        <p:nvSpPr>
          <p:cNvPr id="68" name="Google Shape;68;p18"/>
          <p:cNvSpPr txBox="1"/>
          <p:nvPr/>
        </p:nvSpPr>
        <p:spPr>
          <a:xfrm>
            <a:off x="548640" y="2331720"/>
            <a:ext cx="72009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 sz="1500" u="none" cap="none" strike="noStrike">
                <a:solidFill>
                  <a:schemeClr val="accent6"/>
                </a:solidFill>
                <a:latin typeface="Calibri"/>
                <a:ea typeface="Calibri"/>
                <a:cs typeface="Calibri"/>
                <a:sym typeface="Calibri"/>
              </a:rPr>
              <a:t>The industry still needs experienced engineers — but is hiring fewer people at the level where experience is created</a:t>
            </a:r>
            <a:endParaRPr b="0" i="0" sz="1500" u="none" cap="none" strike="noStrike">
              <a:solidFill>
                <a:schemeClr val="dk1"/>
              </a:solidFill>
              <a:latin typeface="Calibri"/>
              <a:ea typeface="Calibri"/>
              <a:cs typeface="Calibri"/>
              <a:sym typeface="Calibri"/>
            </a:endParaRPr>
          </a:p>
        </p:txBody>
      </p:sp>
      <p:sp>
        <p:nvSpPr>
          <p:cNvPr id="69" name="Google Shape;69;p18"/>
          <p:cNvSpPr/>
          <p:nvPr/>
        </p:nvSpPr>
        <p:spPr>
          <a:xfrm>
            <a:off x="548640" y="3497580"/>
            <a:ext cx="1337310" cy="425196"/>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8"/>
          <p:cNvSpPr txBox="1"/>
          <p:nvPr/>
        </p:nvSpPr>
        <p:spPr>
          <a:xfrm>
            <a:off x="548640" y="3497580"/>
            <a:ext cx="133731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CS Education</a:t>
            </a:r>
            <a:endParaRPr b="0" i="0" sz="1100" u="none" cap="none" strike="noStrike">
              <a:solidFill>
                <a:schemeClr val="dk1"/>
              </a:solidFill>
              <a:latin typeface="Calibri"/>
              <a:ea typeface="Calibri"/>
              <a:cs typeface="Calibri"/>
              <a:sym typeface="Calibri"/>
            </a:endParaRPr>
          </a:p>
        </p:txBody>
      </p:sp>
      <p:cxnSp>
        <p:nvCxnSpPr>
          <p:cNvPr id="71" name="Google Shape;71;p18"/>
          <p:cNvCxnSpPr/>
          <p:nvPr/>
        </p:nvCxnSpPr>
        <p:spPr>
          <a:xfrm>
            <a:off x="1927098" y="3710178"/>
            <a:ext cx="226314" cy="686"/>
          </a:xfrm>
          <a:prstGeom prst="straightConnector1">
            <a:avLst/>
          </a:prstGeom>
          <a:noFill/>
          <a:ln cap="flat" cmpd="sng" w="31750">
            <a:solidFill>
              <a:srgbClr val="8A97A8"/>
            </a:solidFill>
            <a:prstDash val="solid"/>
            <a:round/>
            <a:headEnd len="sm" w="sm" type="none"/>
            <a:tailEnd len="med" w="med" type="triangle"/>
          </a:ln>
        </p:spPr>
      </p:cxnSp>
      <p:sp>
        <p:nvSpPr>
          <p:cNvPr id="72" name="Google Shape;72;p18"/>
          <p:cNvSpPr/>
          <p:nvPr/>
        </p:nvSpPr>
        <p:spPr>
          <a:xfrm>
            <a:off x="2194560" y="3497580"/>
            <a:ext cx="1337310" cy="425196"/>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8"/>
          <p:cNvSpPr txBox="1"/>
          <p:nvPr/>
        </p:nvSpPr>
        <p:spPr>
          <a:xfrm>
            <a:off x="2194560" y="3497580"/>
            <a:ext cx="133731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Internship</a:t>
            </a:r>
            <a:endParaRPr b="0" i="0" sz="1100" u="none" cap="none" strike="noStrike">
              <a:solidFill>
                <a:schemeClr val="dk1"/>
              </a:solidFill>
              <a:latin typeface="Calibri"/>
              <a:ea typeface="Calibri"/>
              <a:cs typeface="Calibri"/>
              <a:sym typeface="Calibri"/>
            </a:endParaRPr>
          </a:p>
        </p:txBody>
      </p:sp>
      <p:cxnSp>
        <p:nvCxnSpPr>
          <p:cNvPr id="74" name="Google Shape;74;p18"/>
          <p:cNvCxnSpPr/>
          <p:nvPr/>
        </p:nvCxnSpPr>
        <p:spPr>
          <a:xfrm>
            <a:off x="3573018" y="3710178"/>
            <a:ext cx="226314" cy="686"/>
          </a:xfrm>
          <a:prstGeom prst="straightConnector1">
            <a:avLst/>
          </a:prstGeom>
          <a:noFill/>
          <a:ln cap="flat" cmpd="sng" w="12700">
            <a:solidFill>
              <a:srgbClr val="E4572E"/>
            </a:solidFill>
            <a:prstDash val="dot"/>
            <a:round/>
            <a:headEnd len="sm" w="sm" type="none"/>
            <a:tailEnd len="med" w="med" type="triangle"/>
          </a:ln>
        </p:spPr>
      </p:cxnSp>
      <p:sp>
        <p:nvSpPr>
          <p:cNvPr id="75" name="Google Shape;75;p18"/>
          <p:cNvSpPr/>
          <p:nvPr/>
        </p:nvSpPr>
        <p:spPr>
          <a:xfrm>
            <a:off x="3840480" y="3497580"/>
            <a:ext cx="1337310" cy="425196"/>
          </a:xfrm>
          <a:prstGeom prst="roundRect">
            <a:avLst>
              <a:gd fmla="val 50000" name="adj"/>
            </a:avLst>
          </a:prstGeom>
          <a:solidFill>
            <a:schemeClr val="dk1"/>
          </a:solidFill>
          <a:ln cap="flat" cmpd="sng" w="25400">
            <a:solidFill>
              <a:schemeClr val="accent2"/>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8"/>
          <p:cNvSpPr txBox="1"/>
          <p:nvPr/>
        </p:nvSpPr>
        <p:spPr>
          <a:xfrm>
            <a:off x="3840480" y="3497580"/>
            <a:ext cx="133731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Junior Engineer</a:t>
            </a:r>
            <a:endParaRPr b="0" i="0" sz="1100" u="none" cap="none" strike="noStrike">
              <a:solidFill>
                <a:schemeClr val="dk1"/>
              </a:solidFill>
              <a:latin typeface="Calibri"/>
              <a:ea typeface="Calibri"/>
              <a:cs typeface="Calibri"/>
              <a:sym typeface="Calibri"/>
            </a:endParaRPr>
          </a:p>
        </p:txBody>
      </p:sp>
      <p:cxnSp>
        <p:nvCxnSpPr>
          <p:cNvPr id="77" name="Google Shape;77;p18"/>
          <p:cNvCxnSpPr/>
          <p:nvPr/>
        </p:nvCxnSpPr>
        <p:spPr>
          <a:xfrm>
            <a:off x="5218938" y="3710178"/>
            <a:ext cx="226314" cy="686"/>
          </a:xfrm>
          <a:prstGeom prst="straightConnector1">
            <a:avLst/>
          </a:prstGeom>
          <a:noFill/>
          <a:ln cap="flat" cmpd="sng" w="31750">
            <a:solidFill>
              <a:srgbClr val="8A97A8"/>
            </a:solidFill>
            <a:prstDash val="solid"/>
            <a:round/>
            <a:headEnd len="sm" w="sm" type="none"/>
            <a:tailEnd len="med" w="med" type="triangle"/>
          </a:ln>
        </p:spPr>
      </p:cxnSp>
      <p:sp>
        <p:nvSpPr>
          <p:cNvPr id="78" name="Google Shape;78;p18"/>
          <p:cNvSpPr/>
          <p:nvPr/>
        </p:nvSpPr>
        <p:spPr>
          <a:xfrm>
            <a:off x="5486400" y="3497580"/>
            <a:ext cx="1337310" cy="425196"/>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8"/>
          <p:cNvSpPr txBox="1"/>
          <p:nvPr/>
        </p:nvSpPr>
        <p:spPr>
          <a:xfrm>
            <a:off x="5486400" y="3497580"/>
            <a:ext cx="133731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Mid-Level</a:t>
            </a:r>
            <a:endParaRPr b="0" i="0" sz="1100" u="none" cap="none" strike="noStrike">
              <a:solidFill>
                <a:schemeClr val="dk1"/>
              </a:solidFill>
              <a:latin typeface="Calibri"/>
              <a:ea typeface="Calibri"/>
              <a:cs typeface="Calibri"/>
              <a:sym typeface="Calibri"/>
            </a:endParaRPr>
          </a:p>
        </p:txBody>
      </p:sp>
      <p:cxnSp>
        <p:nvCxnSpPr>
          <p:cNvPr id="80" name="Google Shape;80;p18"/>
          <p:cNvCxnSpPr/>
          <p:nvPr/>
        </p:nvCxnSpPr>
        <p:spPr>
          <a:xfrm>
            <a:off x="6864858" y="3710178"/>
            <a:ext cx="226314" cy="686"/>
          </a:xfrm>
          <a:prstGeom prst="straightConnector1">
            <a:avLst/>
          </a:prstGeom>
          <a:noFill/>
          <a:ln cap="flat" cmpd="sng" w="31750">
            <a:solidFill>
              <a:srgbClr val="8A97A8"/>
            </a:solidFill>
            <a:prstDash val="solid"/>
            <a:round/>
            <a:headEnd len="sm" w="sm" type="none"/>
            <a:tailEnd len="med" w="med" type="triangle"/>
          </a:ln>
        </p:spPr>
      </p:cxnSp>
      <p:sp>
        <p:nvSpPr>
          <p:cNvPr id="81" name="Google Shape;81;p18"/>
          <p:cNvSpPr/>
          <p:nvPr/>
        </p:nvSpPr>
        <p:spPr>
          <a:xfrm>
            <a:off x="7132320" y="3497580"/>
            <a:ext cx="1337310" cy="425196"/>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8"/>
          <p:cNvSpPr txBox="1"/>
          <p:nvPr/>
        </p:nvSpPr>
        <p:spPr>
          <a:xfrm>
            <a:off x="7132320" y="3497580"/>
            <a:ext cx="133731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Senior</a:t>
            </a:r>
            <a:endParaRPr b="0" i="0" sz="1100" u="none" cap="none" strike="noStrike">
              <a:solidFill>
                <a:schemeClr val="dk1"/>
              </a:solidFill>
              <a:latin typeface="Calibri"/>
              <a:ea typeface="Calibri"/>
              <a:cs typeface="Calibri"/>
              <a:sym typeface="Calibri"/>
            </a:endParaRPr>
          </a:p>
        </p:txBody>
      </p:sp>
      <p:sp>
        <p:nvSpPr>
          <p:cNvPr id="83" name="Google Shape;83;p18"/>
          <p:cNvSpPr txBox="1"/>
          <p:nvPr/>
        </p:nvSpPr>
        <p:spPr>
          <a:xfrm>
            <a:off x="3566160" y="4011930"/>
            <a:ext cx="1885950" cy="24003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900"/>
              <a:buFont typeface="Calibri"/>
              <a:buNone/>
            </a:pPr>
            <a:r>
              <a:rPr b="0" i="1" lang="en" sz="900" u="none" cap="none" strike="noStrike">
                <a:solidFill>
                  <a:schemeClr val="accent2"/>
                </a:solidFill>
                <a:latin typeface="Calibri"/>
                <a:ea typeface="Calibri"/>
                <a:cs typeface="Calibri"/>
                <a:sym typeface="Calibri"/>
              </a:rPr>
              <a:t>The entry ramp is narrowing</a:t>
            </a:r>
            <a:endParaRPr b="0" i="0" sz="900" u="none" cap="none" strike="noStrike">
              <a:solidFill>
                <a:schemeClr val="dk1"/>
              </a:solidFill>
              <a:latin typeface="Calibri"/>
              <a:ea typeface="Calibri"/>
              <a:cs typeface="Calibri"/>
              <a:sym typeface="Calibri"/>
            </a:endParaRPr>
          </a:p>
        </p:txBody>
      </p:sp>
      <p:sp>
        <p:nvSpPr>
          <p:cNvPr id="84" name="Google Shape;84;p18"/>
          <p:cNvSpPr txBox="1"/>
          <p:nvPr/>
        </p:nvSpPr>
        <p:spPr>
          <a:xfrm>
            <a:off x="548640" y="4629150"/>
            <a:ext cx="274320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b="0" i="0" lang="en" sz="900" u="none" cap="none" strike="noStrike">
                <a:solidFill>
                  <a:schemeClr val="accent5"/>
                </a:solidFill>
                <a:latin typeface="Calibri"/>
                <a:ea typeface="Calibri"/>
                <a:cs typeface="Calibri"/>
                <a:sym typeface="Calibri"/>
              </a:rPr>
              <a:t>October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411480" y="205740"/>
            <a:ext cx="829818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300"/>
              <a:buFont typeface="Arial"/>
              <a:buNone/>
            </a:pPr>
            <a:r>
              <a:rPr b="1" lang="en" sz="2300">
                <a:solidFill>
                  <a:schemeClr val="dk1"/>
                </a:solidFill>
              </a:rPr>
              <a:t>Background: the pipeline is narrowing at the entry point</a:t>
            </a:r>
            <a:endParaRPr sz="2300"/>
          </a:p>
        </p:txBody>
      </p:sp>
      <p:sp>
        <p:nvSpPr>
          <p:cNvPr id="91" name="Google Shape;91;p19"/>
          <p:cNvSpPr/>
          <p:nvPr/>
        </p:nvSpPr>
        <p:spPr>
          <a:xfrm>
            <a:off x="411480" y="1474470"/>
            <a:ext cx="1337310" cy="411480"/>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9"/>
          <p:cNvSpPr txBox="1"/>
          <p:nvPr/>
        </p:nvSpPr>
        <p:spPr>
          <a:xfrm>
            <a:off x="411480" y="1474470"/>
            <a:ext cx="133731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CS Education</a:t>
            </a:r>
            <a:endParaRPr b="0" i="0" sz="1100" u="none" cap="none" strike="noStrike">
              <a:solidFill>
                <a:schemeClr val="dk1"/>
              </a:solidFill>
              <a:latin typeface="Calibri"/>
              <a:ea typeface="Calibri"/>
              <a:cs typeface="Calibri"/>
              <a:sym typeface="Calibri"/>
            </a:endParaRPr>
          </a:p>
        </p:txBody>
      </p:sp>
      <p:cxnSp>
        <p:nvCxnSpPr>
          <p:cNvPr id="93" name="Google Shape;93;p19"/>
          <p:cNvCxnSpPr/>
          <p:nvPr/>
        </p:nvCxnSpPr>
        <p:spPr>
          <a:xfrm>
            <a:off x="1803654" y="1680210"/>
            <a:ext cx="301752" cy="685"/>
          </a:xfrm>
          <a:prstGeom prst="straightConnector1">
            <a:avLst/>
          </a:prstGeom>
          <a:noFill/>
          <a:ln cap="flat" cmpd="sng" w="31750">
            <a:solidFill>
              <a:srgbClr val="8A97A8"/>
            </a:solidFill>
            <a:prstDash val="solid"/>
            <a:round/>
            <a:headEnd len="sm" w="sm" type="none"/>
            <a:tailEnd len="med" w="med" type="triangle"/>
          </a:ln>
        </p:spPr>
      </p:cxnSp>
      <p:sp>
        <p:nvSpPr>
          <p:cNvPr id="94" name="Google Shape;94;p19"/>
          <p:cNvSpPr/>
          <p:nvPr/>
        </p:nvSpPr>
        <p:spPr>
          <a:xfrm>
            <a:off x="2160270" y="1474470"/>
            <a:ext cx="1337310" cy="411480"/>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9"/>
          <p:cNvSpPr txBox="1"/>
          <p:nvPr/>
        </p:nvSpPr>
        <p:spPr>
          <a:xfrm>
            <a:off x="2160270" y="1474470"/>
            <a:ext cx="133731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Internship</a:t>
            </a:r>
            <a:endParaRPr b="0" i="0" sz="1100" u="none" cap="none" strike="noStrike">
              <a:solidFill>
                <a:schemeClr val="dk1"/>
              </a:solidFill>
              <a:latin typeface="Calibri"/>
              <a:ea typeface="Calibri"/>
              <a:cs typeface="Calibri"/>
              <a:sym typeface="Calibri"/>
            </a:endParaRPr>
          </a:p>
        </p:txBody>
      </p:sp>
      <p:sp>
        <p:nvSpPr>
          <p:cNvPr id="96" name="Google Shape;96;p19"/>
          <p:cNvSpPr/>
          <p:nvPr/>
        </p:nvSpPr>
        <p:spPr>
          <a:xfrm>
            <a:off x="3909060" y="1474470"/>
            <a:ext cx="1337310" cy="411480"/>
          </a:xfrm>
          <a:prstGeom prst="roundRect">
            <a:avLst>
              <a:gd fmla="val 50000" name="adj"/>
            </a:avLst>
          </a:prstGeom>
          <a:solidFill>
            <a:schemeClr val="lt1"/>
          </a:solidFill>
          <a:ln cap="flat" cmpd="sng" w="25400">
            <a:solidFill>
              <a:schemeClr val="accent2"/>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9"/>
          <p:cNvSpPr txBox="1"/>
          <p:nvPr/>
        </p:nvSpPr>
        <p:spPr>
          <a:xfrm>
            <a:off x="3909060" y="1474470"/>
            <a:ext cx="133731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Junior Engineer</a:t>
            </a:r>
            <a:endParaRPr b="0" i="0" sz="1100" u="none" cap="none" strike="noStrike">
              <a:solidFill>
                <a:schemeClr val="dk1"/>
              </a:solidFill>
              <a:latin typeface="Calibri"/>
              <a:ea typeface="Calibri"/>
              <a:cs typeface="Calibri"/>
              <a:sym typeface="Calibri"/>
            </a:endParaRPr>
          </a:p>
        </p:txBody>
      </p:sp>
      <p:cxnSp>
        <p:nvCxnSpPr>
          <p:cNvPr id="98" name="Google Shape;98;p19"/>
          <p:cNvCxnSpPr/>
          <p:nvPr/>
        </p:nvCxnSpPr>
        <p:spPr>
          <a:xfrm>
            <a:off x="5301234" y="1680210"/>
            <a:ext cx="301752" cy="685"/>
          </a:xfrm>
          <a:prstGeom prst="straightConnector1">
            <a:avLst/>
          </a:prstGeom>
          <a:noFill/>
          <a:ln cap="flat" cmpd="sng" w="31750">
            <a:solidFill>
              <a:srgbClr val="8A97A8"/>
            </a:solidFill>
            <a:prstDash val="solid"/>
            <a:round/>
            <a:headEnd len="sm" w="sm" type="none"/>
            <a:tailEnd len="med" w="med" type="triangle"/>
          </a:ln>
        </p:spPr>
      </p:cxnSp>
      <p:sp>
        <p:nvSpPr>
          <p:cNvPr id="99" name="Google Shape;99;p19"/>
          <p:cNvSpPr/>
          <p:nvPr/>
        </p:nvSpPr>
        <p:spPr>
          <a:xfrm>
            <a:off x="5657850" y="1474470"/>
            <a:ext cx="1337310" cy="41148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9"/>
          <p:cNvSpPr txBox="1"/>
          <p:nvPr/>
        </p:nvSpPr>
        <p:spPr>
          <a:xfrm>
            <a:off x="5657850" y="1474470"/>
            <a:ext cx="133731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Mid-Level</a:t>
            </a:r>
            <a:endParaRPr b="0" i="0" sz="1100" u="none" cap="none" strike="noStrike">
              <a:solidFill>
                <a:schemeClr val="dk1"/>
              </a:solidFill>
              <a:latin typeface="Calibri"/>
              <a:ea typeface="Calibri"/>
              <a:cs typeface="Calibri"/>
              <a:sym typeface="Calibri"/>
            </a:endParaRPr>
          </a:p>
        </p:txBody>
      </p:sp>
      <p:cxnSp>
        <p:nvCxnSpPr>
          <p:cNvPr id="101" name="Google Shape;101;p19"/>
          <p:cNvCxnSpPr/>
          <p:nvPr/>
        </p:nvCxnSpPr>
        <p:spPr>
          <a:xfrm>
            <a:off x="7050024" y="1680210"/>
            <a:ext cx="301752" cy="685"/>
          </a:xfrm>
          <a:prstGeom prst="straightConnector1">
            <a:avLst/>
          </a:prstGeom>
          <a:noFill/>
          <a:ln cap="flat" cmpd="sng" w="31750">
            <a:solidFill>
              <a:srgbClr val="8A97A8"/>
            </a:solidFill>
            <a:prstDash val="solid"/>
            <a:round/>
            <a:headEnd len="sm" w="sm" type="none"/>
            <a:tailEnd len="med" w="med" type="triangle"/>
          </a:ln>
        </p:spPr>
      </p:cxnSp>
      <p:sp>
        <p:nvSpPr>
          <p:cNvPr id="102" name="Google Shape;102;p19"/>
          <p:cNvSpPr/>
          <p:nvPr/>
        </p:nvSpPr>
        <p:spPr>
          <a:xfrm>
            <a:off x="7406640" y="1474470"/>
            <a:ext cx="1337310" cy="41148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9"/>
          <p:cNvSpPr txBox="1"/>
          <p:nvPr/>
        </p:nvSpPr>
        <p:spPr>
          <a:xfrm>
            <a:off x="7406640" y="1474470"/>
            <a:ext cx="133731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Senior</a:t>
            </a:r>
            <a:endParaRPr b="0" i="0" sz="1100" u="none" cap="none" strike="noStrike">
              <a:solidFill>
                <a:schemeClr val="dk1"/>
              </a:solidFill>
              <a:latin typeface="Calibri"/>
              <a:ea typeface="Calibri"/>
              <a:cs typeface="Calibri"/>
              <a:sym typeface="Calibri"/>
            </a:endParaRPr>
          </a:p>
        </p:txBody>
      </p:sp>
      <p:sp>
        <p:nvSpPr>
          <p:cNvPr id="104" name="Google Shape;104;p19"/>
          <p:cNvSpPr/>
          <p:nvPr/>
        </p:nvSpPr>
        <p:spPr>
          <a:xfrm>
            <a:off x="3614166" y="1591056"/>
            <a:ext cx="178308" cy="17830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9"/>
          <p:cNvSpPr/>
          <p:nvPr/>
        </p:nvSpPr>
        <p:spPr>
          <a:xfrm>
            <a:off x="411480" y="857250"/>
            <a:ext cx="168021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9"/>
          <p:cNvSpPr txBox="1"/>
          <p:nvPr/>
        </p:nvSpPr>
        <p:spPr>
          <a:xfrm>
            <a:off x="411480" y="857250"/>
            <a:ext cx="168021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AI coding tools &amp; agents</a:t>
            </a:r>
            <a:endParaRPr b="0" i="0" sz="900" u="none" cap="none" strike="noStrike">
              <a:solidFill>
                <a:schemeClr val="dk1"/>
              </a:solidFill>
              <a:latin typeface="Calibri"/>
              <a:ea typeface="Calibri"/>
              <a:cs typeface="Calibri"/>
              <a:sym typeface="Calibri"/>
            </a:endParaRPr>
          </a:p>
        </p:txBody>
      </p:sp>
      <p:cxnSp>
        <p:nvCxnSpPr>
          <p:cNvPr id="107" name="Google Shape;107;p19"/>
          <p:cNvCxnSpPr/>
          <p:nvPr/>
        </p:nvCxnSpPr>
        <p:spPr>
          <a:xfrm>
            <a:off x="1251585" y="1138428"/>
            <a:ext cx="2451735" cy="432054"/>
          </a:xfrm>
          <a:prstGeom prst="straightConnector1">
            <a:avLst/>
          </a:prstGeom>
          <a:noFill/>
          <a:ln cap="flat" cmpd="sng" w="9525">
            <a:solidFill>
              <a:srgbClr val="8A97A8"/>
            </a:solidFill>
            <a:prstDash val="dash"/>
            <a:round/>
            <a:headEnd len="sm" w="sm" type="none"/>
            <a:tailEnd len="med" w="med" type="triangle"/>
          </a:ln>
        </p:spPr>
      </p:cxnSp>
      <p:sp>
        <p:nvSpPr>
          <p:cNvPr id="108" name="Google Shape;108;p19"/>
          <p:cNvSpPr/>
          <p:nvPr/>
        </p:nvSpPr>
        <p:spPr>
          <a:xfrm>
            <a:off x="2297430" y="857250"/>
            <a:ext cx="168021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9"/>
          <p:cNvSpPr txBox="1"/>
          <p:nvPr/>
        </p:nvSpPr>
        <p:spPr>
          <a:xfrm>
            <a:off x="2297430" y="857250"/>
            <a:ext cx="168021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Employer cost pressure</a:t>
            </a:r>
            <a:endParaRPr b="0" i="0" sz="900" u="none" cap="none" strike="noStrike">
              <a:solidFill>
                <a:schemeClr val="dk1"/>
              </a:solidFill>
              <a:latin typeface="Calibri"/>
              <a:ea typeface="Calibri"/>
              <a:cs typeface="Calibri"/>
              <a:sym typeface="Calibri"/>
            </a:endParaRPr>
          </a:p>
        </p:txBody>
      </p:sp>
      <p:cxnSp>
        <p:nvCxnSpPr>
          <p:cNvPr id="110" name="Google Shape;110;p19"/>
          <p:cNvCxnSpPr/>
          <p:nvPr/>
        </p:nvCxnSpPr>
        <p:spPr>
          <a:xfrm>
            <a:off x="3137535" y="1138428"/>
            <a:ext cx="565785" cy="432054"/>
          </a:xfrm>
          <a:prstGeom prst="straightConnector1">
            <a:avLst/>
          </a:prstGeom>
          <a:noFill/>
          <a:ln cap="flat" cmpd="sng" w="9525">
            <a:solidFill>
              <a:srgbClr val="8A97A8"/>
            </a:solidFill>
            <a:prstDash val="dash"/>
            <a:round/>
            <a:headEnd len="sm" w="sm" type="none"/>
            <a:tailEnd len="med" w="med" type="triangle"/>
          </a:ln>
        </p:spPr>
      </p:cxnSp>
      <p:sp>
        <p:nvSpPr>
          <p:cNvPr id="111" name="Google Shape;111;p19"/>
          <p:cNvSpPr/>
          <p:nvPr/>
        </p:nvSpPr>
        <p:spPr>
          <a:xfrm>
            <a:off x="4526280" y="857250"/>
            <a:ext cx="168021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9"/>
          <p:cNvSpPr txBox="1"/>
          <p:nvPr/>
        </p:nvSpPr>
        <p:spPr>
          <a:xfrm>
            <a:off x="4526280" y="857250"/>
            <a:ext cx="168021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Post-pandemic correction</a:t>
            </a:r>
            <a:endParaRPr b="0" i="0" sz="900" u="none" cap="none" strike="noStrike">
              <a:solidFill>
                <a:schemeClr val="dk1"/>
              </a:solidFill>
              <a:latin typeface="Calibri"/>
              <a:ea typeface="Calibri"/>
              <a:cs typeface="Calibri"/>
              <a:sym typeface="Calibri"/>
            </a:endParaRPr>
          </a:p>
        </p:txBody>
      </p:sp>
      <p:cxnSp>
        <p:nvCxnSpPr>
          <p:cNvPr id="113" name="Google Shape;113;p19"/>
          <p:cNvCxnSpPr/>
          <p:nvPr/>
        </p:nvCxnSpPr>
        <p:spPr>
          <a:xfrm flipH="1">
            <a:off x="3703320" y="1138428"/>
            <a:ext cx="1663065" cy="432054"/>
          </a:xfrm>
          <a:prstGeom prst="straightConnector1">
            <a:avLst/>
          </a:prstGeom>
          <a:noFill/>
          <a:ln cap="flat" cmpd="sng" w="9525">
            <a:solidFill>
              <a:srgbClr val="8A97A8"/>
            </a:solidFill>
            <a:prstDash val="dash"/>
            <a:round/>
            <a:headEnd len="sm" w="sm" type="none"/>
            <a:tailEnd len="med" w="med" type="triangle"/>
          </a:ln>
        </p:spPr>
      </p:cxnSp>
      <p:sp>
        <p:nvSpPr>
          <p:cNvPr id="114" name="Google Shape;114;p19"/>
          <p:cNvSpPr/>
          <p:nvPr/>
        </p:nvSpPr>
        <p:spPr>
          <a:xfrm>
            <a:off x="6412230" y="857250"/>
            <a:ext cx="168021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9"/>
          <p:cNvSpPr txBox="1"/>
          <p:nvPr/>
        </p:nvSpPr>
        <p:spPr>
          <a:xfrm>
            <a:off x="6412230" y="857250"/>
            <a:ext cx="168021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Offshoring / outsourcing</a:t>
            </a:r>
            <a:endParaRPr b="0" i="0" sz="900" u="none" cap="none" strike="noStrike">
              <a:solidFill>
                <a:schemeClr val="dk1"/>
              </a:solidFill>
              <a:latin typeface="Calibri"/>
              <a:ea typeface="Calibri"/>
              <a:cs typeface="Calibri"/>
              <a:sym typeface="Calibri"/>
            </a:endParaRPr>
          </a:p>
        </p:txBody>
      </p:sp>
      <p:cxnSp>
        <p:nvCxnSpPr>
          <p:cNvPr id="116" name="Google Shape;116;p19"/>
          <p:cNvCxnSpPr/>
          <p:nvPr/>
        </p:nvCxnSpPr>
        <p:spPr>
          <a:xfrm flipH="1">
            <a:off x="3703320" y="1138428"/>
            <a:ext cx="3549015" cy="432054"/>
          </a:xfrm>
          <a:prstGeom prst="straightConnector1">
            <a:avLst/>
          </a:prstGeom>
          <a:noFill/>
          <a:ln cap="flat" cmpd="sng" w="9525">
            <a:solidFill>
              <a:srgbClr val="8A97A8"/>
            </a:solidFill>
            <a:prstDash val="dash"/>
            <a:round/>
            <a:headEnd len="sm" w="sm" type="none"/>
            <a:tailEnd len="med" w="med" type="triangle"/>
          </a:ln>
        </p:spPr>
      </p:cxnSp>
      <p:sp>
        <p:nvSpPr>
          <p:cNvPr id="117" name="Google Shape;117;p19"/>
          <p:cNvSpPr/>
          <p:nvPr/>
        </p:nvSpPr>
        <p:spPr>
          <a:xfrm>
            <a:off x="1097280" y="2263140"/>
            <a:ext cx="188595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9"/>
          <p:cNvSpPr txBox="1"/>
          <p:nvPr/>
        </p:nvSpPr>
        <p:spPr>
          <a:xfrm>
            <a:off x="1097280" y="2263140"/>
            <a:ext cx="188595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University CS enrollment</a:t>
            </a:r>
            <a:endParaRPr b="0" i="0" sz="900" u="none" cap="none" strike="noStrike">
              <a:solidFill>
                <a:schemeClr val="dk1"/>
              </a:solidFill>
              <a:latin typeface="Calibri"/>
              <a:ea typeface="Calibri"/>
              <a:cs typeface="Calibri"/>
              <a:sym typeface="Calibri"/>
            </a:endParaRPr>
          </a:p>
        </p:txBody>
      </p:sp>
      <p:cxnSp>
        <p:nvCxnSpPr>
          <p:cNvPr id="119" name="Google Shape;119;p19"/>
          <p:cNvCxnSpPr/>
          <p:nvPr/>
        </p:nvCxnSpPr>
        <p:spPr>
          <a:xfrm flipH="1">
            <a:off x="2040255" y="1789938"/>
            <a:ext cx="1663065" cy="452628"/>
          </a:xfrm>
          <a:prstGeom prst="straightConnector1">
            <a:avLst/>
          </a:prstGeom>
          <a:noFill/>
          <a:ln cap="flat" cmpd="sng" w="9525">
            <a:solidFill>
              <a:srgbClr val="8A97A8"/>
            </a:solidFill>
            <a:prstDash val="dash"/>
            <a:round/>
            <a:headEnd len="med" w="med" type="triangle"/>
            <a:tailEnd len="sm" w="sm" type="none"/>
          </a:ln>
        </p:spPr>
      </p:cxnSp>
      <p:sp>
        <p:nvSpPr>
          <p:cNvPr id="120" name="Google Shape;120;p19"/>
          <p:cNvSpPr/>
          <p:nvPr/>
        </p:nvSpPr>
        <p:spPr>
          <a:xfrm>
            <a:off x="3326130" y="2263140"/>
            <a:ext cx="188595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19"/>
          <p:cNvSpPr txBox="1"/>
          <p:nvPr/>
        </p:nvSpPr>
        <p:spPr>
          <a:xfrm>
            <a:off x="3326130" y="2263140"/>
            <a:ext cx="188595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Demand for experienced engineers</a:t>
            </a:r>
            <a:endParaRPr b="0" i="0" sz="900" u="none" cap="none" strike="noStrike">
              <a:solidFill>
                <a:schemeClr val="dk1"/>
              </a:solidFill>
              <a:latin typeface="Calibri"/>
              <a:ea typeface="Calibri"/>
              <a:cs typeface="Calibri"/>
              <a:sym typeface="Calibri"/>
            </a:endParaRPr>
          </a:p>
        </p:txBody>
      </p:sp>
      <p:cxnSp>
        <p:nvCxnSpPr>
          <p:cNvPr id="122" name="Google Shape;122;p19"/>
          <p:cNvCxnSpPr/>
          <p:nvPr/>
        </p:nvCxnSpPr>
        <p:spPr>
          <a:xfrm>
            <a:off x="3703320" y="1789938"/>
            <a:ext cx="565785" cy="452628"/>
          </a:xfrm>
          <a:prstGeom prst="straightConnector1">
            <a:avLst/>
          </a:prstGeom>
          <a:noFill/>
          <a:ln cap="flat" cmpd="sng" w="9525">
            <a:solidFill>
              <a:srgbClr val="8A97A8"/>
            </a:solidFill>
            <a:prstDash val="dash"/>
            <a:round/>
            <a:headEnd len="med" w="med" type="triangle"/>
            <a:tailEnd len="sm" w="sm" type="none"/>
          </a:ln>
        </p:spPr>
      </p:cxnSp>
      <p:sp>
        <p:nvSpPr>
          <p:cNvPr id="123" name="Google Shape;123;p19"/>
          <p:cNvSpPr/>
          <p:nvPr/>
        </p:nvSpPr>
        <p:spPr>
          <a:xfrm>
            <a:off x="5554980" y="2263140"/>
            <a:ext cx="1885950" cy="260604"/>
          </a:xfrm>
          <a:prstGeom prst="roundRect">
            <a:avLst>
              <a:gd fmla="val 50000"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9"/>
          <p:cNvSpPr txBox="1"/>
          <p:nvPr/>
        </p:nvSpPr>
        <p:spPr>
          <a:xfrm>
            <a:off x="5554980" y="2263140"/>
            <a:ext cx="188595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Changing skill requirements</a:t>
            </a:r>
            <a:endParaRPr b="0" i="0" sz="900" u="none" cap="none" strike="noStrike">
              <a:solidFill>
                <a:schemeClr val="dk1"/>
              </a:solidFill>
              <a:latin typeface="Calibri"/>
              <a:ea typeface="Calibri"/>
              <a:cs typeface="Calibri"/>
              <a:sym typeface="Calibri"/>
            </a:endParaRPr>
          </a:p>
        </p:txBody>
      </p:sp>
      <p:cxnSp>
        <p:nvCxnSpPr>
          <p:cNvPr id="125" name="Google Shape;125;p19"/>
          <p:cNvCxnSpPr/>
          <p:nvPr/>
        </p:nvCxnSpPr>
        <p:spPr>
          <a:xfrm>
            <a:off x="3703320" y="1789938"/>
            <a:ext cx="2794635" cy="452628"/>
          </a:xfrm>
          <a:prstGeom prst="straightConnector1">
            <a:avLst/>
          </a:prstGeom>
          <a:noFill/>
          <a:ln cap="flat" cmpd="sng" w="9525">
            <a:solidFill>
              <a:srgbClr val="8A97A8"/>
            </a:solidFill>
            <a:prstDash val="dash"/>
            <a:round/>
            <a:headEnd len="med" w="med" type="triangle"/>
            <a:tailEnd len="sm" w="sm" type="none"/>
          </a:ln>
        </p:spPr>
      </p:cxnSp>
      <p:sp>
        <p:nvSpPr>
          <p:cNvPr id="126" name="Google Shape;126;p19"/>
          <p:cNvSpPr txBox="1"/>
          <p:nvPr/>
        </p:nvSpPr>
        <p:spPr>
          <a:xfrm>
            <a:off x="411480" y="2592324"/>
            <a:ext cx="54864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0" i="1" lang="en" sz="800" u="none" cap="none" strike="noStrike">
                <a:solidFill>
                  <a:schemeClr val="dk2"/>
                </a:solidFill>
                <a:latin typeface="Calibri"/>
                <a:ea typeface="Calibri"/>
                <a:cs typeface="Calibri"/>
                <a:sym typeface="Calibri"/>
              </a:rPr>
              <a:t>Interacting forces converge on the Internship → Junior step</a:t>
            </a:r>
            <a:endParaRPr b="0" i="0" sz="800" u="none" cap="none" strike="noStrike">
              <a:solidFill>
                <a:schemeClr val="dk1"/>
              </a:solidFill>
              <a:latin typeface="Calibri"/>
              <a:ea typeface="Calibri"/>
              <a:cs typeface="Calibri"/>
              <a:sym typeface="Calibri"/>
            </a:endParaRPr>
          </a:p>
        </p:txBody>
      </p:sp>
      <p:sp>
        <p:nvSpPr>
          <p:cNvPr id="127" name="Google Shape;127;p19"/>
          <p:cNvSpPr txBox="1"/>
          <p:nvPr/>
        </p:nvSpPr>
        <p:spPr>
          <a:xfrm>
            <a:off x="411480" y="2880360"/>
            <a:ext cx="26060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ENTRY</a:t>
            </a:r>
            <a:endParaRPr b="0" i="0" sz="800" u="none" cap="none" strike="noStrike">
              <a:solidFill>
                <a:schemeClr val="dk1"/>
              </a:solidFill>
              <a:latin typeface="Calibri"/>
              <a:ea typeface="Calibri"/>
              <a:cs typeface="Calibri"/>
              <a:sym typeface="Calibri"/>
            </a:endParaRPr>
          </a:p>
        </p:txBody>
      </p:sp>
      <p:sp>
        <p:nvSpPr>
          <p:cNvPr id="128" name="Google Shape;128;p19"/>
          <p:cNvSpPr txBox="1"/>
          <p:nvPr/>
        </p:nvSpPr>
        <p:spPr>
          <a:xfrm>
            <a:off x="411480" y="3051810"/>
            <a:ext cx="260604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3300"/>
              <a:buFont typeface="Arial"/>
              <a:buNone/>
            </a:pPr>
            <a:r>
              <a:rPr b="1" i="0" lang="en" sz="3300" u="none" cap="none" strike="noStrike">
                <a:solidFill>
                  <a:schemeClr val="accent2"/>
                </a:solidFill>
                <a:latin typeface="Arial"/>
                <a:ea typeface="Arial"/>
                <a:cs typeface="Arial"/>
                <a:sym typeface="Arial"/>
              </a:rPr>
              <a:t>−65%</a:t>
            </a:r>
            <a:endParaRPr b="0" i="0" sz="3300" u="none" cap="none" strike="noStrike">
              <a:solidFill>
                <a:schemeClr val="dk1"/>
              </a:solidFill>
              <a:latin typeface="Calibri"/>
              <a:ea typeface="Calibri"/>
              <a:cs typeface="Calibri"/>
              <a:sym typeface="Calibri"/>
            </a:endParaRPr>
          </a:p>
        </p:txBody>
      </p:sp>
      <p:sp>
        <p:nvSpPr>
          <p:cNvPr id="129" name="Google Shape;129;p19"/>
          <p:cNvSpPr txBox="1"/>
          <p:nvPr/>
        </p:nvSpPr>
        <p:spPr>
          <a:xfrm>
            <a:off x="411480" y="3566160"/>
            <a:ext cx="253746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new-grad hiring at the 12 largest tech companies vs. 2019</a:t>
            </a:r>
            <a:endParaRPr b="0" i="0" sz="1000" u="none" cap="none" strike="noStrike">
              <a:solidFill>
                <a:schemeClr val="dk1"/>
              </a:solidFill>
              <a:latin typeface="Calibri"/>
              <a:ea typeface="Calibri"/>
              <a:cs typeface="Calibri"/>
              <a:sym typeface="Calibri"/>
            </a:endParaRPr>
          </a:p>
        </p:txBody>
      </p:sp>
      <p:sp>
        <p:nvSpPr>
          <p:cNvPr id="130" name="Google Shape;130;p19"/>
          <p:cNvSpPr txBox="1"/>
          <p:nvPr/>
        </p:nvSpPr>
        <p:spPr>
          <a:xfrm>
            <a:off x="3257550" y="2880360"/>
            <a:ext cx="26060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ENTRY</a:t>
            </a:r>
            <a:endParaRPr b="0" i="0" sz="800" u="none" cap="none" strike="noStrike">
              <a:solidFill>
                <a:schemeClr val="dk1"/>
              </a:solidFill>
              <a:latin typeface="Calibri"/>
              <a:ea typeface="Calibri"/>
              <a:cs typeface="Calibri"/>
              <a:sym typeface="Calibri"/>
            </a:endParaRPr>
          </a:p>
        </p:txBody>
      </p:sp>
      <p:sp>
        <p:nvSpPr>
          <p:cNvPr id="131" name="Google Shape;131;p19"/>
          <p:cNvSpPr txBox="1"/>
          <p:nvPr/>
        </p:nvSpPr>
        <p:spPr>
          <a:xfrm>
            <a:off x="3257550" y="3051810"/>
            <a:ext cx="260604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3300"/>
              <a:buFont typeface="Arial"/>
              <a:buNone/>
            </a:pPr>
            <a:r>
              <a:rPr b="1" i="0" lang="en" sz="3300" u="none" cap="none" strike="noStrike">
                <a:solidFill>
                  <a:schemeClr val="accent2"/>
                </a:solidFill>
                <a:latin typeface="Arial"/>
                <a:ea typeface="Arial"/>
                <a:cs typeface="Arial"/>
                <a:sym typeface="Arial"/>
              </a:rPr>
              <a:t>6.1%</a:t>
            </a:r>
            <a:endParaRPr b="0" i="0" sz="3300" u="none" cap="none" strike="noStrike">
              <a:solidFill>
                <a:schemeClr val="dk1"/>
              </a:solidFill>
              <a:latin typeface="Calibri"/>
              <a:ea typeface="Calibri"/>
              <a:cs typeface="Calibri"/>
              <a:sym typeface="Calibri"/>
            </a:endParaRPr>
          </a:p>
        </p:txBody>
      </p:sp>
      <p:sp>
        <p:nvSpPr>
          <p:cNvPr id="132" name="Google Shape;132;p19"/>
          <p:cNvSpPr txBox="1"/>
          <p:nvPr/>
        </p:nvSpPr>
        <p:spPr>
          <a:xfrm>
            <a:off x="3257550" y="3566160"/>
            <a:ext cx="253746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unemployment among recent computer science graduates</a:t>
            </a:r>
            <a:endParaRPr b="0" i="0" sz="1000" u="none" cap="none" strike="noStrike">
              <a:solidFill>
                <a:schemeClr val="dk1"/>
              </a:solidFill>
              <a:latin typeface="Calibri"/>
              <a:ea typeface="Calibri"/>
              <a:cs typeface="Calibri"/>
              <a:sym typeface="Calibri"/>
            </a:endParaRPr>
          </a:p>
        </p:txBody>
      </p:sp>
      <p:sp>
        <p:nvSpPr>
          <p:cNvPr id="133" name="Google Shape;133;p19"/>
          <p:cNvSpPr txBox="1"/>
          <p:nvPr/>
        </p:nvSpPr>
        <p:spPr>
          <a:xfrm>
            <a:off x="6103620" y="2880360"/>
            <a:ext cx="26060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800"/>
              <a:buFont typeface="Calibri"/>
              <a:buNone/>
            </a:pPr>
            <a:r>
              <a:rPr b="1" i="0" lang="en" sz="800" u="none" cap="none" strike="noStrike">
                <a:solidFill>
                  <a:schemeClr val="accent3"/>
                </a:solidFill>
                <a:latin typeface="Calibri"/>
                <a:ea typeface="Calibri"/>
                <a:cs typeface="Calibri"/>
                <a:sym typeface="Calibri"/>
              </a:rPr>
              <a:t>LONG-TERM DEMAND</a:t>
            </a:r>
            <a:endParaRPr b="0" i="0" sz="800" u="none" cap="none" strike="noStrike">
              <a:solidFill>
                <a:schemeClr val="dk1"/>
              </a:solidFill>
              <a:latin typeface="Calibri"/>
              <a:ea typeface="Calibri"/>
              <a:cs typeface="Calibri"/>
              <a:sym typeface="Calibri"/>
            </a:endParaRPr>
          </a:p>
        </p:txBody>
      </p:sp>
      <p:sp>
        <p:nvSpPr>
          <p:cNvPr id="134" name="Google Shape;134;p19"/>
          <p:cNvSpPr txBox="1"/>
          <p:nvPr/>
        </p:nvSpPr>
        <p:spPr>
          <a:xfrm>
            <a:off x="6103620" y="3051810"/>
            <a:ext cx="260604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3300"/>
              <a:buFont typeface="Arial"/>
              <a:buNone/>
            </a:pPr>
            <a:r>
              <a:rPr b="1" i="0" lang="en" sz="3300" u="none" cap="none" strike="noStrike">
                <a:solidFill>
                  <a:schemeClr val="accent3"/>
                </a:solidFill>
                <a:latin typeface="Arial"/>
                <a:ea typeface="Arial"/>
                <a:cs typeface="Arial"/>
                <a:sym typeface="Arial"/>
              </a:rPr>
              <a:t>+16%</a:t>
            </a:r>
            <a:endParaRPr b="0" i="0" sz="3300" u="none" cap="none" strike="noStrike">
              <a:solidFill>
                <a:schemeClr val="dk1"/>
              </a:solidFill>
              <a:latin typeface="Calibri"/>
              <a:ea typeface="Calibri"/>
              <a:cs typeface="Calibri"/>
              <a:sym typeface="Calibri"/>
            </a:endParaRPr>
          </a:p>
        </p:txBody>
      </p:sp>
      <p:sp>
        <p:nvSpPr>
          <p:cNvPr id="135" name="Google Shape;135;p19"/>
          <p:cNvSpPr txBox="1"/>
          <p:nvPr/>
        </p:nvSpPr>
        <p:spPr>
          <a:xfrm>
            <a:off x="6103620" y="3566160"/>
            <a:ext cx="253746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projected U.S. software developer employment, 2024–2034</a:t>
            </a:r>
            <a:endParaRPr b="0" i="0" sz="1000" u="none" cap="none" strike="noStrike">
              <a:solidFill>
                <a:schemeClr val="dk1"/>
              </a:solidFill>
              <a:latin typeface="Calibri"/>
              <a:ea typeface="Calibri"/>
              <a:cs typeface="Calibri"/>
              <a:sym typeface="Calibri"/>
            </a:endParaRPr>
          </a:p>
        </p:txBody>
      </p:sp>
      <p:sp>
        <p:nvSpPr>
          <p:cNvPr id="136" name="Google Shape;136;p19"/>
          <p:cNvSpPr/>
          <p:nvPr/>
        </p:nvSpPr>
        <p:spPr>
          <a:xfrm>
            <a:off x="411480" y="4011930"/>
            <a:ext cx="8318754" cy="651510"/>
          </a:xfrm>
          <a:prstGeom prst="roundRect">
            <a:avLst>
              <a:gd fmla="val 12632" name="adj"/>
            </a:avLst>
          </a:prstGeom>
          <a:solidFill>
            <a:schemeClr val="dk1"/>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19"/>
          <p:cNvSpPr txBox="1"/>
          <p:nvPr/>
        </p:nvSpPr>
        <p:spPr>
          <a:xfrm>
            <a:off x="582930" y="4011930"/>
            <a:ext cx="802386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800"/>
              <a:buFont typeface="Calibri"/>
              <a:buNone/>
            </a:pPr>
            <a:r>
              <a:rPr b="1" i="0" lang="en" sz="800" u="none" cap="none" strike="noStrike">
                <a:solidFill>
                  <a:schemeClr val="accent1"/>
                </a:solidFill>
                <a:latin typeface="Calibri"/>
                <a:ea typeface="Calibri"/>
                <a:cs typeface="Calibri"/>
                <a:sym typeface="Calibri"/>
              </a:rPr>
              <a:t>CENTRAL QUESTION   </a:t>
            </a:r>
            <a:r>
              <a:rPr b="0" i="0" lang="en" sz="1200" u="none" cap="none" strike="noStrike">
                <a:solidFill>
                  <a:schemeClr val="lt1"/>
                </a:solidFill>
                <a:latin typeface="Calibri"/>
                <a:ea typeface="Calibri"/>
                <a:cs typeface="Calibri"/>
                <a:sym typeface="Calibri"/>
              </a:rPr>
              <a:t>What happens to the software talent system when companies need experienced engineers but hire fewer people at the level where experience is created?</a:t>
            </a:r>
            <a:endParaRPr b="0" i="0" sz="800" u="none" cap="none" strike="noStrike">
              <a:solidFill>
                <a:schemeClr val="dk1"/>
              </a:solidFill>
              <a:latin typeface="Calibri"/>
              <a:ea typeface="Calibri"/>
              <a:cs typeface="Calibri"/>
              <a:sym typeface="Calibri"/>
            </a:endParaRPr>
          </a:p>
        </p:txBody>
      </p:sp>
      <p:sp>
        <p:nvSpPr>
          <p:cNvPr id="138" name="Google Shape;138;p19"/>
          <p:cNvSpPr txBox="1"/>
          <p:nvPr/>
        </p:nvSpPr>
        <p:spPr>
          <a:xfrm>
            <a:off x="411480" y="4766310"/>
            <a:ext cx="78867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Sources: </a:t>
            </a:r>
            <a:r>
              <a:rPr b="0" i="0" lang="en" sz="800" u="none" cap="none" strike="noStrike">
                <a:solidFill>
                  <a:schemeClr val="dk2"/>
                </a:solidFill>
                <a:latin typeface="Calibri"/>
                <a:ea typeface="Calibri"/>
                <a:cs typeface="Calibri"/>
                <a:sym typeface="Calibri"/>
              </a:rPr>
              <a:t>SignalFire, State of Tech Talent Report 2026; Federal Reserve Bank of New York, The Labor Market for Recent College Graduates (2026); U.S. BLS, Employment Projections 2024–34 (software developers, +15.8%).</a:t>
            </a:r>
            <a:endParaRPr b="0" i="0" sz="800" u="none" cap="none" strike="noStrike">
              <a:solidFill>
                <a:schemeClr val="dk1"/>
              </a:solidFill>
              <a:latin typeface="Calibri"/>
              <a:ea typeface="Calibri"/>
              <a:cs typeface="Calibri"/>
              <a:sym typeface="Calibri"/>
            </a:endParaRPr>
          </a:p>
        </p:txBody>
      </p:sp>
      <p:sp>
        <p:nvSpPr>
          <p:cNvPr id="139" name="Google Shape;139;p19"/>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dk2"/>
                </a:solidFill>
                <a:latin typeface="Calibri"/>
                <a:ea typeface="Calibri"/>
                <a:cs typeface="Calibri"/>
                <a:sym typeface="Calibri"/>
              </a:rPr>
              <a:t>‹#›</a:t>
            </a:fld>
            <a:endParaRPr b="0" i="0" sz="800" u="none" cap="none" strike="noStrike">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411480" y="205740"/>
            <a:ext cx="829818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300"/>
              <a:buFont typeface="Arial"/>
              <a:buNone/>
            </a:pPr>
            <a:r>
              <a:rPr b="1" lang="en" sz="2300">
                <a:solidFill>
                  <a:schemeClr val="dk1"/>
                </a:solidFill>
              </a:rPr>
              <a:t>Analysis: the junior role as a nested hierarchy</a:t>
            </a:r>
            <a:endParaRPr sz="2300"/>
          </a:p>
        </p:txBody>
      </p:sp>
      <p:sp>
        <p:nvSpPr>
          <p:cNvPr id="146" name="Google Shape;146;p20"/>
          <p:cNvSpPr txBox="1"/>
          <p:nvPr/>
        </p:nvSpPr>
        <p:spPr>
          <a:xfrm>
            <a:off x="411480" y="720090"/>
            <a:ext cx="822960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 sz="1000" u="none" cap="none" strike="noStrike">
                <a:solidFill>
                  <a:schemeClr val="dk2"/>
                </a:solidFill>
                <a:latin typeface="Calibri"/>
                <a:ea typeface="Calibri"/>
                <a:cs typeface="Calibri"/>
                <a:sym typeface="Calibri"/>
              </a:rPr>
              <a:t>Tool: nested hierarchies — map the levels above and below the focal point to find constraints and reverse salients</a:t>
            </a:r>
            <a:endParaRPr b="0" i="0" sz="1000" u="none" cap="none" strike="noStrike">
              <a:solidFill>
                <a:schemeClr val="dk1"/>
              </a:solidFill>
              <a:latin typeface="Calibri"/>
              <a:ea typeface="Calibri"/>
              <a:cs typeface="Calibri"/>
              <a:sym typeface="Calibri"/>
            </a:endParaRPr>
          </a:p>
        </p:txBody>
      </p:sp>
      <p:sp>
        <p:nvSpPr>
          <p:cNvPr id="147" name="Google Shape;147;p20"/>
          <p:cNvSpPr/>
          <p:nvPr/>
        </p:nvSpPr>
        <p:spPr>
          <a:xfrm>
            <a:off x="1440180" y="1097280"/>
            <a:ext cx="2263140" cy="425196"/>
          </a:xfrm>
          <a:prstGeom prst="roundRect">
            <a:avLst>
              <a:gd fmla="val 12903"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20"/>
          <p:cNvSpPr txBox="1"/>
          <p:nvPr/>
        </p:nvSpPr>
        <p:spPr>
          <a:xfrm>
            <a:off x="1440180" y="1097280"/>
            <a:ext cx="226314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Macro economy &amp; policy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800"/>
              <a:buFont typeface="Calibri"/>
              <a:buNone/>
            </a:pPr>
            <a:r>
              <a:rPr b="0" i="0" lang="en" sz="800" u="none" cap="none" strike="noStrike">
                <a:solidFill>
                  <a:schemeClr val="dk2"/>
                </a:solidFill>
                <a:latin typeface="Calibri"/>
                <a:ea typeface="Calibri"/>
                <a:cs typeface="Calibri"/>
                <a:sym typeface="Calibri"/>
              </a:rPr>
              <a:t>interest rates · visas · AI policy</a:t>
            </a:r>
            <a:endParaRPr b="0" i="0" sz="1100" u="none" cap="none" strike="noStrike">
              <a:solidFill>
                <a:schemeClr val="dk1"/>
              </a:solidFill>
              <a:latin typeface="Calibri"/>
              <a:ea typeface="Calibri"/>
              <a:cs typeface="Calibri"/>
              <a:sym typeface="Calibri"/>
            </a:endParaRPr>
          </a:p>
        </p:txBody>
      </p:sp>
      <p:sp>
        <p:nvSpPr>
          <p:cNvPr id="149" name="Google Shape;149;p20"/>
          <p:cNvSpPr/>
          <p:nvPr/>
        </p:nvSpPr>
        <p:spPr>
          <a:xfrm>
            <a:off x="1097280" y="1591056"/>
            <a:ext cx="2948940" cy="425196"/>
          </a:xfrm>
          <a:prstGeom prst="roundRect">
            <a:avLst>
              <a:gd fmla="val 12903"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20"/>
          <p:cNvSpPr txBox="1"/>
          <p:nvPr/>
        </p:nvSpPr>
        <p:spPr>
          <a:xfrm>
            <a:off x="1097280" y="1591056"/>
            <a:ext cx="294894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Software talent ecosystem</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800"/>
              <a:buFont typeface="Calibri"/>
              <a:buNone/>
            </a:pPr>
            <a:r>
              <a:rPr b="0" i="0" lang="en" sz="800" u="none" cap="none" strike="noStrike">
                <a:solidFill>
                  <a:schemeClr val="dk2"/>
                </a:solidFill>
                <a:latin typeface="Calibri"/>
                <a:ea typeface="Calibri"/>
                <a:cs typeface="Calibri"/>
                <a:sym typeface="Calibri"/>
              </a:rPr>
              <a:t>universities · labor market · offshoring</a:t>
            </a:r>
            <a:endParaRPr b="0" i="0" sz="1100" u="none" cap="none" strike="noStrike">
              <a:solidFill>
                <a:schemeClr val="dk1"/>
              </a:solidFill>
              <a:latin typeface="Calibri"/>
              <a:ea typeface="Calibri"/>
              <a:cs typeface="Calibri"/>
              <a:sym typeface="Calibri"/>
            </a:endParaRPr>
          </a:p>
        </p:txBody>
      </p:sp>
      <p:sp>
        <p:nvSpPr>
          <p:cNvPr id="151" name="Google Shape;151;p20"/>
          <p:cNvSpPr/>
          <p:nvPr/>
        </p:nvSpPr>
        <p:spPr>
          <a:xfrm>
            <a:off x="754380" y="2084832"/>
            <a:ext cx="3634740" cy="425196"/>
          </a:xfrm>
          <a:prstGeom prst="roundRect">
            <a:avLst>
              <a:gd fmla="val 12903" name="adj"/>
            </a:avLst>
          </a:prstGeom>
          <a:solidFill>
            <a:schemeClr val="lt2"/>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20"/>
          <p:cNvSpPr txBox="1"/>
          <p:nvPr/>
        </p:nvSpPr>
        <p:spPr>
          <a:xfrm>
            <a:off x="754380" y="2084832"/>
            <a:ext cx="3634740" cy="4251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Firm / engineering organization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800"/>
              <a:buFont typeface="Calibri"/>
              <a:buNone/>
            </a:pPr>
            <a:r>
              <a:rPr b="0" i="0" lang="en" sz="800" u="none" cap="none" strike="noStrike">
                <a:solidFill>
                  <a:schemeClr val="dk2"/>
                </a:solidFill>
                <a:latin typeface="Calibri"/>
                <a:ea typeface="Calibri"/>
                <a:cs typeface="Calibri"/>
                <a:sym typeface="Calibri"/>
              </a:rPr>
              <a:t>headcount · team structure · AI adoption</a:t>
            </a:r>
            <a:endParaRPr b="0" i="0" sz="1100" u="none" cap="none" strike="noStrike">
              <a:solidFill>
                <a:schemeClr val="dk1"/>
              </a:solidFill>
              <a:latin typeface="Calibri"/>
              <a:ea typeface="Calibri"/>
              <a:cs typeface="Calibri"/>
              <a:sym typeface="Calibri"/>
            </a:endParaRPr>
          </a:p>
        </p:txBody>
      </p:sp>
      <p:sp>
        <p:nvSpPr>
          <p:cNvPr id="153" name="Google Shape;153;p20"/>
          <p:cNvSpPr/>
          <p:nvPr/>
        </p:nvSpPr>
        <p:spPr>
          <a:xfrm>
            <a:off x="411480" y="2578608"/>
            <a:ext cx="4320540" cy="452628"/>
          </a:xfrm>
          <a:prstGeom prst="roundRect">
            <a:avLst>
              <a:gd fmla="val 12121" name="adj"/>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0"/>
          <p:cNvSpPr txBox="1"/>
          <p:nvPr/>
        </p:nvSpPr>
        <p:spPr>
          <a:xfrm>
            <a:off x="411480" y="2578608"/>
            <a:ext cx="4320540" cy="4526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Arial"/>
              <a:buNone/>
            </a:pPr>
            <a:r>
              <a:rPr b="1" i="0" lang="en" sz="1200" u="none" cap="none" strike="noStrike">
                <a:solidFill>
                  <a:schemeClr val="dk1"/>
                </a:solidFill>
                <a:latin typeface="Arial"/>
                <a:ea typeface="Arial"/>
                <a:cs typeface="Arial"/>
                <a:sym typeface="Arial"/>
              </a:rPr>
              <a:t>JUNIOR ENGINEER ROLE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Arial"/>
              <a:buNone/>
            </a:pPr>
            <a:r>
              <a:rPr b="0" i="0" lang="en" sz="800" u="none" cap="none" strike="noStrike">
                <a:solidFill>
                  <a:schemeClr val="dk1"/>
                </a:solidFill>
                <a:latin typeface="Arial"/>
                <a:ea typeface="Arial"/>
                <a:cs typeface="Arial"/>
                <a:sym typeface="Arial"/>
              </a:rPr>
              <a:t>focal point</a:t>
            </a:r>
            <a:endParaRPr b="0" i="0" sz="1200" u="none" cap="none" strike="noStrike">
              <a:solidFill>
                <a:schemeClr val="dk1"/>
              </a:solidFill>
              <a:latin typeface="Calibri"/>
              <a:ea typeface="Calibri"/>
              <a:cs typeface="Calibri"/>
              <a:sym typeface="Calibri"/>
            </a:endParaRPr>
          </a:p>
        </p:txBody>
      </p:sp>
      <p:sp>
        <p:nvSpPr>
          <p:cNvPr id="155" name="Google Shape;155;p20"/>
          <p:cNvSpPr/>
          <p:nvPr/>
        </p:nvSpPr>
        <p:spPr>
          <a:xfrm>
            <a:off x="411480" y="3120390"/>
            <a:ext cx="1371600" cy="754380"/>
          </a:xfrm>
          <a:prstGeom prst="roundRect">
            <a:avLst>
              <a:gd fmla="val 7273" name="adj"/>
            </a:avLst>
          </a:prstGeom>
          <a:solidFill>
            <a:schemeClr val="lt1"/>
          </a:solidFill>
          <a:ln cap="flat" cmpd="sng" w="12700">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20"/>
          <p:cNvSpPr txBox="1"/>
          <p:nvPr/>
        </p:nvSpPr>
        <p:spPr>
          <a:xfrm>
            <a:off x="480060" y="3175254"/>
            <a:ext cx="1234440"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Production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b="0" i="0" lang="en" sz="800" u="none" cap="none" strike="noStrike">
                <a:solidFill>
                  <a:schemeClr val="dk1"/>
                </a:solidFill>
                <a:latin typeface="Calibri"/>
                <a:ea typeface="Calibri"/>
                <a:cs typeface="Calibri"/>
                <a:sym typeface="Calibri"/>
              </a:rPr>
              <a:t>routine coding, testing, debugging, docs</a:t>
            </a:r>
            <a:endParaRPr b="0" i="0" sz="1100" u="none" cap="none" strike="noStrike">
              <a:solidFill>
                <a:schemeClr val="dk1"/>
              </a:solidFill>
              <a:latin typeface="Calibri"/>
              <a:ea typeface="Calibri"/>
              <a:cs typeface="Calibri"/>
              <a:sym typeface="Calibri"/>
            </a:endParaRPr>
          </a:p>
        </p:txBody>
      </p:sp>
      <p:sp>
        <p:nvSpPr>
          <p:cNvPr id="157" name="Google Shape;157;p20"/>
          <p:cNvSpPr/>
          <p:nvPr/>
        </p:nvSpPr>
        <p:spPr>
          <a:xfrm>
            <a:off x="1885950" y="3120390"/>
            <a:ext cx="1371600" cy="754380"/>
          </a:xfrm>
          <a:prstGeom prst="roundRect">
            <a:avLst>
              <a:gd fmla="val 7273" name="adj"/>
            </a:avLst>
          </a:prstGeom>
          <a:solidFill>
            <a:schemeClr val="accent2"/>
          </a:solidFill>
          <a:ln cap="flat" cmpd="sng" w="12700">
            <a:solidFill>
              <a:schemeClr val="accen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20"/>
          <p:cNvSpPr txBox="1"/>
          <p:nvPr/>
        </p:nvSpPr>
        <p:spPr>
          <a:xfrm>
            <a:off x="1954530" y="3175254"/>
            <a:ext cx="1234440"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Learning</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b="0" i="0" lang="en" sz="800" u="none" cap="none" strike="noStrike">
                <a:solidFill>
                  <a:schemeClr val="lt1"/>
                </a:solidFill>
                <a:latin typeface="Calibri"/>
                <a:ea typeface="Calibri"/>
                <a:cs typeface="Calibri"/>
                <a:sym typeface="Calibri"/>
              </a:rPr>
              <a:t>code review, mentorship, growing ownership</a:t>
            </a:r>
            <a:endParaRPr b="0" i="0" sz="1100" u="none" cap="none" strike="noStrike">
              <a:solidFill>
                <a:schemeClr val="dk1"/>
              </a:solidFill>
              <a:latin typeface="Calibri"/>
              <a:ea typeface="Calibri"/>
              <a:cs typeface="Calibri"/>
              <a:sym typeface="Calibri"/>
            </a:endParaRPr>
          </a:p>
        </p:txBody>
      </p:sp>
      <p:sp>
        <p:nvSpPr>
          <p:cNvPr id="159" name="Google Shape;159;p20"/>
          <p:cNvSpPr/>
          <p:nvPr/>
        </p:nvSpPr>
        <p:spPr>
          <a:xfrm>
            <a:off x="3360420" y="3120390"/>
            <a:ext cx="1371600" cy="754380"/>
          </a:xfrm>
          <a:prstGeom prst="roundRect">
            <a:avLst>
              <a:gd fmla="val 7273" name="adj"/>
            </a:avLst>
          </a:prstGeom>
          <a:solidFill>
            <a:schemeClr val="lt1"/>
          </a:solidFill>
          <a:ln cap="flat" cmpd="sng" w="12700">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20"/>
          <p:cNvSpPr txBox="1"/>
          <p:nvPr/>
        </p:nvSpPr>
        <p:spPr>
          <a:xfrm>
            <a:off x="3429000" y="3175254"/>
            <a:ext cx="1234440"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Signals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b="0" i="0" lang="en" sz="800" u="none" cap="none" strike="noStrike">
                <a:solidFill>
                  <a:schemeClr val="dk1"/>
                </a:solidFill>
                <a:latin typeface="Calibri"/>
                <a:ea typeface="Calibri"/>
                <a:cs typeface="Calibri"/>
                <a:sym typeface="Calibri"/>
              </a:rPr>
              <a:t>degrees, internships, coding tests</a:t>
            </a:r>
            <a:endParaRPr b="0" i="0" sz="1100" u="none" cap="none" strike="noStrike">
              <a:solidFill>
                <a:schemeClr val="dk1"/>
              </a:solidFill>
              <a:latin typeface="Calibri"/>
              <a:ea typeface="Calibri"/>
              <a:cs typeface="Calibri"/>
              <a:sym typeface="Calibri"/>
            </a:endParaRPr>
          </a:p>
        </p:txBody>
      </p:sp>
      <p:sp>
        <p:nvSpPr>
          <p:cNvPr id="161" name="Google Shape;161;p20"/>
          <p:cNvSpPr txBox="1"/>
          <p:nvPr/>
        </p:nvSpPr>
        <p:spPr>
          <a:xfrm>
            <a:off x="1885950" y="3909060"/>
            <a:ext cx="1371600"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 reverse salient</a:t>
            </a:r>
            <a:endParaRPr b="0" i="0" sz="800" u="none" cap="none" strike="noStrike">
              <a:solidFill>
                <a:schemeClr val="dk1"/>
              </a:solidFill>
              <a:latin typeface="Calibri"/>
              <a:ea typeface="Calibri"/>
              <a:cs typeface="Calibri"/>
              <a:sym typeface="Calibri"/>
            </a:endParaRPr>
          </a:p>
        </p:txBody>
      </p:sp>
      <p:sp>
        <p:nvSpPr>
          <p:cNvPr id="162" name="Google Shape;162;p20"/>
          <p:cNvSpPr txBox="1"/>
          <p:nvPr/>
        </p:nvSpPr>
        <p:spPr>
          <a:xfrm>
            <a:off x="411480" y="4217670"/>
            <a:ext cx="425196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Across: </a:t>
            </a:r>
            <a:r>
              <a:rPr b="0" i="0" lang="en" sz="800" u="none" cap="none" strike="noStrike">
                <a:solidFill>
                  <a:schemeClr val="dk2"/>
                </a:solidFill>
                <a:latin typeface="Calibri"/>
                <a:ea typeface="Calibri"/>
                <a:cs typeface="Calibri"/>
                <a:sym typeface="Calibri"/>
              </a:rPr>
              <a:t>senior mentors · AI tools · internships · open source · bootcamps</a:t>
            </a:r>
            <a:endParaRPr b="0" i="0" sz="800" u="none" cap="none" strike="noStrike">
              <a:solidFill>
                <a:schemeClr val="dk1"/>
              </a:solidFill>
              <a:latin typeface="Calibri"/>
              <a:ea typeface="Calibri"/>
              <a:cs typeface="Calibri"/>
              <a:sym typeface="Calibri"/>
            </a:endParaRPr>
          </a:p>
        </p:txBody>
      </p:sp>
      <p:sp>
        <p:nvSpPr>
          <p:cNvPr id="163" name="Google Shape;163;p20"/>
          <p:cNvSpPr txBox="1"/>
          <p:nvPr/>
        </p:nvSpPr>
        <p:spPr>
          <a:xfrm>
            <a:off x="5109210" y="1097280"/>
            <a:ext cx="3634740"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en" sz="1400" u="none" cap="none" strike="noStrike">
                <a:solidFill>
                  <a:schemeClr val="dk1"/>
                </a:solidFill>
                <a:latin typeface="Arial"/>
                <a:ea typeface="Arial"/>
                <a:cs typeface="Arial"/>
                <a:sym typeface="Arial"/>
              </a:rPr>
              <a:t>What the map reveals</a:t>
            </a:r>
            <a:endParaRPr b="0" i="0" sz="1400" u="none" cap="none" strike="noStrike">
              <a:solidFill>
                <a:schemeClr val="dk1"/>
              </a:solidFill>
              <a:latin typeface="Calibri"/>
              <a:ea typeface="Calibri"/>
              <a:cs typeface="Calibri"/>
              <a:sym typeface="Calibri"/>
            </a:endParaRPr>
          </a:p>
        </p:txBody>
      </p:sp>
      <p:sp>
        <p:nvSpPr>
          <p:cNvPr id="164" name="Google Shape;164;p20"/>
          <p:cNvSpPr/>
          <p:nvPr/>
        </p:nvSpPr>
        <p:spPr>
          <a:xfrm>
            <a:off x="5109210" y="1508760"/>
            <a:ext cx="308610" cy="30861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0"/>
          <p:cNvSpPr txBox="1"/>
          <p:nvPr/>
        </p:nvSpPr>
        <p:spPr>
          <a:xfrm>
            <a:off x="5109210" y="1508760"/>
            <a:ext cx="30861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sp>
        <p:nvSpPr>
          <p:cNvPr id="166" name="Google Shape;166;p20"/>
          <p:cNvSpPr txBox="1"/>
          <p:nvPr/>
        </p:nvSpPr>
        <p:spPr>
          <a:xfrm>
            <a:off x="5554980" y="1495044"/>
            <a:ext cx="318897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The learning sub-system is the reverse salient</a:t>
            </a:r>
            <a:endParaRPr b="0" i="0" sz="1100" u="none" cap="none" strike="noStrike">
              <a:solidFill>
                <a:schemeClr val="dk1"/>
              </a:solidFill>
              <a:latin typeface="Calibri"/>
              <a:ea typeface="Calibri"/>
              <a:cs typeface="Calibri"/>
              <a:sym typeface="Calibri"/>
            </a:endParaRPr>
          </a:p>
        </p:txBody>
      </p:sp>
      <p:sp>
        <p:nvSpPr>
          <p:cNvPr id="167" name="Google Shape;167;p20"/>
          <p:cNvSpPr txBox="1"/>
          <p:nvPr/>
        </p:nvSpPr>
        <p:spPr>
          <a:xfrm>
            <a:off x="5554980" y="1755648"/>
            <a:ext cx="318897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Experience used to be a free by-product of routine work. AI made routine work cheap, so the learning that came with it now looks like pure cost.</a:t>
            </a:r>
            <a:endParaRPr b="0" i="0" sz="1000" u="none" cap="none" strike="noStrike">
              <a:solidFill>
                <a:schemeClr val="dk1"/>
              </a:solidFill>
              <a:latin typeface="Calibri"/>
              <a:ea typeface="Calibri"/>
              <a:cs typeface="Calibri"/>
              <a:sym typeface="Calibri"/>
            </a:endParaRPr>
          </a:p>
        </p:txBody>
      </p:sp>
      <p:sp>
        <p:nvSpPr>
          <p:cNvPr id="168" name="Google Shape;168;p20"/>
          <p:cNvSpPr/>
          <p:nvPr/>
        </p:nvSpPr>
        <p:spPr>
          <a:xfrm>
            <a:off x="5109210" y="2434590"/>
            <a:ext cx="308610" cy="30861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20"/>
          <p:cNvSpPr txBox="1"/>
          <p:nvPr/>
        </p:nvSpPr>
        <p:spPr>
          <a:xfrm>
            <a:off x="5109210" y="2434590"/>
            <a:ext cx="30861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sp>
        <p:nvSpPr>
          <p:cNvPr id="170" name="Google Shape;170;p20"/>
          <p:cNvSpPr txBox="1"/>
          <p:nvPr/>
        </p:nvSpPr>
        <p:spPr>
          <a:xfrm>
            <a:off x="5554980" y="2420874"/>
            <a:ext cx="318897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A hidden constraint from above</a:t>
            </a:r>
            <a:endParaRPr b="0" i="0" sz="1100" u="none" cap="none" strike="noStrike">
              <a:solidFill>
                <a:schemeClr val="dk1"/>
              </a:solidFill>
              <a:latin typeface="Calibri"/>
              <a:ea typeface="Calibri"/>
              <a:cs typeface="Calibri"/>
              <a:sym typeface="Calibri"/>
            </a:endParaRPr>
          </a:p>
        </p:txBody>
      </p:sp>
      <p:sp>
        <p:nvSpPr>
          <p:cNvPr id="171" name="Google Shape;171;p20"/>
          <p:cNvSpPr txBox="1"/>
          <p:nvPr/>
        </p:nvSpPr>
        <p:spPr>
          <a:xfrm>
            <a:off x="5554980" y="2681478"/>
            <a:ext cx="318897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Training is an industry-level externality: a firm that develops a junior may watch a competitor hire them away.</a:t>
            </a:r>
            <a:endParaRPr b="0" i="0" sz="1000" u="none" cap="none" strike="noStrike">
              <a:solidFill>
                <a:schemeClr val="dk1"/>
              </a:solidFill>
              <a:latin typeface="Calibri"/>
              <a:ea typeface="Calibri"/>
              <a:cs typeface="Calibri"/>
              <a:sym typeface="Calibri"/>
            </a:endParaRPr>
          </a:p>
        </p:txBody>
      </p:sp>
      <p:sp>
        <p:nvSpPr>
          <p:cNvPr id="172" name="Google Shape;172;p20"/>
          <p:cNvSpPr/>
          <p:nvPr/>
        </p:nvSpPr>
        <p:spPr>
          <a:xfrm>
            <a:off x="5109210" y="3360420"/>
            <a:ext cx="308610" cy="30861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20"/>
          <p:cNvSpPr txBox="1"/>
          <p:nvPr/>
        </p:nvSpPr>
        <p:spPr>
          <a:xfrm>
            <a:off x="5109210" y="3360420"/>
            <a:ext cx="30861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sp>
        <p:nvSpPr>
          <p:cNvPr id="174" name="Google Shape;174;p20"/>
          <p:cNvSpPr txBox="1"/>
          <p:nvPr/>
        </p:nvSpPr>
        <p:spPr>
          <a:xfrm>
            <a:off x="5554980" y="3346704"/>
            <a:ext cx="318897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A self-undermining loop</a:t>
            </a:r>
            <a:endParaRPr b="0" i="0" sz="1100" u="none" cap="none" strike="noStrike">
              <a:solidFill>
                <a:schemeClr val="dk1"/>
              </a:solidFill>
              <a:latin typeface="Calibri"/>
              <a:ea typeface="Calibri"/>
              <a:cs typeface="Calibri"/>
              <a:sym typeface="Calibri"/>
            </a:endParaRPr>
          </a:p>
        </p:txBody>
      </p:sp>
      <p:sp>
        <p:nvSpPr>
          <p:cNvPr id="175" name="Google Shape;175;p20"/>
          <p:cNvSpPr txBox="1"/>
          <p:nvPr/>
        </p:nvSpPr>
        <p:spPr>
          <a:xfrm>
            <a:off x="5554980" y="3607308"/>
            <a:ext cx="318897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Firms now prize judgment, system thinking and leadership — the very capabilities the junior years used to build.</a:t>
            </a:r>
            <a:endParaRPr b="0" i="0" sz="1000" u="none" cap="none" strike="noStrike">
              <a:solidFill>
                <a:schemeClr val="dk1"/>
              </a:solidFill>
              <a:latin typeface="Calibri"/>
              <a:ea typeface="Calibri"/>
              <a:cs typeface="Calibri"/>
              <a:sym typeface="Calibri"/>
            </a:endParaRPr>
          </a:p>
        </p:txBody>
      </p:sp>
      <p:sp>
        <p:nvSpPr>
          <p:cNvPr id="176" name="Google Shape;176;p20"/>
          <p:cNvSpPr txBox="1"/>
          <p:nvPr/>
        </p:nvSpPr>
        <p:spPr>
          <a:xfrm>
            <a:off x="411480" y="4766310"/>
            <a:ext cx="78867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Sources: </a:t>
            </a:r>
            <a:r>
              <a:rPr b="0" i="0" lang="en" sz="800" u="none" cap="none" strike="noStrike">
                <a:solidFill>
                  <a:schemeClr val="dk2"/>
                </a:solidFill>
                <a:latin typeface="Calibri"/>
                <a:ea typeface="Calibri"/>
                <a:cs typeface="Calibri"/>
                <a:sym typeface="Calibri"/>
              </a:rPr>
              <a:t>Group analysis using the nested-hierarchies framework (course materials); hiring context from SignalFire, State of Tech Talent Report 2026.</a:t>
            </a:r>
            <a:endParaRPr b="0" i="0" sz="800" u="none" cap="none" strike="noStrike">
              <a:solidFill>
                <a:schemeClr val="dk1"/>
              </a:solidFill>
              <a:latin typeface="Calibri"/>
              <a:ea typeface="Calibri"/>
              <a:cs typeface="Calibri"/>
              <a:sym typeface="Calibri"/>
            </a:endParaRPr>
          </a:p>
        </p:txBody>
      </p:sp>
      <p:sp>
        <p:nvSpPr>
          <p:cNvPr id="177" name="Google Shape;177;p20"/>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dk2"/>
                </a:solidFill>
                <a:latin typeface="Calibri"/>
                <a:ea typeface="Calibri"/>
                <a:cs typeface="Calibri"/>
                <a:sym typeface="Calibri"/>
              </a:rPr>
              <a:t>‹#›</a:t>
            </a:fld>
            <a:endParaRPr b="0" i="0" sz="8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411480" y="205740"/>
            <a:ext cx="829818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300"/>
              <a:buFont typeface="Arial"/>
              <a:buNone/>
            </a:pPr>
            <a:r>
              <a:rPr b="1" lang="en" sz="2300">
                <a:solidFill>
                  <a:schemeClr val="dk1"/>
                </a:solidFill>
              </a:rPr>
              <a:t>Analysis: firms still hire engineers — just not new ones</a:t>
            </a:r>
            <a:endParaRPr sz="2300"/>
          </a:p>
        </p:txBody>
      </p:sp>
      <p:pic>
        <p:nvPicPr>
          <p:cNvPr id="184" name="Google Shape;184;p21"/>
          <p:cNvPicPr preferRelativeResize="0"/>
          <p:nvPr/>
        </p:nvPicPr>
        <p:blipFill rotWithShape="1">
          <a:blip r:embed="rId3">
            <a:alphaModFix/>
          </a:blip>
          <a:srcRect b="0" l="0" r="0" t="0"/>
          <a:stretch/>
        </p:blipFill>
        <p:spPr>
          <a:xfrm>
            <a:off x="342900" y="822960"/>
            <a:ext cx="4114800" cy="2263140"/>
          </a:xfrm>
          <a:prstGeom prst="rect">
            <a:avLst/>
          </a:prstGeom>
          <a:noFill/>
          <a:ln>
            <a:noFill/>
          </a:ln>
        </p:spPr>
      </p:pic>
      <p:sp>
        <p:nvSpPr>
          <p:cNvPr id="185" name="Google Shape;185;p21"/>
          <p:cNvSpPr txBox="1"/>
          <p:nvPr/>
        </p:nvSpPr>
        <p:spPr>
          <a:xfrm>
            <a:off x="411480" y="3120390"/>
            <a:ext cx="3977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 sz="1000" u="none" cap="none" strike="noStrike">
                <a:solidFill>
                  <a:schemeClr val="dk2"/>
                </a:solidFill>
                <a:latin typeface="Calibri"/>
                <a:ea typeface="Calibri"/>
                <a:cs typeface="Calibri"/>
                <a:sym typeface="Calibri"/>
              </a:rPr>
              <a:t>Software engineers are now 55% of Tech Major hires (46% in 2019): demand has shifted toward experienced talent, not away from engineering.</a:t>
            </a:r>
            <a:endParaRPr b="0" i="0" sz="1000" u="none" cap="none" strike="noStrike">
              <a:solidFill>
                <a:schemeClr val="dk1"/>
              </a:solidFill>
              <a:latin typeface="Calibri"/>
              <a:ea typeface="Calibri"/>
              <a:cs typeface="Calibri"/>
              <a:sym typeface="Calibri"/>
            </a:endParaRPr>
          </a:p>
        </p:txBody>
      </p:sp>
      <p:sp>
        <p:nvSpPr>
          <p:cNvPr id="186" name="Google Shape;186;p21"/>
          <p:cNvSpPr/>
          <p:nvPr/>
        </p:nvSpPr>
        <p:spPr>
          <a:xfrm>
            <a:off x="4697730" y="857250"/>
            <a:ext cx="1954530" cy="2640330"/>
          </a:xfrm>
          <a:prstGeom prst="roundRect">
            <a:avLst>
              <a:gd fmla="val 4211" name="adj"/>
            </a:avLst>
          </a:prstGeom>
          <a:solidFill>
            <a:schemeClr val="lt2"/>
          </a:solidFill>
          <a:ln cap="flat" cmpd="sng" w="952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1"/>
          <p:cNvSpPr txBox="1"/>
          <p:nvPr/>
        </p:nvSpPr>
        <p:spPr>
          <a:xfrm>
            <a:off x="4834890" y="960120"/>
            <a:ext cx="168021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BEFORE  </a:t>
            </a:r>
            <a:r>
              <a:rPr b="1" i="0" lang="en" sz="900" u="none" cap="none" strike="noStrike">
                <a:solidFill>
                  <a:schemeClr val="dk1"/>
                </a:solidFill>
                <a:latin typeface="Calibri"/>
                <a:ea typeface="Calibri"/>
                <a:cs typeface="Calibri"/>
                <a:sym typeface="Calibri"/>
              </a:rPr>
              <a:t>1 senior + junior team</a:t>
            </a:r>
            <a:endParaRPr b="0" i="0" sz="900" u="none" cap="none" strike="noStrike">
              <a:solidFill>
                <a:schemeClr val="dk1"/>
              </a:solidFill>
              <a:latin typeface="Calibri"/>
              <a:ea typeface="Calibri"/>
              <a:cs typeface="Calibri"/>
              <a:sym typeface="Calibri"/>
            </a:endParaRPr>
          </a:p>
        </p:txBody>
      </p:sp>
      <p:sp>
        <p:nvSpPr>
          <p:cNvPr id="188" name="Google Shape;188;p21"/>
          <p:cNvSpPr/>
          <p:nvPr/>
        </p:nvSpPr>
        <p:spPr>
          <a:xfrm>
            <a:off x="5160645" y="1337310"/>
            <a:ext cx="1028700" cy="329184"/>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21"/>
          <p:cNvSpPr txBox="1"/>
          <p:nvPr/>
        </p:nvSpPr>
        <p:spPr>
          <a:xfrm>
            <a:off x="5160645" y="1337310"/>
            <a:ext cx="10287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i="0" lang="en" sz="1000" u="none" cap="none" strike="noStrike">
                <a:solidFill>
                  <a:schemeClr val="lt1"/>
                </a:solidFill>
                <a:latin typeface="Calibri"/>
                <a:ea typeface="Calibri"/>
                <a:cs typeface="Calibri"/>
                <a:sym typeface="Calibri"/>
              </a:rPr>
              <a:t>Senior</a:t>
            </a:r>
            <a:endParaRPr b="0" i="0" sz="1000" u="none" cap="none" strike="noStrike">
              <a:solidFill>
                <a:schemeClr val="dk1"/>
              </a:solidFill>
              <a:latin typeface="Calibri"/>
              <a:ea typeface="Calibri"/>
              <a:cs typeface="Calibri"/>
              <a:sym typeface="Calibri"/>
            </a:endParaRPr>
          </a:p>
        </p:txBody>
      </p:sp>
      <p:cxnSp>
        <p:nvCxnSpPr>
          <p:cNvPr id="190" name="Google Shape;190;p21"/>
          <p:cNvCxnSpPr/>
          <p:nvPr/>
        </p:nvCxnSpPr>
        <p:spPr>
          <a:xfrm flipH="1">
            <a:off x="5116068" y="1680210"/>
            <a:ext cx="558927" cy="528066"/>
          </a:xfrm>
          <a:prstGeom prst="straightConnector1">
            <a:avLst/>
          </a:prstGeom>
          <a:noFill/>
          <a:ln cap="flat" cmpd="sng" w="15875">
            <a:solidFill>
              <a:srgbClr val="8A97A8"/>
            </a:solidFill>
            <a:prstDash val="solid"/>
            <a:round/>
            <a:headEnd len="sm" w="sm" type="none"/>
            <a:tailEnd len="med" w="med" type="triangle"/>
          </a:ln>
        </p:spPr>
      </p:cxnSp>
      <p:sp>
        <p:nvSpPr>
          <p:cNvPr id="191" name="Google Shape;191;p21"/>
          <p:cNvSpPr/>
          <p:nvPr/>
        </p:nvSpPr>
        <p:spPr>
          <a:xfrm>
            <a:off x="4869180" y="2228850"/>
            <a:ext cx="493776" cy="28803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1"/>
          <p:cNvSpPr txBox="1"/>
          <p:nvPr/>
        </p:nvSpPr>
        <p:spPr>
          <a:xfrm>
            <a:off x="4869180"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Junior</a:t>
            </a:r>
            <a:endParaRPr b="0" i="0" sz="900" u="none" cap="none" strike="noStrike">
              <a:solidFill>
                <a:schemeClr val="dk1"/>
              </a:solidFill>
              <a:latin typeface="Calibri"/>
              <a:ea typeface="Calibri"/>
              <a:cs typeface="Calibri"/>
              <a:sym typeface="Calibri"/>
            </a:endParaRPr>
          </a:p>
        </p:txBody>
      </p:sp>
      <p:cxnSp>
        <p:nvCxnSpPr>
          <p:cNvPr id="193" name="Google Shape;193;p21"/>
          <p:cNvCxnSpPr/>
          <p:nvPr/>
        </p:nvCxnSpPr>
        <p:spPr>
          <a:xfrm>
            <a:off x="5674995" y="1680210"/>
            <a:ext cx="686" cy="528066"/>
          </a:xfrm>
          <a:prstGeom prst="straightConnector1">
            <a:avLst/>
          </a:prstGeom>
          <a:noFill/>
          <a:ln cap="flat" cmpd="sng" w="15875">
            <a:solidFill>
              <a:srgbClr val="8A97A8"/>
            </a:solidFill>
            <a:prstDash val="solid"/>
            <a:round/>
            <a:headEnd len="sm" w="sm" type="none"/>
            <a:tailEnd len="med" w="med" type="triangle"/>
          </a:ln>
        </p:spPr>
      </p:cxnSp>
      <p:sp>
        <p:nvSpPr>
          <p:cNvPr id="194" name="Google Shape;194;p21"/>
          <p:cNvSpPr/>
          <p:nvPr/>
        </p:nvSpPr>
        <p:spPr>
          <a:xfrm>
            <a:off x="5428107" y="2228850"/>
            <a:ext cx="493776" cy="28803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21"/>
          <p:cNvSpPr txBox="1"/>
          <p:nvPr/>
        </p:nvSpPr>
        <p:spPr>
          <a:xfrm>
            <a:off x="5428107"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Junior</a:t>
            </a:r>
            <a:endParaRPr b="0" i="0" sz="900" u="none" cap="none" strike="noStrike">
              <a:solidFill>
                <a:schemeClr val="dk1"/>
              </a:solidFill>
              <a:latin typeface="Calibri"/>
              <a:ea typeface="Calibri"/>
              <a:cs typeface="Calibri"/>
              <a:sym typeface="Calibri"/>
            </a:endParaRPr>
          </a:p>
        </p:txBody>
      </p:sp>
      <p:cxnSp>
        <p:nvCxnSpPr>
          <p:cNvPr id="196" name="Google Shape;196;p21"/>
          <p:cNvCxnSpPr/>
          <p:nvPr/>
        </p:nvCxnSpPr>
        <p:spPr>
          <a:xfrm>
            <a:off x="5674995" y="1680210"/>
            <a:ext cx="558927" cy="528066"/>
          </a:xfrm>
          <a:prstGeom prst="straightConnector1">
            <a:avLst/>
          </a:prstGeom>
          <a:noFill/>
          <a:ln cap="flat" cmpd="sng" w="15875">
            <a:solidFill>
              <a:srgbClr val="8A97A8"/>
            </a:solidFill>
            <a:prstDash val="solid"/>
            <a:round/>
            <a:headEnd len="sm" w="sm" type="none"/>
            <a:tailEnd len="med" w="med" type="triangle"/>
          </a:ln>
        </p:spPr>
      </p:cxnSp>
      <p:sp>
        <p:nvSpPr>
          <p:cNvPr id="197" name="Google Shape;197;p21"/>
          <p:cNvSpPr/>
          <p:nvPr/>
        </p:nvSpPr>
        <p:spPr>
          <a:xfrm>
            <a:off x="5987034" y="2228850"/>
            <a:ext cx="493776" cy="28803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1"/>
          <p:cNvSpPr txBox="1"/>
          <p:nvPr/>
        </p:nvSpPr>
        <p:spPr>
          <a:xfrm>
            <a:off x="5987034"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Junior</a:t>
            </a:r>
            <a:endParaRPr b="0" i="0" sz="900" u="none" cap="none" strike="noStrike">
              <a:solidFill>
                <a:schemeClr val="dk1"/>
              </a:solidFill>
              <a:latin typeface="Calibri"/>
              <a:ea typeface="Calibri"/>
              <a:cs typeface="Calibri"/>
              <a:sym typeface="Calibri"/>
            </a:endParaRPr>
          </a:p>
        </p:txBody>
      </p:sp>
      <p:sp>
        <p:nvSpPr>
          <p:cNvPr id="199" name="Google Shape;199;p21"/>
          <p:cNvSpPr txBox="1"/>
          <p:nvPr/>
        </p:nvSpPr>
        <p:spPr>
          <a:xfrm>
            <a:off x="4834890" y="2606040"/>
            <a:ext cx="1680210"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900"/>
              <a:buFont typeface="Calibri"/>
              <a:buNone/>
            </a:pPr>
            <a:r>
              <a:rPr b="1" i="0" lang="en" sz="900" u="none" cap="none" strike="noStrike">
                <a:solidFill>
                  <a:schemeClr val="dk2"/>
                </a:solidFill>
                <a:latin typeface="Calibri"/>
                <a:ea typeface="Calibri"/>
                <a:cs typeface="Calibri"/>
                <a:sym typeface="Calibri"/>
              </a:rPr>
              <a:t>tasks ↓   experience ↑</a:t>
            </a:r>
            <a:endParaRPr b="0" i="0" sz="900" u="none" cap="none" strike="noStrike">
              <a:solidFill>
                <a:schemeClr val="dk1"/>
              </a:solidFill>
              <a:latin typeface="Calibri"/>
              <a:ea typeface="Calibri"/>
              <a:cs typeface="Calibri"/>
              <a:sym typeface="Calibri"/>
            </a:endParaRPr>
          </a:p>
        </p:txBody>
      </p:sp>
      <p:sp>
        <p:nvSpPr>
          <p:cNvPr id="200" name="Google Shape;200;p21"/>
          <p:cNvSpPr txBox="1"/>
          <p:nvPr/>
        </p:nvSpPr>
        <p:spPr>
          <a:xfrm>
            <a:off x="4834890" y="2880360"/>
            <a:ext cx="1680210" cy="5143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Juniors learn planning and judgment by doing the work</a:t>
            </a:r>
            <a:endParaRPr b="0" i="0" sz="1000" u="none" cap="none" strike="noStrike">
              <a:solidFill>
                <a:schemeClr val="dk1"/>
              </a:solidFill>
              <a:latin typeface="Calibri"/>
              <a:ea typeface="Calibri"/>
              <a:cs typeface="Calibri"/>
              <a:sym typeface="Calibri"/>
            </a:endParaRPr>
          </a:p>
        </p:txBody>
      </p:sp>
      <p:sp>
        <p:nvSpPr>
          <p:cNvPr id="201" name="Google Shape;201;p21"/>
          <p:cNvSpPr/>
          <p:nvPr/>
        </p:nvSpPr>
        <p:spPr>
          <a:xfrm>
            <a:off x="6789420" y="857250"/>
            <a:ext cx="1954530" cy="2640330"/>
          </a:xfrm>
          <a:prstGeom prst="roundRect">
            <a:avLst>
              <a:gd fmla="val 4211" name="adj"/>
            </a:avLst>
          </a:prstGeom>
          <a:solidFill>
            <a:schemeClr val="lt2"/>
          </a:solidFill>
          <a:ln cap="flat" cmpd="sng" w="952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1"/>
          <p:cNvSpPr txBox="1"/>
          <p:nvPr/>
        </p:nvSpPr>
        <p:spPr>
          <a:xfrm>
            <a:off x="6926580" y="960120"/>
            <a:ext cx="168021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900"/>
              <a:buFont typeface="Calibri"/>
              <a:buNone/>
            </a:pPr>
            <a:r>
              <a:rPr b="1" i="0" lang="en" sz="900" u="none" cap="none" strike="noStrike">
                <a:solidFill>
                  <a:schemeClr val="accent2"/>
                </a:solidFill>
                <a:latin typeface="Calibri"/>
                <a:ea typeface="Calibri"/>
                <a:cs typeface="Calibri"/>
                <a:sym typeface="Calibri"/>
              </a:rPr>
              <a:t>NOW  </a:t>
            </a:r>
            <a:r>
              <a:rPr b="1" i="0" lang="en" sz="900" u="none" cap="none" strike="noStrike">
                <a:solidFill>
                  <a:schemeClr val="dk1"/>
                </a:solidFill>
                <a:latin typeface="Calibri"/>
                <a:ea typeface="Calibri"/>
                <a:cs typeface="Calibri"/>
                <a:sym typeface="Calibri"/>
              </a:rPr>
              <a:t>1 senior + AI agents</a:t>
            </a:r>
            <a:endParaRPr b="0" i="0" sz="900" u="none" cap="none" strike="noStrike">
              <a:solidFill>
                <a:schemeClr val="dk1"/>
              </a:solidFill>
              <a:latin typeface="Calibri"/>
              <a:ea typeface="Calibri"/>
              <a:cs typeface="Calibri"/>
              <a:sym typeface="Calibri"/>
            </a:endParaRPr>
          </a:p>
        </p:txBody>
      </p:sp>
      <p:sp>
        <p:nvSpPr>
          <p:cNvPr id="203" name="Google Shape;203;p21"/>
          <p:cNvSpPr/>
          <p:nvPr/>
        </p:nvSpPr>
        <p:spPr>
          <a:xfrm>
            <a:off x="7252335" y="1337310"/>
            <a:ext cx="1028700" cy="329184"/>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21"/>
          <p:cNvSpPr txBox="1"/>
          <p:nvPr/>
        </p:nvSpPr>
        <p:spPr>
          <a:xfrm>
            <a:off x="7252335" y="1337310"/>
            <a:ext cx="10287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i="0" lang="en" sz="1000" u="none" cap="none" strike="noStrike">
                <a:solidFill>
                  <a:schemeClr val="lt1"/>
                </a:solidFill>
                <a:latin typeface="Calibri"/>
                <a:ea typeface="Calibri"/>
                <a:cs typeface="Calibri"/>
                <a:sym typeface="Calibri"/>
              </a:rPr>
              <a:t>Senior</a:t>
            </a:r>
            <a:endParaRPr b="0" i="0" sz="1000" u="none" cap="none" strike="noStrike">
              <a:solidFill>
                <a:schemeClr val="dk1"/>
              </a:solidFill>
              <a:latin typeface="Calibri"/>
              <a:ea typeface="Calibri"/>
              <a:cs typeface="Calibri"/>
              <a:sym typeface="Calibri"/>
            </a:endParaRPr>
          </a:p>
        </p:txBody>
      </p:sp>
      <p:cxnSp>
        <p:nvCxnSpPr>
          <p:cNvPr id="205" name="Google Shape;205;p21"/>
          <p:cNvCxnSpPr/>
          <p:nvPr/>
        </p:nvCxnSpPr>
        <p:spPr>
          <a:xfrm flipH="1">
            <a:off x="7207758" y="1680210"/>
            <a:ext cx="558927" cy="528066"/>
          </a:xfrm>
          <a:prstGeom prst="straightConnector1">
            <a:avLst/>
          </a:prstGeom>
          <a:noFill/>
          <a:ln cap="flat" cmpd="sng" w="15875">
            <a:solidFill>
              <a:srgbClr val="8A97A8"/>
            </a:solidFill>
            <a:prstDash val="solid"/>
            <a:round/>
            <a:headEnd len="sm" w="sm" type="none"/>
            <a:tailEnd len="med" w="med" type="triangle"/>
          </a:ln>
        </p:spPr>
      </p:cxnSp>
      <p:sp>
        <p:nvSpPr>
          <p:cNvPr id="206" name="Google Shape;206;p21"/>
          <p:cNvSpPr/>
          <p:nvPr/>
        </p:nvSpPr>
        <p:spPr>
          <a:xfrm>
            <a:off x="6960870" y="2228850"/>
            <a:ext cx="493776" cy="288036"/>
          </a:xfrm>
          <a:prstGeom prst="roundRect">
            <a:avLst>
              <a:gd fmla="val 50000" name="adj"/>
            </a:avLst>
          </a:prstGeom>
          <a:solidFill>
            <a:schemeClr val="accent5"/>
          </a:solidFill>
          <a:ln cap="flat" cmpd="sng" w="9525">
            <a:solidFill>
              <a:schemeClr val="accent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1"/>
          <p:cNvSpPr txBox="1"/>
          <p:nvPr/>
        </p:nvSpPr>
        <p:spPr>
          <a:xfrm>
            <a:off x="6960870"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AI</a:t>
            </a:r>
            <a:endParaRPr b="0" i="0" sz="900" u="none" cap="none" strike="noStrike">
              <a:solidFill>
                <a:schemeClr val="dk1"/>
              </a:solidFill>
              <a:latin typeface="Calibri"/>
              <a:ea typeface="Calibri"/>
              <a:cs typeface="Calibri"/>
              <a:sym typeface="Calibri"/>
            </a:endParaRPr>
          </a:p>
        </p:txBody>
      </p:sp>
      <p:cxnSp>
        <p:nvCxnSpPr>
          <p:cNvPr id="208" name="Google Shape;208;p21"/>
          <p:cNvCxnSpPr/>
          <p:nvPr/>
        </p:nvCxnSpPr>
        <p:spPr>
          <a:xfrm flipH="1">
            <a:off x="7766685" y="1680210"/>
            <a:ext cx="685" cy="528066"/>
          </a:xfrm>
          <a:prstGeom prst="straightConnector1">
            <a:avLst/>
          </a:prstGeom>
          <a:noFill/>
          <a:ln cap="flat" cmpd="sng" w="15875">
            <a:solidFill>
              <a:srgbClr val="8A97A8"/>
            </a:solidFill>
            <a:prstDash val="solid"/>
            <a:round/>
            <a:headEnd len="sm" w="sm" type="none"/>
            <a:tailEnd len="med" w="med" type="triangle"/>
          </a:ln>
        </p:spPr>
      </p:cxnSp>
      <p:sp>
        <p:nvSpPr>
          <p:cNvPr id="209" name="Google Shape;209;p21"/>
          <p:cNvSpPr/>
          <p:nvPr/>
        </p:nvSpPr>
        <p:spPr>
          <a:xfrm>
            <a:off x="7519797" y="2228850"/>
            <a:ext cx="493776" cy="288036"/>
          </a:xfrm>
          <a:prstGeom prst="roundRect">
            <a:avLst>
              <a:gd fmla="val 50000" name="adj"/>
            </a:avLst>
          </a:prstGeom>
          <a:solidFill>
            <a:schemeClr val="accent5"/>
          </a:solidFill>
          <a:ln cap="flat" cmpd="sng" w="9525">
            <a:solidFill>
              <a:schemeClr val="accent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1"/>
          <p:cNvSpPr txBox="1"/>
          <p:nvPr/>
        </p:nvSpPr>
        <p:spPr>
          <a:xfrm>
            <a:off x="7519797"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AI</a:t>
            </a:r>
            <a:endParaRPr b="0" i="0" sz="900" u="none" cap="none" strike="noStrike">
              <a:solidFill>
                <a:schemeClr val="dk1"/>
              </a:solidFill>
              <a:latin typeface="Calibri"/>
              <a:ea typeface="Calibri"/>
              <a:cs typeface="Calibri"/>
              <a:sym typeface="Calibri"/>
            </a:endParaRPr>
          </a:p>
        </p:txBody>
      </p:sp>
      <p:cxnSp>
        <p:nvCxnSpPr>
          <p:cNvPr id="211" name="Google Shape;211;p21"/>
          <p:cNvCxnSpPr/>
          <p:nvPr/>
        </p:nvCxnSpPr>
        <p:spPr>
          <a:xfrm>
            <a:off x="7766685" y="1680210"/>
            <a:ext cx="558927" cy="528066"/>
          </a:xfrm>
          <a:prstGeom prst="straightConnector1">
            <a:avLst/>
          </a:prstGeom>
          <a:noFill/>
          <a:ln cap="flat" cmpd="sng" w="15875">
            <a:solidFill>
              <a:srgbClr val="8A97A8"/>
            </a:solidFill>
            <a:prstDash val="solid"/>
            <a:round/>
            <a:headEnd len="sm" w="sm" type="none"/>
            <a:tailEnd len="med" w="med" type="triangle"/>
          </a:ln>
        </p:spPr>
      </p:cxnSp>
      <p:sp>
        <p:nvSpPr>
          <p:cNvPr id="212" name="Google Shape;212;p21"/>
          <p:cNvSpPr/>
          <p:nvPr/>
        </p:nvSpPr>
        <p:spPr>
          <a:xfrm>
            <a:off x="8078724" y="2228850"/>
            <a:ext cx="493776" cy="288036"/>
          </a:xfrm>
          <a:prstGeom prst="roundRect">
            <a:avLst>
              <a:gd fmla="val 50000" name="adj"/>
            </a:avLst>
          </a:prstGeom>
          <a:solidFill>
            <a:schemeClr val="accent5"/>
          </a:solidFill>
          <a:ln cap="flat" cmpd="sng" w="9525">
            <a:solidFill>
              <a:schemeClr val="accent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1"/>
          <p:cNvSpPr txBox="1"/>
          <p:nvPr/>
        </p:nvSpPr>
        <p:spPr>
          <a:xfrm>
            <a:off x="8078724" y="2228850"/>
            <a:ext cx="49377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AI</a:t>
            </a:r>
            <a:endParaRPr b="0" i="0" sz="900" u="none" cap="none" strike="noStrike">
              <a:solidFill>
                <a:schemeClr val="dk1"/>
              </a:solidFill>
              <a:latin typeface="Calibri"/>
              <a:ea typeface="Calibri"/>
              <a:cs typeface="Calibri"/>
              <a:sym typeface="Calibri"/>
            </a:endParaRPr>
          </a:p>
        </p:txBody>
      </p:sp>
      <p:sp>
        <p:nvSpPr>
          <p:cNvPr id="214" name="Google Shape;214;p21"/>
          <p:cNvSpPr txBox="1"/>
          <p:nvPr/>
        </p:nvSpPr>
        <p:spPr>
          <a:xfrm>
            <a:off x="6926580" y="2606040"/>
            <a:ext cx="1680210" cy="2057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900"/>
              <a:buFont typeface="Calibri"/>
              <a:buNone/>
            </a:pPr>
            <a:r>
              <a:rPr b="1" i="0" lang="en" sz="900" u="none" cap="none" strike="noStrike">
                <a:solidFill>
                  <a:schemeClr val="dk2"/>
                </a:solidFill>
                <a:latin typeface="Calibri"/>
                <a:ea typeface="Calibri"/>
                <a:cs typeface="Calibri"/>
                <a:sym typeface="Calibri"/>
              </a:rPr>
              <a:t>tasks ↓   output ↑</a:t>
            </a:r>
            <a:endParaRPr b="0" i="0" sz="900" u="none" cap="none" strike="noStrike">
              <a:solidFill>
                <a:schemeClr val="dk1"/>
              </a:solidFill>
              <a:latin typeface="Calibri"/>
              <a:ea typeface="Calibri"/>
              <a:cs typeface="Calibri"/>
              <a:sym typeface="Calibri"/>
            </a:endParaRPr>
          </a:p>
        </p:txBody>
      </p:sp>
      <p:sp>
        <p:nvSpPr>
          <p:cNvPr id="215" name="Google Shape;215;p21"/>
          <p:cNvSpPr txBox="1"/>
          <p:nvPr/>
        </p:nvSpPr>
        <p:spPr>
          <a:xfrm>
            <a:off x="6926580" y="2880360"/>
            <a:ext cx="1680210" cy="5143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Faster output — but no one is collecting experience</a:t>
            </a:r>
            <a:endParaRPr b="0" i="0" sz="1000" u="none" cap="none" strike="noStrike">
              <a:solidFill>
                <a:schemeClr val="dk1"/>
              </a:solidFill>
              <a:latin typeface="Calibri"/>
              <a:ea typeface="Calibri"/>
              <a:cs typeface="Calibri"/>
              <a:sym typeface="Calibri"/>
            </a:endParaRPr>
          </a:p>
        </p:txBody>
      </p:sp>
      <p:sp>
        <p:nvSpPr>
          <p:cNvPr id="216" name="Google Shape;216;p21"/>
          <p:cNvSpPr txBox="1"/>
          <p:nvPr/>
        </p:nvSpPr>
        <p:spPr>
          <a:xfrm>
            <a:off x="411480" y="3634740"/>
            <a:ext cx="41148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LOOKING AHEAD — DISCONTINUITIES</a:t>
            </a:r>
            <a:endParaRPr b="0" i="0" sz="800" u="none" cap="none" strike="noStrike">
              <a:solidFill>
                <a:schemeClr val="dk1"/>
              </a:solidFill>
              <a:latin typeface="Calibri"/>
              <a:ea typeface="Calibri"/>
              <a:cs typeface="Calibri"/>
              <a:sym typeface="Calibri"/>
            </a:endParaRPr>
          </a:p>
        </p:txBody>
      </p:sp>
      <p:sp>
        <p:nvSpPr>
          <p:cNvPr id="217" name="Google Shape;217;p21"/>
          <p:cNvSpPr/>
          <p:nvPr/>
        </p:nvSpPr>
        <p:spPr>
          <a:xfrm>
            <a:off x="411480" y="3874770"/>
            <a:ext cx="2708910" cy="720090"/>
          </a:xfrm>
          <a:prstGeom prst="roundRect">
            <a:avLst>
              <a:gd fmla="val 9524" name="adj"/>
            </a:avLst>
          </a:prstGeom>
          <a:solidFill>
            <a:schemeClr val="lt1"/>
          </a:solidFill>
          <a:ln cap="flat" cmpd="sng" w="12700">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1"/>
          <p:cNvSpPr txBox="1"/>
          <p:nvPr/>
        </p:nvSpPr>
        <p:spPr>
          <a:xfrm>
            <a:off x="534924" y="3943350"/>
            <a:ext cx="24688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Experience lag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Seniors take years to form; today's missing juniors become tomorrow's senior gap.</a:t>
            </a:r>
            <a:endParaRPr b="0" i="0" sz="1100" u="none" cap="none" strike="noStrike">
              <a:solidFill>
                <a:schemeClr val="dk1"/>
              </a:solidFill>
              <a:latin typeface="Calibri"/>
              <a:ea typeface="Calibri"/>
              <a:cs typeface="Calibri"/>
              <a:sym typeface="Calibri"/>
            </a:endParaRPr>
          </a:p>
        </p:txBody>
      </p:sp>
      <p:sp>
        <p:nvSpPr>
          <p:cNvPr id="219" name="Google Shape;219;p21"/>
          <p:cNvSpPr/>
          <p:nvPr/>
        </p:nvSpPr>
        <p:spPr>
          <a:xfrm>
            <a:off x="3223260" y="3874770"/>
            <a:ext cx="2708910" cy="720090"/>
          </a:xfrm>
          <a:prstGeom prst="roundRect">
            <a:avLst>
              <a:gd fmla="val 9524" name="adj"/>
            </a:avLst>
          </a:prstGeom>
          <a:solidFill>
            <a:schemeClr val="lt1"/>
          </a:solidFill>
          <a:ln cap="flat" cmpd="sng" w="12700">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1"/>
          <p:cNvSpPr txBox="1"/>
          <p:nvPr/>
        </p:nvSpPr>
        <p:spPr>
          <a:xfrm>
            <a:off x="3346704" y="3943350"/>
            <a:ext cx="24688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Assistants → agents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As AI takes on whole tasks, the definition of “junior” itself changes.</a:t>
            </a:r>
            <a:endParaRPr b="0" i="0" sz="1100" u="none" cap="none" strike="noStrike">
              <a:solidFill>
                <a:schemeClr val="dk1"/>
              </a:solidFill>
              <a:latin typeface="Calibri"/>
              <a:ea typeface="Calibri"/>
              <a:cs typeface="Calibri"/>
              <a:sym typeface="Calibri"/>
            </a:endParaRPr>
          </a:p>
        </p:txBody>
      </p:sp>
      <p:sp>
        <p:nvSpPr>
          <p:cNvPr id="221" name="Google Shape;221;p21"/>
          <p:cNvSpPr/>
          <p:nvPr/>
        </p:nvSpPr>
        <p:spPr>
          <a:xfrm>
            <a:off x="6035040" y="3874770"/>
            <a:ext cx="2708910" cy="720090"/>
          </a:xfrm>
          <a:prstGeom prst="roundRect">
            <a:avLst>
              <a:gd fmla="val 9524" name="adj"/>
            </a:avLst>
          </a:prstGeom>
          <a:solidFill>
            <a:schemeClr val="lt1"/>
          </a:solidFill>
          <a:ln cap="flat" cmpd="sng" w="12700">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1"/>
          <p:cNvSpPr txBox="1"/>
          <p:nvPr/>
        </p:nvSpPr>
        <p:spPr>
          <a:xfrm>
            <a:off x="6158484" y="3943350"/>
            <a:ext cx="24688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Rebound scenario</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rPr b="0" i="0" lang="en" sz="900" u="none" cap="none" strike="noStrike">
                <a:solidFill>
                  <a:schemeClr val="dk1"/>
                </a:solidFill>
                <a:latin typeface="Calibri"/>
                <a:ea typeface="Calibri"/>
                <a:cs typeface="Calibri"/>
                <a:sym typeface="Calibri"/>
              </a:rPr>
              <a:t>If AI-fluent juniors reach mid-level faster, hiring them could pay off again.</a:t>
            </a:r>
            <a:endParaRPr b="0" i="0" sz="1100" u="none" cap="none" strike="noStrike">
              <a:solidFill>
                <a:schemeClr val="dk1"/>
              </a:solidFill>
              <a:latin typeface="Calibri"/>
              <a:ea typeface="Calibri"/>
              <a:cs typeface="Calibri"/>
              <a:sym typeface="Calibri"/>
            </a:endParaRPr>
          </a:p>
        </p:txBody>
      </p:sp>
      <p:sp>
        <p:nvSpPr>
          <p:cNvPr id="223" name="Google Shape;223;p21"/>
          <p:cNvSpPr txBox="1"/>
          <p:nvPr/>
        </p:nvSpPr>
        <p:spPr>
          <a:xfrm>
            <a:off x="411480" y="4766310"/>
            <a:ext cx="78867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Sources: </a:t>
            </a:r>
            <a:r>
              <a:rPr b="0" i="0" lang="en" sz="800" u="none" cap="none" strike="noStrike">
                <a:solidFill>
                  <a:schemeClr val="dk2"/>
                </a:solidFill>
                <a:latin typeface="Calibri"/>
                <a:ea typeface="Calibri"/>
                <a:cs typeface="Calibri"/>
                <a:sym typeface="Calibri"/>
              </a:rPr>
              <a:t>SignalFire, State of Tech Talent Report 2026 (Tech Majors = Alphabet, Meta, Apple, Amazon, Microsoft, Netflix, NVIDIA, Tesla, Uber, Airbnb, Block, Stripe).</a:t>
            </a:r>
            <a:endParaRPr b="0" i="0" sz="800" u="none" cap="none" strike="noStrike">
              <a:solidFill>
                <a:schemeClr val="dk1"/>
              </a:solidFill>
              <a:latin typeface="Calibri"/>
              <a:ea typeface="Calibri"/>
              <a:cs typeface="Calibri"/>
              <a:sym typeface="Calibri"/>
            </a:endParaRPr>
          </a:p>
        </p:txBody>
      </p:sp>
      <p:sp>
        <p:nvSpPr>
          <p:cNvPr id="224" name="Google Shape;224;p21"/>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dk2"/>
                </a:solidFill>
                <a:latin typeface="Calibri"/>
                <a:ea typeface="Calibri"/>
                <a:cs typeface="Calibri"/>
                <a:sym typeface="Calibri"/>
              </a:rPr>
              <a:t>‹#›</a:t>
            </a:fld>
            <a:endParaRPr b="0" i="0" sz="800" u="none" cap="none" strike="noStrike">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411480" y="205740"/>
            <a:ext cx="8298300" cy="54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300"/>
              <a:buFont typeface="Arial"/>
              <a:buNone/>
            </a:pPr>
            <a:r>
              <a:rPr b="1" lang="en" sz="2300">
                <a:solidFill>
                  <a:schemeClr val="dk1"/>
                </a:solidFill>
              </a:rPr>
              <a:t>Opportunities: rebuild how experience is created</a:t>
            </a:r>
            <a:endParaRPr sz="2300"/>
          </a:p>
        </p:txBody>
      </p:sp>
      <p:sp>
        <p:nvSpPr>
          <p:cNvPr id="231" name="Google Shape;231;p22"/>
          <p:cNvSpPr/>
          <p:nvPr/>
        </p:nvSpPr>
        <p:spPr>
          <a:xfrm>
            <a:off x="582930" y="822960"/>
            <a:ext cx="1659600" cy="246900"/>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2"/>
          <p:cNvSpPr txBox="1"/>
          <p:nvPr/>
        </p:nvSpPr>
        <p:spPr>
          <a:xfrm>
            <a:off x="582930" y="822960"/>
            <a:ext cx="165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Before the hiring gate</a:t>
            </a:r>
            <a:endParaRPr b="0" i="0" sz="900" u="none" cap="none" strike="noStrike">
              <a:solidFill>
                <a:schemeClr val="dk1"/>
              </a:solidFill>
              <a:latin typeface="Calibri"/>
              <a:ea typeface="Calibri"/>
              <a:cs typeface="Calibri"/>
              <a:sym typeface="Calibri"/>
            </a:endParaRPr>
          </a:p>
        </p:txBody>
      </p:sp>
      <p:cxnSp>
        <p:nvCxnSpPr>
          <p:cNvPr id="233" name="Google Shape;233;p22"/>
          <p:cNvCxnSpPr/>
          <p:nvPr/>
        </p:nvCxnSpPr>
        <p:spPr>
          <a:xfrm>
            <a:off x="2263140" y="946404"/>
            <a:ext cx="404700" cy="600"/>
          </a:xfrm>
          <a:prstGeom prst="straightConnector1">
            <a:avLst/>
          </a:prstGeom>
          <a:noFill/>
          <a:ln cap="flat" cmpd="sng" w="19050">
            <a:solidFill>
              <a:srgbClr val="8A97A8"/>
            </a:solidFill>
            <a:prstDash val="solid"/>
            <a:round/>
            <a:headEnd len="sm" w="sm" type="none"/>
            <a:tailEnd len="med" w="med" type="triangle"/>
          </a:ln>
        </p:spPr>
      </p:cxnSp>
      <p:sp>
        <p:nvSpPr>
          <p:cNvPr id="234" name="Google Shape;234;p22"/>
          <p:cNvSpPr/>
          <p:nvPr/>
        </p:nvSpPr>
        <p:spPr>
          <a:xfrm>
            <a:off x="411480" y="1200150"/>
            <a:ext cx="2002500" cy="2914800"/>
          </a:xfrm>
          <a:prstGeom prst="roundRect">
            <a:avLst>
              <a:gd fmla="val 4110" name="adj"/>
            </a:avLst>
          </a:prstGeom>
          <a:solidFill>
            <a:schemeClr val="lt1"/>
          </a:solidFill>
          <a:ln cap="flat" cmpd="sng" w="9525">
            <a:solidFill>
              <a:schemeClr val="accent6"/>
            </a:solidFill>
            <a:prstDash val="solid"/>
            <a:round/>
            <a:headEnd len="sm" w="sm" type="none"/>
            <a:tailEnd len="sm" w="sm" type="none"/>
          </a:ln>
          <a:effectLst>
            <a:outerShdw blurRad="76200" rotWithShape="0" algn="bl" dir="5400000" dist="25400">
              <a:srgbClr val="1C2430">
                <a:alpha val="7843"/>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22"/>
          <p:cNvSpPr/>
          <p:nvPr/>
        </p:nvSpPr>
        <p:spPr>
          <a:xfrm>
            <a:off x="548640" y="1337310"/>
            <a:ext cx="288000" cy="288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2"/>
          <p:cNvSpPr txBox="1"/>
          <p:nvPr/>
        </p:nvSpPr>
        <p:spPr>
          <a:xfrm>
            <a:off x="548640" y="1337310"/>
            <a:ext cx="2880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01</a:t>
            </a:r>
            <a:endParaRPr b="0" i="0" sz="1100" u="none" cap="none" strike="noStrike">
              <a:solidFill>
                <a:schemeClr val="dk1"/>
              </a:solidFill>
              <a:latin typeface="Calibri"/>
              <a:ea typeface="Calibri"/>
              <a:cs typeface="Calibri"/>
              <a:sym typeface="Calibri"/>
            </a:endParaRPr>
          </a:p>
        </p:txBody>
      </p:sp>
      <p:sp>
        <p:nvSpPr>
          <p:cNvPr id="237" name="Google Shape;237;p22"/>
          <p:cNvSpPr txBox="1"/>
          <p:nvPr/>
        </p:nvSpPr>
        <p:spPr>
          <a:xfrm>
            <a:off x="905256" y="1337310"/>
            <a:ext cx="13716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700"/>
              <a:buFont typeface="Calibri"/>
              <a:buNone/>
            </a:pPr>
            <a:r>
              <a:rPr b="1" i="0" lang="en" sz="700" u="none" cap="none" strike="noStrike">
                <a:solidFill>
                  <a:schemeClr val="dk2"/>
                </a:solidFill>
                <a:latin typeface="Calibri"/>
                <a:ea typeface="Calibri"/>
                <a:cs typeface="Calibri"/>
                <a:sym typeface="Calibri"/>
              </a:rPr>
              <a:t>TALENT ECOSYSTEM · REMOVE CONSTRAINTS</a:t>
            </a:r>
            <a:endParaRPr b="0" i="0" sz="700" u="none" cap="none" strike="noStrike">
              <a:solidFill>
                <a:schemeClr val="dk1"/>
              </a:solidFill>
              <a:latin typeface="Calibri"/>
              <a:ea typeface="Calibri"/>
              <a:cs typeface="Calibri"/>
              <a:sym typeface="Calibri"/>
            </a:endParaRPr>
          </a:p>
        </p:txBody>
      </p:sp>
      <p:sp>
        <p:nvSpPr>
          <p:cNvPr id="238" name="Google Shape;238;p22"/>
          <p:cNvSpPr txBox="1"/>
          <p:nvPr/>
        </p:nvSpPr>
        <p:spPr>
          <a:xfrm>
            <a:off x="548640" y="1714500"/>
            <a:ext cx="1728300" cy="41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C2430"/>
                </a:solidFill>
                <a:latin typeface="Arial"/>
                <a:ea typeface="Arial"/>
                <a:cs typeface="Arial"/>
                <a:sym typeface="Arial"/>
              </a:rPr>
              <a:t>New Pathways for Building Experience</a:t>
            </a:r>
            <a:endParaRPr b="1" sz="1100">
              <a:solidFill>
                <a:srgbClr val="1C2430"/>
              </a:solidFill>
              <a:latin typeface="Arial"/>
              <a:ea typeface="Arial"/>
              <a:cs typeface="Arial"/>
              <a:sym typeface="Arial"/>
            </a:endParaRPr>
          </a:p>
        </p:txBody>
      </p:sp>
      <p:sp>
        <p:nvSpPr>
          <p:cNvPr id="239" name="Google Shape;239;p22"/>
          <p:cNvSpPr txBox="1"/>
          <p:nvPr/>
        </p:nvSpPr>
        <p:spPr>
          <a:xfrm>
            <a:off x="548640" y="2146554"/>
            <a:ext cx="1728300" cy="78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C2430"/>
                </a:solidFill>
                <a:latin typeface="Calibri"/>
                <a:ea typeface="Calibri"/>
                <a:cs typeface="Calibri"/>
                <a:sym typeface="Calibri"/>
              </a:rPr>
              <a:t>As junior hiring declines, there is growing space for ways to gain real engineering experience outside the traditional Internship → Junior Engineer pipeline.</a:t>
            </a:r>
            <a:endParaRPr b="0" sz="850">
              <a:solidFill>
                <a:srgbClr val="1C2430"/>
              </a:solidFill>
              <a:latin typeface="Calibri"/>
              <a:ea typeface="Calibri"/>
              <a:cs typeface="Calibri"/>
              <a:sym typeface="Calibri"/>
            </a:endParaRPr>
          </a:p>
        </p:txBody>
      </p:sp>
      <p:sp>
        <p:nvSpPr>
          <p:cNvPr id="240" name="Google Shape;240;p22"/>
          <p:cNvSpPr txBox="1"/>
          <p:nvPr/>
        </p:nvSpPr>
        <p:spPr>
          <a:xfrm>
            <a:off x="548640" y="3000375"/>
            <a:ext cx="1728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F9E89"/>
                </a:solidFill>
                <a:latin typeface="Calibri"/>
                <a:ea typeface="Calibri"/>
                <a:cs typeface="Calibri"/>
                <a:sym typeface="Calibri"/>
              </a:rPr>
              <a:t>SIGNAL</a:t>
            </a:r>
            <a:endParaRPr b="1" sz="700">
              <a:solidFill>
                <a:srgbClr val="1F9E89"/>
              </a:solidFill>
              <a:latin typeface="Calibri"/>
              <a:ea typeface="Calibri"/>
              <a:cs typeface="Calibri"/>
              <a:sym typeface="Calibri"/>
            </a:endParaRPr>
          </a:p>
          <a:p>
            <a:pPr indent="0" lvl="0" marL="0" rtl="0" algn="l">
              <a:spcBef>
                <a:spcPts val="150"/>
              </a:spcBef>
              <a:spcAft>
                <a:spcPts val="0"/>
              </a:spcAft>
              <a:buNone/>
            </a:pPr>
            <a:r>
              <a:rPr b="0" lang="en" sz="850">
                <a:solidFill>
                  <a:srgbClr val="1C2430"/>
                </a:solidFill>
                <a:latin typeface="Calibri"/>
                <a:ea typeface="Calibri"/>
                <a:cs typeface="Calibri"/>
                <a:sym typeface="Calibri"/>
              </a:rPr>
              <a:t>New-grad hiring down ~65% vs. 2019</a:t>
            </a:r>
            <a:endParaRPr b="1" sz="700">
              <a:solidFill>
                <a:srgbClr val="1F9E89"/>
              </a:solidFill>
              <a:latin typeface="Calibri"/>
              <a:ea typeface="Calibri"/>
              <a:cs typeface="Calibri"/>
              <a:sym typeface="Calibri"/>
            </a:endParaRPr>
          </a:p>
        </p:txBody>
      </p:sp>
      <p:sp>
        <p:nvSpPr>
          <p:cNvPr id="241" name="Google Shape;241;p22"/>
          <p:cNvSpPr txBox="1"/>
          <p:nvPr/>
        </p:nvSpPr>
        <p:spPr>
          <a:xfrm>
            <a:off x="548640" y="3429000"/>
            <a:ext cx="17283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F9E89"/>
                </a:solidFill>
                <a:latin typeface="Calibri"/>
                <a:ea typeface="Calibri"/>
                <a:cs typeface="Calibri"/>
                <a:sym typeface="Calibri"/>
              </a:rPr>
              <a:t>OPPORTUNITY</a:t>
            </a:r>
            <a:endParaRPr b="1" sz="700">
              <a:solidFill>
                <a:srgbClr val="1F9E89"/>
              </a:solidFill>
              <a:latin typeface="Calibri"/>
              <a:ea typeface="Calibri"/>
              <a:cs typeface="Calibri"/>
              <a:sym typeface="Calibri"/>
            </a:endParaRPr>
          </a:p>
          <a:p>
            <a:pPr indent="0" lvl="0" marL="0" rtl="0" algn="l">
              <a:spcBef>
                <a:spcPts val="150"/>
              </a:spcBef>
              <a:spcAft>
                <a:spcPts val="0"/>
              </a:spcAft>
              <a:buNone/>
            </a:pPr>
            <a:r>
              <a:rPr b="0" lang="en" sz="850">
                <a:solidFill>
                  <a:srgbClr val="1C2430"/>
                </a:solidFill>
                <a:latin typeface="Calibri"/>
                <a:ea typeface="Calibri"/>
                <a:cs typeface="Calibri"/>
                <a:sym typeface="Calibri"/>
              </a:rPr>
              <a:t>Experience may become separable from traditional full-time employment.</a:t>
            </a:r>
            <a:endParaRPr b="1" sz="700">
              <a:solidFill>
                <a:srgbClr val="1F9E89"/>
              </a:solidFill>
              <a:latin typeface="Calibri"/>
              <a:ea typeface="Calibri"/>
              <a:cs typeface="Calibri"/>
              <a:sym typeface="Calibri"/>
            </a:endParaRPr>
          </a:p>
        </p:txBody>
      </p:sp>
      <p:sp>
        <p:nvSpPr>
          <p:cNvPr id="242" name="Google Shape;242;p22"/>
          <p:cNvSpPr/>
          <p:nvPr/>
        </p:nvSpPr>
        <p:spPr>
          <a:xfrm>
            <a:off x="2688336" y="822960"/>
            <a:ext cx="1659600" cy="246900"/>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22"/>
          <p:cNvSpPr txBox="1"/>
          <p:nvPr/>
        </p:nvSpPr>
        <p:spPr>
          <a:xfrm>
            <a:off x="2688336" y="822960"/>
            <a:ext cx="165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At the gate</a:t>
            </a:r>
            <a:endParaRPr b="0" i="0" sz="900" u="none" cap="none" strike="noStrike">
              <a:solidFill>
                <a:schemeClr val="dk1"/>
              </a:solidFill>
              <a:latin typeface="Calibri"/>
              <a:ea typeface="Calibri"/>
              <a:cs typeface="Calibri"/>
              <a:sym typeface="Calibri"/>
            </a:endParaRPr>
          </a:p>
        </p:txBody>
      </p:sp>
      <p:cxnSp>
        <p:nvCxnSpPr>
          <p:cNvPr id="244" name="Google Shape;244;p22"/>
          <p:cNvCxnSpPr/>
          <p:nvPr/>
        </p:nvCxnSpPr>
        <p:spPr>
          <a:xfrm>
            <a:off x="4368546" y="946404"/>
            <a:ext cx="404700" cy="600"/>
          </a:xfrm>
          <a:prstGeom prst="straightConnector1">
            <a:avLst/>
          </a:prstGeom>
          <a:noFill/>
          <a:ln cap="flat" cmpd="sng" w="19050">
            <a:solidFill>
              <a:srgbClr val="8A97A8"/>
            </a:solidFill>
            <a:prstDash val="solid"/>
            <a:round/>
            <a:headEnd len="sm" w="sm" type="none"/>
            <a:tailEnd len="med" w="med" type="triangle"/>
          </a:ln>
        </p:spPr>
      </p:cxnSp>
      <p:sp>
        <p:nvSpPr>
          <p:cNvPr id="245" name="Google Shape;245;p22"/>
          <p:cNvSpPr/>
          <p:nvPr/>
        </p:nvSpPr>
        <p:spPr>
          <a:xfrm>
            <a:off x="2516886" y="1200150"/>
            <a:ext cx="2002500" cy="2914800"/>
          </a:xfrm>
          <a:prstGeom prst="roundRect">
            <a:avLst>
              <a:gd fmla="val 4110" name="adj"/>
            </a:avLst>
          </a:prstGeom>
          <a:solidFill>
            <a:schemeClr val="lt1"/>
          </a:solidFill>
          <a:ln cap="flat" cmpd="sng" w="9525">
            <a:solidFill>
              <a:schemeClr val="accent6"/>
            </a:solidFill>
            <a:prstDash val="solid"/>
            <a:round/>
            <a:headEnd len="sm" w="sm" type="none"/>
            <a:tailEnd len="sm" w="sm" type="none"/>
          </a:ln>
          <a:effectLst>
            <a:outerShdw blurRad="76200" rotWithShape="0" algn="bl" dir="5400000" dist="25400">
              <a:srgbClr val="1C2430">
                <a:alpha val="7843"/>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22"/>
          <p:cNvSpPr/>
          <p:nvPr/>
        </p:nvSpPr>
        <p:spPr>
          <a:xfrm>
            <a:off x="2654046" y="1337310"/>
            <a:ext cx="288000" cy="288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2"/>
          <p:cNvSpPr txBox="1"/>
          <p:nvPr/>
        </p:nvSpPr>
        <p:spPr>
          <a:xfrm>
            <a:off x="2654046" y="1337310"/>
            <a:ext cx="2880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02</a:t>
            </a:r>
            <a:endParaRPr b="0" i="0" sz="1100" u="none" cap="none" strike="noStrike">
              <a:solidFill>
                <a:schemeClr val="dk1"/>
              </a:solidFill>
              <a:latin typeface="Calibri"/>
              <a:ea typeface="Calibri"/>
              <a:cs typeface="Calibri"/>
              <a:sym typeface="Calibri"/>
            </a:endParaRPr>
          </a:p>
        </p:txBody>
      </p:sp>
      <p:sp>
        <p:nvSpPr>
          <p:cNvPr id="248" name="Google Shape;248;p22"/>
          <p:cNvSpPr txBox="1"/>
          <p:nvPr/>
        </p:nvSpPr>
        <p:spPr>
          <a:xfrm>
            <a:off x="3010662" y="1337310"/>
            <a:ext cx="13716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700"/>
              <a:buFont typeface="Calibri"/>
              <a:buNone/>
            </a:pPr>
            <a:r>
              <a:rPr b="1" i="0" lang="en" sz="700" u="none" cap="none" strike="noStrike">
                <a:solidFill>
                  <a:schemeClr val="dk2"/>
                </a:solidFill>
                <a:latin typeface="Calibri"/>
                <a:ea typeface="Calibri"/>
                <a:cs typeface="Calibri"/>
                <a:sym typeface="Calibri"/>
              </a:rPr>
              <a:t>HIRING INTERACTION · INTERACTIONS</a:t>
            </a:r>
            <a:endParaRPr b="0" i="0" sz="700" u="none" cap="none" strike="noStrike">
              <a:solidFill>
                <a:schemeClr val="dk1"/>
              </a:solidFill>
              <a:latin typeface="Calibri"/>
              <a:ea typeface="Calibri"/>
              <a:cs typeface="Calibri"/>
              <a:sym typeface="Calibri"/>
            </a:endParaRPr>
          </a:p>
        </p:txBody>
      </p:sp>
      <p:sp>
        <p:nvSpPr>
          <p:cNvPr id="249" name="Google Shape;249;p22"/>
          <p:cNvSpPr txBox="1"/>
          <p:nvPr/>
        </p:nvSpPr>
        <p:spPr>
          <a:xfrm>
            <a:off x="2654046" y="1714500"/>
            <a:ext cx="1728300" cy="41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C2430"/>
                </a:solidFill>
                <a:latin typeface="Arial"/>
                <a:ea typeface="Arial"/>
                <a:cs typeface="Arial"/>
                <a:sym typeface="Arial"/>
              </a:rPr>
              <a:t>Greater Value on Engineering Judgment</a:t>
            </a:r>
            <a:endParaRPr b="1" sz="1100">
              <a:solidFill>
                <a:srgbClr val="1C2430"/>
              </a:solidFill>
              <a:latin typeface="Arial"/>
              <a:ea typeface="Arial"/>
              <a:cs typeface="Arial"/>
              <a:sym typeface="Arial"/>
            </a:endParaRPr>
          </a:p>
        </p:txBody>
      </p:sp>
      <p:sp>
        <p:nvSpPr>
          <p:cNvPr id="250" name="Google Shape;250;p22"/>
          <p:cNvSpPr txBox="1"/>
          <p:nvPr/>
        </p:nvSpPr>
        <p:spPr>
          <a:xfrm>
            <a:off x="2654046" y="2146554"/>
            <a:ext cx="1728300" cy="78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C2430"/>
                </a:solidFill>
                <a:latin typeface="Calibri"/>
                <a:ea typeface="Calibri"/>
                <a:cs typeface="Calibri"/>
                <a:sym typeface="Calibri"/>
              </a:rPr>
              <a:t>As AI makes code generation easier, the ability to evaluate, debug, direct, and make decisions about code becomes more valuable than simply producing it.</a:t>
            </a:r>
            <a:endParaRPr b="0" sz="850">
              <a:solidFill>
                <a:srgbClr val="1C2430"/>
              </a:solidFill>
              <a:latin typeface="Calibri"/>
              <a:ea typeface="Calibri"/>
              <a:cs typeface="Calibri"/>
              <a:sym typeface="Calibri"/>
            </a:endParaRPr>
          </a:p>
        </p:txBody>
      </p:sp>
      <p:sp>
        <p:nvSpPr>
          <p:cNvPr id="251" name="Google Shape;251;p22"/>
          <p:cNvSpPr txBox="1"/>
          <p:nvPr/>
        </p:nvSpPr>
        <p:spPr>
          <a:xfrm>
            <a:off x="2654046" y="3000375"/>
            <a:ext cx="1728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648">
                <a:solidFill>
                  <a:srgbClr val="1F9E89"/>
                </a:solidFill>
                <a:latin typeface="Calibri"/>
                <a:ea typeface="Calibri"/>
                <a:cs typeface="Calibri"/>
                <a:sym typeface="Calibri"/>
              </a:rPr>
              <a:t>SIGNAL</a:t>
            </a:r>
            <a:endParaRPr b="1" sz="648">
              <a:solidFill>
                <a:srgbClr val="1F9E89"/>
              </a:solidFill>
              <a:latin typeface="Calibri"/>
              <a:ea typeface="Calibri"/>
              <a:cs typeface="Calibri"/>
              <a:sym typeface="Calibri"/>
            </a:endParaRPr>
          </a:p>
          <a:p>
            <a:pPr indent="0" lvl="0" marL="0" rtl="0" algn="l">
              <a:spcBef>
                <a:spcPts val="150"/>
              </a:spcBef>
              <a:spcAft>
                <a:spcPts val="0"/>
              </a:spcAft>
              <a:buNone/>
            </a:pPr>
            <a:r>
              <a:rPr b="0" lang="en" sz="786">
                <a:solidFill>
                  <a:srgbClr val="1C2430"/>
                </a:solidFill>
                <a:latin typeface="Calibri"/>
                <a:ea typeface="Calibri"/>
                <a:cs typeface="Calibri"/>
                <a:sym typeface="Calibri"/>
              </a:rPr>
              <a:t>84% use/plan to use AI; 46% distrust its accuracy</a:t>
            </a:r>
            <a:endParaRPr b="1" sz="648">
              <a:solidFill>
                <a:srgbClr val="1F9E89"/>
              </a:solidFill>
              <a:latin typeface="Calibri"/>
              <a:ea typeface="Calibri"/>
              <a:cs typeface="Calibri"/>
              <a:sym typeface="Calibri"/>
            </a:endParaRPr>
          </a:p>
        </p:txBody>
      </p:sp>
      <p:sp>
        <p:nvSpPr>
          <p:cNvPr id="252" name="Google Shape;252;p22"/>
          <p:cNvSpPr txBox="1"/>
          <p:nvPr/>
        </p:nvSpPr>
        <p:spPr>
          <a:xfrm>
            <a:off x="2654046" y="3429000"/>
            <a:ext cx="17283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F9E89"/>
                </a:solidFill>
                <a:latin typeface="Calibri"/>
                <a:ea typeface="Calibri"/>
                <a:cs typeface="Calibri"/>
                <a:sym typeface="Calibri"/>
              </a:rPr>
              <a:t>OPPORTUNITY</a:t>
            </a:r>
            <a:endParaRPr b="1" sz="700">
              <a:solidFill>
                <a:srgbClr val="1F9E89"/>
              </a:solidFill>
              <a:latin typeface="Calibri"/>
              <a:ea typeface="Calibri"/>
              <a:cs typeface="Calibri"/>
              <a:sym typeface="Calibri"/>
            </a:endParaRPr>
          </a:p>
          <a:p>
            <a:pPr indent="0" lvl="0" marL="0" rtl="0" algn="l">
              <a:spcBef>
                <a:spcPts val="150"/>
              </a:spcBef>
              <a:spcAft>
                <a:spcPts val="0"/>
              </a:spcAft>
              <a:buNone/>
            </a:pPr>
            <a:r>
              <a:rPr b="0" lang="en" sz="850">
                <a:solidFill>
                  <a:srgbClr val="1C2430"/>
                </a:solidFill>
                <a:latin typeface="Calibri"/>
                <a:ea typeface="Calibri"/>
                <a:cs typeface="Calibri"/>
                <a:sym typeface="Calibri"/>
              </a:rPr>
              <a:t>Engineering judgment may become a stronger differentiator than raw coding output.</a:t>
            </a:r>
            <a:endParaRPr b="1" sz="700">
              <a:solidFill>
                <a:srgbClr val="1F9E89"/>
              </a:solidFill>
              <a:latin typeface="Calibri"/>
              <a:ea typeface="Calibri"/>
              <a:cs typeface="Calibri"/>
              <a:sym typeface="Calibri"/>
            </a:endParaRPr>
          </a:p>
        </p:txBody>
      </p:sp>
      <p:sp>
        <p:nvSpPr>
          <p:cNvPr id="253" name="Google Shape;253;p22"/>
          <p:cNvSpPr/>
          <p:nvPr/>
        </p:nvSpPr>
        <p:spPr>
          <a:xfrm>
            <a:off x="4793742" y="822960"/>
            <a:ext cx="1659600" cy="246900"/>
          </a:xfrm>
          <a:prstGeom prst="roundRect">
            <a:avLst>
              <a:gd fmla="val 50000" name="adj"/>
            </a:avLst>
          </a:prstGeom>
          <a:solidFill>
            <a:schemeClr val="accent4"/>
          </a:solidFill>
          <a:ln cap="flat" cmpd="sng" w="9525">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22"/>
          <p:cNvSpPr txBox="1"/>
          <p:nvPr/>
        </p:nvSpPr>
        <p:spPr>
          <a:xfrm>
            <a:off x="4793742" y="822960"/>
            <a:ext cx="165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After the gate</a:t>
            </a:r>
            <a:endParaRPr b="0" i="0" sz="900" u="none" cap="none" strike="noStrike">
              <a:solidFill>
                <a:schemeClr val="dk1"/>
              </a:solidFill>
              <a:latin typeface="Calibri"/>
              <a:ea typeface="Calibri"/>
              <a:cs typeface="Calibri"/>
              <a:sym typeface="Calibri"/>
            </a:endParaRPr>
          </a:p>
        </p:txBody>
      </p:sp>
      <p:cxnSp>
        <p:nvCxnSpPr>
          <p:cNvPr id="255" name="Google Shape;255;p22"/>
          <p:cNvCxnSpPr/>
          <p:nvPr/>
        </p:nvCxnSpPr>
        <p:spPr>
          <a:xfrm>
            <a:off x="6473952" y="946404"/>
            <a:ext cx="404700" cy="600"/>
          </a:xfrm>
          <a:prstGeom prst="straightConnector1">
            <a:avLst/>
          </a:prstGeom>
          <a:noFill/>
          <a:ln cap="flat" cmpd="sng" w="19050">
            <a:solidFill>
              <a:srgbClr val="8A97A8"/>
            </a:solidFill>
            <a:prstDash val="solid"/>
            <a:round/>
            <a:headEnd len="sm" w="sm" type="none"/>
            <a:tailEnd len="med" w="med" type="triangle"/>
          </a:ln>
        </p:spPr>
      </p:cxnSp>
      <p:sp>
        <p:nvSpPr>
          <p:cNvPr id="256" name="Google Shape;256;p22"/>
          <p:cNvSpPr/>
          <p:nvPr/>
        </p:nvSpPr>
        <p:spPr>
          <a:xfrm>
            <a:off x="4622292" y="1200150"/>
            <a:ext cx="2002500" cy="2914800"/>
          </a:xfrm>
          <a:prstGeom prst="roundRect">
            <a:avLst>
              <a:gd fmla="val 4110" name="adj"/>
            </a:avLst>
          </a:prstGeom>
          <a:solidFill>
            <a:schemeClr val="lt1"/>
          </a:solidFill>
          <a:ln cap="flat" cmpd="sng" w="9525">
            <a:solidFill>
              <a:schemeClr val="accent6"/>
            </a:solidFill>
            <a:prstDash val="solid"/>
            <a:round/>
            <a:headEnd len="sm" w="sm" type="none"/>
            <a:tailEnd len="sm" w="sm" type="none"/>
          </a:ln>
          <a:effectLst>
            <a:outerShdw blurRad="76200" rotWithShape="0" algn="bl" dir="5400000" dist="25400">
              <a:srgbClr val="1C2430">
                <a:alpha val="7843"/>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2"/>
          <p:cNvSpPr/>
          <p:nvPr/>
        </p:nvSpPr>
        <p:spPr>
          <a:xfrm>
            <a:off x="4759452" y="1337310"/>
            <a:ext cx="288000" cy="288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2"/>
          <p:cNvSpPr txBox="1"/>
          <p:nvPr/>
        </p:nvSpPr>
        <p:spPr>
          <a:xfrm>
            <a:off x="4759452" y="1337310"/>
            <a:ext cx="2880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03</a:t>
            </a:r>
            <a:endParaRPr b="0" i="0" sz="1100" u="none" cap="none" strike="noStrike">
              <a:solidFill>
                <a:schemeClr val="dk1"/>
              </a:solidFill>
              <a:latin typeface="Calibri"/>
              <a:ea typeface="Calibri"/>
              <a:cs typeface="Calibri"/>
              <a:sym typeface="Calibri"/>
            </a:endParaRPr>
          </a:p>
        </p:txBody>
      </p:sp>
      <p:sp>
        <p:nvSpPr>
          <p:cNvPr id="259" name="Google Shape;259;p22"/>
          <p:cNvSpPr txBox="1"/>
          <p:nvPr/>
        </p:nvSpPr>
        <p:spPr>
          <a:xfrm>
            <a:off x="5116068" y="1337310"/>
            <a:ext cx="13716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700"/>
              <a:buFont typeface="Calibri"/>
              <a:buNone/>
            </a:pPr>
            <a:r>
              <a:rPr b="1" i="0" lang="en" sz="700" u="none" cap="none" strike="noStrike">
                <a:solidFill>
                  <a:schemeClr val="dk2"/>
                </a:solidFill>
                <a:latin typeface="Calibri"/>
                <a:ea typeface="Calibri"/>
                <a:cs typeface="Calibri"/>
                <a:sym typeface="Calibri"/>
              </a:rPr>
              <a:t>TEAM / ORG · ELEMENTS + INTERACTIONS</a:t>
            </a:r>
            <a:endParaRPr b="0" i="0" sz="700" u="none" cap="none" strike="noStrike">
              <a:solidFill>
                <a:schemeClr val="dk1"/>
              </a:solidFill>
              <a:latin typeface="Calibri"/>
              <a:ea typeface="Calibri"/>
              <a:cs typeface="Calibri"/>
              <a:sym typeface="Calibri"/>
            </a:endParaRPr>
          </a:p>
        </p:txBody>
      </p:sp>
      <p:sp>
        <p:nvSpPr>
          <p:cNvPr id="260" name="Google Shape;260;p22"/>
          <p:cNvSpPr txBox="1"/>
          <p:nvPr/>
        </p:nvSpPr>
        <p:spPr>
          <a:xfrm>
            <a:off x="4759452" y="1714500"/>
            <a:ext cx="1728300" cy="41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C2430"/>
                </a:solidFill>
                <a:latin typeface="Arial"/>
                <a:ea typeface="Arial"/>
                <a:cs typeface="Arial"/>
                <a:sym typeface="Arial"/>
              </a:rPr>
              <a:t>New Roles in AI-Enabled Teams</a:t>
            </a:r>
            <a:endParaRPr b="1" sz="1100">
              <a:solidFill>
                <a:srgbClr val="1C2430"/>
              </a:solidFill>
              <a:latin typeface="Arial"/>
              <a:ea typeface="Arial"/>
              <a:cs typeface="Arial"/>
              <a:sym typeface="Arial"/>
            </a:endParaRPr>
          </a:p>
        </p:txBody>
      </p:sp>
      <p:sp>
        <p:nvSpPr>
          <p:cNvPr id="261" name="Google Shape;261;p22"/>
          <p:cNvSpPr txBox="1"/>
          <p:nvPr/>
        </p:nvSpPr>
        <p:spPr>
          <a:xfrm>
            <a:off x="4759452" y="2146554"/>
            <a:ext cx="1728300" cy="78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C2430"/>
                </a:solidFill>
                <a:latin typeface="Calibri"/>
                <a:ea typeface="Calibri"/>
                <a:cs typeface="Calibri"/>
                <a:sym typeface="Calibri"/>
              </a:rPr>
              <a:t>AI may change what junior engineers contribute. Work could shift toward coordinating tools, understanding systems, validating outputs, and handling ambiguity.</a:t>
            </a:r>
            <a:endParaRPr b="0" sz="850">
              <a:solidFill>
                <a:srgbClr val="1C2430"/>
              </a:solidFill>
              <a:latin typeface="Calibri"/>
              <a:ea typeface="Calibri"/>
              <a:cs typeface="Calibri"/>
              <a:sym typeface="Calibri"/>
            </a:endParaRPr>
          </a:p>
        </p:txBody>
      </p:sp>
      <p:sp>
        <p:nvSpPr>
          <p:cNvPr id="262" name="Google Shape;262;p22"/>
          <p:cNvSpPr txBox="1"/>
          <p:nvPr/>
        </p:nvSpPr>
        <p:spPr>
          <a:xfrm>
            <a:off x="4759452" y="3000375"/>
            <a:ext cx="1728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648">
                <a:solidFill>
                  <a:srgbClr val="1F9E89"/>
                </a:solidFill>
                <a:latin typeface="Calibri"/>
                <a:ea typeface="Calibri"/>
                <a:cs typeface="Calibri"/>
                <a:sym typeface="Calibri"/>
              </a:rPr>
              <a:t>SIGNAL</a:t>
            </a:r>
            <a:endParaRPr b="1" sz="648">
              <a:solidFill>
                <a:srgbClr val="1F9E89"/>
              </a:solidFill>
              <a:latin typeface="Calibri"/>
              <a:ea typeface="Calibri"/>
              <a:cs typeface="Calibri"/>
              <a:sym typeface="Calibri"/>
            </a:endParaRPr>
          </a:p>
          <a:p>
            <a:pPr indent="0" lvl="0" marL="0" rtl="0" algn="l">
              <a:spcBef>
                <a:spcPts val="150"/>
              </a:spcBef>
              <a:spcAft>
                <a:spcPts val="0"/>
              </a:spcAft>
              <a:buNone/>
            </a:pPr>
            <a:r>
              <a:rPr b="0" lang="en" sz="786">
                <a:solidFill>
                  <a:srgbClr val="1C2430"/>
                </a:solidFill>
                <a:latin typeface="Calibri"/>
                <a:ea typeface="Calibri"/>
                <a:cs typeface="Calibri"/>
                <a:sym typeface="Calibri"/>
              </a:rPr>
              <a:t>AI is increasingly handling routine implementation tasks</a:t>
            </a:r>
            <a:endParaRPr b="1" sz="648">
              <a:solidFill>
                <a:srgbClr val="1F9E89"/>
              </a:solidFill>
              <a:latin typeface="Calibri"/>
              <a:ea typeface="Calibri"/>
              <a:cs typeface="Calibri"/>
              <a:sym typeface="Calibri"/>
            </a:endParaRPr>
          </a:p>
        </p:txBody>
      </p:sp>
      <p:sp>
        <p:nvSpPr>
          <p:cNvPr id="263" name="Google Shape;263;p22"/>
          <p:cNvSpPr txBox="1"/>
          <p:nvPr/>
        </p:nvSpPr>
        <p:spPr>
          <a:xfrm>
            <a:off x="4759452" y="3429000"/>
            <a:ext cx="17283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F9E89"/>
                </a:solidFill>
                <a:latin typeface="Calibri"/>
                <a:ea typeface="Calibri"/>
                <a:cs typeface="Calibri"/>
                <a:sym typeface="Calibri"/>
              </a:rPr>
              <a:t>OPPORTUNITY</a:t>
            </a:r>
            <a:endParaRPr b="1" sz="700">
              <a:solidFill>
                <a:srgbClr val="1F9E89"/>
              </a:solidFill>
              <a:latin typeface="Calibri"/>
              <a:ea typeface="Calibri"/>
              <a:cs typeface="Calibri"/>
              <a:sym typeface="Calibri"/>
            </a:endParaRPr>
          </a:p>
          <a:p>
            <a:pPr indent="0" lvl="0" marL="0" rtl="0" algn="l">
              <a:spcBef>
                <a:spcPts val="150"/>
              </a:spcBef>
              <a:spcAft>
                <a:spcPts val="0"/>
              </a:spcAft>
              <a:buNone/>
            </a:pPr>
            <a:r>
              <a:rPr b="0" lang="en" sz="850">
                <a:solidFill>
                  <a:srgbClr val="1C2430"/>
                </a:solidFill>
                <a:latin typeface="Calibri"/>
                <a:ea typeface="Calibri"/>
                <a:cs typeface="Calibri"/>
                <a:sym typeface="Calibri"/>
              </a:rPr>
              <a:t>The junior role itself can evolve around human + AI collaboration.</a:t>
            </a:r>
            <a:endParaRPr b="1" sz="700">
              <a:solidFill>
                <a:srgbClr val="1F9E89"/>
              </a:solidFill>
              <a:latin typeface="Calibri"/>
              <a:ea typeface="Calibri"/>
              <a:cs typeface="Calibri"/>
              <a:sym typeface="Calibri"/>
            </a:endParaRPr>
          </a:p>
        </p:txBody>
      </p:sp>
      <p:sp>
        <p:nvSpPr>
          <p:cNvPr id="264" name="Google Shape;264;p22"/>
          <p:cNvSpPr/>
          <p:nvPr/>
        </p:nvSpPr>
        <p:spPr>
          <a:xfrm>
            <a:off x="6899148" y="822960"/>
            <a:ext cx="1659600" cy="246900"/>
          </a:xfrm>
          <a:prstGeom prst="roundRect">
            <a:avLst>
              <a:gd fmla="val 50000" name="adj"/>
            </a:avLst>
          </a:prstGeom>
          <a:solidFill>
            <a:schemeClr val="accent2"/>
          </a:solidFill>
          <a:ln cap="flat" cmpd="sng" w="9525">
            <a:solidFill>
              <a:schemeClr val="accen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2"/>
          <p:cNvSpPr txBox="1"/>
          <p:nvPr/>
        </p:nvSpPr>
        <p:spPr>
          <a:xfrm>
            <a:off x="6899148" y="822960"/>
            <a:ext cx="165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Re-imagine the system</a:t>
            </a:r>
            <a:endParaRPr b="0" i="0" sz="900" u="none" cap="none" strike="noStrike">
              <a:solidFill>
                <a:schemeClr val="dk1"/>
              </a:solidFill>
              <a:latin typeface="Calibri"/>
              <a:ea typeface="Calibri"/>
              <a:cs typeface="Calibri"/>
              <a:sym typeface="Calibri"/>
            </a:endParaRPr>
          </a:p>
        </p:txBody>
      </p:sp>
      <p:sp>
        <p:nvSpPr>
          <p:cNvPr id="266" name="Google Shape;266;p22"/>
          <p:cNvSpPr/>
          <p:nvPr/>
        </p:nvSpPr>
        <p:spPr>
          <a:xfrm>
            <a:off x="6727698" y="1200150"/>
            <a:ext cx="2002500" cy="2914800"/>
          </a:xfrm>
          <a:prstGeom prst="roundRect">
            <a:avLst>
              <a:gd fmla="val 4110" name="adj"/>
            </a:avLst>
          </a:prstGeom>
          <a:solidFill>
            <a:schemeClr val="lt1"/>
          </a:solidFill>
          <a:ln cap="flat" cmpd="sng" w="9525">
            <a:solidFill>
              <a:schemeClr val="accent6"/>
            </a:solidFill>
            <a:prstDash val="solid"/>
            <a:round/>
            <a:headEnd len="sm" w="sm" type="none"/>
            <a:tailEnd len="sm" w="sm" type="none"/>
          </a:ln>
          <a:effectLst>
            <a:outerShdw blurRad="76200" rotWithShape="0" algn="bl" dir="5400000" dist="25400">
              <a:srgbClr val="1C2430">
                <a:alpha val="7843"/>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2"/>
          <p:cNvSpPr/>
          <p:nvPr/>
        </p:nvSpPr>
        <p:spPr>
          <a:xfrm>
            <a:off x="6864858" y="1337310"/>
            <a:ext cx="288000" cy="288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txBox="1"/>
          <p:nvPr/>
        </p:nvSpPr>
        <p:spPr>
          <a:xfrm>
            <a:off x="6864858" y="1337310"/>
            <a:ext cx="2880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04</a:t>
            </a:r>
            <a:endParaRPr b="0" i="0" sz="1100" u="none" cap="none" strike="noStrike">
              <a:solidFill>
                <a:schemeClr val="dk1"/>
              </a:solidFill>
              <a:latin typeface="Calibri"/>
              <a:ea typeface="Calibri"/>
              <a:cs typeface="Calibri"/>
              <a:sym typeface="Calibri"/>
            </a:endParaRPr>
          </a:p>
        </p:txBody>
      </p:sp>
      <p:sp>
        <p:nvSpPr>
          <p:cNvPr id="269" name="Google Shape;269;p22"/>
          <p:cNvSpPr txBox="1"/>
          <p:nvPr/>
        </p:nvSpPr>
        <p:spPr>
          <a:xfrm>
            <a:off x="7221474" y="1337310"/>
            <a:ext cx="13716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700"/>
              <a:buFont typeface="Calibri"/>
              <a:buNone/>
            </a:pPr>
            <a:r>
              <a:rPr b="1" i="0" lang="en" sz="700" u="none" cap="none" strike="noStrike">
                <a:solidFill>
                  <a:schemeClr val="dk2"/>
                </a:solidFill>
                <a:latin typeface="Calibri"/>
                <a:ea typeface="Calibri"/>
                <a:cs typeface="Calibri"/>
                <a:sym typeface="Calibri"/>
              </a:rPr>
              <a:t>INDUSTRY · RE-IMAGINE PURPOSE</a:t>
            </a:r>
            <a:endParaRPr b="0" i="0" sz="700" u="none" cap="none" strike="noStrike">
              <a:solidFill>
                <a:schemeClr val="dk1"/>
              </a:solidFill>
              <a:latin typeface="Calibri"/>
              <a:ea typeface="Calibri"/>
              <a:cs typeface="Calibri"/>
              <a:sym typeface="Calibri"/>
            </a:endParaRPr>
          </a:p>
        </p:txBody>
      </p:sp>
      <p:sp>
        <p:nvSpPr>
          <p:cNvPr id="270" name="Google Shape;270;p22"/>
          <p:cNvSpPr txBox="1"/>
          <p:nvPr/>
        </p:nvSpPr>
        <p:spPr>
          <a:xfrm>
            <a:off x="6864858" y="1714500"/>
            <a:ext cx="1728300" cy="41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C2430"/>
                </a:solidFill>
                <a:latin typeface="Arial"/>
                <a:ea typeface="Arial"/>
                <a:cs typeface="Arial"/>
                <a:sym typeface="Arial"/>
              </a:rPr>
              <a:t>Greater Industry Talent Investment</a:t>
            </a:r>
            <a:endParaRPr b="1" sz="1100">
              <a:solidFill>
                <a:srgbClr val="1C2430"/>
              </a:solidFill>
              <a:latin typeface="Arial"/>
              <a:ea typeface="Arial"/>
              <a:cs typeface="Arial"/>
              <a:sym typeface="Arial"/>
            </a:endParaRPr>
          </a:p>
        </p:txBody>
      </p:sp>
      <p:sp>
        <p:nvSpPr>
          <p:cNvPr id="271" name="Google Shape;271;p22"/>
          <p:cNvSpPr txBox="1"/>
          <p:nvPr/>
        </p:nvSpPr>
        <p:spPr>
          <a:xfrm>
            <a:off x="6864858" y="2146554"/>
            <a:ext cx="1728300" cy="78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C2430"/>
                </a:solidFill>
                <a:latin typeface="Calibri"/>
                <a:ea typeface="Calibri"/>
                <a:cs typeface="Calibri"/>
                <a:sym typeface="Calibri"/>
              </a:rPr>
              <a:t>If companies demand experienced engineers while hiring fewer juniors, developing talent becomes a broader industry problem rather than an individual task.</a:t>
            </a:r>
            <a:endParaRPr b="0" sz="850">
              <a:solidFill>
                <a:srgbClr val="1C2430"/>
              </a:solidFill>
              <a:latin typeface="Calibri"/>
              <a:ea typeface="Calibri"/>
              <a:cs typeface="Calibri"/>
              <a:sym typeface="Calibri"/>
            </a:endParaRPr>
          </a:p>
        </p:txBody>
      </p:sp>
      <p:sp>
        <p:nvSpPr>
          <p:cNvPr id="272" name="Google Shape;272;p22"/>
          <p:cNvSpPr txBox="1"/>
          <p:nvPr/>
        </p:nvSpPr>
        <p:spPr>
          <a:xfrm>
            <a:off x="6864858" y="3000375"/>
            <a:ext cx="1728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648">
                <a:solidFill>
                  <a:srgbClr val="1F9E89"/>
                </a:solidFill>
                <a:latin typeface="Calibri"/>
                <a:ea typeface="Calibri"/>
                <a:cs typeface="Calibri"/>
                <a:sym typeface="Calibri"/>
              </a:rPr>
              <a:t>SIGNAL</a:t>
            </a:r>
            <a:endParaRPr b="1" sz="648">
              <a:solidFill>
                <a:srgbClr val="1F9E89"/>
              </a:solidFill>
              <a:latin typeface="Calibri"/>
              <a:ea typeface="Calibri"/>
              <a:cs typeface="Calibri"/>
              <a:sym typeface="Calibri"/>
            </a:endParaRPr>
          </a:p>
          <a:p>
            <a:pPr indent="0" lvl="0" marL="0" rtl="0" algn="l">
              <a:spcBef>
                <a:spcPts val="150"/>
              </a:spcBef>
              <a:spcAft>
                <a:spcPts val="0"/>
              </a:spcAft>
              <a:buNone/>
            </a:pPr>
            <a:r>
              <a:rPr b="0" lang="en" sz="786">
                <a:solidFill>
                  <a:srgbClr val="1C2430"/>
                </a:solidFill>
                <a:latin typeface="Calibri"/>
                <a:ea typeface="Calibri"/>
                <a:cs typeface="Calibri"/>
                <a:sym typeface="Calibri"/>
              </a:rPr>
              <a:t>Software demand remains strong while entry-level hiring falls</a:t>
            </a:r>
            <a:endParaRPr b="1" sz="648">
              <a:solidFill>
                <a:srgbClr val="1F9E89"/>
              </a:solidFill>
              <a:latin typeface="Calibri"/>
              <a:ea typeface="Calibri"/>
              <a:cs typeface="Calibri"/>
              <a:sym typeface="Calibri"/>
            </a:endParaRPr>
          </a:p>
        </p:txBody>
      </p:sp>
      <p:sp>
        <p:nvSpPr>
          <p:cNvPr id="273" name="Google Shape;273;p22"/>
          <p:cNvSpPr txBox="1"/>
          <p:nvPr/>
        </p:nvSpPr>
        <p:spPr>
          <a:xfrm>
            <a:off x="6864858" y="3429000"/>
            <a:ext cx="17283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F9E89"/>
                </a:solidFill>
                <a:latin typeface="Calibri"/>
                <a:ea typeface="Calibri"/>
                <a:cs typeface="Calibri"/>
                <a:sym typeface="Calibri"/>
              </a:rPr>
              <a:t>OPPORTUNITY</a:t>
            </a:r>
            <a:endParaRPr b="1" sz="700">
              <a:solidFill>
                <a:srgbClr val="1F9E89"/>
              </a:solidFill>
              <a:latin typeface="Calibri"/>
              <a:ea typeface="Calibri"/>
              <a:cs typeface="Calibri"/>
              <a:sym typeface="Calibri"/>
            </a:endParaRPr>
          </a:p>
          <a:p>
            <a:pPr indent="0" lvl="0" marL="0" rtl="0" algn="l">
              <a:spcBef>
                <a:spcPts val="150"/>
              </a:spcBef>
              <a:spcAft>
                <a:spcPts val="0"/>
              </a:spcAft>
              <a:buNone/>
            </a:pPr>
            <a:r>
              <a:rPr b="0" lang="en" sz="850">
                <a:solidFill>
                  <a:srgbClr val="1C2430"/>
                </a:solidFill>
                <a:latin typeface="Calibri"/>
                <a:ea typeface="Calibri"/>
                <a:cs typeface="Calibri"/>
                <a:sym typeface="Calibri"/>
              </a:rPr>
              <a:t>Developing future experienced engineers becomes increasingly valuable.</a:t>
            </a:r>
            <a:endParaRPr b="1" sz="700">
              <a:solidFill>
                <a:srgbClr val="1F9E89"/>
              </a:solidFill>
              <a:latin typeface="Calibri"/>
              <a:ea typeface="Calibri"/>
              <a:cs typeface="Calibri"/>
              <a:sym typeface="Calibri"/>
            </a:endParaRPr>
          </a:p>
        </p:txBody>
      </p:sp>
      <p:sp>
        <p:nvSpPr>
          <p:cNvPr id="274" name="Google Shape;274;p22"/>
          <p:cNvSpPr/>
          <p:nvPr/>
        </p:nvSpPr>
        <p:spPr>
          <a:xfrm>
            <a:off x="411480" y="4251960"/>
            <a:ext cx="8318700" cy="4116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22"/>
          <p:cNvSpPr txBox="1"/>
          <p:nvPr/>
        </p:nvSpPr>
        <p:spPr>
          <a:xfrm>
            <a:off x="582930" y="4251960"/>
            <a:ext cx="8023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The bottleneck isn't junior engineers' skills — it's the industry's mechanism for turning beginners into experienced engineers.</a:t>
            </a:r>
            <a:endParaRPr b="0" i="0" sz="1100" u="none" cap="none" strike="noStrike">
              <a:solidFill>
                <a:schemeClr val="dk1"/>
              </a:solidFill>
              <a:latin typeface="Calibri"/>
              <a:ea typeface="Calibri"/>
              <a:cs typeface="Calibri"/>
              <a:sym typeface="Calibri"/>
            </a:endParaRPr>
          </a:p>
        </p:txBody>
      </p:sp>
      <p:sp>
        <p:nvSpPr>
          <p:cNvPr id="276" name="Google Shape;276;p22"/>
          <p:cNvSpPr txBox="1"/>
          <p:nvPr/>
        </p:nvSpPr>
        <p:spPr>
          <a:xfrm>
            <a:off x="411480" y="4766310"/>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800"/>
              <a:buFont typeface="Calibri"/>
              <a:buNone/>
            </a:pPr>
            <a:r>
              <a:rPr b="1" i="0" lang="en" sz="800" u="none" cap="none" strike="noStrike">
                <a:solidFill>
                  <a:schemeClr val="dk2"/>
                </a:solidFill>
                <a:latin typeface="Calibri"/>
                <a:ea typeface="Calibri"/>
                <a:cs typeface="Calibri"/>
                <a:sym typeface="Calibri"/>
              </a:rPr>
              <a:t>Sources: </a:t>
            </a:r>
            <a:r>
              <a:rPr b="0" i="0" lang="en" sz="800" u="none" cap="none" strike="noStrike">
                <a:solidFill>
                  <a:schemeClr val="dk2"/>
                </a:solidFill>
                <a:latin typeface="Calibri"/>
                <a:ea typeface="Calibri"/>
                <a:cs typeface="Calibri"/>
                <a:sym typeface="Calibri"/>
              </a:rPr>
              <a:t>SignalFire, State of Tech Talent Report 2026; Stack Overflow, 2025 Developer Survey; U.S. BLS, Employment Projections 2024–34.</a:t>
            </a:r>
            <a:endParaRPr b="0" i="0" sz="800" u="none" cap="none" strike="noStrike">
              <a:solidFill>
                <a:schemeClr val="dk1"/>
              </a:solidFill>
              <a:latin typeface="Calibri"/>
              <a:ea typeface="Calibri"/>
              <a:cs typeface="Calibri"/>
              <a:sym typeface="Calibri"/>
            </a:endParaRPr>
          </a:p>
        </p:txBody>
      </p:sp>
      <p:sp>
        <p:nvSpPr>
          <p:cNvPr id="277" name="Google Shape;277;p22"/>
          <p:cNvSpPr txBox="1"/>
          <p:nvPr>
            <p:ph idx="4294967295" type="sldNum"/>
          </p:nvPr>
        </p:nvSpPr>
        <p:spPr>
          <a:xfrm>
            <a:off x="8435340" y="4800600"/>
            <a:ext cx="342900" cy="20580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dk2"/>
                </a:solidFill>
                <a:latin typeface="Calibri"/>
                <a:ea typeface="Calibri"/>
                <a:cs typeface="Calibri"/>
                <a:sym typeface="Calibri"/>
              </a:rPr>
              <a:t>‹#›</a:t>
            </a:fld>
            <a:endParaRPr b="0" i="0" sz="800" u="none" cap="none" strike="noStrike">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alent Pipeline">
  <a:themeElements>
    <a:clrScheme name="Talent Pipeline">
      <a:dk1>
        <a:srgbClr val="1C2430"/>
      </a:dk1>
      <a:lt1>
        <a:srgbClr val="FFFFFF"/>
      </a:lt1>
      <a:dk2>
        <a:srgbClr val="5A6472"/>
      </a:dk2>
      <a:lt2>
        <a:srgbClr val="EEF1F5"/>
      </a:lt2>
      <a:accent1>
        <a:srgbClr val="F2A33A"/>
      </a:accent1>
      <a:accent2>
        <a:srgbClr val="E4572E"/>
      </a:accent2>
      <a:accent3>
        <a:srgbClr val="1F9E89"/>
      </a:accent3>
      <a:accent4>
        <a:srgbClr val="3D4B5C"/>
      </a:accent4>
      <a:accent5>
        <a:srgbClr val="8A97A8"/>
      </a:accent5>
      <a:accent6>
        <a:srgbClr val="C9D2DD"/>
      </a:accent6>
      <a:hlink>
        <a:srgbClr val="1F9E89"/>
      </a:hlink>
      <a:folHlink>
        <a:srgbClr val="5A64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