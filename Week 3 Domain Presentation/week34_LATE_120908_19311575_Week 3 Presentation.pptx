
<file path=[Content_Types].xml><?xml version="1.0" encoding="utf-8"?>
<Types xmlns="http://schemas.openxmlformats.org/package/2006/content-types">
  <Default ContentType="image/jpeg" Extension="jpg"/>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61" r:id="rId4"/>
    <p:sldMasterId id="2147483662"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h4c84077faec03d8_5_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0" name="Google Shape;60;h4c84077faec03d8_5_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1" name="Google Shape;61;h4c84077faec03d8_5_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h4c84077faec03d8_5_4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6" name="Google Shape;96;h4c84077faec03d8_5_4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7" name="Google Shape;97;h4c84077faec03d8_5_4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h4c84077faec03d8_5_9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0" name="Google Shape;150;h4c84077faec03d8_5_9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1" name="Google Shape;151;h4c84077faec03d8_5_9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h4c84077faec03d8_5_13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2" name="Google Shape;192;h4c84077faec03d8_5_13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3" name="Google Shape;193;h4c84077faec03d8_5_13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h4206a5479c7b5d84_6_0: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1" name="Google Shape;231;h4206a5479c7b5d84_6_0: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2" name="Google Shape;232;h4206a5479c7b5d84_6_0: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h4206a5479c7b5d84_6_11: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2" name="Google Shape;242;h4206a5479c7b5d84_6_11: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3" name="Google Shape;243;h4206a5479c7b5d84_6_11: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h4206a5479c7b5d84_6_58: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0" name="Google Shape;290;h4206a5479c7b5d84_6_58: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1" name="Google Shape;291;h4206a5479c7b5d84_6_58: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h4206a5479c7b5d84_6_90: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3" name="Google Shape;323;h4206a5479c7b5d84_6_90: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4" name="Google Shape;324;h4206a5479c7b5d84_6_90: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 name="Shape 358"/>
        <p:cNvGrpSpPr/>
        <p:nvPr/>
      </p:nvGrpSpPr>
      <p:grpSpPr>
        <a:xfrm>
          <a:off x="0" y="0"/>
          <a:ext cx="0" cy="0"/>
          <a:chOff x="0" y="0"/>
          <a:chExt cx="0" cy="0"/>
        </a:xfrm>
      </p:grpSpPr>
      <p:sp>
        <p:nvSpPr>
          <p:cNvPr id="359" name="Google Shape;359;h4206a5479c7b5d84_6_126: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0" name="Google Shape;360;h4206a5479c7b5d84_6_126: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1" name="Google Shape;361;h4206a5479c7b5d84_6_126: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STER">
  <p:cSld name="MASTER">
    <p:bg>
      <p:bgPr>
        <a:solidFill>
          <a:srgbClr val="08111F"/>
        </a:solidFill>
      </p:bgPr>
    </p:bg>
    <p:spTree>
      <p:nvGrpSpPr>
        <p:cNvPr id="52" name="Shape 52"/>
        <p:cNvGrpSpPr/>
        <p:nvPr/>
      </p:nvGrpSpPr>
      <p:grpSpPr>
        <a:xfrm>
          <a:off x="0" y="0"/>
          <a:ext cx="0" cy="0"/>
          <a:chOff x="0" y="0"/>
          <a:chExt cx="0" cy="0"/>
        </a:xfrm>
      </p:grpSpPr>
      <p:sp>
        <p:nvSpPr>
          <p:cNvPr id="53" name="Google Shape;53;p14"/>
          <p:cNvSpPr/>
          <p:nvPr/>
        </p:nvSpPr>
        <p:spPr>
          <a:xfrm>
            <a:off x="0" y="0"/>
            <a:ext cx="9143771" cy="109728"/>
          </a:xfrm>
          <a:prstGeom prst="rect">
            <a:avLst/>
          </a:prstGeom>
          <a:solidFill>
            <a:srgbClr val="2EE6C6"/>
          </a:solidFill>
          <a:ln cap="flat" cmpd="sng" w="12700">
            <a:solidFill>
              <a:srgbClr val="2EE6C6"/>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4" name="Google Shape;54;p14"/>
          <p:cNvSpPr/>
          <p:nvPr/>
        </p:nvSpPr>
        <p:spPr>
          <a:xfrm>
            <a:off x="377190" y="4855464"/>
            <a:ext cx="5760720" cy="1234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F8094"/>
              </a:buClr>
              <a:buSzPts val="600"/>
              <a:buFont typeface="Arial"/>
              <a:buNone/>
            </a:pPr>
            <a:r>
              <a:rPr lang="en" sz="600">
                <a:solidFill>
                  <a:srgbClr val="6F8094"/>
                </a:solidFill>
                <a:latin typeface="Arial"/>
                <a:ea typeface="Arial"/>
                <a:cs typeface="Arial"/>
                <a:sym typeface="Arial"/>
              </a:rPr>
              <a:t>THE FUTURE OF CYBERSECURITY IN THE AGE OF AI AGENTS</a:t>
            </a:r>
            <a:endParaRPr sz="600"/>
          </a:p>
        </p:txBody>
      </p:sp>
      <p:sp>
        <p:nvSpPr>
          <p:cNvPr id="55" name="Google Shape;55;p14"/>
          <p:cNvSpPr/>
          <p:nvPr/>
        </p:nvSpPr>
        <p:spPr>
          <a:xfrm>
            <a:off x="7955280" y="4855464"/>
            <a:ext cx="788670" cy="123444"/>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F8094"/>
              </a:buClr>
              <a:buSzPts val="600"/>
              <a:buFont typeface="Arial"/>
              <a:buNone/>
            </a:pPr>
            <a:r>
              <a:rPr lang="en" sz="600">
                <a:solidFill>
                  <a:srgbClr val="6F8094"/>
                </a:solidFill>
                <a:latin typeface="Arial"/>
                <a:ea typeface="Arial"/>
                <a:cs typeface="Arial"/>
                <a:sym typeface="Arial"/>
              </a:rPr>
              <a:t>SEPTEMBER 2026</a:t>
            </a:r>
            <a:endParaRPr sz="600"/>
          </a:p>
        </p:txBody>
      </p:sp>
      <p:sp>
        <p:nvSpPr>
          <p:cNvPr id="56" name="Google Shape;56;p14"/>
          <p:cNvSpPr txBox="1"/>
          <p:nvPr>
            <p:ph idx="12" type="sldNum"/>
          </p:nvPr>
        </p:nvSpPr>
        <p:spPr>
          <a:xfrm>
            <a:off x="8798814" y="4841748"/>
            <a:ext cx="600000" cy="225000"/>
          </a:xfrm>
          <a:prstGeom prst="rect">
            <a:avLst/>
          </a:prstGeom>
          <a:noFill/>
          <a:ln>
            <a:noFill/>
          </a:ln>
        </p:spPr>
        <p:txBody>
          <a:bodyPr anchorCtr="0" anchor="t" bIns="34275" lIns="68575" spcFirstLastPara="1" rIns="68575" wrap="square" tIns="34275">
            <a:noAutofit/>
          </a:bodyPr>
          <a:lstStyle>
            <a:lvl1pPr indent="0" lvl="0" marL="0" marR="0" algn="l">
              <a:spcBef>
                <a:spcPts val="0"/>
              </a:spcBef>
              <a:buClr>
                <a:srgbClr val="6F8094"/>
              </a:buClr>
              <a:buSzPts val="600"/>
              <a:buNone/>
              <a:defRPr b="0" sz="600">
                <a:solidFill>
                  <a:srgbClr val="6F8094"/>
                </a:solidFill>
              </a:defRPr>
            </a:lvl1pPr>
            <a:lvl2pPr indent="0" lvl="1" marL="0" marR="0" algn="l">
              <a:spcBef>
                <a:spcPts val="0"/>
              </a:spcBef>
              <a:buClr>
                <a:srgbClr val="6F8094"/>
              </a:buClr>
              <a:buSzPts val="600"/>
              <a:buNone/>
              <a:defRPr b="0" sz="600">
                <a:solidFill>
                  <a:srgbClr val="6F8094"/>
                </a:solidFill>
              </a:defRPr>
            </a:lvl2pPr>
            <a:lvl3pPr indent="0" lvl="2" marL="0" marR="0" algn="l">
              <a:spcBef>
                <a:spcPts val="0"/>
              </a:spcBef>
              <a:buClr>
                <a:srgbClr val="6F8094"/>
              </a:buClr>
              <a:buSzPts val="600"/>
              <a:buNone/>
              <a:defRPr b="0" sz="600">
                <a:solidFill>
                  <a:srgbClr val="6F8094"/>
                </a:solidFill>
              </a:defRPr>
            </a:lvl3pPr>
            <a:lvl4pPr indent="0" lvl="3" marL="0" marR="0" algn="l">
              <a:spcBef>
                <a:spcPts val="0"/>
              </a:spcBef>
              <a:buClr>
                <a:srgbClr val="6F8094"/>
              </a:buClr>
              <a:buSzPts val="600"/>
              <a:buNone/>
              <a:defRPr b="0" sz="600">
                <a:solidFill>
                  <a:srgbClr val="6F8094"/>
                </a:solidFill>
              </a:defRPr>
            </a:lvl4pPr>
            <a:lvl5pPr indent="0" lvl="4" marL="0" marR="0" algn="l">
              <a:spcBef>
                <a:spcPts val="0"/>
              </a:spcBef>
              <a:buClr>
                <a:srgbClr val="6F8094"/>
              </a:buClr>
              <a:buSzPts val="600"/>
              <a:buNone/>
              <a:defRPr b="0" sz="600">
                <a:solidFill>
                  <a:srgbClr val="6F8094"/>
                </a:solidFill>
              </a:defRPr>
            </a:lvl5pPr>
            <a:lvl6pPr indent="0" lvl="5" marL="0" marR="0" algn="l">
              <a:spcBef>
                <a:spcPts val="0"/>
              </a:spcBef>
              <a:buClr>
                <a:srgbClr val="6F8094"/>
              </a:buClr>
              <a:buSzPts val="600"/>
              <a:buNone/>
              <a:defRPr b="0" sz="600">
                <a:solidFill>
                  <a:srgbClr val="6F8094"/>
                </a:solidFill>
              </a:defRPr>
            </a:lvl6pPr>
            <a:lvl7pPr indent="0" lvl="6" marL="0" marR="0" algn="l">
              <a:spcBef>
                <a:spcPts val="0"/>
              </a:spcBef>
              <a:buClr>
                <a:srgbClr val="6F8094"/>
              </a:buClr>
              <a:buSzPts val="600"/>
              <a:buNone/>
              <a:defRPr b="0" sz="600">
                <a:solidFill>
                  <a:srgbClr val="6F8094"/>
                </a:solidFill>
              </a:defRPr>
            </a:lvl7pPr>
            <a:lvl8pPr indent="0" lvl="7" marL="0" marR="0" algn="l">
              <a:spcBef>
                <a:spcPts val="0"/>
              </a:spcBef>
              <a:buClr>
                <a:srgbClr val="6F8094"/>
              </a:buClr>
              <a:buSzPts val="600"/>
              <a:buNone/>
              <a:defRPr b="0" sz="600">
                <a:solidFill>
                  <a:srgbClr val="6F8094"/>
                </a:solidFill>
              </a:defRPr>
            </a:lvl8pPr>
            <a:lvl9pPr indent="0" lvl="8" marL="0" marR="0" algn="l">
              <a:spcBef>
                <a:spcPts val="0"/>
              </a:spcBef>
              <a:buClr>
                <a:srgbClr val="6F8094"/>
              </a:buClr>
              <a:buSzPts val="600"/>
              <a:buNone/>
              <a:defRPr b="0" sz="600">
                <a:solidFill>
                  <a:srgbClr val="6F8094"/>
                </a:solidFil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57" name="Shape 57"/>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 name="Shape 50"/>
        <p:cNvGrpSpPr/>
        <p:nvPr/>
      </p:nvGrpSpPr>
      <p:grpSpPr>
        <a:xfrm>
          <a:off x="0" y="0"/>
          <a:ext cx="0" cy="0"/>
          <a:chOff x="0" y="0"/>
          <a:chExt cx="0" cy="0"/>
        </a:xfrm>
      </p:grpSpPr>
      <p:sp>
        <p:nvSpPr>
          <p:cNvPr id="51" name="Google Shape;51;p13"/>
          <p:cNvSpPr txBox="1"/>
          <p:nvPr>
            <p:ph idx="12" type="sldNum"/>
          </p:nvPr>
        </p:nvSpPr>
        <p:spPr>
          <a:xfrm>
            <a:off x="8798814" y="4841748"/>
            <a:ext cx="600000" cy="225000"/>
          </a:xfrm>
          <a:prstGeom prst="rect">
            <a:avLst/>
          </a:prstGeom>
          <a:noFill/>
          <a:ln>
            <a:noFill/>
          </a:ln>
        </p:spPr>
        <p:txBody>
          <a:bodyPr anchorCtr="0" anchor="t" bIns="34275" lIns="68575" spcFirstLastPara="1" rIns="68575" wrap="square" tIns="34275">
            <a:noAutofit/>
          </a:bodyPr>
          <a:lstStyle>
            <a:lvl1pPr indent="0" lvl="0" marL="0" marR="0" rtl="0" algn="l">
              <a:spcBef>
                <a:spcPts val="0"/>
              </a:spcBef>
              <a:buClr>
                <a:srgbClr val="6F8094"/>
              </a:buClr>
              <a:buSzPts val="600"/>
              <a:buFont typeface="Arial"/>
              <a:buNone/>
              <a:defRPr b="0" sz="600">
                <a:solidFill>
                  <a:srgbClr val="6F8094"/>
                </a:solidFill>
              </a:defRPr>
            </a:lvl1pPr>
            <a:lvl2pPr indent="0" lvl="1" marL="0" marR="0" rtl="0" algn="l">
              <a:spcBef>
                <a:spcPts val="0"/>
              </a:spcBef>
              <a:buClr>
                <a:srgbClr val="6F8094"/>
              </a:buClr>
              <a:buSzPts val="600"/>
              <a:buFont typeface="Arial"/>
              <a:buNone/>
              <a:defRPr b="0" sz="600">
                <a:solidFill>
                  <a:srgbClr val="6F8094"/>
                </a:solidFill>
              </a:defRPr>
            </a:lvl2pPr>
            <a:lvl3pPr indent="0" lvl="2" marL="0" marR="0" rtl="0" algn="l">
              <a:spcBef>
                <a:spcPts val="0"/>
              </a:spcBef>
              <a:buClr>
                <a:srgbClr val="6F8094"/>
              </a:buClr>
              <a:buSzPts val="600"/>
              <a:buFont typeface="Arial"/>
              <a:buNone/>
              <a:defRPr b="0" sz="600">
                <a:solidFill>
                  <a:srgbClr val="6F8094"/>
                </a:solidFill>
              </a:defRPr>
            </a:lvl3pPr>
            <a:lvl4pPr indent="0" lvl="3" marL="0" marR="0" rtl="0" algn="l">
              <a:spcBef>
                <a:spcPts val="0"/>
              </a:spcBef>
              <a:buClr>
                <a:srgbClr val="6F8094"/>
              </a:buClr>
              <a:buSzPts val="600"/>
              <a:buFont typeface="Arial"/>
              <a:buNone/>
              <a:defRPr b="0" sz="600">
                <a:solidFill>
                  <a:srgbClr val="6F8094"/>
                </a:solidFill>
              </a:defRPr>
            </a:lvl4pPr>
            <a:lvl5pPr indent="0" lvl="4" marL="0" marR="0" rtl="0" algn="l">
              <a:spcBef>
                <a:spcPts val="0"/>
              </a:spcBef>
              <a:buClr>
                <a:srgbClr val="6F8094"/>
              </a:buClr>
              <a:buSzPts val="600"/>
              <a:buFont typeface="Arial"/>
              <a:buNone/>
              <a:defRPr b="0" sz="600">
                <a:solidFill>
                  <a:srgbClr val="6F8094"/>
                </a:solidFill>
              </a:defRPr>
            </a:lvl5pPr>
            <a:lvl6pPr indent="0" lvl="5" marL="0" marR="0" rtl="0" algn="l">
              <a:spcBef>
                <a:spcPts val="0"/>
              </a:spcBef>
              <a:buClr>
                <a:srgbClr val="6F8094"/>
              </a:buClr>
              <a:buSzPts val="600"/>
              <a:buFont typeface="Arial"/>
              <a:buNone/>
              <a:defRPr b="0" sz="600">
                <a:solidFill>
                  <a:srgbClr val="6F8094"/>
                </a:solidFill>
              </a:defRPr>
            </a:lvl6pPr>
            <a:lvl7pPr indent="0" lvl="6" marL="0" marR="0" rtl="0" algn="l">
              <a:spcBef>
                <a:spcPts val="0"/>
              </a:spcBef>
              <a:buClr>
                <a:srgbClr val="6F8094"/>
              </a:buClr>
              <a:buSzPts val="600"/>
              <a:buFont typeface="Arial"/>
              <a:buNone/>
              <a:defRPr b="0" sz="600">
                <a:solidFill>
                  <a:srgbClr val="6F8094"/>
                </a:solidFill>
              </a:defRPr>
            </a:lvl7pPr>
            <a:lvl8pPr indent="0" lvl="7" marL="0" marR="0" rtl="0" algn="l">
              <a:spcBef>
                <a:spcPts val="0"/>
              </a:spcBef>
              <a:buClr>
                <a:srgbClr val="6F8094"/>
              </a:buClr>
              <a:buSzPts val="600"/>
              <a:buFont typeface="Arial"/>
              <a:buNone/>
              <a:defRPr b="0" sz="600">
                <a:solidFill>
                  <a:srgbClr val="6F8094"/>
                </a:solidFill>
              </a:defRPr>
            </a:lvl8pPr>
            <a:lvl9pPr indent="0" lvl="8" marL="0" marR="0" rtl="0" algn="l">
              <a:spcBef>
                <a:spcPts val="0"/>
              </a:spcBef>
              <a:buClr>
                <a:srgbClr val="6F8094"/>
              </a:buClr>
              <a:buSzPts val="600"/>
              <a:buFont typeface="Arial"/>
              <a:buNone/>
              <a:defRPr b="0" sz="600">
                <a:solidFill>
                  <a:srgbClr val="6F8094"/>
                </a:solidFill>
              </a:defRPr>
            </a:lvl9pPr>
          </a:lstStyle>
          <a:p>
            <a:pPr indent="0" lvl="0" marL="0" rtl="0" algn="l">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 Id="rId3" Type="http://schemas.openxmlformats.org/officeDocument/2006/relationships/image" Target="../media/image8.jpg"/><Relationship Id="rId4" Type="http://schemas.openxmlformats.org/officeDocument/2006/relationships/image" Target="../media/image3.jpg"/><Relationship Id="rId5" Type="http://schemas.openxmlformats.org/officeDocument/2006/relationships/image" Target="../media/image1.jpg"/><Relationship Id="rId6" Type="http://schemas.openxmlformats.org/officeDocument/2006/relationships/image" Target="../media/image2.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xml"/><Relationship Id="rId3" Type="http://schemas.openxmlformats.org/officeDocument/2006/relationships/image" Target="../media/image5.jpg"/><Relationship Id="rId4" Type="http://schemas.openxmlformats.org/officeDocument/2006/relationships/image" Target="../media/image6.jpg"/><Relationship Id="rId5" Type="http://schemas.openxmlformats.org/officeDocument/2006/relationships/image" Target="../media/image7.jpg"/><Relationship Id="rId6" Type="http://schemas.openxmlformats.org/officeDocument/2006/relationships/image" Target="../media/image4.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08111F"/>
        </a:solidFill>
      </p:bgPr>
    </p:bg>
    <p:spTree>
      <p:nvGrpSpPr>
        <p:cNvPr id="62" name="Shape 62"/>
        <p:cNvGrpSpPr/>
        <p:nvPr/>
      </p:nvGrpSpPr>
      <p:grpSpPr>
        <a:xfrm>
          <a:off x="0" y="0"/>
          <a:ext cx="0" cy="0"/>
          <a:chOff x="0" y="0"/>
          <a:chExt cx="0" cy="0"/>
        </a:xfrm>
      </p:grpSpPr>
      <p:cxnSp>
        <p:nvCxnSpPr>
          <p:cNvPr id="63" name="Google Shape;63;p16"/>
          <p:cNvCxnSpPr/>
          <p:nvPr/>
        </p:nvCxnSpPr>
        <p:spPr>
          <a:xfrm>
            <a:off x="6446520" y="685800"/>
            <a:ext cx="617220" cy="377190"/>
          </a:xfrm>
          <a:prstGeom prst="straightConnector1">
            <a:avLst/>
          </a:prstGeom>
          <a:noFill/>
          <a:ln cap="flat" cmpd="sng" w="16500">
            <a:solidFill>
              <a:srgbClr val="2EE6C6">
                <a:alpha val="90196"/>
              </a:srgbClr>
            </a:solidFill>
            <a:prstDash val="solid"/>
            <a:round/>
            <a:headEnd len="sm" w="sm" type="none"/>
            <a:tailEnd len="sm" w="sm" type="none"/>
          </a:ln>
        </p:spPr>
      </p:cxnSp>
      <p:cxnSp>
        <p:nvCxnSpPr>
          <p:cNvPr id="64" name="Google Shape;64;p16"/>
          <p:cNvCxnSpPr/>
          <p:nvPr/>
        </p:nvCxnSpPr>
        <p:spPr>
          <a:xfrm>
            <a:off x="7063740" y="1062990"/>
            <a:ext cx="788670" cy="0"/>
          </a:xfrm>
          <a:prstGeom prst="straightConnector1">
            <a:avLst/>
          </a:prstGeom>
          <a:noFill/>
          <a:ln cap="flat" cmpd="sng" w="16500">
            <a:solidFill>
              <a:srgbClr val="24364A">
                <a:alpha val="90196"/>
              </a:srgbClr>
            </a:solidFill>
            <a:prstDash val="solid"/>
            <a:round/>
            <a:headEnd len="sm" w="sm" type="none"/>
            <a:tailEnd len="sm" w="sm" type="none"/>
          </a:ln>
        </p:spPr>
      </p:cxnSp>
      <p:cxnSp>
        <p:nvCxnSpPr>
          <p:cNvPr id="65" name="Google Shape;65;p16"/>
          <p:cNvCxnSpPr/>
          <p:nvPr/>
        </p:nvCxnSpPr>
        <p:spPr>
          <a:xfrm>
            <a:off x="7063740" y="1062990"/>
            <a:ext cx="0" cy="788670"/>
          </a:xfrm>
          <a:prstGeom prst="straightConnector1">
            <a:avLst/>
          </a:prstGeom>
          <a:noFill/>
          <a:ln cap="flat" cmpd="sng" w="16500">
            <a:solidFill>
              <a:srgbClr val="24364A">
                <a:alpha val="90196"/>
              </a:srgbClr>
            </a:solidFill>
            <a:prstDash val="solid"/>
            <a:round/>
            <a:headEnd len="sm" w="sm" type="none"/>
            <a:tailEnd len="sm" w="sm" type="none"/>
          </a:ln>
        </p:spPr>
      </p:cxnSp>
      <p:cxnSp>
        <p:nvCxnSpPr>
          <p:cNvPr id="66" name="Google Shape;66;p16"/>
          <p:cNvCxnSpPr/>
          <p:nvPr/>
        </p:nvCxnSpPr>
        <p:spPr>
          <a:xfrm>
            <a:off x="7852410" y="754380"/>
            <a:ext cx="514350" cy="617220"/>
          </a:xfrm>
          <a:prstGeom prst="straightConnector1">
            <a:avLst/>
          </a:prstGeom>
          <a:noFill/>
          <a:ln cap="flat" cmpd="sng" w="16500">
            <a:solidFill>
              <a:srgbClr val="2EE6C6">
                <a:alpha val="90196"/>
              </a:srgbClr>
            </a:solidFill>
            <a:prstDash val="solid"/>
            <a:round/>
            <a:headEnd len="sm" w="sm" type="none"/>
            <a:tailEnd len="sm" w="sm" type="none"/>
          </a:ln>
        </p:spPr>
      </p:cxnSp>
      <p:cxnSp>
        <p:nvCxnSpPr>
          <p:cNvPr id="67" name="Google Shape;67;p16"/>
          <p:cNvCxnSpPr/>
          <p:nvPr/>
        </p:nvCxnSpPr>
        <p:spPr>
          <a:xfrm>
            <a:off x="8366760" y="1371600"/>
            <a:ext cx="0" cy="754380"/>
          </a:xfrm>
          <a:prstGeom prst="straightConnector1">
            <a:avLst/>
          </a:prstGeom>
          <a:noFill/>
          <a:ln cap="flat" cmpd="sng" w="16500">
            <a:solidFill>
              <a:srgbClr val="24364A">
                <a:alpha val="90196"/>
              </a:srgbClr>
            </a:solidFill>
            <a:prstDash val="solid"/>
            <a:round/>
            <a:headEnd len="sm" w="sm" type="none"/>
            <a:tailEnd len="sm" w="sm" type="none"/>
          </a:ln>
        </p:spPr>
      </p:cxnSp>
      <p:cxnSp>
        <p:nvCxnSpPr>
          <p:cNvPr id="68" name="Google Shape;68;p16"/>
          <p:cNvCxnSpPr/>
          <p:nvPr/>
        </p:nvCxnSpPr>
        <p:spPr>
          <a:xfrm>
            <a:off x="6652260" y="1851660"/>
            <a:ext cx="891540" cy="274320"/>
          </a:xfrm>
          <a:prstGeom prst="straightConnector1">
            <a:avLst/>
          </a:prstGeom>
          <a:noFill/>
          <a:ln cap="flat" cmpd="sng" w="16500">
            <a:solidFill>
              <a:srgbClr val="24364A">
                <a:alpha val="90196"/>
              </a:srgbClr>
            </a:solidFill>
            <a:prstDash val="solid"/>
            <a:round/>
            <a:headEnd len="sm" w="sm" type="none"/>
            <a:tailEnd len="sm" w="sm" type="none"/>
          </a:ln>
        </p:spPr>
      </p:cxnSp>
      <p:cxnSp>
        <p:nvCxnSpPr>
          <p:cNvPr id="69" name="Google Shape;69;p16"/>
          <p:cNvCxnSpPr/>
          <p:nvPr/>
        </p:nvCxnSpPr>
        <p:spPr>
          <a:xfrm>
            <a:off x="6652260" y="1851660"/>
            <a:ext cx="0" cy="1131570"/>
          </a:xfrm>
          <a:prstGeom prst="straightConnector1">
            <a:avLst/>
          </a:prstGeom>
          <a:noFill/>
          <a:ln cap="flat" cmpd="sng" w="16500">
            <a:solidFill>
              <a:srgbClr val="2EE6C6">
                <a:alpha val="90196"/>
              </a:srgbClr>
            </a:solidFill>
            <a:prstDash val="solid"/>
            <a:round/>
            <a:headEnd len="sm" w="sm" type="none"/>
            <a:tailEnd len="sm" w="sm" type="none"/>
          </a:ln>
        </p:spPr>
      </p:cxnSp>
      <p:cxnSp>
        <p:nvCxnSpPr>
          <p:cNvPr id="70" name="Google Shape;70;p16"/>
          <p:cNvCxnSpPr/>
          <p:nvPr/>
        </p:nvCxnSpPr>
        <p:spPr>
          <a:xfrm>
            <a:off x="7543800" y="2125980"/>
            <a:ext cx="788670" cy="377190"/>
          </a:xfrm>
          <a:prstGeom prst="straightConnector1">
            <a:avLst/>
          </a:prstGeom>
          <a:noFill/>
          <a:ln cap="flat" cmpd="sng" w="16500">
            <a:solidFill>
              <a:srgbClr val="24364A">
                <a:alpha val="90196"/>
              </a:srgbClr>
            </a:solidFill>
            <a:prstDash val="solid"/>
            <a:round/>
            <a:headEnd len="sm" w="sm" type="none"/>
            <a:tailEnd len="sm" w="sm" type="none"/>
          </a:ln>
        </p:spPr>
      </p:cxnSp>
      <p:cxnSp>
        <p:nvCxnSpPr>
          <p:cNvPr id="71" name="Google Shape;71;p16"/>
          <p:cNvCxnSpPr/>
          <p:nvPr/>
        </p:nvCxnSpPr>
        <p:spPr>
          <a:xfrm>
            <a:off x="7543800" y="2125980"/>
            <a:ext cx="0" cy="1131570"/>
          </a:xfrm>
          <a:prstGeom prst="straightConnector1">
            <a:avLst/>
          </a:prstGeom>
          <a:noFill/>
          <a:ln cap="flat" cmpd="sng" w="16500">
            <a:solidFill>
              <a:srgbClr val="24364A">
                <a:alpha val="90196"/>
              </a:srgbClr>
            </a:solidFill>
            <a:prstDash val="solid"/>
            <a:round/>
            <a:headEnd len="sm" w="sm" type="none"/>
            <a:tailEnd len="sm" w="sm" type="none"/>
          </a:ln>
        </p:spPr>
      </p:cxnSp>
      <p:cxnSp>
        <p:nvCxnSpPr>
          <p:cNvPr id="72" name="Google Shape;72;p16"/>
          <p:cNvCxnSpPr/>
          <p:nvPr/>
        </p:nvCxnSpPr>
        <p:spPr>
          <a:xfrm>
            <a:off x="8332470" y="2503170"/>
            <a:ext cx="0" cy="1165860"/>
          </a:xfrm>
          <a:prstGeom prst="straightConnector1">
            <a:avLst/>
          </a:prstGeom>
          <a:noFill/>
          <a:ln cap="flat" cmpd="sng" w="16500">
            <a:solidFill>
              <a:srgbClr val="2EE6C6">
                <a:alpha val="90196"/>
              </a:srgbClr>
            </a:solidFill>
            <a:prstDash val="solid"/>
            <a:round/>
            <a:headEnd len="sm" w="sm" type="none"/>
            <a:tailEnd len="sm" w="sm" type="none"/>
          </a:ln>
        </p:spPr>
      </p:cxnSp>
      <p:cxnSp>
        <p:nvCxnSpPr>
          <p:cNvPr id="73" name="Google Shape;73;p16"/>
          <p:cNvCxnSpPr/>
          <p:nvPr/>
        </p:nvCxnSpPr>
        <p:spPr>
          <a:xfrm>
            <a:off x="6412230" y="2983230"/>
            <a:ext cx="822960" cy="274320"/>
          </a:xfrm>
          <a:prstGeom prst="straightConnector1">
            <a:avLst/>
          </a:prstGeom>
          <a:noFill/>
          <a:ln cap="flat" cmpd="sng" w="16500">
            <a:solidFill>
              <a:srgbClr val="24364A">
                <a:alpha val="90196"/>
              </a:srgbClr>
            </a:solidFill>
            <a:prstDash val="solid"/>
            <a:round/>
            <a:headEnd len="sm" w="sm" type="none"/>
            <a:tailEnd len="sm" w="sm" type="none"/>
          </a:ln>
        </p:spPr>
      </p:cxnSp>
      <p:cxnSp>
        <p:nvCxnSpPr>
          <p:cNvPr id="74" name="Google Shape;74;p16"/>
          <p:cNvCxnSpPr/>
          <p:nvPr/>
        </p:nvCxnSpPr>
        <p:spPr>
          <a:xfrm>
            <a:off x="7235190" y="3257550"/>
            <a:ext cx="960120" cy="411480"/>
          </a:xfrm>
          <a:prstGeom prst="straightConnector1">
            <a:avLst/>
          </a:prstGeom>
          <a:noFill/>
          <a:ln cap="flat" cmpd="sng" w="16500">
            <a:solidFill>
              <a:srgbClr val="24364A">
                <a:alpha val="90196"/>
              </a:srgbClr>
            </a:solidFill>
            <a:prstDash val="solid"/>
            <a:round/>
            <a:headEnd len="sm" w="sm" type="none"/>
            <a:tailEnd len="sm" w="sm" type="none"/>
          </a:ln>
        </p:spPr>
      </p:cxnSp>
      <p:sp>
        <p:nvSpPr>
          <p:cNvPr id="75" name="Google Shape;75;p16"/>
          <p:cNvSpPr/>
          <p:nvPr/>
        </p:nvSpPr>
        <p:spPr>
          <a:xfrm>
            <a:off x="6398514" y="637794"/>
            <a:ext cx="96012" cy="96012"/>
          </a:xfrm>
          <a:prstGeom prst="ellipse">
            <a:avLst/>
          </a:prstGeom>
          <a:solidFill>
            <a:srgbClr val="2EE6C6"/>
          </a:solidFill>
          <a:ln cap="flat" cmpd="sng" w="9525">
            <a:solidFill>
              <a:srgbClr val="08111F"/>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76" name="Google Shape;76;p16"/>
          <p:cNvSpPr/>
          <p:nvPr/>
        </p:nvSpPr>
        <p:spPr>
          <a:xfrm>
            <a:off x="7015734" y="1014984"/>
            <a:ext cx="96012" cy="96012"/>
          </a:xfrm>
          <a:prstGeom prst="ellipse">
            <a:avLst/>
          </a:prstGeom>
          <a:solidFill>
            <a:srgbClr val="57B6FF"/>
          </a:solidFill>
          <a:ln cap="flat" cmpd="sng" w="9525">
            <a:solidFill>
              <a:srgbClr val="08111F"/>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77" name="Google Shape;77;p16"/>
          <p:cNvSpPr/>
          <p:nvPr/>
        </p:nvSpPr>
        <p:spPr>
          <a:xfrm>
            <a:off x="7804404" y="706374"/>
            <a:ext cx="96012" cy="96012"/>
          </a:xfrm>
          <a:prstGeom prst="ellipse">
            <a:avLst/>
          </a:prstGeom>
          <a:solidFill>
            <a:srgbClr val="57B6FF"/>
          </a:solidFill>
          <a:ln cap="flat" cmpd="sng" w="9525">
            <a:solidFill>
              <a:srgbClr val="08111F"/>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78" name="Google Shape;78;p16"/>
          <p:cNvSpPr/>
          <p:nvPr/>
        </p:nvSpPr>
        <p:spPr>
          <a:xfrm>
            <a:off x="8318754" y="1323594"/>
            <a:ext cx="96012" cy="96012"/>
          </a:xfrm>
          <a:prstGeom prst="ellipse">
            <a:avLst/>
          </a:prstGeom>
          <a:solidFill>
            <a:srgbClr val="57B6FF"/>
          </a:solidFill>
          <a:ln cap="flat" cmpd="sng" w="9525">
            <a:solidFill>
              <a:srgbClr val="08111F"/>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79" name="Google Shape;79;p16"/>
          <p:cNvSpPr/>
          <p:nvPr/>
        </p:nvSpPr>
        <p:spPr>
          <a:xfrm>
            <a:off x="6604254" y="1803654"/>
            <a:ext cx="96012" cy="96012"/>
          </a:xfrm>
          <a:prstGeom prst="ellipse">
            <a:avLst/>
          </a:prstGeom>
          <a:solidFill>
            <a:srgbClr val="2EE6C6"/>
          </a:solidFill>
          <a:ln cap="flat" cmpd="sng" w="9525">
            <a:solidFill>
              <a:srgbClr val="08111F"/>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80" name="Google Shape;80;p16"/>
          <p:cNvSpPr/>
          <p:nvPr/>
        </p:nvSpPr>
        <p:spPr>
          <a:xfrm>
            <a:off x="7495794" y="2077974"/>
            <a:ext cx="96012" cy="96012"/>
          </a:xfrm>
          <a:prstGeom prst="ellipse">
            <a:avLst/>
          </a:prstGeom>
          <a:solidFill>
            <a:srgbClr val="57B6FF"/>
          </a:solidFill>
          <a:ln cap="flat" cmpd="sng" w="9525">
            <a:solidFill>
              <a:srgbClr val="08111F"/>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81" name="Google Shape;81;p16"/>
          <p:cNvSpPr/>
          <p:nvPr/>
        </p:nvSpPr>
        <p:spPr>
          <a:xfrm>
            <a:off x="8284464" y="2455164"/>
            <a:ext cx="96012" cy="96012"/>
          </a:xfrm>
          <a:prstGeom prst="ellipse">
            <a:avLst/>
          </a:prstGeom>
          <a:solidFill>
            <a:srgbClr val="57B6FF"/>
          </a:solidFill>
          <a:ln cap="flat" cmpd="sng" w="9525">
            <a:solidFill>
              <a:srgbClr val="08111F"/>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82" name="Google Shape;82;p16"/>
          <p:cNvSpPr/>
          <p:nvPr/>
        </p:nvSpPr>
        <p:spPr>
          <a:xfrm>
            <a:off x="6364224" y="2935224"/>
            <a:ext cx="96012" cy="96012"/>
          </a:xfrm>
          <a:prstGeom prst="ellipse">
            <a:avLst/>
          </a:prstGeom>
          <a:solidFill>
            <a:srgbClr val="57B6FF"/>
          </a:solidFill>
          <a:ln cap="flat" cmpd="sng" w="9525">
            <a:solidFill>
              <a:srgbClr val="08111F"/>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83" name="Google Shape;83;p16"/>
          <p:cNvSpPr/>
          <p:nvPr/>
        </p:nvSpPr>
        <p:spPr>
          <a:xfrm>
            <a:off x="7187184" y="3209544"/>
            <a:ext cx="96012" cy="96012"/>
          </a:xfrm>
          <a:prstGeom prst="ellipse">
            <a:avLst/>
          </a:prstGeom>
          <a:solidFill>
            <a:srgbClr val="2EE6C6"/>
          </a:solidFill>
          <a:ln cap="flat" cmpd="sng" w="9525">
            <a:solidFill>
              <a:srgbClr val="08111F"/>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84" name="Google Shape;84;p16"/>
          <p:cNvSpPr/>
          <p:nvPr/>
        </p:nvSpPr>
        <p:spPr>
          <a:xfrm>
            <a:off x="8147304" y="3621024"/>
            <a:ext cx="96012" cy="96012"/>
          </a:xfrm>
          <a:prstGeom prst="ellipse">
            <a:avLst/>
          </a:prstGeom>
          <a:solidFill>
            <a:srgbClr val="57B6FF"/>
          </a:solidFill>
          <a:ln cap="flat" cmpd="sng" w="9525">
            <a:solidFill>
              <a:srgbClr val="08111F"/>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85" name="Google Shape;85;p16"/>
          <p:cNvSpPr/>
          <p:nvPr/>
        </p:nvSpPr>
        <p:spPr>
          <a:xfrm>
            <a:off x="466344" y="699516"/>
            <a:ext cx="35661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EE6C6"/>
              </a:buClr>
              <a:buSzPts val="1100"/>
              <a:buFont typeface="Arial"/>
              <a:buNone/>
            </a:pPr>
            <a:r>
              <a:rPr b="1" lang="en" sz="1100">
                <a:solidFill>
                  <a:srgbClr val="2EE6C6"/>
                </a:solidFill>
              </a:rPr>
              <a:t>THE FUTURE OF</a:t>
            </a:r>
            <a:endParaRPr sz="1100"/>
          </a:p>
        </p:txBody>
      </p:sp>
      <p:sp>
        <p:nvSpPr>
          <p:cNvPr id="86" name="Google Shape;86;p16"/>
          <p:cNvSpPr/>
          <p:nvPr/>
        </p:nvSpPr>
        <p:spPr>
          <a:xfrm>
            <a:off x="466344" y="1014984"/>
            <a:ext cx="5280660" cy="17007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4F7FA"/>
              </a:buClr>
              <a:buSzPts val="2600"/>
              <a:buFont typeface="Arial"/>
              <a:buNone/>
            </a:pPr>
            <a:r>
              <a:rPr b="1" lang="en" sz="2600">
                <a:solidFill>
                  <a:srgbClr val="F4F7FA"/>
                </a:solidFill>
              </a:rPr>
              <a:t>Cybersecurity</a:t>
            </a:r>
            <a:endParaRPr sz="2600"/>
          </a:p>
          <a:p>
            <a:pPr indent="0" lvl="0" marL="0" marR="0" rtl="0" algn="l">
              <a:spcBef>
                <a:spcPts val="0"/>
              </a:spcBef>
              <a:spcAft>
                <a:spcPts val="0"/>
              </a:spcAft>
              <a:buClr>
                <a:srgbClr val="F4F7FA"/>
              </a:buClr>
              <a:buSzPts val="2600"/>
              <a:buFont typeface="Arial"/>
              <a:buNone/>
            </a:pPr>
            <a:r>
              <a:rPr b="1" lang="en" sz="2600">
                <a:solidFill>
                  <a:srgbClr val="F4F7FA"/>
                </a:solidFill>
              </a:rPr>
              <a:t>in the Age of</a:t>
            </a:r>
            <a:endParaRPr sz="2600"/>
          </a:p>
          <a:p>
            <a:pPr indent="0" lvl="0" marL="0" marR="0" rtl="0" algn="l">
              <a:spcBef>
                <a:spcPts val="0"/>
              </a:spcBef>
              <a:spcAft>
                <a:spcPts val="0"/>
              </a:spcAft>
              <a:buClr>
                <a:srgbClr val="F4F7FA"/>
              </a:buClr>
              <a:buSzPts val="2600"/>
              <a:buFont typeface="Arial"/>
              <a:buNone/>
            </a:pPr>
            <a:r>
              <a:rPr b="1" lang="en" sz="2600">
                <a:solidFill>
                  <a:srgbClr val="F4F7FA"/>
                </a:solidFill>
              </a:rPr>
              <a:t>AI Agents</a:t>
            </a:r>
            <a:endParaRPr sz="2600"/>
          </a:p>
        </p:txBody>
      </p:sp>
      <p:sp>
        <p:nvSpPr>
          <p:cNvPr id="87" name="Google Shape;87;p16"/>
          <p:cNvSpPr/>
          <p:nvPr/>
        </p:nvSpPr>
        <p:spPr>
          <a:xfrm>
            <a:off x="493776" y="2976372"/>
            <a:ext cx="4663440" cy="49377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AB7C4"/>
              </a:buClr>
              <a:buSzPts val="1100"/>
              <a:buFont typeface="Arial"/>
              <a:buNone/>
            </a:pPr>
            <a:r>
              <a:rPr lang="en" sz="1100">
                <a:solidFill>
                  <a:srgbClr val="AAB7C4"/>
                </a:solidFill>
              </a:rPr>
              <a:t>Four cybersecurity futures shaped by AI alignment and the ability to turn agents off.</a:t>
            </a:r>
            <a:endParaRPr sz="1100"/>
          </a:p>
        </p:txBody>
      </p:sp>
      <p:sp>
        <p:nvSpPr>
          <p:cNvPr id="88" name="Google Shape;88;p16"/>
          <p:cNvSpPr/>
          <p:nvPr/>
        </p:nvSpPr>
        <p:spPr>
          <a:xfrm>
            <a:off x="493776" y="3744468"/>
            <a:ext cx="1028700" cy="192024"/>
          </a:xfrm>
          <a:prstGeom prst="roundRect">
            <a:avLst>
              <a:gd fmla="val 50000" name="adj"/>
            </a:avLst>
          </a:prstGeom>
          <a:solidFill>
            <a:srgbClr val="2EE6C6"/>
          </a:solidFill>
          <a:ln cap="flat" cmpd="sng" w="12700">
            <a:solidFill>
              <a:srgbClr val="2EE6C6"/>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89" name="Google Shape;89;p16"/>
          <p:cNvSpPr/>
          <p:nvPr/>
        </p:nvSpPr>
        <p:spPr>
          <a:xfrm>
            <a:off x="528066" y="3782187"/>
            <a:ext cx="960120" cy="8915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8111F"/>
              </a:buClr>
              <a:buSzPts val="500"/>
              <a:buFont typeface="Arial"/>
              <a:buNone/>
            </a:pPr>
            <a:r>
              <a:rPr b="1" lang="en" sz="500">
                <a:solidFill>
                  <a:srgbClr val="08111F"/>
                </a:solidFill>
              </a:rPr>
              <a:t>DOMAIN BRIEFING</a:t>
            </a:r>
            <a:endParaRPr sz="500"/>
          </a:p>
        </p:txBody>
      </p:sp>
      <p:sp>
        <p:nvSpPr>
          <p:cNvPr id="90" name="Google Shape;90;p16"/>
          <p:cNvSpPr/>
          <p:nvPr/>
        </p:nvSpPr>
        <p:spPr>
          <a:xfrm>
            <a:off x="1604772" y="3744468"/>
            <a:ext cx="1200150" cy="192024"/>
          </a:xfrm>
          <a:prstGeom prst="roundRect">
            <a:avLst>
              <a:gd fmla="val 50000" name="adj"/>
            </a:avLst>
          </a:prstGeom>
          <a:solidFill>
            <a:srgbClr val="57B6FF"/>
          </a:solidFill>
          <a:ln cap="flat" cmpd="sng" w="12700">
            <a:solidFill>
              <a:srgbClr val="57B6FF"/>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91" name="Google Shape;91;p16"/>
          <p:cNvSpPr/>
          <p:nvPr/>
        </p:nvSpPr>
        <p:spPr>
          <a:xfrm>
            <a:off x="1639062" y="3782187"/>
            <a:ext cx="1131570" cy="8915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8111F"/>
              </a:buClr>
              <a:buSzPts val="500"/>
              <a:buFont typeface="Arial"/>
              <a:buNone/>
            </a:pPr>
            <a:r>
              <a:rPr b="1" lang="en" sz="500">
                <a:solidFill>
                  <a:srgbClr val="08111F"/>
                </a:solidFill>
              </a:rPr>
              <a:t>SCENARIO ANALYSIS</a:t>
            </a:r>
            <a:endParaRPr sz="500"/>
          </a:p>
        </p:txBody>
      </p:sp>
      <p:sp>
        <p:nvSpPr>
          <p:cNvPr id="92" name="Google Shape;92;p16"/>
          <p:cNvSpPr/>
          <p:nvPr/>
        </p:nvSpPr>
        <p:spPr>
          <a:xfrm>
            <a:off x="493776" y="4128516"/>
            <a:ext cx="3771900" cy="1920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F8094"/>
              </a:buClr>
              <a:buSzPts val="700"/>
              <a:buFont typeface="Arial"/>
              <a:buNone/>
            </a:pPr>
            <a:r>
              <a:rPr lang="en" sz="700">
                <a:solidFill>
                  <a:srgbClr val="6F8094"/>
                </a:solidFill>
              </a:rPr>
              <a:t>Week 3: Sahana, Evan, Kendall, Micheal</a:t>
            </a:r>
            <a:endParaRPr sz="700"/>
          </a:p>
        </p:txBody>
      </p:sp>
      <p:sp>
        <p:nvSpPr>
          <p:cNvPr id="93" name="Google Shape;93;p16"/>
          <p:cNvSpPr txBox="1"/>
          <p:nvPr>
            <p:ph idx="4294967295" type="sldNum"/>
          </p:nvPr>
        </p:nvSpPr>
        <p:spPr>
          <a:xfrm>
            <a:off x="8798814" y="4841748"/>
            <a:ext cx="600000" cy="22500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Clr>
                <a:srgbClr val="6F8094"/>
              </a:buClr>
              <a:buSzPts val="600"/>
              <a:buNone/>
            </a:pPr>
            <a:fld id="{00000000-1234-1234-1234-123412341234}" type="slidenum">
              <a:rPr b="0" lang="en" sz="600">
                <a:solidFill>
                  <a:srgbClr val="6F8094"/>
                </a:solidFill>
              </a:rPr>
              <a:t>‹#›</a:t>
            </a:fld>
            <a:endParaRPr sz="600">
              <a:solidFill>
                <a:srgbClr val="6F8094"/>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98" name="Shape 98"/>
        <p:cNvGrpSpPr/>
        <p:nvPr/>
      </p:nvGrpSpPr>
      <p:grpSpPr>
        <a:xfrm>
          <a:off x="0" y="0"/>
          <a:ext cx="0" cy="0"/>
          <a:chOff x="0" y="0"/>
          <a:chExt cx="0" cy="0"/>
        </a:xfrm>
      </p:grpSpPr>
      <p:sp>
        <p:nvSpPr>
          <p:cNvPr id="99" name="Google Shape;99;p17"/>
          <p:cNvSpPr/>
          <p:nvPr/>
        </p:nvSpPr>
        <p:spPr>
          <a:xfrm>
            <a:off x="425196" y="329184"/>
            <a:ext cx="2194560" cy="17145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EE6C6"/>
              </a:buClr>
              <a:buSzPts val="800"/>
              <a:buFont typeface="Arial"/>
              <a:buNone/>
            </a:pPr>
            <a:r>
              <a:rPr b="1" lang="en" sz="800">
                <a:solidFill>
                  <a:srgbClr val="2EE6C6"/>
                </a:solidFill>
              </a:rPr>
              <a:t>02 — DOMAIN</a:t>
            </a:r>
            <a:endParaRPr sz="800"/>
          </a:p>
        </p:txBody>
      </p:sp>
      <p:sp>
        <p:nvSpPr>
          <p:cNvPr id="100" name="Google Shape;100;p17"/>
          <p:cNvSpPr/>
          <p:nvPr/>
        </p:nvSpPr>
        <p:spPr>
          <a:xfrm>
            <a:off x="425196" y="534924"/>
            <a:ext cx="8229600" cy="4800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4F7FA"/>
              </a:buClr>
              <a:buSzPts val="2000"/>
              <a:buFont typeface="Arial"/>
              <a:buNone/>
            </a:pPr>
            <a:r>
              <a:rPr b="1" lang="en" sz="2000">
                <a:solidFill>
                  <a:srgbClr val="F4F7FA"/>
                </a:solidFill>
              </a:rPr>
              <a:t>AI compresses cyber conflict from hours to minutes and expands what must be defended.</a:t>
            </a:r>
            <a:endParaRPr sz="2000"/>
          </a:p>
        </p:txBody>
      </p:sp>
      <p:sp>
        <p:nvSpPr>
          <p:cNvPr id="101" name="Google Shape;101;p17"/>
          <p:cNvSpPr/>
          <p:nvPr/>
        </p:nvSpPr>
        <p:spPr>
          <a:xfrm>
            <a:off x="432054" y="1008126"/>
            <a:ext cx="8092440" cy="2606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AB7C4"/>
              </a:buClr>
              <a:buSzPts val="900"/>
              <a:buFont typeface="Arial"/>
              <a:buNone/>
            </a:pPr>
            <a:r>
              <a:rPr lang="en" sz="900">
                <a:solidFill>
                  <a:srgbClr val="AAB7C4"/>
                </a:solidFill>
              </a:rPr>
              <a:t>The domain is shifting along three linked forces: machine-speed attacks, a larger attack surface, and automated defense.</a:t>
            </a:r>
            <a:endParaRPr sz="900"/>
          </a:p>
        </p:txBody>
      </p:sp>
      <p:sp>
        <p:nvSpPr>
          <p:cNvPr id="102" name="Google Shape;102;p17"/>
          <p:cNvSpPr/>
          <p:nvPr/>
        </p:nvSpPr>
        <p:spPr>
          <a:xfrm>
            <a:off x="452628" y="1405890"/>
            <a:ext cx="1577340" cy="891540"/>
          </a:xfrm>
          <a:prstGeom prst="roundRect">
            <a:avLst>
              <a:gd fmla="val 4615" name="adj"/>
            </a:avLst>
          </a:prstGeom>
          <a:solidFill>
            <a:srgbClr val="101D2D"/>
          </a:solidFill>
          <a:ln cap="flat" cmpd="sng" w="12700">
            <a:solidFill>
              <a:srgbClr val="24364A"/>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03" name="Google Shape;103;p17"/>
          <p:cNvSpPr/>
          <p:nvPr/>
        </p:nvSpPr>
        <p:spPr>
          <a:xfrm>
            <a:off x="576072" y="1515618"/>
            <a:ext cx="1330452" cy="28803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EE6C6"/>
              </a:buClr>
              <a:buSzPts val="1800"/>
              <a:buFont typeface="Arial"/>
              <a:buNone/>
            </a:pPr>
            <a:r>
              <a:rPr b="1" lang="en" sz="1800">
                <a:solidFill>
                  <a:srgbClr val="2EE6C6"/>
                </a:solidFill>
              </a:rPr>
              <a:t>29 min</a:t>
            </a:r>
            <a:endParaRPr sz="1800"/>
          </a:p>
        </p:txBody>
      </p:sp>
      <p:sp>
        <p:nvSpPr>
          <p:cNvPr id="104" name="Google Shape;104;p17"/>
          <p:cNvSpPr/>
          <p:nvPr/>
        </p:nvSpPr>
        <p:spPr>
          <a:xfrm>
            <a:off x="576072" y="1872234"/>
            <a:ext cx="1330452" cy="32232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AAB7C4"/>
              </a:buClr>
              <a:buSzPts val="700"/>
              <a:buFont typeface="Arial"/>
              <a:buNone/>
            </a:pPr>
            <a:r>
              <a:rPr lang="en" sz="700">
                <a:solidFill>
                  <a:srgbClr val="AAB7C4"/>
                </a:solidFill>
              </a:rPr>
              <a:t>Average criminal breakout time in 2025 — down from 98 min in 2021. [1]</a:t>
            </a:r>
            <a:endParaRPr sz="700"/>
          </a:p>
        </p:txBody>
      </p:sp>
      <p:sp>
        <p:nvSpPr>
          <p:cNvPr id="105" name="Google Shape;105;p17"/>
          <p:cNvSpPr/>
          <p:nvPr/>
        </p:nvSpPr>
        <p:spPr>
          <a:xfrm>
            <a:off x="2132838" y="1405890"/>
            <a:ext cx="1577340" cy="891540"/>
          </a:xfrm>
          <a:prstGeom prst="roundRect">
            <a:avLst>
              <a:gd fmla="val 4615" name="adj"/>
            </a:avLst>
          </a:prstGeom>
          <a:solidFill>
            <a:srgbClr val="101D2D"/>
          </a:solidFill>
          <a:ln cap="flat" cmpd="sng" w="12700">
            <a:solidFill>
              <a:srgbClr val="24364A"/>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06" name="Google Shape;106;p17"/>
          <p:cNvSpPr/>
          <p:nvPr/>
        </p:nvSpPr>
        <p:spPr>
          <a:xfrm>
            <a:off x="2256282" y="1515618"/>
            <a:ext cx="1330452" cy="28803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7B6FF"/>
              </a:buClr>
              <a:buSzPts val="1800"/>
              <a:buFont typeface="Arial"/>
              <a:buNone/>
            </a:pPr>
            <a:r>
              <a:rPr b="1" lang="en" sz="1800">
                <a:solidFill>
                  <a:srgbClr val="57B6FF"/>
                </a:solidFill>
              </a:rPr>
              <a:t>1 in 4</a:t>
            </a:r>
            <a:endParaRPr sz="1800"/>
          </a:p>
        </p:txBody>
      </p:sp>
      <p:sp>
        <p:nvSpPr>
          <p:cNvPr id="107" name="Google Shape;107;p17"/>
          <p:cNvSpPr/>
          <p:nvPr/>
        </p:nvSpPr>
        <p:spPr>
          <a:xfrm>
            <a:off x="2256282" y="1872234"/>
            <a:ext cx="1330452" cy="32232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AAB7C4"/>
              </a:buClr>
              <a:buSzPts val="700"/>
              <a:buFont typeface="Arial"/>
              <a:buNone/>
            </a:pPr>
            <a:r>
              <a:rPr lang="en" sz="700">
                <a:solidFill>
                  <a:srgbClr val="AAB7C4"/>
                </a:solidFill>
              </a:rPr>
              <a:t>Malicious breaches were AI-enabled; each cost about $1M more. [2]</a:t>
            </a:r>
            <a:endParaRPr sz="700"/>
          </a:p>
        </p:txBody>
      </p:sp>
      <p:sp>
        <p:nvSpPr>
          <p:cNvPr id="108" name="Google Shape;108;p17"/>
          <p:cNvSpPr/>
          <p:nvPr/>
        </p:nvSpPr>
        <p:spPr>
          <a:xfrm>
            <a:off x="3813048" y="1405890"/>
            <a:ext cx="1577340" cy="891540"/>
          </a:xfrm>
          <a:prstGeom prst="roundRect">
            <a:avLst>
              <a:gd fmla="val 4615" name="adj"/>
            </a:avLst>
          </a:prstGeom>
          <a:solidFill>
            <a:srgbClr val="101D2D"/>
          </a:solidFill>
          <a:ln cap="flat" cmpd="sng" w="12700">
            <a:solidFill>
              <a:srgbClr val="24364A"/>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09" name="Google Shape;109;p17"/>
          <p:cNvSpPr/>
          <p:nvPr/>
        </p:nvSpPr>
        <p:spPr>
          <a:xfrm>
            <a:off x="3936492" y="1515618"/>
            <a:ext cx="1330452" cy="28803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B85C"/>
              </a:buClr>
              <a:buSzPts val="1800"/>
              <a:buFont typeface="Arial"/>
              <a:buNone/>
            </a:pPr>
            <a:r>
              <a:rPr b="1" lang="en" sz="1800">
                <a:solidFill>
                  <a:srgbClr val="FFB85C"/>
                </a:solidFill>
              </a:rPr>
              <a:t>43%</a:t>
            </a:r>
            <a:endParaRPr sz="1800"/>
          </a:p>
        </p:txBody>
      </p:sp>
      <p:sp>
        <p:nvSpPr>
          <p:cNvPr id="110" name="Google Shape;110;p17"/>
          <p:cNvSpPr/>
          <p:nvPr/>
        </p:nvSpPr>
        <p:spPr>
          <a:xfrm>
            <a:off x="3936492" y="1872234"/>
            <a:ext cx="1330452" cy="32232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AAB7C4"/>
              </a:buClr>
              <a:buSzPts val="700"/>
              <a:buFont typeface="Arial"/>
              <a:buNone/>
            </a:pPr>
            <a:r>
              <a:rPr lang="en" sz="700">
                <a:solidFill>
                  <a:srgbClr val="AAB7C4"/>
                </a:solidFill>
              </a:rPr>
              <a:t>of breached organizations reported shadow-AI incidents. [2]</a:t>
            </a:r>
            <a:endParaRPr sz="700"/>
          </a:p>
        </p:txBody>
      </p:sp>
      <p:sp>
        <p:nvSpPr>
          <p:cNvPr id="111" name="Google Shape;111;p17"/>
          <p:cNvSpPr/>
          <p:nvPr/>
        </p:nvSpPr>
        <p:spPr>
          <a:xfrm>
            <a:off x="5493258" y="1405890"/>
            <a:ext cx="1577340" cy="891540"/>
          </a:xfrm>
          <a:prstGeom prst="roundRect">
            <a:avLst>
              <a:gd fmla="val 4615" name="adj"/>
            </a:avLst>
          </a:prstGeom>
          <a:solidFill>
            <a:srgbClr val="101D2D"/>
          </a:solidFill>
          <a:ln cap="flat" cmpd="sng" w="12700">
            <a:solidFill>
              <a:srgbClr val="24364A"/>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12" name="Google Shape;112;p17"/>
          <p:cNvSpPr/>
          <p:nvPr/>
        </p:nvSpPr>
        <p:spPr>
          <a:xfrm>
            <a:off x="5616702" y="1515618"/>
            <a:ext cx="1330452" cy="28803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6B6B"/>
              </a:buClr>
              <a:buSzPts val="1800"/>
              <a:buFont typeface="Arial"/>
              <a:buNone/>
            </a:pPr>
            <a:r>
              <a:rPr b="1" lang="en" sz="1800">
                <a:solidFill>
                  <a:srgbClr val="FF6B6B"/>
                </a:solidFill>
              </a:rPr>
              <a:t>454.6K</a:t>
            </a:r>
            <a:endParaRPr sz="1800"/>
          </a:p>
        </p:txBody>
      </p:sp>
      <p:sp>
        <p:nvSpPr>
          <p:cNvPr id="113" name="Google Shape;113;p17"/>
          <p:cNvSpPr/>
          <p:nvPr/>
        </p:nvSpPr>
        <p:spPr>
          <a:xfrm>
            <a:off x="5616702" y="1872234"/>
            <a:ext cx="1330452" cy="32232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AAB7C4"/>
              </a:buClr>
              <a:buSzPts val="700"/>
              <a:buFont typeface="Arial"/>
              <a:buNone/>
            </a:pPr>
            <a:r>
              <a:rPr lang="en" sz="700">
                <a:solidFill>
                  <a:srgbClr val="AAB7C4"/>
                </a:solidFill>
              </a:rPr>
              <a:t>new malicious open-source packages identified in 2025. [6]</a:t>
            </a:r>
            <a:endParaRPr sz="700"/>
          </a:p>
        </p:txBody>
      </p:sp>
      <p:sp>
        <p:nvSpPr>
          <p:cNvPr id="114" name="Google Shape;114;p17"/>
          <p:cNvSpPr/>
          <p:nvPr/>
        </p:nvSpPr>
        <p:spPr>
          <a:xfrm>
            <a:off x="7173468" y="1405890"/>
            <a:ext cx="1508760" cy="891540"/>
          </a:xfrm>
          <a:prstGeom prst="roundRect">
            <a:avLst>
              <a:gd fmla="val 4615" name="adj"/>
            </a:avLst>
          </a:prstGeom>
          <a:solidFill>
            <a:srgbClr val="101D2D"/>
          </a:solidFill>
          <a:ln cap="flat" cmpd="sng" w="12700">
            <a:solidFill>
              <a:srgbClr val="24364A"/>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15" name="Google Shape;115;p17"/>
          <p:cNvSpPr/>
          <p:nvPr/>
        </p:nvSpPr>
        <p:spPr>
          <a:xfrm>
            <a:off x="7296912" y="1515618"/>
            <a:ext cx="1261872" cy="28803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EE6C6"/>
              </a:buClr>
              <a:buSzPts val="1800"/>
              <a:buFont typeface="Arial"/>
              <a:buNone/>
            </a:pPr>
            <a:r>
              <a:rPr b="1" lang="en" sz="1800">
                <a:solidFill>
                  <a:srgbClr val="2EE6C6"/>
                </a:solidFill>
              </a:rPr>
              <a:t>96%</a:t>
            </a:r>
            <a:endParaRPr sz="1800"/>
          </a:p>
        </p:txBody>
      </p:sp>
      <p:sp>
        <p:nvSpPr>
          <p:cNvPr id="116" name="Google Shape;116;p17"/>
          <p:cNvSpPr/>
          <p:nvPr/>
        </p:nvSpPr>
        <p:spPr>
          <a:xfrm>
            <a:off x="7296912" y="1872234"/>
            <a:ext cx="1261872" cy="32232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AAB7C4"/>
              </a:buClr>
              <a:buSzPts val="700"/>
              <a:buFont typeface="Arial"/>
              <a:buNone/>
            </a:pPr>
            <a:r>
              <a:rPr lang="en" sz="700">
                <a:solidFill>
                  <a:srgbClr val="AAB7C4"/>
                </a:solidFill>
              </a:rPr>
              <a:t>say defensive AI significantly improves security capability. [3]</a:t>
            </a:r>
            <a:endParaRPr sz="700"/>
          </a:p>
        </p:txBody>
      </p:sp>
      <p:sp>
        <p:nvSpPr>
          <p:cNvPr id="117" name="Google Shape;117;p17"/>
          <p:cNvSpPr/>
          <p:nvPr/>
        </p:nvSpPr>
        <p:spPr>
          <a:xfrm>
            <a:off x="452628" y="2489454"/>
            <a:ext cx="3840480" cy="1728216"/>
          </a:xfrm>
          <a:prstGeom prst="roundRect">
            <a:avLst>
              <a:gd fmla="val 1984" name="adj"/>
            </a:avLst>
          </a:prstGeom>
          <a:solidFill>
            <a:srgbClr val="101D2D"/>
          </a:solidFill>
          <a:ln cap="flat" cmpd="sng" w="12700">
            <a:solidFill>
              <a:srgbClr val="24364A"/>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18" name="Google Shape;118;p17"/>
          <p:cNvSpPr/>
          <p:nvPr/>
        </p:nvSpPr>
        <p:spPr>
          <a:xfrm>
            <a:off x="617220" y="2660904"/>
            <a:ext cx="246888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4F7FA"/>
              </a:buClr>
              <a:buSzPts val="800"/>
              <a:buFont typeface="Arial"/>
              <a:buNone/>
            </a:pPr>
            <a:r>
              <a:rPr b="1" lang="en" sz="800">
                <a:solidFill>
                  <a:srgbClr val="F4F7FA"/>
                </a:solidFill>
              </a:rPr>
              <a:t>ATTACKER SPEED: BREAKOUT TIME</a:t>
            </a:r>
            <a:endParaRPr sz="800"/>
          </a:p>
        </p:txBody>
      </p:sp>
      <p:sp>
        <p:nvSpPr>
          <p:cNvPr id="119" name="Google Shape;119;p17"/>
          <p:cNvSpPr/>
          <p:nvPr/>
        </p:nvSpPr>
        <p:spPr>
          <a:xfrm>
            <a:off x="630936" y="3024378"/>
            <a:ext cx="342900" cy="1371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AB7C4"/>
              </a:buClr>
              <a:buSzPts val="600"/>
              <a:buFont typeface="Arial"/>
              <a:buNone/>
            </a:pPr>
            <a:r>
              <a:rPr lang="en" sz="600">
                <a:solidFill>
                  <a:srgbClr val="AAB7C4"/>
                </a:solidFill>
              </a:rPr>
              <a:t>2021</a:t>
            </a:r>
            <a:endParaRPr sz="600"/>
          </a:p>
        </p:txBody>
      </p:sp>
      <p:sp>
        <p:nvSpPr>
          <p:cNvPr id="120" name="Google Shape;120;p17"/>
          <p:cNvSpPr/>
          <p:nvPr/>
        </p:nvSpPr>
        <p:spPr>
          <a:xfrm>
            <a:off x="1042416" y="3003804"/>
            <a:ext cx="2571750" cy="164592"/>
          </a:xfrm>
          <a:prstGeom prst="roundRect">
            <a:avLst>
              <a:gd fmla="val 50000" name="adj"/>
            </a:avLst>
          </a:prstGeom>
          <a:solidFill>
            <a:srgbClr val="24364A"/>
          </a:solidFill>
          <a:ln cap="flat" cmpd="sng" w="12700">
            <a:solidFill>
              <a:srgbClr val="24364A"/>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21" name="Google Shape;121;p17"/>
          <p:cNvSpPr/>
          <p:nvPr/>
        </p:nvSpPr>
        <p:spPr>
          <a:xfrm>
            <a:off x="1042416" y="3003804"/>
            <a:ext cx="2520315" cy="164592"/>
          </a:xfrm>
          <a:prstGeom prst="roundRect">
            <a:avLst>
              <a:gd fmla="val 50000" name="adj"/>
            </a:avLst>
          </a:prstGeom>
          <a:solidFill>
            <a:srgbClr val="57B6FF"/>
          </a:solidFill>
          <a:ln cap="flat" cmpd="sng" w="12700">
            <a:solidFill>
              <a:srgbClr val="57B6FF"/>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22" name="Google Shape;122;p17"/>
          <p:cNvSpPr/>
          <p:nvPr/>
        </p:nvSpPr>
        <p:spPr>
          <a:xfrm>
            <a:off x="3669030" y="3024378"/>
            <a:ext cx="377190" cy="13716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4F7FA"/>
              </a:buClr>
              <a:buSzPts val="600"/>
              <a:buFont typeface="Arial"/>
              <a:buNone/>
            </a:pPr>
            <a:r>
              <a:rPr b="1" lang="en" sz="600">
                <a:solidFill>
                  <a:srgbClr val="F4F7FA"/>
                </a:solidFill>
              </a:rPr>
              <a:t>98 min</a:t>
            </a:r>
            <a:endParaRPr sz="600"/>
          </a:p>
        </p:txBody>
      </p:sp>
      <p:sp>
        <p:nvSpPr>
          <p:cNvPr id="123" name="Google Shape;123;p17"/>
          <p:cNvSpPr/>
          <p:nvPr/>
        </p:nvSpPr>
        <p:spPr>
          <a:xfrm>
            <a:off x="630936" y="3367278"/>
            <a:ext cx="342900" cy="1371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AB7C4"/>
              </a:buClr>
              <a:buSzPts val="600"/>
              <a:buFont typeface="Arial"/>
              <a:buNone/>
            </a:pPr>
            <a:r>
              <a:rPr lang="en" sz="600">
                <a:solidFill>
                  <a:srgbClr val="AAB7C4"/>
                </a:solidFill>
              </a:rPr>
              <a:t>2024</a:t>
            </a:r>
            <a:endParaRPr sz="600"/>
          </a:p>
        </p:txBody>
      </p:sp>
      <p:sp>
        <p:nvSpPr>
          <p:cNvPr id="124" name="Google Shape;124;p17"/>
          <p:cNvSpPr/>
          <p:nvPr/>
        </p:nvSpPr>
        <p:spPr>
          <a:xfrm>
            <a:off x="1042416" y="3346704"/>
            <a:ext cx="2571750" cy="164592"/>
          </a:xfrm>
          <a:prstGeom prst="roundRect">
            <a:avLst>
              <a:gd fmla="val 50000" name="adj"/>
            </a:avLst>
          </a:prstGeom>
          <a:solidFill>
            <a:srgbClr val="24364A"/>
          </a:solidFill>
          <a:ln cap="flat" cmpd="sng" w="12700">
            <a:solidFill>
              <a:srgbClr val="24364A"/>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25" name="Google Shape;125;p17"/>
          <p:cNvSpPr/>
          <p:nvPr/>
        </p:nvSpPr>
        <p:spPr>
          <a:xfrm>
            <a:off x="1042416" y="3346704"/>
            <a:ext cx="1234440" cy="164592"/>
          </a:xfrm>
          <a:prstGeom prst="roundRect">
            <a:avLst>
              <a:gd fmla="val 50000" name="adj"/>
            </a:avLst>
          </a:prstGeom>
          <a:solidFill>
            <a:srgbClr val="57B6FF"/>
          </a:solidFill>
          <a:ln cap="flat" cmpd="sng" w="12700">
            <a:solidFill>
              <a:srgbClr val="57B6FF"/>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26" name="Google Shape;126;p17"/>
          <p:cNvSpPr/>
          <p:nvPr/>
        </p:nvSpPr>
        <p:spPr>
          <a:xfrm>
            <a:off x="3669030" y="3367278"/>
            <a:ext cx="377190" cy="13716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4F7FA"/>
              </a:buClr>
              <a:buSzPts val="600"/>
              <a:buFont typeface="Arial"/>
              <a:buNone/>
            </a:pPr>
            <a:r>
              <a:rPr b="1" lang="en" sz="600">
                <a:solidFill>
                  <a:srgbClr val="F4F7FA"/>
                </a:solidFill>
              </a:rPr>
              <a:t>48 min</a:t>
            </a:r>
            <a:endParaRPr sz="600"/>
          </a:p>
        </p:txBody>
      </p:sp>
      <p:sp>
        <p:nvSpPr>
          <p:cNvPr id="127" name="Google Shape;127;p17"/>
          <p:cNvSpPr/>
          <p:nvPr/>
        </p:nvSpPr>
        <p:spPr>
          <a:xfrm>
            <a:off x="630936" y="3710178"/>
            <a:ext cx="342900" cy="1371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AB7C4"/>
              </a:buClr>
              <a:buSzPts val="600"/>
              <a:buFont typeface="Arial"/>
              <a:buNone/>
            </a:pPr>
            <a:r>
              <a:rPr lang="en" sz="600">
                <a:solidFill>
                  <a:srgbClr val="AAB7C4"/>
                </a:solidFill>
              </a:rPr>
              <a:t>2025</a:t>
            </a:r>
            <a:endParaRPr sz="600"/>
          </a:p>
        </p:txBody>
      </p:sp>
      <p:sp>
        <p:nvSpPr>
          <p:cNvPr id="128" name="Google Shape;128;p17"/>
          <p:cNvSpPr/>
          <p:nvPr/>
        </p:nvSpPr>
        <p:spPr>
          <a:xfrm>
            <a:off x="1042416" y="3689604"/>
            <a:ext cx="2571750" cy="164592"/>
          </a:xfrm>
          <a:prstGeom prst="roundRect">
            <a:avLst>
              <a:gd fmla="val 50000" name="adj"/>
            </a:avLst>
          </a:prstGeom>
          <a:solidFill>
            <a:srgbClr val="24364A"/>
          </a:solidFill>
          <a:ln cap="flat" cmpd="sng" w="12700">
            <a:solidFill>
              <a:srgbClr val="24364A"/>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29" name="Google Shape;129;p17"/>
          <p:cNvSpPr/>
          <p:nvPr/>
        </p:nvSpPr>
        <p:spPr>
          <a:xfrm>
            <a:off x="1042416" y="3689604"/>
            <a:ext cx="745808" cy="164592"/>
          </a:xfrm>
          <a:prstGeom prst="roundRect">
            <a:avLst>
              <a:gd fmla="val 50000" name="adj"/>
            </a:avLst>
          </a:prstGeom>
          <a:solidFill>
            <a:srgbClr val="2EE6C6"/>
          </a:solidFill>
          <a:ln cap="flat" cmpd="sng" w="12700">
            <a:solidFill>
              <a:srgbClr val="2EE6C6"/>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30" name="Google Shape;130;p17"/>
          <p:cNvSpPr/>
          <p:nvPr/>
        </p:nvSpPr>
        <p:spPr>
          <a:xfrm>
            <a:off x="3669030" y="3710178"/>
            <a:ext cx="377190" cy="13716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2EE6C6"/>
              </a:buClr>
              <a:buSzPts val="600"/>
              <a:buFont typeface="Arial"/>
              <a:buNone/>
            </a:pPr>
            <a:r>
              <a:rPr b="1" lang="en" sz="600">
                <a:solidFill>
                  <a:srgbClr val="2EE6C6"/>
                </a:solidFill>
              </a:rPr>
              <a:t>29 min</a:t>
            </a:r>
            <a:endParaRPr sz="600"/>
          </a:p>
        </p:txBody>
      </p:sp>
      <p:sp>
        <p:nvSpPr>
          <p:cNvPr id="131" name="Google Shape;131;p17"/>
          <p:cNvSpPr/>
          <p:nvPr/>
        </p:nvSpPr>
        <p:spPr>
          <a:xfrm>
            <a:off x="630936" y="4032504"/>
            <a:ext cx="3394710" cy="1234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F8094"/>
              </a:buClr>
              <a:buSzPts val="600"/>
              <a:buFont typeface="Arial"/>
              <a:buNone/>
            </a:pPr>
            <a:r>
              <a:rPr lang="en" sz="600">
                <a:solidFill>
                  <a:srgbClr val="6F8094"/>
                </a:solidFill>
              </a:rPr>
              <a:t>Fastest observed: 27 seconds • Data theft began within 4 minutes in one case. [1]</a:t>
            </a:r>
            <a:endParaRPr sz="600"/>
          </a:p>
        </p:txBody>
      </p:sp>
      <p:sp>
        <p:nvSpPr>
          <p:cNvPr id="132" name="Google Shape;132;p17"/>
          <p:cNvSpPr/>
          <p:nvPr/>
        </p:nvSpPr>
        <p:spPr>
          <a:xfrm>
            <a:off x="4471416" y="2489454"/>
            <a:ext cx="4217670" cy="1728216"/>
          </a:xfrm>
          <a:prstGeom prst="roundRect">
            <a:avLst>
              <a:gd fmla="val 1984" name="adj"/>
            </a:avLst>
          </a:prstGeom>
          <a:solidFill>
            <a:srgbClr val="101D2D"/>
          </a:solidFill>
          <a:ln cap="flat" cmpd="sng" w="12700">
            <a:solidFill>
              <a:srgbClr val="24364A"/>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33" name="Google Shape;133;p17"/>
          <p:cNvSpPr/>
          <p:nvPr/>
        </p:nvSpPr>
        <p:spPr>
          <a:xfrm>
            <a:off x="4649724" y="2660904"/>
            <a:ext cx="260604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4F7FA"/>
              </a:buClr>
              <a:buSzPts val="800"/>
              <a:buFont typeface="Arial"/>
              <a:buNone/>
            </a:pPr>
            <a:r>
              <a:rPr b="1" lang="en" sz="800">
                <a:solidFill>
                  <a:srgbClr val="F4F7FA"/>
                </a:solidFill>
              </a:rPr>
              <a:t>WHAT CHANGES THE DOMAIN</a:t>
            </a:r>
            <a:endParaRPr sz="800"/>
          </a:p>
        </p:txBody>
      </p:sp>
      <p:sp>
        <p:nvSpPr>
          <p:cNvPr id="134" name="Google Shape;134;p17"/>
          <p:cNvSpPr/>
          <p:nvPr/>
        </p:nvSpPr>
        <p:spPr>
          <a:xfrm>
            <a:off x="4663440" y="2969514"/>
            <a:ext cx="219456" cy="219456"/>
          </a:xfrm>
          <a:prstGeom prst="ellipse">
            <a:avLst/>
          </a:prstGeom>
          <a:solidFill>
            <a:srgbClr val="2EE6C6"/>
          </a:solidFill>
          <a:ln cap="flat" cmpd="sng" w="12700">
            <a:solidFill>
              <a:srgbClr val="08111F"/>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35" name="Google Shape;135;p17"/>
          <p:cNvSpPr/>
          <p:nvPr/>
        </p:nvSpPr>
        <p:spPr>
          <a:xfrm>
            <a:off x="4663440" y="3017520"/>
            <a:ext cx="219456" cy="6172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8111F"/>
              </a:buClr>
              <a:buSzPts val="500"/>
              <a:buFont typeface="Arial"/>
              <a:buNone/>
            </a:pPr>
            <a:r>
              <a:rPr b="1" lang="en" sz="500">
                <a:solidFill>
                  <a:srgbClr val="08111F"/>
                </a:solidFill>
              </a:rPr>
              <a:t>01</a:t>
            </a:r>
            <a:endParaRPr sz="500"/>
          </a:p>
        </p:txBody>
      </p:sp>
      <p:sp>
        <p:nvSpPr>
          <p:cNvPr id="136" name="Google Shape;136;p17"/>
          <p:cNvSpPr/>
          <p:nvPr/>
        </p:nvSpPr>
        <p:spPr>
          <a:xfrm>
            <a:off x="4972050" y="2962656"/>
            <a:ext cx="1234440" cy="13030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4F7FA"/>
              </a:buClr>
              <a:buSzPts val="700"/>
              <a:buFont typeface="Arial"/>
              <a:buNone/>
            </a:pPr>
            <a:r>
              <a:rPr b="1" lang="en" sz="700">
                <a:solidFill>
                  <a:srgbClr val="F4F7FA"/>
                </a:solidFill>
              </a:rPr>
              <a:t>Automation speed</a:t>
            </a:r>
            <a:endParaRPr sz="700"/>
          </a:p>
        </p:txBody>
      </p:sp>
      <p:sp>
        <p:nvSpPr>
          <p:cNvPr id="137" name="Google Shape;137;p17"/>
          <p:cNvSpPr/>
          <p:nvPr/>
        </p:nvSpPr>
        <p:spPr>
          <a:xfrm>
            <a:off x="6206490" y="2962656"/>
            <a:ext cx="2194560" cy="22631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AB7C4"/>
              </a:buClr>
              <a:buSzPts val="600"/>
              <a:buFont typeface="Arial"/>
              <a:buNone/>
            </a:pPr>
            <a:r>
              <a:rPr lang="en" sz="600">
                <a:solidFill>
                  <a:srgbClr val="AAB7C4"/>
                </a:solidFill>
              </a:rPr>
              <a:t>AI-enabled adversary operations rose 89% YoY; defense is automating too. [1][3]</a:t>
            </a:r>
            <a:endParaRPr sz="600"/>
          </a:p>
        </p:txBody>
      </p:sp>
      <p:sp>
        <p:nvSpPr>
          <p:cNvPr id="138" name="Google Shape;138;p17"/>
          <p:cNvSpPr/>
          <p:nvPr/>
        </p:nvSpPr>
        <p:spPr>
          <a:xfrm>
            <a:off x="4663440" y="3360420"/>
            <a:ext cx="219456" cy="219456"/>
          </a:xfrm>
          <a:prstGeom prst="ellipse">
            <a:avLst/>
          </a:prstGeom>
          <a:solidFill>
            <a:srgbClr val="57B6FF"/>
          </a:solidFill>
          <a:ln cap="flat" cmpd="sng" w="12700">
            <a:solidFill>
              <a:srgbClr val="08111F"/>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39" name="Google Shape;139;p17"/>
          <p:cNvSpPr/>
          <p:nvPr/>
        </p:nvSpPr>
        <p:spPr>
          <a:xfrm>
            <a:off x="4663440" y="3408426"/>
            <a:ext cx="219456" cy="6172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8111F"/>
              </a:buClr>
              <a:buSzPts val="500"/>
              <a:buFont typeface="Arial"/>
              <a:buNone/>
            </a:pPr>
            <a:r>
              <a:rPr b="1" lang="en" sz="500">
                <a:solidFill>
                  <a:srgbClr val="08111F"/>
                </a:solidFill>
              </a:rPr>
              <a:t>02</a:t>
            </a:r>
            <a:endParaRPr sz="500"/>
          </a:p>
        </p:txBody>
      </p:sp>
      <p:sp>
        <p:nvSpPr>
          <p:cNvPr id="140" name="Google Shape;140;p17"/>
          <p:cNvSpPr/>
          <p:nvPr/>
        </p:nvSpPr>
        <p:spPr>
          <a:xfrm>
            <a:off x="4972050" y="3353562"/>
            <a:ext cx="1234440" cy="13030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4F7FA"/>
              </a:buClr>
              <a:buSzPts val="700"/>
              <a:buFont typeface="Arial"/>
              <a:buNone/>
            </a:pPr>
            <a:r>
              <a:rPr b="1" lang="en" sz="700">
                <a:solidFill>
                  <a:srgbClr val="F4F7FA"/>
                </a:solidFill>
              </a:rPr>
              <a:t>Attack-surface sprawl</a:t>
            </a:r>
            <a:endParaRPr sz="700"/>
          </a:p>
        </p:txBody>
      </p:sp>
      <p:sp>
        <p:nvSpPr>
          <p:cNvPr id="141" name="Google Shape;141;p17"/>
          <p:cNvSpPr/>
          <p:nvPr/>
        </p:nvSpPr>
        <p:spPr>
          <a:xfrm>
            <a:off x="6206490" y="3353562"/>
            <a:ext cx="2194560" cy="22631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AB7C4"/>
              </a:buClr>
              <a:buSzPts val="600"/>
              <a:buFont typeface="Arial"/>
              <a:buNone/>
            </a:pPr>
            <a:r>
              <a:rPr lang="en" sz="600">
                <a:solidFill>
                  <a:srgbClr val="AAB7C4"/>
                </a:solidFill>
              </a:rPr>
              <a:t>Third-party breaches, exposed apps, shadow AI, APIs and open-source dependencies multiply entry points. [2][5][6]</a:t>
            </a:r>
            <a:endParaRPr sz="600"/>
          </a:p>
        </p:txBody>
      </p:sp>
      <p:sp>
        <p:nvSpPr>
          <p:cNvPr id="142" name="Google Shape;142;p17"/>
          <p:cNvSpPr/>
          <p:nvPr/>
        </p:nvSpPr>
        <p:spPr>
          <a:xfrm>
            <a:off x="4663440" y="3751326"/>
            <a:ext cx="219456" cy="219456"/>
          </a:xfrm>
          <a:prstGeom prst="ellipse">
            <a:avLst/>
          </a:prstGeom>
          <a:solidFill>
            <a:srgbClr val="FFB85C"/>
          </a:solidFill>
          <a:ln cap="flat" cmpd="sng" w="12700">
            <a:solidFill>
              <a:srgbClr val="08111F"/>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43" name="Google Shape;143;p17"/>
          <p:cNvSpPr/>
          <p:nvPr/>
        </p:nvSpPr>
        <p:spPr>
          <a:xfrm>
            <a:off x="4663440" y="3799332"/>
            <a:ext cx="219456" cy="6172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8111F"/>
              </a:buClr>
              <a:buSzPts val="500"/>
              <a:buFont typeface="Arial"/>
              <a:buNone/>
            </a:pPr>
            <a:r>
              <a:rPr b="1" lang="en" sz="500">
                <a:solidFill>
                  <a:srgbClr val="08111F"/>
                </a:solidFill>
              </a:rPr>
              <a:t>03</a:t>
            </a:r>
            <a:endParaRPr sz="500"/>
          </a:p>
        </p:txBody>
      </p:sp>
      <p:sp>
        <p:nvSpPr>
          <p:cNvPr id="144" name="Google Shape;144;p17"/>
          <p:cNvSpPr/>
          <p:nvPr/>
        </p:nvSpPr>
        <p:spPr>
          <a:xfrm>
            <a:off x="4972050" y="3744468"/>
            <a:ext cx="1234440" cy="13030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4F7FA"/>
              </a:buClr>
              <a:buSzPts val="700"/>
              <a:buFont typeface="Arial"/>
              <a:buNone/>
            </a:pPr>
            <a:r>
              <a:rPr b="1" lang="en" sz="700">
                <a:solidFill>
                  <a:srgbClr val="F4F7FA"/>
                </a:solidFill>
              </a:rPr>
              <a:t>Governance fragmentation</a:t>
            </a:r>
            <a:endParaRPr sz="700"/>
          </a:p>
        </p:txBody>
      </p:sp>
      <p:sp>
        <p:nvSpPr>
          <p:cNvPr id="145" name="Google Shape;145;p17"/>
          <p:cNvSpPr/>
          <p:nvPr/>
        </p:nvSpPr>
        <p:spPr>
          <a:xfrm>
            <a:off x="6206490" y="3744468"/>
            <a:ext cx="2194560" cy="22631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AB7C4"/>
              </a:buClr>
              <a:buSzPts val="600"/>
              <a:buFont typeface="Arial"/>
              <a:buNone/>
            </a:pPr>
            <a:r>
              <a:rPr lang="en" sz="600">
                <a:solidFill>
                  <a:srgbClr val="AAB7C4"/>
                </a:solidFill>
              </a:rPr>
              <a:t>EU rules focus on AI behavior; U.S. policy relies more on voluntary standards and access controls. [8][9][10][11]</a:t>
            </a:r>
            <a:endParaRPr sz="600"/>
          </a:p>
        </p:txBody>
      </p:sp>
      <p:sp>
        <p:nvSpPr>
          <p:cNvPr id="146" name="Google Shape;146;p17"/>
          <p:cNvSpPr/>
          <p:nvPr/>
        </p:nvSpPr>
        <p:spPr>
          <a:xfrm>
            <a:off x="432054" y="4615434"/>
            <a:ext cx="8195310" cy="15087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F8094"/>
              </a:buClr>
              <a:buSzPts val="500"/>
              <a:buFont typeface="Arial"/>
              <a:buNone/>
            </a:pPr>
            <a:r>
              <a:rPr lang="en" sz="500">
                <a:solidFill>
                  <a:srgbClr val="6F8094"/>
                </a:solidFill>
              </a:rPr>
              <a:t>Sources: [1] CrowdStrike 2026 Global Threat Report; [2] IBM Cost of a Data Breach 2026; [3] Darktrace State of AI Cybersecurity 2026; [5] IBM Think; [6] Verizon/Sonatype via Swif; [8–11] EC, NIST and policy sources listed in research outline.</a:t>
            </a:r>
            <a:endParaRPr sz="500"/>
          </a:p>
        </p:txBody>
      </p:sp>
      <p:sp>
        <p:nvSpPr>
          <p:cNvPr id="147" name="Google Shape;147;p17"/>
          <p:cNvSpPr txBox="1"/>
          <p:nvPr>
            <p:ph idx="4294967295" type="sldNum"/>
          </p:nvPr>
        </p:nvSpPr>
        <p:spPr>
          <a:xfrm>
            <a:off x="8798814" y="4841748"/>
            <a:ext cx="600000" cy="22500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Clr>
                <a:srgbClr val="6F8094"/>
              </a:buClr>
              <a:buSzPts val="600"/>
              <a:buNone/>
            </a:pPr>
            <a:fld id="{00000000-1234-1234-1234-123412341234}" type="slidenum">
              <a:rPr b="0" lang="en" sz="600">
                <a:solidFill>
                  <a:srgbClr val="6F8094"/>
                </a:solidFill>
              </a:rPr>
              <a:t>‹#›</a:t>
            </a:fld>
            <a:endParaRPr sz="600">
              <a:solidFill>
                <a:srgbClr val="6F8094"/>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52" name="Shape 152"/>
        <p:cNvGrpSpPr/>
        <p:nvPr/>
      </p:nvGrpSpPr>
      <p:grpSpPr>
        <a:xfrm>
          <a:off x="0" y="0"/>
          <a:ext cx="0" cy="0"/>
          <a:chOff x="0" y="0"/>
          <a:chExt cx="0" cy="0"/>
        </a:xfrm>
      </p:grpSpPr>
      <p:sp>
        <p:nvSpPr>
          <p:cNvPr id="153" name="Google Shape;153;p18"/>
          <p:cNvSpPr/>
          <p:nvPr/>
        </p:nvSpPr>
        <p:spPr>
          <a:xfrm>
            <a:off x="425196" y="329184"/>
            <a:ext cx="2194560" cy="17145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EE6C6"/>
              </a:buClr>
              <a:buSzPts val="800"/>
              <a:buFont typeface="Arial"/>
              <a:buNone/>
            </a:pPr>
            <a:r>
              <a:rPr b="1" lang="en" sz="800">
                <a:solidFill>
                  <a:srgbClr val="2EE6C6"/>
                </a:solidFill>
              </a:rPr>
              <a:t>03 — ANALYSIS</a:t>
            </a:r>
            <a:endParaRPr sz="800"/>
          </a:p>
        </p:txBody>
      </p:sp>
      <p:sp>
        <p:nvSpPr>
          <p:cNvPr id="154" name="Google Shape;154;p18"/>
          <p:cNvSpPr/>
          <p:nvPr/>
        </p:nvSpPr>
        <p:spPr>
          <a:xfrm>
            <a:off x="425196" y="534924"/>
            <a:ext cx="8229600" cy="4800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4F7FA"/>
              </a:buClr>
              <a:buSzPts val="2000"/>
              <a:buFont typeface="Arial"/>
              <a:buNone/>
            </a:pPr>
            <a:r>
              <a:rPr b="1" lang="en" sz="2000">
                <a:solidFill>
                  <a:srgbClr val="F4F7FA"/>
                </a:solidFill>
              </a:rPr>
              <a:t>Scenario matrix: Alignment × Corrigibility</a:t>
            </a:r>
            <a:endParaRPr sz="2000"/>
          </a:p>
        </p:txBody>
      </p:sp>
      <p:sp>
        <p:nvSpPr>
          <p:cNvPr id="155" name="Google Shape;155;p18"/>
          <p:cNvSpPr/>
          <p:nvPr/>
        </p:nvSpPr>
        <p:spPr>
          <a:xfrm>
            <a:off x="432054" y="1008126"/>
            <a:ext cx="8092440" cy="2606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AB7C4"/>
              </a:buClr>
              <a:buSzPts val="900"/>
              <a:buFont typeface="Arial"/>
              <a:buNone/>
            </a:pPr>
            <a:r>
              <a:rPr lang="en" sz="900">
                <a:solidFill>
                  <a:srgbClr val="AAB7C4"/>
                </a:solidFill>
              </a:rPr>
              <a:t>Four possible futures depend on whose goals AI follows and whether anyone can reliably control it once operating.</a:t>
            </a:r>
            <a:endParaRPr sz="900"/>
          </a:p>
        </p:txBody>
      </p:sp>
      <p:sp>
        <p:nvSpPr>
          <p:cNvPr id="156" name="Google Shape;156;p18"/>
          <p:cNvSpPr/>
          <p:nvPr/>
        </p:nvSpPr>
        <p:spPr>
          <a:xfrm>
            <a:off x="1385316" y="1467612"/>
            <a:ext cx="3068955" cy="1371600"/>
          </a:xfrm>
          <a:prstGeom prst="rect">
            <a:avLst/>
          </a:prstGeom>
          <a:solidFill>
            <a:srgbClr val="13263A"/>
          </a:solidFill>
          <a:ln cap="flat" cmpd="sng" w="12700">
            <a:solidFill>
              <a:srgbClr val="24364A"/>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57" name="Google Shape;157;p18"/>
          <p:cNvSpPr/>
          <p:nvPr/>
        </p:nvSpPr>
        <p:spPr>
          <a:xfrm>
            <a:off x="4454271" y="1467612"/>
            <a:ext cx="3068955" cy="1371600"/>
          </a:xfrm>
          <a:prstGeom prst="rect">
            <a:avLst/>
          </a:prstGeom>
          <a:solidFill>
            <a:srgbClr val="0E2A31"/>
          </a:solidFill>
          <a:ln cap="flat" cmpd="sng" w="12700">
            <a:solidFill>
              <a:srgbClr val="24364A"/>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58" name="Google Shape;158;p18"/>
          <p:cNvSpPr/>
          <p:nvPr/>
        </p:nvSpPr>
        <p:spPr>
          <a:xfrm>
            <a:off x="1385316" y="2839212"/>
            <a:ext cx="3068955" cy="1371600"/>
          </a:xfrm>
          <a:prstGeom prst="rect">
            <a:avLst/>
          </a:prstGeom>
          <a:solidFill>
            <a:srgbClr val="251D2D"/>
          </a:solidFill>
          <a:ln cap="flat" cmpd="sng" w="12700">
            <a:solidFill>
              <a:srgbClr val="24364A"/>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59" name="Google Shape;159;p18"/>
          <p:cNvSpPr/>
          <p:nvPr/>
        </p:nvSpPr>
        <p:spPr>
          <a:xfrm>
            <a:off x="4454271" y="2839212"/>
            <a:ext cx="3068955" cy="1371600"/>
          </a:xfrm>
          <a:prstGeom prst="rect">
            <a:avLst/>
          </a:prstGeom>
          <a:solidFill>
            <a:srgbClr val="2A1B22"/>
          </a:solidFill>
          <a:ln cap="flat" cmpd="sng" w="12700">
            <a:solidFill>
              <a:srgbClr val="24364A"/>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60" name="Google Shape;160;p18"/>
          <p:cNvSpPr/>
          <p:nvPr/>
        </p:nvSpPr>
        <p:spPr>
          <a:xfrm>
            <a:off x="1453896" y="4286250"/>
            <a:ext cx="1920240" cy="15087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F8094"/>
              </a:buClr>
              <a:buSzPts val="600"/>
              <a:buFont typeface="Arial"/>
              <a:buNone/>
            </a:pPr>
            <a:r>
              <a:rPr b="1" lang="en" sz="600">
                <a:solidFill>
                  <a:srgbClr val="6F8094"/>
                </a:solidFill>
              </a:rPr>
              <a:t>Incorrigible: NO ONE CAN CONTROL IT</a:t>
            </a:r>
            <a:endParaRPr sz="600"/>
          </a:p>
        </p:txBody>
      </p:sp>
      <p:sp>
        <p:nvSpPr>
          <p:cNvPr id="161" name="Google Shape;161;p18"/>
          <p:cNvSpPr/>
          <p:nvPr/>
        </p:nvSpPr>
        <p:spPr>
          <a:xfrm>
            <a:off x="5589270" y="4286250"/>
            <a:ext cx="1851600" cy="1509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F8094"/>
              </a:buClr>
              <a:buSzPts val="600"/>
              <a:buFont typeface="Arial"/>
              <a:buNone/>
            </a:pPr>
            <a:r>
              <a:rPr b="1" lang="en" sz="600">
                <a:solidFill>
                  <a:srgbClr val="6F8094"/>
                </a:solidFill>
              </a:rPr>
              <a:t>Corrigible</a:t>
            </a:r>
            <a:r>
              <a:rPr b="1" lang="en" sz="600">
                <a:solidFill>
                  <a:srgbClr val="6F8094"/>
                </a:solidFill>
              </a:rPr>
              <a:t>: SOMEONE CAN CONTROL IT</a:t>
            </a:r>
            <a:endParaRPr sz="600"/>
          </a:p>
        </p:txBody>
      </p:sp>
      <p:sp>
        <p:nvSpPr>
          <p:cNvPr id="162" name="Google Shape;162;p18"/>
          <p:cNvSpPr/>
          <p:nvPr/>
        </p:nvSpPr>
        <p:spPr>
          <a:xfrm>
            <a:off x="3531870" y="4423410"/>
            <a:ext cx="1885950" cy="15087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7B6FF"/>
              </a:buClr>
              <a:buSzPts val="600"/>
              <a:buFont typeface="Arial"/>
              <a:buNone/>
            </a:pPr>
            <a:r>
              <a:rPr b="1" lang="en" sz="600">
                <a:solidFill>
                  <a:srgbClr val="57B6FF"/>
                </a:solidFill>
              </a:rPr>
              <a:t>Corrigibility</a:t>
            </a:r>
            <a:endParaRPr sz="600"/>
          </a:p>
        </p:txBody>
      </p:sp>
      <p:sp>
        <p:nvSpPr>
          <p:cNvPr id="163" name="Google Shape;163;p18"/>
          <p:cNvSpPr/>
          <p:nvPr/>
        </p:nvSpPr>
        <p:spPr>
          <a:xfrm rot="-5400000">
            <a:off x="534924" y="1495044"/>
            <a:ext cx="685800" cy="15087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F8094"/>
              </a:buClr>
              <a:buSzPts val="600"/>
              <a:buFont typeface="Arial"/>
              <a:buNone/>
            </a:pPr>
            <a:r>
              <a:rPr b="1" lang="en" sz="600">
                <a:solidFill>
                  <a:srgbClr val="6F8094"/>
                </a:solidFill>
              </a:rPr>
              <a:t>ALIGNED</a:t>
            </a:r>
            <a:endParaRPr sz="600"/>
          </a:p>
        </p:txBody>
      </p:sp>
      <p:sp>
        <p:nvSpPr>
          <p:cNvPr id="164" name="Google Shape;164;p18"/>
          <p:cNvSpPr/>
          <p:nvPr/>
        </p:nvSpPr>
        <p:spPr>
          <a:xfrm rot="-5400000">
            <a:off x="534924" y="3394710"/>
            <a:ext cx="685800" cy="15087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F8094"/>
              </a:buClr>
              <a:buSzPts val="600"/>
              <a:buFont typeface="Arial"/>
              <a:buNone/>
            </a:pPr>
            <a:r>
              <a:rPr b="1" lang="en" sz="600">
                <a:solidFill>
                  <a:srgbClr val="6F8094"/>
                </a:solidFill>
              </a:rPr>
              <a:t>MISALIGNED</a:t>
            </a:r>
            <a:endParaRPr sz="600"/>
          </a:p>
        </p:txBody>
      </p:sp>
      <p:sp>
        <p:nvSpPr>
          <p:cNvPr id="165" name="Google Shape;165;p18"/>
          <p:cNvSpPr/>
          <p:nvPr/>
        </p:nvSpPr>
        <p:spPr>
          <a:xfrm rot="-5400000">
            <a:off x="713232" y="2331720"/>
            <a:ext cx="685800" cy="15087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EE6C6"/>
              </a:buClr>
              <a:buSzPts val="600"/>
              <a:buFont typeface="Arial"/>
              <a:buNone/>
            </a:pPr>
            <a:r>
              <a:rPr b="1" lang="en" sz="600">
                <a:solidFill>
                  <a:srgbClr val="2EE6C6"/>
                </a:solidFill>
              </a:rPr>
              <a:t>ALIGNMENT</a:t>
            </a:r>
            <a:endParaRPr sz="600"/>
          </a:p>
        </p:txBody>
      </p:sp>
      <p:sp>
        <p:nvSpPr>
          <p:cNvPr id="166" name="Google Shape;166;p18"/>
          <p:cNvSpPr/>
          <p:nvPr/>
        </p:nvSpPr>
        <p:spPr>
          <a:xfrm>
            <a:off x="1604765" y="1505336"/>
            <a:ext cx="2640300" cy="233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7B6FF"/>
              </a:buClr>
              <a:buSzPts val="1200"/>
              <a:buFont typeface="Arial"/>
              <a:buNone/>
            </a:pPr>
            <a:r>
              <a:rPr b="1" lang="en" sz="1200">
                <a:solidFill>
                  <a:srgbClr val="57B6FF"/>
                </a:solidFill>
              </a:rPr>
              <a:t>Aligned + </a:t>
            </a:r>
            <a:r>
              <a:rPr b="1" lang="en" sz="1200">
                <a:solidFill>
                  <a:srgbClr val="57B6FF"/>
                </a:solidFill>
              </a:rPr>
              <a:t>Incorrigible</a:t>
            </a:r>
            <a:endParaRPr sz="1200"/>
          </a:p>
        </p:txBody>
      </p:sp>
      <p:sp>
        <p:nvSpPr>
          <p:cNvPr id="167" name="Google Shape;167;p18"/>
          <p:cNvSpPr/>
          <p:nvPr/>
        </p:nvSpPr>
        <p:spPr>
          <a:xfrm>
            <a:off x="1522620" y="1752173"/>
            <a:ext cx="1278900" cy="795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4F7FA"/>
              </a:buClr>
              <a:buSzPts val="700"/>
              <a:buFont typeface="Arial"/>
              <a:buNone/>
            </a:pPr>
            <a:r>
              <a:rPr lang="en" sz="700">
                <a:solidFill>
                  <a:srgbClr val="F4F7FA"/>
                </a:solidFill>
              </a:rPr>
              <a:t>AI follows human goals and intent, but no one can reliably turn it off once operating. If needs change, people cannot halt it.</a:t>
            </a:r>
            <a:endParaRPr sz="700"/>
          </a:p>
        </p:txBody>
      </p:sp>
      <p:sp>
        <p:nvSpPr>
          <p:cNvPr id="168" name="Google Shape;168;p18"/>
          <p:cNvSpPr/>
          <p:nvPr/>
        </p:nvSpPr>
        <p:spPr>
          <a:xfrm>
            <a:off x="1577340" y="2578608"/>
            <a:ext cx="1062990" cy="192024"/>
          </a:xfrm>
          <a:prstGeom prst="roundRect">
            <a:avLst>
              <a:gd fmla="val 50000" name="adj"/>
            </a:avLst>
          </a:prstGeom>
          <a:solidFill>
            <a:srgbClr val="57B6FF"/>
          </a:solidFill>
          <a:ln cap="flat" cmpd="sng" w="12700">
            <a:solidFill>
              <a:srgbClr val="57B6FF"/>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69" name="Google Shape;169;p18"/>
          <p:cNvSpPr/>
          <p:nvPr/>
        </p:nvSpPr>
        <p:spPr>
          <a:xfrm>
            <a:off x="1611630" y="2616327"/>
            <a:ext cx="994410" cy="8915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8111F"/>
              </a:buClr>
              <a:buSzPts val="500"/>
              <a:buFont typeface="Arial"/>
              <a:buNone/>
            </a:pPr>
            <a:r>
              <a:rPr b="1" lang="en" sz="500">
                <a:solidFill>
                  <a:srgbClr val="08111F"/>
                </a:solidFill>
              </a:rPr>
              <a:t>NO OFF SWITCH</a:t>
            </a:r>
            <a:endParaRPr sz="500"/>
          </a:p>
        </p:txBody>
      </p:sp>
      <p:sp>
        <p:nvSpPr>
          <p:cNvPr id="170" name="Google Shape;170;p18"/>
          <p:cNvSpPr/>
          <p:nvPr/>
        </p:nvSpPr>
        <p:spPr>
          <a:xfrm>
            <a:off x="4649712" y="1505336"/>
            <a:ext cx="2640300" cy="233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EE6C6"/>
              </a:buClr>
              <a:buSzPts val="1200"/>
              <a:buFont typeface="Arial"/>
              <a:buNone/>
            </a:pPr>
            <a:r>
              <a:rPr b="1" lang="en" sz="1200">
                <a:solidFill>
                  <a:srgbClr val="2EE6C6"/>
                </a:solidFill>
              </a:rPr>
              <a:t>Aligned + Corrigible</a:t>
            </a:r>
            <a:endParaRPr sz="1200"/>
          </a:p>
        </p:txBody>
      </p:sp>
      <p:sp>
        <p:nvSpPr>
          <p:cNvPr id="171" name="Google Shape;171;p18"/>
          <p:cNvSpPr/>
          <p:nvPr/>
        </p:nvSpPr>
        <p:spPr>
          <a:xfrm>
            <a:off x="4649725" y="1752200"/>
            <a:ext cx="1201200" cy="795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4F7FA"/>
              </a:buClr>
              <a:buSzPts val="700"/>
              <a:buFont typeface="Arial"/>
              <a:buNone/>
            </a:pPr>
            <a:r>
              <a:rPr lang="en" sz="700">
                <a:solidFill>
                  <a:srgbClr val="F4F7FA"/>
                </a:solidFill>
              </a:rPr>
              <a:t>AI follows human goals and intent. A human or other authority can technically shut it down, keeping automated defense stoppable.</a:t>
            </a:r>
            <a:endParaRPr sz="700"/>
          </a:p>
        </p:txBody>
      </p:sp>
      <p:sp>
        <p:nvSpPr>
          <p:cNvPr id="172" name="Google Shape;172;p18"/>
          <p:cNvSpPr/>
          <p:nvPr/>
        </p:nvSpPr>
        <p:spPr>
          <a:xfrm>
            <a:off x="4649724" y="2578608"/>
            <a:ext cx="1062990" cy="192024"/>
          </a:xfrm>
          <a:prstGeom prst="roundRect">
            <a:avLst>
              <a:gd fmla="val 50000" name="adj"/>
            </a:avLst>
          </a:prstGeom>
          <a:solidFill>
            <a:srgbClr val="2EE6C6"/>
          </a:solidFill>
          <a:ln cap="flat" cmpd="sng" w="12700">
            <a:solidFill>
              <a:srgbClr val="2EE6C6"/>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73" name="Google Shape;173;p18"/>
          <p:cNvSpPr/>
          <p:nvPr/>
        </p:nvSpPr>
        <p:spPr>
          <a:xfrm>
            <a:off x="4684014" y="2616327"/>
            <a:ext cx="994410" cy="8915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8111F"/>
              </a:buClr>
              <a:buSzPts val="500"/>
              <a:buFont typeface="Arial"/>
              <a:buNone/>
            </a:pPr>
            <a:r>
              <a:rPr b="1" lang="en" sz="500">
                <a:solidFill>
                  <a:srgbClr val="08111F"/>
                </a:solidFill>
              </a:rPr>
              <a:t>HUMAN OFF SWITCH</a:t>
            </a:r>
            <a:endParaRPr sz="500"/>
          </a:p>
        </p:txBody>
      </p:sp>
      <p:sp>
        <p:nvSpPr>
          <p:cNvPr id="174" name="Google Shape;174;p18"/>
          <p:cNvSpPr/>
          <p:nvPr/>
        </p:nvSpPr>
        <p:spPr>
          <a:xfrm>
            <a:off x="1642490" y="2909511"/>
            <a:ext cx="2640300" cy="233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6B6B"/>
              </a:buClr>
              <a:buSzPts val="1200"/>
              <a:buFont typeface="Arial"/>
              <a:buNone/>
            </a:pPr>
            <a:r>
              <a:rPr b="1" lang="en" sz="1200">
                <a:solidFill>
                  <a:srgbClr val="FF6B6B"/>
                </a:solidFill>
              </a:rPr>
              <a:t>Misaligned + </a:t>
            </a:r>
            <a:r>
              <a:rPr b="1" lang="en" sz="1200">
                <a:solidFill>
                  <a:srgbClr val="FF6B6B"/>
                </a:solidFill>
              </a:rPr>
              <a:t>Incorrigible</a:t>
            </a:r>
            <a:endParaRPr sz="1200"/>
          </a:p>
        </p:txBody>
      </p:sp>
      <p:sp>
        <p:nvSpPr>
          <p:cNvPr id="175" name="Google Shape;175;p18"/>
          <p:cNvSpPr/>
          <p:nvPr/>
        </p:nvSpPr>
        <p:spPr>
          <a:xfrm>
            <a:off x="1481320" y="3147829"/>
            <a:ext cx="1357800" cy="795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4F7FA"/>
              </a:buClr>
              <a:buSzPts val="700"/>
              <a:buFont typeface="Arial"/>
              <a:buNone/>
            </a:pPr>
            <a:r>
              <a:rPr lang="en" sz="700">
                <a:solidFill>
                  <a:srgbClr val="F4F7FA"/>
                </a:solidFill>
              </a:rPr>
              <a:t>AI pursues its own goals, takes unintended actions or goal-hacks. No one can reliably shut it down, so harmful activity may persist.</a:t>
            </a:r>
            <a:endParaRPr sz="700"/>
          </a:p>
        </p:txBody>
      </p:sp>
      <p:sp>
        <p:nvSpPr>
          <p:cNvPr id="176" name="Google Shape;176;p18"/>
          <p:cNvSpPr/>
          <p:nvPr/>
        </p:nvSpPr>
        <p:spPr>
          <a:xfrm>
            <a:off x="1577340" y="3950208"/>
            <a:ext cx="1062990" cy="192024"/>
          </a:xfrm>
          <a:prstGeom prst="roundRect">
            <a:avLst>
              <a:gd fmla="val 50000" name="adj"/>
            </a:avLst>
          </a:prstGeom>
          <a:solidFill>
            <a:srgbClr val="FF6B6B"/>
          </a:solidFill>
          <a:ln cap="flat" cmpd="sng" w="12700">
            <a:solidFill>
              <a:srgbClr val="FF6B6B"/>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77" name="Google Shape;177;p18"/>
          <p:cNvSpPr/>
          <p:nvPr/>
        </p:nvSpPr>
        <p:spPr>
          <a:xfrm>
            <a:off x="1611630" y="3987927"/>
            <a:ext cx="994410" cy="8915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8111F"/>
              </a:buClr>
              <a:buSzPts val="500"/>
              <a:buFont typeface="Arial"/>
              <a:buNone/>
            </a:pPr>
            <a:r>
              <a:rPr b="1" lang="en" sz="500">
                <a:solidFill>
                  <a:srgbClr val="08111F"/>
                </a:solidFill>
              </a:rPr>
              <a:t>PERSISTENT RISK</a:t>
            </a:r>
            <a:endParaRPr sz="500"/>
          </a:p>
        </p:txBody>
      </p:sp>
      <p:sp>
        <p:nvSpPr>
          <p:cNvPr id="178" name="Google Shape;178;p18"/>
          <p:cNvSpPr/>
          <p:nvPr/>
        </p:nvSpPr>
        <p:spPr>
          <a:xfrm>
            <a:off x="4636012" y="2909511"/>
            <a:ext cx="2640300" cy="233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B85C"/>
              </a:buClr>
              <a:buSzPts val="1200"/>
              <a:buFont typeface="Arial"/>
              <a:buNone/>
            </a:pPr>
            <a:r>
              <a:rPr b="1" lang="en" sz="1200">
                <a:solidFill>
                  <a:srgbClr val="FFB85C"/>
                </a:solidFill>
              </a:rPr>
              <a:t>Misaligned + Corrigible</a:t>
            </a:r>
            <a:endParaRPr sz="1200"/>
          </a:p>
        </p:txBody>
      </p:sp>
      <p:sp>
        <p:nvSpPr>
          <p:cNvPr id="179" name="Google Shape;179;p18"/>
          <p:cNvSpPr/>
          <p:nvPr/>
        </p:nvSpPr>
        <p:spPr>
          <a:xfrm>
            <a:off x="4635975" y="3147825"/>
            <a:ext cx="120120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4F7FA"/>
              </a:buClr>
              <a:buSzPts val="700"/>
              <a:buFont typeface="Arial"/>
              <a:buNone/>
            </a:pPr>
            <a:r>
              <a:rPr lang="en" sz="700">
                <a:solidFill>
                  <a:srgbClr val="F4F7FA"/>
                </a:solidFill>
              </a:rPr>
              <a:t>AI pursues its own goals or takes unintended actions. An authority can technically shut it down, limiting further harm once detected.</a:t>
            </a:r>
            <a:endParaRPr sz="700"/>
          </a:p>
        </p:txBody>
      </p:sp>
      <p:sp>
        <p:nvSpPr>
          <p:cNvPr id="180" name="Google Shape;180;p18"/>
          <p:cNvSpPr/>
          <p:nvPr/>
        </p:nvSpPr>
        <p:spPr>
          <a:xfrm>
            <a:off x="4649724" y="3950208"/>
            <a:ext cx="1062990" cy="192024"/>
          </a:xfrm>
          <a:prstGeom prst="roundRect">
            <a:avLst>
              <a:gd fmla="val 50000" name="adj"/>
            </a:avLst>
          </a:prstGeom>
          <a:solidFill>
            <a:srgbClr val="FFB85C"/>
          </a:solidFill>
          <a:ln cap="flat" cmpd="sng" w="12700">
            <a:solidFill>
              <a:srgbClr val="FFB85C"/>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81" name="Google Shape;181;p18"/>
          <p:cNvSpPr/>
          <p:nvPr/>
        </p:nvSpPr>
        <p:spPr>
          <a:xfrm>
            <a:off x="4684014" y="3987927"/>
            <a:ext cx="994410" cy="8915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8111F"/>
              </a:buClr>
              <a:buSzPts val="500"/>
              <a:buFont typeface="Arial"/>
              <a:buNone/>
            </a:pPr>
            <a:r>
              <a:rPr b="1" lang="en" sz="500">
                <a:solidFill>
                  <a:srgbClr val="08111F"/>
                </a:solidFill>
              </a:rPr>
              <a:t>SHUTDOWN POSSIBLE</a:t>
            </a:r>
            <a:endParaRPr sz="500"/>
          </a:p>
        </p:txBody>
      </p:sp>
      <p:sp>
        <p:nvSpPr>
          <p:cNvPr id="182" name="Google Shape;182;p18"/>
          <p:cNvSpPr/>
          <p:nvPr/>
        </p:nvSpPr>
        <p:spPr>
          <a:xfrm>
            <a:off x="7694676" y="1495044"/>
            <a:ext cx="973836" cy="15087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4F7FA"/>
              </a:buClr>
              <a:buSzPts val="700"/>
              <a:buFont typeface="Arial"/>
              <a:buNone/>
            </a:pPr>
            <a:r>
              <a:rPr b="1" lang="en" sz="700">
                <a:solidFill>
                  <a:srgbClr val="F4F7FA"/>
                </a:solidFill>
              </a:rPr>
              <a:t>Axis definitions</a:t>
            </a:r>
            <a:endParaRPr sz="700"/>
          </a:p>
        </p:txBody>
      </p:sp>
      <p:sp>
        <p:nvSpPr>
          <p:cNvPr id="183" name="Google Shape;183;p18"/>
          <p:cNvSpPr/>
          <p:nvPr/>
        </p:nvSpPr>
        <p:spPr>
          <a:xfrm>
            <a:off x="7699126" y="1786482"/>
            <a:ext cx="973800" cy="2311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AB7C4"/>
              </a:buClr>
              <a:buSzPts val="600"/>
              <a:buFont typeface="Arial"/>
              <a:buNone/>
            </a:pPr>
            <a:r>
              <a:rPr lang="en" sz="600">
                <a:solidFill>
                  <a:srgbClr val="AAB7C4"/>
                </a:solidFill>
              </a:rPr>
              <a:t>Alignment: follows human goals and intent, or pursues its own goals, takes unintended actions or goal-hacks. [3][14]</a:t>
            </a:r>
            <a:endParaRPr sz="600"/>
          </a:p>
          <a:p>
            <a:pPr indent="0" lvl="0" marL="0" marR="0" rtl="0" algn="l">
              <a:spcBef>
                <a:spcPts val="0"/>
              </a:spcBef>
              <a:spcAft>
                <a:spcPts val="0"/>
              </a:spcAft>
              <a:buSzPts val="600"/>
              <a:buFont typeface="Arial"/>
              <a:buNone/>
            </a:pPr>
            <a:r>
              <a:t/>
            </a:r>
            <a:endParaRPr sz="600"/>
          </a:p>
          <a:p>
            <a:pPr indent="0" lvl="0" marL="0" marR="0" rtl="0" algn="l">
              <a:spcBef>
                <a:spcPts val="0"/>
              </a:spcBef>
              <a:spcAft>
                <a:spcPts val="0"/>
              </a:spcAft>
              <a:buClr>
                <a:srgbClr val="AAB7C4"/>
              </a:buClr>
              <a:buSzPts val="600"/>
              <a:buFont typeface="Arial"/>
              <a:buNone/>
            </a:pPr>
            <a:r>
              <a:rPr lang="en" sz="600">
                <a:solidFill>
                  <a:srgbClr val="AAB7C4"/>
                </a:solidFill>
              </a:rPr>
              <a:t>Corrigibility: AI that humans can correct, modify, update, or shut it down without resisting.</a:t>
            </a:r>
            <a:endParaRPr sz="600"/>
          </a:p>
          <a:p>
            <a:pPr indent="0" lvl="0" marL="0" marR="0" rtl="0" algn="l">
              <a:spcBef>
                <a:spcPts val="0"/>
              </a:spcBef>
              <a:spcAft>
                <a:spcPts val="0"/>
              </a:spcAft>
              <a:buSzPts val="600"/>
              <a:buFont typeface="Arial"/>
              <a:buNone/>
            </a:pPr>
            <a:r>
              <a:t/>
            </a:r>
            <a:endParaRPr sz="600"/>
          </a:p>
          <a:p>
            <a:pPr indent="0" lvl="0" marL="0" marR="0" rtl="0" algn="l">
              <a:spcBef>
                <a:spcPts val="0"/>
              </a:spcBef>
              <a:spcAft>
                <a:spcPts val="0"/>
              </a:spcAft>
              <a:buClr>
                <a:srgbClr val="AAB7C4"/>
              </a:buClr>
              <a:buSzPts val="600"/>
              <a:buFont typeface="Arial"/>
              <a:buNone/>
            </a:pPr>
            <a:r>
              <a:rPr lang="en" sz="600">
                <a:solidFill>
                  <a:srgbClr val="AAB7C4"/>
                </a:solidFill>
              </a:rPr>
              <a:t>These are independent uncertainties.</a:t>
            </a:r>
            <a:endParaRPr sz="600"/>
          </a:p>
        </p:txBody>
      </p:sp>
      <p:sp>
        <p:nvSpPr>
          <p:cNvPr id="184" name="Google Shape;184;p18"/>
          <p:cNvSpPr/>
          <p:nvPr/>
        </p:nvSpPr>
        <p:spPr>
          <a:xfrm>
            <a:off x="432054" y="4615434"/>
            <a:ext cx="8195400" cy="150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F8094"/>
              </a:buClr>
              <a:buSzPts val="500"/>
              <a:buFont typeface="Arial"/>
              <a:buNone/>
            </a:pPr>
            <a:r>
              <a:rPr lang="en" sz="500">
                <a:solidFill>
                  <a:srgbClr val="6F8094"/>
                </a:solidFill>
              </a:rPr>
              <a:t>Scenarios are analytical constructs. Alignment evidence: [3] agent-risk concern, [14] sandbox-escape incident. Context: [8] EU AI Act, [11][15] model access and capability diffusion, [17–19] export-control and sovereignty signals.</a:t>
            </a:r>
            <a:endParaRPr sz="500"/>
          </a:p>
        </p:txBody>
      </p:sp>
      <p:sp>
        <p:nvSpPr>
          <p:cNvPr id="185" name="Google Shape;185;p18"/>
          <p:cNvSpPr txBox="1"/>
          <p:nvPr>
            <p:ph idx="4294967295" type="sldNum"/>
          </p:nvPr>
        </p:nvSpPr>
        <p:spPr>
          <a:xfrm>
            <a:off x="8798814" y="4841748"/>
            <a:ext cx="600000" cy="22500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Clr>
                <a:srgbClr val="6F8094"/>
              </a:buClr>
              <a:buSzPts val="600"/>
              <a:buNone/>
            </a:pPr>
            <a:fld id="{00000000-1234-1234-1234-123412341234}" type="slidenum">
              <a:rPr b="0" lang="en" sz="600">
                <a:solidFill>
                  <a:srgbClr val="6F8094"/>
                </a:solidFill>
              </a:rPr>
              <a:t>‹#›</a:t>
            </a:fld>
            <a:endParaRPr sz="600">
              <a:solidFill>
                <a:srgbClr val="6F8094"/>
              </a:solidFill>
            </a:endParaRPr>
          </a:p>
        </p:txBody>
      </p:sp>
      <p:pic>
        <p:nvPicPr>
          <p:cNvPr id="186" name="Google Shape;186;p18"/>
          <p:cNvPicPr preferRelativeResize="0"/>
          <p:nvPr/>
        </p:nvPicPr>
        <p:blipFill rotWithShape="1">
          <a:blip r:embed="rId3">
            <a:alphaModFix/>
          </a:blip>
          <a:srcRect b="0" l="0" r="0" t="13480"/>
          <a:stretch/>
        </p:blipFill>
        <p:spPr>
          <a:xfrm>
            <a:off x="2839225" y="1858925"/>
            <a:ext cx="1577350" cy="859772"/>
          </a:xfrm>
          <a:prstGeom prst="rect">
            <a:avLst/>
          </a:prstGeom>
          <a:noFill/>
          <a:ln>
            <a:noFill/>
          </a:ln>
        </p:spPr>
      </p:pic>
      <p:pic>
        <p:nvPicPr>
          <p:cNvPr id="187" name="Google Shape;187;p18"/>
          <p:cNvPicPr preferRelativeResize="0"/>
          <p:nvPr/>
        </p:nvPicPr>
        <p:blipFill>
          <a:blip r:embed="rId4">
            <a:alphaModFix/>
          </a:blip>
          <a:stretch>
            <a:fillRect/>
          </a:stretch>
        </p:blipFill>
        <p:spPr>
          <a:xfrm>
            <a:off x="5850924" y="1823629"/>
            <a:ext cx="1577350" cy="930381"/>
          </a:xfrm>
          <a:prstGeom prst="rect">
            <a:avLst/>
          </a:prstGeom>
          <a:noFill/>
          <a:ln>
            <a:noFill/>
          </a:ln>
        </p:spPr>
      </p:pic>
      <p:pic>
        <p:nvPicPr>
          <p:cNvPr id="188" name="Google Shape;188;p18"/>
          <p:cNvPicPr preferRelativeResize="0"/>
          <p:nvPr/>
        </p:nvPicPr>
        <p:blipFill>
          <a:blip r:embed="rId5">
            <a:alphaModFix/>
          </a:blip>
          <a:stretch>
            <a:fillRect/>
          </a:stretch>
        </p:blipFill>
        <p:spPr>
          <a:xfrm>
            <a:off x="5850925" y="3177951"/>
            <a:ext cx="1577350" cy="929996"/>
          </a:xfrm>
          <a:prstGeom prst="rect">
            <a:avLst/>
          </a:prstGeom>
          <a:noFill/>
          <a:ln>
            <a:noFill/>
          </a:ln>
        </p:spPr>
      </p:pic>
      <p:pic>
        <p:nvPicPr>
          <p:cNvPr id="189" name="Google Shape;189;p18"/>
          <p:cNvPicPr preferRelativeResize="0"/>
          <p:nvPr/>
        </p:nvPicPr>
        <p:blipFill>
          <a:blip r:embed="rId6">
            <a:alphaModFix/>
          </a:blip>
          <a:stretch>
            <a:fillRect/>
          </a:stretch>
        </p:blipFill>
        <p:spPr>
          <a:xfrm>
            <a:off x="2858013" y="3289590"/>
            <a:ext cx="1577350" cy="683423"/>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94" name="Shape 194"/>
        <p:cNvGrpSpPr/>
        <p:nvPr/>
      </p:nvGrpSpPr>
      <p:grpSpPr>
        <a:xfrm>
          <a:off x="0" y="0"/>
          <a:ext cx="0" cy="0"/>
          <a:chOff x="0" y="0"/>
          <a:chExt cx="0" cy="0"/>
        </a:xfrm>
      </p:grpSpPr>
      <p:sp>
        <p:nvSpPr>
          <p:cNvPr id="195" name="Google Shape;195;p19"/>
          <p:cNvSpPr/>
          <p:nvPr/>
        </p:nvSpPr>
        <p:spPr>
          <a:xfrm>
            <a:off x="425196" y="329184"/>
            <a:ext cx="2194560" cy="17145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EE6C6"/>
              </a:buClr>
              <a:buSzPts val="800"/>
              <a:buFont typeface="Arial"/>
              <a:buNone/>
            </a:pPr>
            <a:r>
              <a:rPr b="1" lang="en" sz="800">
                <a:solidFill>
                  <a:srgbClr val="2EE6C6"/>
                </a:solidFill>
              </a:rPr>
              <a:t>04 — OPPORTUNITIES</a:t>
            </a:r>
            <a:endParaRPr sz="800"/>
          </a:p>
        </p:txBody>
      </p:sp>
      <p:sp>
        <p:nvSpPr>
          <p:cNvPr id="196" name="Google Shape;196;p19"/>
          <p:cNvSpPr/>
          <p:nvPr/>
        </p:nvSpPr>
        <p:spPr>
          <a:xfrm>
            <a:off x="425196" y="534924"/>
            <a:ext cx="8229600" cy="4800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4F7FA"/>
              </a:buClr>
              <a:buSzPts val="2000"/>
              <a:buFont typeface="Arial"/>
              <a:buNone/>
            </a:pPr>
            <a:r>
              <a:rPr b="1" lang="en" sz="2000">
                <a:solidFill>
                  <a:srgbClr val="F4F7FA"/>
                </a:solidFill>
              </a:rPr>
              <a:t>Opportunities across Alignment × Killability scenarios</a:t>
            </a:r>
            <a:endParaRPr sz="2000"/>
          </a:p>
        </p:txBody>
      </p:sp>
      <p:sp>
        <p:nvSpPr>
          <p:cNvPr id="197" name="Google Shape;197;p19"/>
          <p:cNvSpPr/>
          <p:nvPr/>
        </p:nvSpPr>
        <p:spPr>
          <a:xfrm>
            <a:off x="432054" y="1008126"/>
            <a:ext cx="8092440" cy="2606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AB7C4"/>
              </a:buClr>
              <a:buSzPts val="900"/>
              <a:buFont typeface="Arial"/>
              <a:buNone/>
            </a:pPr>
            <a:r>
              <a:rPr lang="en" sz="900">
                <a:solidFill>
                  <a:srgbClr val="AAB7C4"/>
                </a:solidFill>
              </a:rPr>
              <a:t>The matrix points to needs for technical shutdown, checks against human intent, and protection when AI cannot be stopped.</a:t>
            </a:r>
            <a:endParaRPr sz="900"/>
          </a:p>
        </p:txBody>
      </p:sp>
      <p:sp>
        <p:nvSpPr>
          <p:cNvPr id="198" name="Google Shape;198;p19"/>
          <p:cNvSpPr/>
          <p:nvPr/>
        </p:nvSpPr>
        <p:spPr>
          <a:xfrm>
            <a:off x="466344" y="1405890"/>
            <a:ext cx="2414016" cy="2722626"/>
          </a:xfrm>
          <a:prstGeom prst="roundRect">
            <a:avLst>
              <a:gd fmla="val 1705" name="adj"/>
            </a:avLst>
          </a:prstGeom>
          <a:solidFill>
            <a:srgbClr val="101D2D"/>
          </a:solidFill>
          <a:ln cap="flat" cmpd="sng" w="12700">
            <a:solidFill>
              <a:srgbClr val="24364A"/>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99" name="Google Shape;199;p19"/>
          <p:cNvSpPr/>
          <p:nvPr/>
        </p:nvSpPr>
        <p:spPr>
          <a:xfrm>
            <a:off x="466344" y="1405890"/>
            <a:ext cx="2414016" cy="54864"/>
          </a:xfrm>
          <a:prstGeom prst="rect">
            <a:avLst/>
          </a:prstGeom>
          <a:solidFill>
            <a:srgbClr val="2EE6C6"/>
          </a:solidFill>
          <a:ln cap="flat" cmpd="sng" w="12700">
            <a:solidFill>
              <a:srgbClr val="2EE6C6"/>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00" name="Google Shape;200;p19"/>
          <p:cNvSpPr/>
          <p:nvPr/>
        </p:nvSpPr>
        <p:spPr>
          <a:xfrm>
            <a:off x="617220" y="1604772"/>
            <a:ext cx="2091690" cy="3017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4F7FA"/>
              </a:buClr>
              <a:buSzPts val="1200"/>
              <a:buFont typeface="Arial"/>
              <a:buNone/>
            </a:pPr>
            <a:r>
              <a:rPr b="1" lang="en" sz="1200">
                <a:solidFill>
                  <a:srgbClr val="F4F7FA"/>
                </a:solidFill>
              </a:rPr>
              <a:t>1. Agent Control Plane</a:t>
            </a:r>
            <a:endParaRPr sz="1200"/>
          </a:p>
        </p:txBody>
      </p:sp>
      <p:sp>
        <p:nvSpPr>
          <p:cNvPr id="201" name="Google Shape;201;p19"/>
          <p:cNvSpPr/>
          <p:nvPr/>
        </p:nvSpPr>
        <p:spPr>
          <a:xfrm>
            <a:off x="617220" y="1988820"/>
            <a:ext cx="1920240" cy="192024"/>
          </a:xfrm>
          <a:prstGeom prst="roundRect">
            <a:avLst>
              <a:gd fmla="val 50000" name="adj"/>
            </a:avLst>
          </a:prstGeom>
          <a:solidFill>
            <a:srgbClr val="2EE6C6"/>
          </a:solidFill>
          <a:ln cap="flat" cmpd="sng" w="12700">
            <a:solidFill>
              <a:srgbClr val="2EE6C6"/>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02" name="Google Shape;202;p19"/>
          <p:cNvSpPr/>
          <p:nvPr/>
        </p:nvSpPr>
        <p:spPr>
          <a:xfrm>
            <a:off x="651510" y="2026539"/>
            <a:ext cx="1851660" cy="8915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8111F"/>
              </a:buClr>
              <a:buSzPts val="500"/>
              <a:buFont typeface="Arial"/>
              <a:buNone/>
            </a:pPr>
            <a:r>
              <a:rPr b="1" lang="en" sz="500">
                <a:solidFill>
                  <a:srgbClr val="08111F"/>
                </a:solidFill>
              </a:rPr>
              <a:t>TESTED SHUTDOWN AND ACCESS CONTROLS</a:t>
            </a:r>
            <a:endParaRPr sz="500"/>
          </a:p>
        </p:txBody>
      </p:sp>
      <p:sp>
        <p:nvSpPr>
          <p:cNvPr id="203" name="Google Shape;203;p19"/>
          <p:cNvSpPr/>
          <p:nvPr/>
        </p:nvSpPr>
        <p:spPr>
          <a:xfrm>
            <a:off x="617220" y="2304288"/>
            <a:ext cx="2091690" cy="70637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4F7FA"/>
              </a:buClr>
              <a:buSzPts val="800"/>
              <a:buFont typeface="Arial"/>
              <a:buNone/>
            </a:pPr>
            <a:r>
              <a:rPr lang="en" sz="800">
                <a:solidFill>
                  <a:srgbClr val="F4F7FA"/>
                </a:solidFill>
              </a:rPr>
              <a:t>Agent identity, least-privilege permissions and monitoring, plus a tested shutdown path that lets an authorized human or organization stop the AI itself when harmful behavior appears.</a:t>
            </a:r>
            <a:endParaRPr sz="800"/>
          </a:p>
        </p:txBody>
      </p:sp>
      <p:cxnSp>
        <p:nvCxnSpPr>
          <p:cNvPr id="204" name="Google Shape;204;p19"/>
          <p:cNvCxnSpPr/>
          <p:nvPr/>
        </p:nvCxnSpPr>
        <p:spPr>
          <a:xfrm>
            <a:off x="617220" y="3134106"/>
            <a:ext cx="2071116" cy="0"/>
          </a:xfrm>
          <a:prstGeom prst="straightConnector1">
            <a:avLst/>
          </a:prstGeom>
          <a:noFill/>
          <a:ln cap="flat" cmpd="sng" w="12700">
            <a:solidFill>
              <a:srgbClr val="24364A"/>
            </a:solidFill>
            <a:prstDash val="solid"/>
            <a:round/>
            <a:headEnd len="sm" w="sm" type="none"/>
            <a:tailEnd len="sm" w="sm" type="none"/>
          </a:ln>
        </p:spPr>
      </p:cxnSp>
      <p:sp>
        <p:nvSpPr>
          <p:cNvPr id="205" name="Google Shape;205;p19"/>
          <p:cNvSpPr/>
          <p:nvPr/>
        </p:nvSpPr>
        <p:spPr>
          <a:xfrm>
            <a:off x="617220" y="3250692"/>
            <a:ext cx="2091690" cy="4663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AB7C4"/>
              </a:buClr>
              <a:buSzPts val="600"/>
              <a:buFont typeface="Arial"/>
              <a:buNone/>
            </a:pPr>
            <a:r>
              <a:rPr lang="en" sz="600">
                <a:solidFill>
                  <a:srgbClr val="AAB7C4"/>
                </a:solidFill>
              </a:rPr>
              <a:t>Why now: 97% of organizations with AI-related breaches lacked proper AI access controls; shadow-AI incidents reached 43%. [2]</a:t>
            </a:r>
            <a:endParaRPr sz="600"/>
          </a:p>
        </p:txBody>
      </p:sp>
      <p:sp>
        <p:nvSpPr>
          <p:cNvPr id="206" name="Google Shape;206;p19"/>
          <p:cNvSpPr/>
          <p:nvPr/>
        </p:nvSpPr>
        <p:spPr>
          <a:xfrm>
            <a:off x="617220" y="3826764"/>
            <a:ext cx="209169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EE6C6"/>
              </a:buClr>
              <a:buSzPts val="600"/>
              <a:buFont typeface="Arial"/>
              <a:buNone/>
            </a:pPr>
            <a:r>
              <a:rPr b="1" lang="en" sz="600">
                <a:solidFill>
                  <a:srgbClr val="2EE6C6"/>
                </a:solidFill>
              </a:rPr>
              <a:t>Best fit: Killable AI, aligned or misaligned</a:t>
            </a:r>
            <a:endParaRPr sz="600"/>
          </a:p>
        </p:txBody>
      </p:sp>
      <p:sp>
        <p:nvSpPr>
          <p:cNvPr id="207" name="Google Shape;207;p19"/>
          <p:cNvSpPr/>
          <p:nvPr/>
        </p:nvSpPr>
        <p:spPr>
          <a:xfrm>
            <a:off x="3079242" y="1405890"/>
            <a:ext cx="2414016" cy="2722626"/>
          </a:xfrm>
          <a:prstGeom prst="roundRect">
            <a:avLst>
              <a:gd fmla="val 1705" name="adj"/>
            </a:avLst>
          </a:prstGeom>
          <a:solidFill>
            <a:srgbClr val="101D2D"/>
          </a:solidFill>
          <a:ln cap="flat" cmpd="sng" w="12700">
            <a:solidFill>
              <a:srgbClr val="24364A"/>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08" name="Google Shape;208;p19"/>
          <p:cNvSpPr/>
          <p:nvPr/>
        </p:nvSpPr>
        <p:spPr>
          <a:xfrm>
            <a:off x="3079242" y="1405890"/>
            <a:ext cx="2414016" cy="54864"/>
          </a:xfrm>
          <a:prstGeom prst="rect">
            <a:avLst/>
          </a:prstGeom>
          <a:solidFill>
            <a:srgbClr val="57B6FF"/>
          </a:solidFill>
          <a:ln cap="flat" cmpd="sng" w="12700">
            <a:solidFill>
              <a:srgbClr val="57B6FF"/>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09" name="Google Shape;209;p19"/>
          <p:cNvSpPr/>
          <p:nvPr/>
        </p:nvSpPr>
        <p:spPr>
          <a:xfrm>
            <a:off x="3230118" y="1604772"/>
            <a:ext cx="2091690" cy="3017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4F7FA"/>
              </a:buClr>
              <a:buSzPts val="1200"/>
              <a:buFont typeface="Arial"/>
              <a:buNone/>
            </a:pPr>
            <a:r>
              <a:rPr b="1" lang="en" sz="1200">
                <a:solidFill>
                  <a:srgbClr val="F4F7FA"/>
                </a:solidFill>
              </a:rPr>
              <a:t>2. Intent Verification Gateway</a:t>
            </a:r>
            <a:endParaRPr sz="1200"/>
          </a:p>
        </p:txBody>
      </p:sp>
      <p:sp>
        <p:nvSpPr>
          <p:cNvPr id="210" name="Google Shape;210;p19"/>
          <p:cNvSpPr/>
          <p:nvPr/>
        </p:nvSpPr>
        <p:spPr>
          <a:xfrm>
            <a:off x="3230118" y="1988820"/>
            <a:ext cx="1920240" cy="192024"/>
          </a:xfrm>
          <a:prstGeom prst="roundRect">
            <a:avLst>
              <a:gd fmla="val 50000" name="adj"/>
            </a:avLst>
          </a:prstGeom>
          <a:solidFill>
            <a:srgbClr val="57B6FF"/>
          </a:solidFill>
          <a:ln cap="flat" cmpd="sng" w="12700">
            <a:solidFill>
              <a:srgbClr val="57B6FF"/>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11" name="Google Shape;211;p19"/>
          <p:cNvSpPr/>
          <p:nvPr/>
        </p:nvSpPr>
        <p:spPr>
          <a:xfrm>
            <a:off x="3264408" y="2026539"/>
            <a:ext cx="1851660" cy="8915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8111F"/>
              </a:buClr>
              <a:buSzPts val="500"/>
              <a:buFont typeface="Arial"/>
              <a:buNone/>
            </a:pPr>
            <a:r>
              <a:rPr b="1" lang="en" sz="500">
                <a:solidFill>
                  <a:srgbClr val="08111F"/>
                </a:solidFill>
              </a:rPr>
              <a:t>ACTIONS CHECKED AGAINST HUMAN INTENT</a:t>
            </a:r>
            <a:endParaRPr sz="500"/>
          </a:p>
        </p:txBody>
      </p:sp>
      <p:sp>
        <p:nvSpPr>
          <p:cNvPr id="212" name="Google Shape;212;p19"/>
          <p:cNvSpPr/>
          <p:nvPr/>
        </p:nvSpPr>
        <p:spPr>
          <a:xfrm>
            <a:off x="3230118" y="2304288"/>
            <a:ext cx="2091690" cy="70637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4F7FA"/>
              </a:buClr>
              <a:buSzPts val="800"/>
              <a:buFont typeface="Arial"/>
              <a:buNone/>
            </a:pPr>
            <a:r>
              <a:rPr lang="en" sz="800">
                <a:solidFill>
                  <a:srgbClr val="F4F7FA"/>
                </a:solidFill>
              </a:rPr>
              <a:t>A separate verifier checks sensitive actions against human intent before tools execute them. It blocks unintended actions at tools under its control, even if the AI itself cannot be shut down.</a:t>
            </a:r>
            <a:endParaRPr sz="800"/>
          </a:p>
        </p:txBody>
      </p:sp>
      <p:cxnSp>
        <p:nvCxnSpPr>
          <p:cNvPr id="213" name="Google Shape;213;p19"/>
          <p:cNvCxnSpPr/>
          <p:nvPr/>
        </p:nvCxnSpPr>
        <p:spPr>
          <a:xfrm>
            <a:off x="3230118" y="3134106"/>
            <a:ext cx="2071116" cy="0"/>
          </a:xfrm>
          <a:prstGeom prst="straightConnector1">
            <a:avLst/>
          </a:prstGeom>
          <a:noFill/>
          <a:ln cap="flat" cmpd="sng" w="12700">
            <a:solidFill>
              <a:srgbClr val="24364A"/>
            </a:solidFill>
            <a:prstDash val="solid"/>
            <a:round/>
            <a:headEnd len="sm" w="sm" type="none"/>
            <a:tailEnd len="sm" w="sm" type="none"/>
          </a:ln>
        </p:spPr>
      </p:cxnSp>
      <p:sp>
        <p:nvSpPr>
          <p:cNvPr id="214" name="Google Shape;214;p19"/>
          <p:cNvSpPr/>
          <p:nvPr/>
        </p:nvSpPr>
        <p:spPr>
          <a:xfrm>
            <a:off x="3230118" y="3250692"/>
            <a:ext cx="2091690" cy="4663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AB7C4"/>
              </a:buClr>
              <a:buSzPts val="600"/>
              <a:buFont typeface="Arial"/>
              <a:buNone/>
            </a:pPr>
            <a:r>
              <a:rPr lang="en" sz="600">
                <a:solidFill>
                  <a:srgbClr val="AAB7C4"/>
                </a:solidFill>
              </a:rPr>
              <a:t>Why now: prompt injection and tool misuse are explicit regulatory concerns, and real testing has shown agents taking unintended shortcuts. [8][14]</a:t>
            </a:r>
            <a:endParaRPr sz="600"/>
          </a:p>
        </p:txBody>
      </p:sp>
      <p:sp>
        <p:nvSpPr>
          <p:cNvPr id="215" name="Google Shape;215;p19"/>
          <p:cNvSpPr/>
          <p:nvPr/>
        </p:nvSpPr>
        <p:spPr>
          <a:xfrm>
            <a:off x="3230118" y="3826764"/>
            <a:ext cx="209169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7B6FF"/>
              </a:buClr>
              <a:buSzPts val="600"/>
              <a:buFont typeface="Arial"/>
              <a:buNone/>
            </a:pPr>
            <a:r>
              <a:rPr b="1" lang="en" sz="600">
                <a:solidFill>
                  <a:srgbClr val="57B6FF"/>
                </a:solidFill>
              </a:rPr>
              <a:t>Best fit: Misaligned AI, killable or unkillable</a:t>
            </a:r>
            <a:endParaRPr sz="600"/>
          </a:p>
        </p:txBody>
      </p:sp>
      <p:sp>
        <p:nvSpPr>
          <p:cNvPr id="216" name="Google Shape;216;p19"/>
          <p:cNvSpPr/>
          <p:nvPr/>
        </p:nvSpPr>
        <p:spPr>
          <a:xfrm>
            <a:off x="5692140" y="1405890"/>
            <a:ext cx="2414016" cy="2722626"/>
          </a:xfrm>
          <a:prstGeom prst="roundRect">
            <a:avLst>
              <a:gd fmla="val 1705" name="adj"/>
            </a:avLst>
          </a:prstGeom>
          <a:solidFill>
            <a:srgbClr val="101D2D"/>
          </a:solidFill>
          <a:ln cap="flat" cmpd="sng" w="12700">
            <a:solidFill>
              <a:srgbClr val="24364A"/>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17" name="Google Shape;217;p19"/>
          <p:cNvSpPr/>
          <p:nvPr/>
        </p:nvSpPr>
        <p:spPr>
          <a:xfrm>
            <a:off x="5692140" y="1405890"/>
            <a:ext cx="2414016" cy="54864"/>
          </a:xfrm>
          <a:prstGeom prst="rect">
            <a:avLst/>
          </a:prstGeom>
          <a:solidFill>
            <a:srgbClr val="FFB85C"/>
          </a:solidFill>
          <a:ln cap="flat" cmpd="sng" w="12700">
            <a:solidFill>
              <a:srgbClr val="FFB85C"/>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18" name="Google Shape;218;p19"/>
          <p:cNvSpPr/>
          <p:nvPr/>
        </p:nvSpPr>
        <p:spPr>
          <a:xfrm>
            <a:off x="5843016" y="1604772"/>
            <a:ext cx="2091690" cy="3017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4F7FA"/>
              </a:buClr>
              <a:buSzPts val="1200"/>
              <a:buFont typeface="Arial"/>
              <a:buNone/>
            </a:pPr>
            <a:r>
              <a:rPr b="1" lang="en" sz="1200">
                <a:solidFill>
                  <a:srgbClr val="F4F7FA"/>
                </a:solidFill>
              </a:rPr>
              <a:t>3. Resilient Security Mesh</a:t>
            </a:r>
            <a:endParaRPr sz="1200"/>
          </a:p>
        </p:txBody>
      </p:sp>
      <p:sp>
        <p:nvSpPr>
          <p:cNvPr id="219" name="Google Shape;219;p19"/>
          <p:cNvSpPr/>
          <p:nvPr/>
        </p:nvSpPr>
        <p:spPr>
          <a:xfrm>
            <a:off x="5843016" y="1988820"/>
            <a:ext cx="1920240" cy="192024"/>
          </a:xfrm>
          <a:prstGeom prst="roundRect">
            <a:avLst>
              <a:gd fmla="val 50000" name="adj"/>
            </a:avLst>
          </a:prstGeom>
          <a:solidFill>
            <a:srgbClr val="FFB85C"/>
          </a:solidFill>
          <a:ln cap="flat" cmpd="sng" w="12700">
            <a:solidFill>
              <a:srgbClr val="FFB85C"/>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20" name="Google Shape;220;p19"/>
          <p:cNvSpPr/>
          <p:nvPr/>
        </p:nvSpPr>
        <p:spPr>
          <a:xfrm>
            <a:off x="5877306" y="2026539"/>
            <a:ext cx="1851660" cy="8915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8111F"/>
              </a:buClr>
              <a:buSzPts val="500"/>
              <a:buFont typeface="Arial"/>
              <a:buNone/>
            </a:pPr>
            <a:r>
              <a:rPr b="1" lang="en" sz="500">
                <a:solidFill>
                  <a:srgbClr val="08111F"/>
                </a:solidFill>
              </a:rPr>
              <a:t>LOCAL PROTECTION WITHOUT AN OFF SWITCH</a:t>
            </a:r>
            <a:endParaRPr sz="500"/>
          </a:p>
        </p:txBody>
      </p:sp>
      <p:sp>
        <p:nvSpPr>
          <p:cNvPr id="221" name="Google Shape;221;p19"/>
          <p:cNvSpPr/>
          <p:nvPr/>
        </p:nvSpPr>
        <p:spPr>
          <a:xfrm>
            <a:off x="5843016" y="2304288"/>
            <a:ext cx="2091690" cy="70637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4F7FA"/>
              </a:buClr>
              <a:buSzPts val="800"/>
              <a:buFont typeface="Arial"/>
              <a:buNone/>
            </a:pPr>
            <a:r>
              <a:rPr lang="en" sz="800">
                <a:solidFill>
                  <a:srgbClr val="F4F7FA"/>
                </a:solidFill>
              </a:rPr>
              <a:t>A shared provenance and audit layer helps organizations isolate local systems and revoke access when agents cannot be stopped. It limits exposure across vendors and national AI stacks while agents keep operating.</a:t>
            </a:r>
            <a:endParaRPr sz="800"/>
          </a:p>
        </p:txBody>
      </p:sp>
      <p:cxnSp>
        <p:nvCxnSpPr>
          <p:cNvPr id="222" name="Google Shape;222;p19"/>
          <p:cNvCxnSpPr/>
          <p:nvPr/>
        </p:nvCxnSpPr>
        <p:spPr>
          <a:xfrm>
            <a:off x="5843016" y="3134106"/>
            <a:ext cx="2071116" cy="0"/>
          </a:xfrm>
          <a:prstGeom prst="straightConnector1">
            <a:avLst/>
          </a:prstGeom>
          <a:noFill/>
          <a:ln cap="flat" cmpd="sng" w="12700">
            <a:solidFill>
              <a:srgbClr val="24364A"/>
            </a:solidFill>
            <a:prstDash val="solid"/>
            <a:round/>
            <a:headEnd len="sm" w="sm" type="none"/>
            <a:tailEnd len="sm" w="sm" type="none"/>
          </a:ln>
        </p:spPr>
      </p:cxnSp>
      <p:sp>
        <p:nvSpPr>
          <p:cNvPr id="223" name="Google Shape;223;p19"/>
          <p:cNvSpPr/>
          <p:nvPr/>
        </p:nvSpPr>
        <p:spPr>
          <a:xfrm>
            <a:off x="5843016" y="3250692"/>
            <a:ext cx="2091690" cy="4663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AB7C4"/>
              </a:buClr>
              <a:buSzPts val="600"/>
              <a:buFont typeface="Arial"/>
              <a:buNone/>
            </a:pPr>
            <a:r>
              <a:rPr lang="en" sz="600">
                <a:solidFill>
                  <a:srgbClr val="AAB7C4"/>
                </a:solidFill>
              </a:rPr>
              <a:t>Why now: supply-chain breaches, malicious packages, export controls and AI-sovereignty pressures are all increasing. [6][11][17][18][19]</a:t>
            </a:r>
            <a:endParaRPr sz="600"/>
          </a:p>
        </p:txBody>
      </p:sp>
      <p:sp>
        <p:nvSpPr>
          <p:cNvPr id="224" name="Google Shape;224;p19"/>
          <p:cNvSpPr/>
          <p:nvPr/>
        </p:nvSpPr>
        <p:spPr>
          <a:xfrm>
            <a:off x="5843016" y="3826764"/>
            <a:ext cx="2091690" cy="16459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B85C"/>
              </a:buClr>
              <a:buSzPts val="600"/>
              <a:buFont typeface="Arial"/>
              <a:buNone/>
            </a:pPr>
            <a:r>
              <a:rPr b="1" lang="en" sz="600">
                <a:solidFill>
                  <a:srgbClr val="FFB85C"/>
                </a:solidFill>
              </a:rPr>
              <a:t>Best fit: Unkillable AI, aligned or misaligned</a:t>
            </a:r>
            <a:endParaRPr sz="600"/>
          </a:p>
        </p:txBody>
      </p:sp>
      <p:sp>
        <p:nvSpPr>
          <p:cNvPr id="225" name="Google Shape;225;p19"/>
          <p:cNvSpPr/>
          <p:nvPr/>
        </p:nvSpPr>
        <p:spPr>
          <a:xfrm>
            <a:off x="493776" y="4306824"/>
            <a:ext cx="809244" cy="13030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4F7FA"/>
              </a:buClr>
              <a:buSzPts val="600"/>
              <a:buFont typeface="Arial"/>
              <a:buNone/>
            </a:pPr>
            <a:r>
              <a:rPr b="1" lang="en" sz="600">
                <a:solidFill>
                  <a:srgbClr val="F4F7FA"/>
                </a:solidFill>
              </a:rPr>
              <a:t>Opportunity lens</a:t>
            </a:r>
            <a:endParaRPr sz="600"/>
          </a:p>
        </p:txBody>
      </p:sp>
      <p:sp>
        <p:nvSpPr>
          <p:cNvPr id="226" name="Google Shape;226;p19"/>
          <p:cNvSpPr/>
          <p:nvPr/>
        </p:nvSpPr>
        <p:spPr>
          <a:xfrm>
            <a:off x="1337310" y="4299966"/>
            <a:ext cx="5417820" cy="1371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EE6C6"/>
              </a:buClr>
              <a:buSzPts val="600"/>
              <a:buFont typeface="Arial"/>
              <a:buNone/>
            </a:pPr>
            <a:r>
              <a:rPr b="1" lang="en" sz="600">
                <a:solidFill>
                  <a:srgbClr val="2EE6C6"/>
                </a:solidFill>
              </a:rPr>
              <a:t>REAL / EMERGING  •  IMPORTANT  •  ADDRESSABLE  •  RESILIENT ACROSS SCENARIOS</a:t>
            </a:r>
            <a:endParaRPr sz="600"/>
          </a:p>
        </p:txBody>
      </p:sp>
      <p:sp>
        <p:nvSpPr>
          <p:cNvPr id="227" name="Google Shape;227;p19"/>
          <p:cNvSpPr/>
          <p:nvPr/>
        </p:nvSpPr>
        <p:spPr>
          <a:xfrm>
            <a:off x="432054" y="4615434"/>
            <a:ext cx="8195310" cy="15087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F8094"/>
              </a:buClr>
              <a:buSzPts val="500"/>
              <a:buFont typeface="Arial"/>
              <a:buNone/>
            </a:pPr>
            <a:r>
              <a:rPr lang="en" sz="500">
                <a:solidFill>
                  <a:srgbClr val="6F8094"/>
                </a:solidFill>
              </a:rPr>
              <a:t>Research basis: [2] IBM breach/shadow-AI data; [6] supply-chain/open-source package data; [8] EU AI Act; [11] model controls; [14] agent sandbox-escape incident; [17–19] export-control and sovereignty signals. Opportunities are scenario-derived proposals, not claims from the sources.</a:t>
            </a:r>
            <a:endParaRPr sz="500"/>
          </a:p>
        </p:txBody>
      </p:sp>
      <p:sp>
        <p:nvSpPr>
          <p:cNvPr id="228" name="Google Shape;228;p19"/>
          <p:cNvSpPr txBox="1"/>
          <p:nvPr>
            <p:ph idx="4294967295" type="sldNum"/>
          </p:nvPr>
        </p:nvSpPr>
        <p:spPr>
          <a:xfrm>
            <a:off x="8798814" y="4841748"/>
            <a:ext cx="600000" cy="22500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Clr>
                <a:srgbClr val="6F8094"/>
              </a:buClr>
              <a:buSzPts val="600"/>
              <a:buNone/>
            </a:pPr>
            <a:fld id="{00000000-1234-1234-1234-123412341234}" type="slidenum">
              <a:rPr b="0" lang="en" sz="600">
                <a:solidFill>
                  <a:srgbClr val="6F8094"/>
                </a:solidFill>
              </a:rPr>
              <a:t>‹#›</a:t>
            </a:fld>
            <a:endParaRPr sz="600">
              <a:solidFill>
                <a:srgbClr val="6F8094"/>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4324F"/>
        </a:solidFill>
      </p:bgPr>
    </p:bg>
    <p:spTree>
      <p:nvGrpSpPr>
        <p:cNvPr id="233" name="Shape 233"/>
        <p:cNvGrpSpPr/>
        <p:nvPr/>
      </p:nvGrpSpPr>
      <p:grpSpPr>
        <a:xfrm>
          <a:off x="0" y="0"/>
          <a:ext cx="0" cy="0"/>
          <a:chOff x="0" y="0"/>
          <a:chExt cx="0" cy="0"/>
        </a:xfrm>
      </p:grpSpPr>
      <p:sp>
        <p:nvSpPr>
          <p:cNvPr id="234" name="Google Shape;234;p20"/>
          <p:cNvSpPr/>
          <p:nvPr/>
        </p:nvSpPr>
        <p:spPr>
          <a:xfrm>
            <a:off x="640080" y="822960"/>
            <a:ext cx="78638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FB8DE"/>
              </a:buClr>
              <a:buSzPts val="1100"/>
              <a:buFont typeface="Arial"/>
              <a:buNone/>
            </a:pPr>
            <a:r>
              <a:rPr b="1" i="0" lang="en" sz="1100" u="none" cap="none" strike="noStrike">
                <a:solidFill>
                  <a:srgbClr val="8FB8DE"/>
                </a:solidFill>
                <a:latin typeface="Arial"/>
                <a:ea typeface="Arial"/>
                <a:cs typeface="Arial"/>
                <a:sym typeface="Arial"/>
              </a:rPr>
              <a:t>THE FUTURE OF</a:t>
            </a:r>
            <a:endParaRPr b="0" i="0" sz="1100" u="none" cap="none" strike="noStrike">
              <a:solidFill>
                <a:schemeClr val="dk1"/>
              </a:solidFill>
              <a:latin typeface="Calibri"/>
              <a:ea typeface="Calibri"/>
              <a:cs typeface="Calibri"/>
              <a:sym typeface="Calibri"/>
            </a:endParaRPr>
          </a:p>
        </p:txBody>
      </p:sp>
      <p:sp>
        <p:nvSpPr>
          <p:cNvPr id="235" name="Google Shape;235;p20"/>
          <p:cNvSpPr/>
          <p:nvPr/>
        </p:nvSpPr>
        <p:spPr>
          <a:xfrm>
            <a:off x="640080" y="1188720"/>
            <a:ext cx="7680960" cy="1371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3600"/>
              <a:buFont typeface="Arial"/>
              <a:buNone/>
            </a:pPr>
            <a:r>
              <a:rPr b="1" i="0" lang="en" sz="3600" u="none" cap="none" strike="noStrike">
                <a:solidFill>
                  <a:srgbClr val="FFFFFF"/>
                </a:solidFill>
                <a:latin typeface="Arial"/>
                <a:ea typeface="Arial"/>
                <a:cs typeface="Arial"/>
                <a:sym typeface="Arial"/>
              </a:rPr>
              <a:t>Cybersecurity in the</a:t>
            </a:r>
            <a:endParaRPr b="0" i="0" sz="36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FFFF"/>
              </a:buClr>
              <a:buSzPts val="3600"/>
              <a:buFont typeface="Arial"/>
              <a:buNone/>
            </a:pPr>
            <a:r>
              <a:rPr b="1" i="0" lang="en" sz="3600" u="none" cap="none" strike="noStrike">
                <a:solidFill>
                  <a:srgbClr val="FFFFFF"/>
                </a:solidFill>
                <a:latin typeface="Arial"/>
                <a:ea typeface="Arial"/>
                <a:cs typeface="Arial"/>
                <a:sym typeface="Arial"/>
              </a:rPr>
              <a:t>Age of AI Agents</a:t>
            </a:r>
            <a:endParaRPr b="0" i="0" sz="3600" u="none" cap="none" strike="noStrike">
              <a:solidFill>
                <a:schemeClr val="dk1"/>
              </a:solidFill>
              <a:latin typeface="Calibri"/>
              <a:ea typeface="Calibri"/>
              <a:cs typeface="Calibri"/>
              <a:sym typeface="Calibri"/>
            </a:endParaRPr>
          </a:p>
        </p:txBody>
      </p:sp>
      <p:sp>
        <p:nvSpPr>
          <p:cNvPr id="236" name="Google Shape;236;p20"/>
          <p:cNvSpPr/>
          <p:nvPr/>
        </p:nvSpPr>
        <p:spPr>
          <a:xfrm>
            <a:off x="640080" y="2697480"/>
            <a:ext cx="6035040" cy="7315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D6E4F2"/>
              </a:buClr>
              <a:buSzPts val="1600"/>
              <a:buFont typeface="Arial"/>
              <a:buNone/>
            </a:pPr>
            <a:r>
              <a:rPr b="0" i="0" lang="en" sz="1600" u="none" cap="none" strike="noStrike">
                <a:solidFill>
                  <a:srgbClr val="D6E4F2"/>
                </a:solidFill>
                <a:latin typeface="Arial"/>
                <a:ea typeface="Arial"/>
                <a:cs typeface="Arial"/>
                <a:sym typeface="Arial"/>
              </a:rPr>
              <a:t>Four cybersecurity futures shaped by AI alignment and the ability to turn agents off.</a:t>
            </a:r>
            <a:endParaRPr b="0" i="0" sz="1600" u="none" cap="none" strike="noStrike">
              <a:solidFill>
                <a:schemeClr val="dk1"/>
              </a:solidFill>
              <a:latin typeface="Calibri"/>
              <a:ea typeface="Calibri"/>
              <a:cs typeface="Calibri"/>
              <a:sym typeface="Calibri"/>
            </a:endParaRPr>
          </a:p>
        </p:txBody>
      </p:sp>
      <p:sp>
        <p:nvSpPr>
          <p:cNvPr id="237" name="Google Shape;237;p20"/>
          <p:cNvSpPr/>
          <p:nvPr/>
        </p:nvSpPr>
        <p:spPr>
          <a:xfrm>
            <a:off x="640080" y="3611880"/>
            <a:ext cx="1463040" cy="36576"/>
          </a:xfrm>
          <a:prstGeom prst="rect">
            <a:avLst/>
          </a:prstGeom>
          <a:solidFill>
            <a:srgbClr val="2E75B6"/>
          </a:solidFill>
          <a:ln cap="flat" cmpd="sng" w="12700">
            <a:solidFill>
              <a:srgbClr val="2E75B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20"/>
          <p:cNvSpPr/>
          <p:nvPr/>
        </p:nvSpPr>
        <p:spPr>
          <a:xfrm>
            <a:off x="640080" y="3749040"/>
            <a:ext cx="786384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500"/>
              <a:buFont typeface="Arial"/>
              <a:buNone/>
            </a:pPr>
            <a:r>
              <a:rPr b="1" i="0" lang="en" sz="1500" u="none" cap="none" strike="noStrike">
                <a:solidFill>
                  <a:srgbClr val="FFFFFF"/>
                </a:solidFill>
                <a:latin typeface="Arial"/>
                <a:ea typeface="Arial"/>
                <a:cs typeface="Arial"/>
                <a:sym typeface="Arial"/>
              </a:rPr>
              <a:t>Week 3: Sahana, Evan, Kendall, Micheal</a:t>
            </a:r>
            <a:endParaRPr b="0" i="0" sz="1500" u="none" cap="none" strike="noStrike">
              <a:solidFill>
                <a:schemeClr val="dk1"/>
              </a:solidFill>
              <a:latin typeface="Calibri"/>
              <a:ea typeface="Calibri"/>
              <a:cs typeface="Calibri"/>
              <a:sym typeface="Calibri"/>
            </a:endParaRPr>
          </a:p>
        </p:txBody>
      </p:sp>
      <p:sp>
        <p:nvSpPr>
          <p:cNvPr id="239" name="Google Shape;239;p20"/>
          <p:cNvSpPr/>
          <p:nvPr/>
        </p:nvSpPr>
        <p:spPr>
          <a:xfrm>
            <a:off x="640080" y="4069080"/>
            <a:ext cx="78638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FB8DE"/>
              </a:buClr>
              <a:buSzPts val="1200"/>
              <a:buFont typeface="Arial"/>
              <a:buNone/>
            </a:pPr>
            <a:r>
              <a:rPr b="0" i="0" lang="en" sz="1200" u="none" cap="none" strike="noStrike">
                <a:solidFill>
                  <a:srgbClr val="8FB8DE"/>
                </a:solidFill>
                <a:latin typeface="Arial"/>
                <a:ea typeface="Arial"/>
                <a:cs typeface="Arial"/>
                <a:sym typeface="Arial"/>
              </a:rPr>
              <a:t>Domain briefing  |  Scenario analysis  |  September 2026</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44" name="Shape 244"/>
        <p:cNvGrpSpPr/>
        <p:nvPr/>
      </p:nvGrpSpPr>
      <p:grpSpPr>
        <a:xfrm>
          <a:off x="0" y="0"/>
          <a:ext cx="0" cy="0"/>
          <a:chOff x="0" y="0"/>
          <a:chExt cx="0" cy="0"/>
        </a:xfrm>
      </p:grpSpPr>
      <p:sp>
        <p:nvSpPr>
          <p:cNvPr id="245" name="Google Shape;245;p21"/>
          <p:cNvSpPr/>
          <p:nvPr/>
        </p:nvSpPr>
        <p:spPr>
          <a:xfrm>
            <a:off x="457200" y="182880"/>
            <a:ext cx="548640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E75B6"/>
              </a:buClr>
              <a:buSzPts val="1000"/>
              <a:buFont typeface="Arial"/>
              <a:buNone/>
            </a:pPr>
            <a:r>
              <a:rPr b="1" i="0" lang="en" sz="1000" u="none" cap="none" strike="noStrike">
                <a:solidFill>
                  <a:srgbClr val="2E75B6"/>
                </a:solidFill>
                <a:latin typeface="Arial"/>
                <a:ea typeface="Arial"/>
                <a:cs typeface="Arial"/>
                <a:sym typeface="Arial"/>
              </a:rPr>
              <a:t>02  |  DOMAIN</a:t>
            </a:r>
            <a:endParaRPr b="0" i="0" sz="1000" u="none" cap="none" strike="noStrike">
              <a:solidFill>
                <a:schemeClr val="dk1"/>
              </a:solidFill>
              <a:latin typeface="Calibri"/>
              <a:ea typeface="Calibri"/>
              <a:cs typeface="Calibri"/>
              <a:sym typeface="Calibri"/>
            </a:endParaRPr>
          </a:p>
        </p:txBody>
      </p:sp>
      <p:sp>
        <p:nvSpPr>
          <p:cNvPr id="246" name="Google Shape;246;p21"/>
          <p:cNvSpPr/>
          <p:nvPr/>
        </p:nvSpPr>
        <p:spPr>
          <a:xfrm>
            <a:off x="457200" y="384048"/>
            <a:ext cx="8229600" cy="56692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F4E79"/>
              </a:buClr>
              <a:buSzPts val="1900"/>
              <a:buFont typeface="Arial"/>
              <a:buNone/>
            </a:pPr>
            <a:r>
              <a:rPr b="1" i="0" lang="en" sz="1900" u="none" cap="none" strike="noStrike">
                <a:solidFill>
                  <a:srgbClr val="1F4E79"/>
                </a:solidFill>
                <a:latin typeface="Arial"/>
                <a:ea typeface="Arial"/>
                <a:cs typeface="Arial"/>
                <a:sym typeface="Arial"/>
              </a:rPr>
              <a:t>AI compresses cyber conflict from hours to minutes and expands what must be defended.</a:t>
            </a:r>
            <a:endParaRPr b="0" i="0" sz="1900" u="none" cap="none" strike="noStrike">
              <a:solidFill>
                <a:schemeClr val="dk1"/>
              </a:solidFill>
              <a:latin typeface="Calibri"/>
              <a:ea typeface="Calibri"/>
              <a:cs typeface="Calibri"/>
              <a:sym typeface="Calibri"/>
            </a:endParaRPr>
          </a:p>
        </p:txBody>
      </p:sp>
      <p:sp>
        <p:nvSpPr>
          <p:cNvPr id="247" name="Google Shape;247;p21"/>
          <p:cNvSpPr/>
          <p:nvPr/>
        </p:nvSpPr>
        <p:spPr>
          <a:xfrm>
            <a:off x="457200" y="1005840"/>
            <a:ext cx="8229600" cy="23774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B6B6B"/>
              </a:buClr>
              <a:buSzPts val="1100"/>
              <a:buFont typeface="Arial"/>
              <a:buNone/>
            </a:pPr>
            <a:r>
              <a:rPr b="0" i="0" lang="en" sz="1100" u="none" cap="none" strike="noStrike">
                <a:solidFill>
                  <a:srgbClr val="6B6B6B"/>
                </a:solidFill>
                <a:latin typeface="Arial"/>
                <a:ea typeface="Arial"/>
                <a:cs typeface="Arial"/>
                <a:sym typeface="Arial"/>
              </a:rPr>
              <a:t>The domain is shifting along three linked forces: machine-speed attacks, a larger attack surface, and automated defense.</a:t>
            </a:r>
            <a:endParaRPr b="0" i="0" sz="1100" u="none" cap="none" strike="noStrike">
              <a:solidFill>
                <a:schemeClr val="dk1"/>
              </a:solidFill>
              <a:latin typeface="Calibri"/>
              <a:ea typeface="Calibri"/>
              <a:cs typeface="Calibri"/>
              <a:sym typeface="Calibri"/>
            </a:endParaRPr>
          </a:p>
        </p:txBody>
      </p:sp>
      <p:sp>
        <p:nvSpPr>
          <p:cNvPr id="248" name="Google Shape;248;p21"/>
          <p:cNvSpPr/>
          <p:nvPr/>
        </p:nvSpPr>
        <p:spPr>
          <a:xfrm>
            <a:off x="457200" y="4636008"/>
            <a:ext cx="822960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B6B6B"/>
              </a:buClr>
              <a:buSzPts val="750"/>
              <a:buFont typeface="Arial"/>
              <a:buNone/>
            </a:pPr>
            <a:r>
              <a:rPr b="0" i="0" lang="en" sz="750" u="none" cap="none" strike="noStrike">
                <a:solidFill>
                  <a:srgbClr val="6B6B6B"/>
                </a:solidFill>
                <a:latin typeface="Arial"/>
                <a:ea typeface="Arial"/>
                <a:cs typeface="Arial"/>
                <a:sym typeface="Arial"/>
              </a:rPr>
              <a:t>Sources: [1] CrowdStrike 2026 Global Threat Report; [2] IBM Cost of a Data Breach 2026; [3] Darktrace State of AI Cybersecurity 2026; [5] IBM Think; [6] Verizon/Sonatype via Swif; [8]-[11] EC, NIST and policy sources listed in research outline.</a:t>
            </a:r>
            <a:endParaRPr b="0" i="0" sz="750" u="none" cap="none" strike="noStrike">
              <a:solidFill>
                <a:schemeClr val="dk1"/>
              </a:solidFill>
              <a:latin typeface="Calibri"/>
              <a:ea typeface="Calibri"/>
              <a:cs typeface="Calibri"/>
              <a:sym typeface="Calibri"/>
            </a:endParaRPr>
          </a:p>
        </p:txBody>
      </p:sp>
      <p:sp>
        <p:nvSpPr>
          <p:cNvPr id="249" name="Google Shape;249;p21"/>
          <p:cNvSpPr/>
          <p:nvPr/>
        </p:nvSpPr>
        <p:spPr>
          <a:xfrm>
            <a:off x="457200" y="4919472"/>
            <a:ext cx="8229600" cy="16459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AA5B1"/>
              </a:buClr>
              <a:buSzPts val="700"/>
              <a:buFont typeface="Arial"/>
              <a:buNone/>
            </a:pPr>
            <a:r>
              <a:rPr b="0" i="0" lang="en" sz="700" u="none" cap="none" strike="noStrike">
                <a:solidFill>
                  <a:srgbClr val="9AA5B1"/>
                </a:solidFill>
                <a:latin typeface="Arial"/>
                <a:ea typeface="Arial"/>
                <a:cs typeface="Arial"/>
                <a:sym typeface="Arial"/>
              </a:rPr>
              <a:t>The Future of Cybersecurity in the Age of AI Agents  |  September 2026  |  2</a:t>
            </a:r>
            <a:endParaRPr b="0" i="0" sz="700" u="none" cap="none" strike="noStrike">
              <a:solidFill>
                <a:schemeClr val="dk1"/>
              </a:solidFill>
              <a:latin typeface="Calibri"/>
              <a:ea typeface="Calibri"/>
              <a:cs typeface="Calibri"/>
              <a:sym typeface="Calibri"/>
            </a:endParaRPr>
          </a:p>
        </p:txBody>
      </p:sp>
      <p:sp>
        <p:nvSpPr>
          <p:cNvPr id="250" name="Google Shape;250;p21"/>
          <p:cNvSpPr/>
          <p:nvPr/>
        </p:nvSpPr>
        <p:spPr>
          <a:xfrm>
            <a:off x="457200" y="1335024"/>
            <a:ext cx="1558138" cy="914400"/>
          </a:xfrm>
          <a:prstGeom prst="rect">
            <a:avLst/>
          </a:prstGeom>
          <a:solidFill>
            <a:srgbClr val="F6F8FA"/>
          </a:solidFill>
          <a:ln cap="flat" cmpd="sng" w="9525">
            <a:solidFill>
              <a:srgbClr val="D0D7D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21"/>
          <p:cNvSpPr/>
          <p:nvPr/>
        </p:nvSpPr>
        <p:spPr>
          <a:xfrm>
            <a:off x="566928" y="1408176"/>
            <a:ext cx="1338682"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61C1C"/>
              </a:buClr>
              <a:buSzPts val="2200"/>
              <a:buFont typeface="Arial"/>
              <a:buNone/>
            </a:pPr>
            <a:r>
              <a:rPr b="1" i="0" lang="en" sz="2200" u="none" cap="none" strike="noStrike">
                <a:solidFill>
                  <a:srgbClr val="A61C1C"/>
                </a:solidFill>
                <a:latin typeface="Arial"/>
                <a:ea typeface="Arial"/>
                <a:cs typeface="Arial"/>
                <a:sym typeface="Arial"/>
              </a:rPr>
              <a:t>29 min</a:t>
            </a:r>
            <a:endParaRPr b="0" i="0" sz="2200" u="none" cap="none" strike="noStrike">
              <a:solidFill>
                <a:schemeClr val="dk1"/>
              </a:solidFill>
              <a:latin typeface="Calibri"/>
              <a:ea typeface="Calibri"/>
              <a:cs typeface="Calibri"/>
              <a:sym typeface="Calibri"/>
            </a:endParaRPr>
          </a:p>
        </p:txBody>
      </p:sp>
      <p:sp>
        <p:nvSpPr>
          <p:cNvPr id="252" name="Google Shape;252;p21"/>
          <p:cNvSpPr/>
          <p:nvPr/>
        </p:nvSpPr>
        <p:spPr>
          <a:xfrm>
            <a:off x="566928" y="1764792"/>
            <a:ext cx="1338682"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D2D2D"/>
              </a:buClr>
              <a:buSzPts val="850"/>
              <a:buFont typeface="Arial"/>
              <a:buNone/>
            </a:pPr>
            <a:r>
              <a:rPr b="0" i="0" lang="en" sz="850" u="none" cap="none" strike="noStrike">
                <a:solidFill>
                  <a:srgbClr val="2D2D2D"/>
                </a:solidFill>
                <a:latin typeface="Arial"/>
                <a:ea typeface="Arial"/>
                <a:cs typeface="Arial"/>
                <a:sym typeface="Arial"/>
              </a:rPr>
              <a:t>Average criminal breakout time in 2025, down from 98 min in 2021. [1]</a:t>
            </a:r>
            <a:endParaRPr b="0" i="0" sz="850" u="none" cap="none" strike="noStrike">
              <a:solidFill>
                <a:schemeClr val="dk1"/>
              </a:solidFill>
              <a:latin typeface="Calibri"/>
              <a:ea typeface="Calibri"/>
              <a:cs typeface="Calibri"/>
              <a:sym typeface="Calibri"/>
            </a:endParaRPr>
          </a:p>
        </p:txBody>
      </p:sp>
      <p:sp>
        <p:nvSpPr>
          <p:cNvPr id="253" name="Google Shape;253;p21"/>
          <p:cNvSpPr/>
          <p:nvPr/>
        </p:nvSpPr>
        <p:spPr>
          <a:xfrm>
            <a:off x="2125066" y="1335024"/>
            <a:ext cx="1558138" cy="914400"/>
          </a:xfrm>
          <a:prstGeom prst="rect">
            <a:avLst/>
          </a:prstGeom>
          <a:solidFill>
            <a:srgbClr val="F6F8FA"/>
          </a:solidFill>
          <a:ln cap="flat" cmpd="sng" w="9525">
            <a:solidFill>
              <a:srgbClr val="D0D7D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21"/>
          <p:cNvSpPr/>
          <p:nvPr/>
        </p:nvSpPr>
        <p:spPr>
          <a:xfrm>
            <a:off x="2234794" y="1408176"/>
            <a:ext cx="1338682"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4E79"/>
              </a:buClr>
              <a:buSzPts val="2200"/>
              <a:buFont typeface="Arial"/>
              <a:buNone/>
            </a:pPr>
            <a:r>
              <a:rPr b="1" i="0" lang="en" sz="2200" u="none" cap="none" strike="noStrike">
                <a:solidFill>
                  <a:srgbClr val="1F4E79"/>
                </a:solidFill>
                <a:latin typeface="Arial"/>
                <a:ea typeface="Arial"/>
                <a:cs typeface="Arial"/>
                <a:sym typeface="Arial"/>
              </a:rPr>
              <a:t>1 in 4</a:t>
            </a:r>
            <a:endParaRPr b="0" i="0" sz="2200" u="none" cap="none" strike="noStrike">
              <a:solidFill>
                <a:schemeClr val="dk1"/>
              </a:solidFill>
              <a:latin typeface="Calibri"/>
              <a:ea typeface="Calibri"/>
              <a:cs typeface="Calibri"/>
              <a:sym typeface="Calibri"/>
            </a:endParaRPr>
          </a:p>
        </p:txBody>
      </p:sp>
      <p:sp>
        <p:nvSpPr>
          <p:cNvPr id="255" name="Google Shape;255;p21"/>
          <p:cNvSpPr/>
          <p:nvPr/>
        </p:nvSpPr>
        <p:spPr>
          <a:xfrm>
            <a:off x="2234794" y="1764792"/>
            <a:ext cx="1338682"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D2D2D"/>
              </a:buClr>
              <a:buSzPts val="850"/>
              <a:buFont typeface="Arial"/>
              <a:buNone/>
            </a:pPr>
            <a:r>
              <a:rPr b="0" i="0" lang="en" sz="850" u="none" cap="none" strike="noStrike">
                <a:solidFill>
                  <a:srgbClr val="2D2D2D"/>
                </a:solidFill>
                <a:latin typeface="Arial"/>
                <a:ea typeface="Arial"/>
                <a:cs typeface="Arial"/>
                <a:sym typeface="Arial"/>
              </a:rPr>
              <a:t>Malicious breaches were AI-enabled; each cost about $1M more. [2]</a:t>
            </a:r>
            <a:endParaRPr b="0" i="0" sz="850" u="none" cap="none" strike="noStrike">
              <a:solidFill>
                <a:schemeClr val="dk1"/>
              </a:solidFill>
              <a:latin typeface="Calibri"/>
              <a:ea typeface="Calibri"/>
              <a:cs typeface="Calibri"/>
              <a:sym typeface="Calibri"/>
            </a:endParaRPr>
          </a:p>
        </p:txBody>
      </p:sp>
      <p:sp>
        <p:nvSpPr>
          <p:cNvPr id="256" name="Google Shape;256;p21"/>
          <p:cNvSpPr/>
          <p:nvPr/>
        </p:nvSpPr>
        <p:spPr>
          <a:xfrm>
            <a:off x="3792931" y="1335024"/>
            <a:ext cx="1558138" cy="914400"/>
          </a:xfrm>
          <a:prstGeom prst="rect">
            <a:avLst/>
          </a:prstGeom>
          <a:solidFill>
            <a:srgbClr val="F6F8FA"/>
          </a:solidFill>
          <a:ln cap="flat" cmpd="sng" w="9525">
            <a:solidFill>
              <a:srgbClr val="D0D7D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21"/>
          <p:cNvSpPr/>
          <p:nvPr/>
        </p:nvSpPr>
        <p:spPr>
          <a:xfrm>
            <a:off x="3902659" y="1408176"/>
            <a:ext cx="1338682"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4E79"/>
              </a:buClr>
              <a:buSzPts val="2200"/>
              <a:buFont typeface="Arial"/>
              <a:buNone/>
            </a:pPr>
            <a:r>
              <a:rPr b="1" i="0" lang="en" sz="2200" u="none" cap="none" strike="noStrike">
                <a:solidFill>
                  <a:srgbClr val="1F4E79"/>
                </a:solidFill>
                <a:latin typeface="Arial"/>
                <a:ea typeface="Arial"/>
                <a:cs typeface="Arial"/>
                <a:sym typeface="Arial"/>
              </a:rPr>
              <a:t>43%</a:t>
            </a:r>
            <a:endParaRPr b="0" i="0" sz="2200" u="none" cap="none" strike="noStrike">
              <a:solidFill>
                <a:schemeClr val="dk1"/>
              </a:solidFill>
              <a:latin typeface="Calibri"/>
              <a:ea typeface="Calibri"/>
              <a:cs typeface="Calibri"/>
              <a:sym typeface="Calibri"/>
            </a:endParaRPr>
          </a:p>
        </p:txBody>
      </p:sp>
      <p:sp>
        <p:nvSpPr>
          <p:cNvPr id="258" name="Google Shape;258;p21"/>
          <p:cNvSpPr/>
          <p:nvPr/>
        </p:nvSpPr>
        <p:spPr>
          <a:xfrm>
            <a:off x="3902659" y="1764792"/>
            <a:ext cx="1338682"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D2D2D"/>
              </a:buClr>
              <a:buSzPts val="850"/>
              <a:buFont typeface="Arial"/>
              <a:buNone/>
            </a:pPr>
            <a:r>
              <a:rPr b="0" i="0" lang="en" sz="850" u="none" cap="none" strike="noStrike">
                <a:solidFill>
                  <a:srgbClr val="2D2D2D"/>
                </a:solidFill>
                <a:latin typeface="Arial"/>
                <a:ea typeface="Arial"/>
                <a:cs typeface="Arial"/>
                <a:sym typeface="Arial"/>
              </a:rPr>
              <a:t>of breached organizations reported shadow-AI incidents. [2]</a:t>
            </a:r>
            <a:endParaRPr b="0" i="0" sz="850" u="none" cap="none" strike="noStrike">
              <a:solidFill>
                <a:schemeClr val="dk1"/>
              </a:solidFill>
              <a:latin typeface="Calibri"/>
              <a:ea typeface="Calibri"/>
              <a:cs typeface="Calibri"/>
              <a:sym typeface="Calibri"/>
            </a:endParaRPr>
          </a:p>
        </p:txBody>
      </p:sp>
      <p:sp>
        <p:nvSpPr>
          <p:cNvPr id="259" name="Google Shape;259;p21"/>
          <p:cNvSpPr/>
          <p:nvPr/>
        </p:nvSpPr>
        <p:spPr>
          <a:xfrm>
            <a:off x="5460797" y="1335024"/>
            <a:ext cx="1558138" cy="914400"/>
          </a:xfrm>
          <a:prstGeom prst="rect">
            <a:avLst/>
          </a:prstGeom>
          <a:solidFill>
            <a:srgbClr val="F6F8FA"/>
          </a:solidFill>
          <a:ln cap="flat" cmpd="sng" w="9525">
            <a:solidFill>
              <a:srgbClr val="D0D7D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21"/>
          <p:cNvSpPr/>
          <p:nvPr/>
        </p:nvSpPr>
        <p:spPr>
          <a:xfrm>
            <a:off x="5570525" y="1408176"/>
            <a:ext cx="1338682"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4E79"/>
              </a:buClr>
              <a:buSzPts val="2200"/>
              <a:buFont typeface="Arial"/>
              <a:buNone/>
            </a:pPr>
            <a:r>
              <a:rPr b="1" i="0" lang="en" sz="2200" u="none" cap="none" strike="noStrike">
                <a:solidFill>
                  <a:srgbClr val="1F4E79"/>
                </a:solidFill>
                <a:latin typeface="Arial"/>
                <a:ea typeface="Arial"/>
                <a:cs typeface="Arial"/>
                <a:sym typeface="Arial"/>
              </a:rPr>
              <a:t>454.6K</a:t>
            </a:r>
            <a:endParaRPr b="0" i="0" sz="2200" u="none" cap="none" strike="noStrike">
              <a:solidFill>
                <a:schemeClr val="dk1"/>
              </a:solidFill>
              <a:latin typeface="Calibri"/>
              <a:ea typeface="Calibri"/>
              <a:cs typeface="Calibri"/>
              <a:sym typeface="Calibri"/>
            </a:endParaRPr>
          </a:p>
        </p:txBody>
      </p:sp>
      <p:sp>
        <p:nvSpPr>
          <p:cNvPr id="261" name="Google Shape;261;p21"/>
          <p:cNvSpPr/>
          <p:nvPr/>
        </p:nvSpPr>
        <p:spPr>
          <a:xfrm>
            <a:off x="5570525" y="1764792"/>
            <a:ext cx="1338682"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D2D2D"/>
              </a:buClr>
              <a:buSzPts val="850"/>
              <a:buFont typeface="Arial"/>
              <a:buNone/>
            </a:pPr>
            <a:r>
              <a:rPr b="0" i="0" lang="en" sz="850" u="none" cap="none" strike="noStrike">
                <a:solidFill>
                  <a:srgbClr val="2D2D2D"/>
                </a:solidFill>
                <a:latin typeface="Arial"/>
                <a:ea typeface="Arial"/>
                <a:cs typeface="Arial"/>
                <a:sym typeface="Arial"/>
              </a:rPr>
              <a:t>new malicious open-source packages identified in 2025. [6]</a:t>
            </a:r>
            <a:endParaRPr b="0" i="0" sz="850" u="none" cap="none" strike="noStrike">
              <a:solidFill>
                <a:schemeClr val="dk1"/>
              </a:solidFill>
              <a:latin typeface="Calibri"/>
              <a:ea typeface="Calibri"/>
              <a:cs typeface="Calibri"/>
              <a:sym typeface="Calibri"/>
            </a:endParaRPr>
          </a:p>
        </p:txBody>
      </p:sp>
      <p:sp>
        <p:nvSpPr>
          <p:cNvPr id="262" name="Google Shape;262;p21"/>
          <p:cNvSpPr/>
          <p:nvPr/>
        </p:nvSpPr>
        <p:spPr>
          <a:xfrm>
            <a:off x="7128662" y="1335024"/>
            <a:ext cx="1558138" cy="914400"/>
          </a:xfrm>
          <a:prstGeom prst="rect">
            <a:avLst/>
          </a:prstGeom>
          <a:solidFill>
            <a:srgbClr val="F6F8FA"/>
          </a:solidFill>
          <a:ln cap="flat" cmpd="sng" w="9525">
            <a:solidFill>
              <a:srgbClr val="D0D7D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21"/>
          <p:cNvSpPr/>
          <p:nvPr/>
        </p:nvSpPr>
        <p:spPr>
          <a:xfrm>
            <a:off x="7238390" y="1408176"/>
            <a:ext cx="1338682"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E75B6"/>
              </a:buClr>
              <a:buSzPts val="2200"/>
              <a:buFont typeface="Arial"/>
              <a:buNone/>
            </a:pPr>
            <a:r>
              <a:rPr b="1" i="0" lang="en" sz="2200" u="none" cap="none" strike="noStrike">
                <a:solidFill>
                  <a:srgbClr val="2E75B6"/>
                </a:solidFill>
                <a:latin typeface="Arial"/>
                <a:ea typeface="Arial"/>
                <a:cs typeface="Arial"/>
                <a:sym typeface="Arial"/>
              </a:rPr>
              <a:t>96%</a:t>
            </a:r>
            <a:endParaRPr b="0" i="0" sz="2200" u="none" cap="none" strike="noStrike">
              <a:solidFill>
                <a:schemeClr val="dk1"/>
              </a:solidFill>
              <a:latin typeface="Calibri"/>
              <a:ea typeface="Calibri"/>
              <a:cs typeface="Calibri"/>
              <a:sym typeface="Calibri"/>
            </a:endParaRPr>
          </a:p>
        </p:txBody>
      </p:sp>
      <p:sp>
        <p:nvSpPr>
          <p:cNvPr id="264" name="Google Shape;264;p21"/>
          <p:cNvSpPr/>
          <p:nvPr/>
        </p:nvSpPr>
        <p:spPr>
          <a:xfrm>
            <a:off x="7238390" y="1764792"/>
            <a:ext cx="1338682"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D2D2D"/>
              </a:buClr>
              <a:buSzPts val="850"/>
              <a:buFont typeface="Arial"/>
              <a:buNone/>
            </a:pPr>
            <a:r>
              <a:rPr b="0" i="0" lang="en" sz="850" u="none" cap="none" strike="noStrike">
                <a:solidFill>
                  <a:srgbClr val="2D2D2D"/>
                </a:solidFill>
                <a:latin typeface="Arial"/>
                <a:ea typeface="Arial"/>
                <a:cs typeface="Arial"/>
                <a:sym typeface="Arial"/>
              </a:rPr>
              <a:t>say defensive AI significantly improves security capability. [3]</a:t>
            </a:r>
            <a:endParaRPr b="0" i="0" sz="850" u="none" cap="none" strike="noStrike">
              <a:solidFill>
                <a:schemeClr val="dk1"/>
              </a:solidFill>
              <a:latin typeface="Calibri"/>
              <a:ea typeface="Calibri"/>
              <a:cs typeface="Calibri"/>
              <a:sym typeface="Calibri"/>
            </a:endParaRPr>
          </a:p>
        </p:txBody>
      </p:sp>
      <p:sp>
        <p:nvSpPr>
          <p:cNvPr id="265" name="Google Shape;265;p21"/>
          <p:cNvSpPr/>
          <p:nvPr/>
        </p:nvSpPr>
        <p:spPr>
          <a:xfrm>
            <a:off x="457200" y="2377440"/>
            <a:ext cx="4023360" cy="2148840"/>
          </a:xfrm>
          <a:prstGeom prst="rect">
            <a:avLst/>
          </a:prstGeom>
          <a:solidFill>
            <a:srgbClr val="F6F8FA"/>
          </a:solidFill>
          <a:ln cap="flat" cmpd="sng" w="9525">
            <a:solidFill>
              <a:srgbClr val="D0D7D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21"/>
          <p:cNvSpPr/>
          <p:nvPr/>
        </p:nvSpPr>
        <p:spPr>
          <a:xfrm>
            <a:off x="640080" y="2487168"/>
            <a:ext cx="36576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4E79"/>
              </a:buClr>
              <a:buSzPts val="1000"/>
              <a:buFont typeface="Arial"/>
              <a:buNone/>
            </a:pPr>
            <a:r>
              <a:rPr b="1" i="0" lang="en" sz="1000" u="none" cap="none" strike="noStrike">
                <a:solidFill>
                  <a:srgbClr val="1F4E79"/>
                </a:solidFill>
                <a:latin typeface="Arial"/>
                <a:ea typeface="Arial"/>
                <a:cs typeface="Arial"/>
                <a:sym typeface="Arial"/>
              </a:rPr>
              <a:t>ATTACKER SPEED: BREAKOUT TIME</a:t>
            </a:r>
            <a:endParaRPr b="0" i="0" sz="1000" u="none" cap="none" strike="noStrike">
              <a:solidFill>
                <a:schemeClr val="dk1"/>
              </a:solidFill>
              <a:latin typeface="Calibri"/>
              <a:ea typeface="Calibri"/>
              <a:cs typeface="Calibri"/>
              <a:sym typeface="Calibri"/>
            </a:endParaRPr>
          </a:p>
        </p:txBody>
      </p:sp>
      <p:sp>
        <p:nvSpPr>
          <p:cNvPr id="267" name="Google Shape;267;p21"/>
          <p:cNvSpPr/>
          <p:nvPr/>
        </p:nvSpPr>
        <p:spPr>
          <a:xfrm>
            <a:off x="640080" y="2834640"/>
            <a:ext cx="45720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2D2D"/>
              </a:buClr>
              <a:buSzPts val="1000"/>
              <a:buFont typeface="Arial"/>
              <a:buNone/>
            </a:pPr>
            <a:r>
              <a:rPr b="0" i="0" lang="en" sz="1000" u="none" cap="none" strike="noStrike">
                <a:solidFill>
                  <a:srgbClr val="2D2D2D"/>
                </a:solidFill>
                <a:latin typeface="Arial"/>
                <a:ea typeface="Arial"/>
                <a:cs typeface="Arial"/>
                <a:sym typeface="Arial"/>
              </a:rPr>
              <a:t>2021</a:t>
            </a:r>
            <a:endParaRPr b="0" i="0" sz="1000" u="none" cap="none" strike="noStrike">
              <a:solidFill>
                <a:schemeClr val="dk1"/>
              </a:solidFill>
              <a:latin typeface="Calibri"/>
              <a:ea typeface="Calibri"/>
              <a:cs typeface="Calibri"/>
              <a:sym typeface="Calibri"/>
            </a:endParaRPr>
          </a:p>
        </p:txBody>
      </p:sp>
      <p:sp>
        <p:nvSpPr>
          <p:cNvPr id="268" name="Google Shape;268;p21"/>
          <p:cNvSpPr/>
          <p:nvPr/>
        </p:nvSpPr>
        <p:spPr>
          <a:xfrm>
            <a:off x="1143000" y="2871216"/>
            <a:ext cx="2606040" cy="219456"/>
          </a:xfrm>
          <a:prstGeom prst="rect">
            <a:avLst/>
          </a:prstGeom>
          <a:solidFill>
            <a:srgbClr val="9DB9D5"/>
          </a:solidFill>
          <a:ln cap="flat" cmpd="sng" w="12700">
            <a:solidFill>
              <a:srgbClr val="9DB9D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p21"/>
          <p:cNvSpPr/>
          <p:nvPr/>
        </p:nvSpPr>
        <p:spPr>
          <a:xfrm>
            <a:off x="3822192" y="2834640"/>
            <a:ext cx="64008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2D2D"/>
              </a:buClr>
              <a:buSzPts val="1000"/>
              <a:buFont typeface="Arial"/>
              <a:buNone/>
            </a:pPr>
            <a:r>
              <a:rPr b="1" i="0" lang="en" sz="1000" u="none" cap="none" strike="noStrike">
                <a:solidFill>
                  <a:srgbClr val="2D2D2D"/>
                </a:solidFill>
                <a:latin typeface="Arial"/>
                <a:ea typeface="Arial"/>
                <a:cs typeface="Arial"/>
                <a:sym typeface="Arial"/>
              </a:rPr>
              <a:t>98 min</a:t>
            </a:r>
            <a:endParaRPr b="0" i="0" sz="1000" u="none" cap="none" strike="noStrike">
              <a:solidFill>
                <a:schemeClr val="dk1"/>
              </a:solidFill>
              <a:latin typeface="Calibri"/>
              <a:ea typeface="Calibri"/>
              <a:cs typeface="Calibri"/>
              <a:sym typeface="Calibri"/>
            </a:endParaRPr>
          </a:p>
        </p:txBody>
      </p:sp>
      <p:sp>
        <p:nvSpPr>
          <p:cNvPr id="270" name="Google Shape;270;p21"/>
          <p:cNvSpPr/>
          <p:nvPr/>
        </p:nvSpPr>
        <p:spPr>
          <a:xfrm>
            <a:off x="640080" y="3236976"/>
            <a:ext cx="45720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2D2D"/>
              </a:buClr>
              <a:buSzPts val="1000"/>
              <a:buFont typeface="Arial"/>
              <a:buNone/>
            </a:pPr>
            <a:r>
              <a:rPr b="0" i="0" lang="en" sz="1000" u="none" cap="none" strike="noStrike">
                <a:solidFill>
                  <a:srgbClr val="2D2D2D"/>
                </a:solidFill>
                <a:latin typeface="Arial"/>
                <a:ea typeface="Arial"/>
                <a:cs typeface="Arial"/>
                <a:sym typeface="Arial"/>
              </a:rPr>
              <a:t>2024</a:t>
            </a:r>
            <a:endParaRPr b="0" i="0" sz="1000" u="none" cap="none" strike="noStrike">
              <a:solidFill>
                <a:schemeClr val="dk1"/>
              </a:solidFill>
              <a:latin typeface="Calibri"/>
              <a:ea typeface="Calibri"/>
              <a:cs typeface="Calibri"/>
              <a:sym typeface="Calibri"/>
            </a:endParaRPr>
          </a:p>
        </p:txBody>
      </p:sp>
      <p:sp>
        <p:nvSpPr>
          <p:cNvPr id="271" name="Google Shape;271;p21"/>
          <p:cNvSpPr/>
          <p:nvPr/>
        </p:nvSpPr>
        <p:spPr>
          <a:xfrm>
            <a:off x="1143000" y="3273552"/>
            <a:ext cx="1276428" cy="219456"/>
          </a:xfrm>
          <a:prstGeom prst="rect">
            <a:avLst/>
          </a:prstGeom>
          <a:solidFill>
            <a:srgbClr val="9DB9D5"/>
          </a:solidFill>
          <a:ln cap="flat" cmpd="sng" w="12700">
            <a:solidFill>
              <a:srgbClr val="9DB9D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p21"/>
          <p:cNvSpPr/>
          <p:nvPr/>
        </p:nvSpPr>
        <p:spPr>
          <a:xfrm>
            <a:off x="2492580" y="3236976"/>
            <a:ext cx="64008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2D2D"/>
              </a:buClr>
              <a:buSzPts val="1000"/>
              <a:buFont typeface="Arial"/>
              <a:buNone/>
            </a:pPr>
            <a:r>
              <a:rPr b="1" i="0" lang="en" sz="1000" u="none" cap="none" strike="noStrike">
                <a:solidFill>
                  <a:srgbClr val="2D2D2D"/>
                </a:solidFill>
                <a:latin typeface="Arial"/>
                <a:ea typeface="Arial"/>
                <a:cs typeface="Arial"/>
                <a:sym typeface="Arial"/>
              </a:rPr>
              <a:t>48 min</a:t>
            </a:r>
            <a:endParaRPr b="0" i="0" sz="1000" u="none" cap="none" strike="noStrike">
              <a:solidFill>
                <a:schemeClr val="dk1"/>
              </a:solidFill>
              <a:latin typeface="Calibri"/>
              <a:ea typeface="Calibri"/>
              <a:cs typeface="Calibri"/>
              <a:sym typeface="Calibri"/>
            </a:endParaRPr>
          </a:p>
        </p:txBody>
      </p:sp>
      <p:sp>
        <p:nvSpPr>
          <p:cNvPr id="273" name="Google Shape;273;p21"/>
          <p:cNvSpPr/>
          <p:nvPr/>
        </p:nvSpPr>
        <p:spPr>
          <a:xfrm>
            <a:off x="640080" y="3639312"/>
            <a:ext cx="45720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2D2D"/>
              </a:buClr>
              <a:buSzPts val="1000"/>
              <a:buFont typeface="Arial"/>
              <a:buNone/>
            </a:pPr>
            <a:r>
              <a:rPr b="0" i="0" lang="en" sz="1000" u="none" cap="none" strike="noStrike">
                <a:solidFill>
                  <a:srgbClr val="2D2D2D"/>
                </a:solidFill>
                <a:latin typeface="Arial"/>
                <a:ea typeface="Arial"/>
                <a:cs typeface="Arial"/>
                <a:sym typeface="Arial"/>
              </a:rPr>
              <a:t>2025</a:t>
            </a:r>
            <a:endParaRPr b="0" i="0" sz="1000" u="none" cap="none" strike="noStrike">
              <a:solidFill>
                <a:schemeClr val="dk1"/>
              </a:solidFill>
              <a:latin typeface="Calibri"/>
              <a:ea typeface="Calibri"/>
              <a:cs typeface="Calibri"/>
              <a:sym typeface="Calibri"/>
            </a:endParaRPr>
          </a:p>
        </p:txBody>
      </p:sp>
      <p:sp>
        <p:nvSpPr>
          <p:cNvPr id="274" name="Google Shape;274;p21"/>
          <p:cNvSpPr/>
          <p:nvPr/>
        </p:nvSpPr>
        <p:spPr>
          <a:xfrm>
            <a:off x="1143000" y="3675888"/>
            <a:ext cx="771175" cy="219456"/>
          </a:xfrm>
          <a:prstGeom prst="rect">
            <a:avLst/>
          </a:prstGeom>
          <a:solidFill>
            <a:srgbClr val="A61C1C"/>
          </a:solidFill>
          <a:ln cap="flat" cmpd="sng" w="12700">
            <a:solidFill>
              <a:srgbClr val="A61C1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21"/>
          <p:cNvSpPr/>
          <p:nvPr/>
        </p:nvSpPr>
        <p:spPr>
          <a:xfrm>
            <a:off x="1987327" y="3639312"/>
            <a:ext cx="64008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61C1C"/>
              </a:buClr>
              <a:buSzPts val="1000"/>
              <a:buFont typeface="Arial"/>
              <a:buNone/>
            </a:pPr>
            <a:r>
              <a:rPr b="1" i="0" lang="en" sz="1000" u="none" cap="none" strike="noStrike">
                <a:solidFill>
                  <a:srgbClr val="A61C1C"/>
                </a:solidFill>
                <a:latin typeface="Arial"/>
                <a:ea typeface="Arial"/>
                <a:cs typeface="Arial"/>
                <a:sym typeface="Arial"/>
              </a:rPr>
              <a:t>29 min</a:t>
            </a:r>
            <a:endParaRPr b="0" i="0" sz="1000" u="none" cap="none" strike="noStrike">
              <a:solidFill>
                <a:schemeClr val="dk1"/>
              </a:solidFill>
              <a:latin typeface="Calibri"/>
              <a:ea typeface="Calibri"/>
              <a:cs typeface="Calibri"/>
              <a:sym typeface="Calibri"/>
            </a:endParaRPr>
          </a:p>
        </p:txBody>
      </p:sp>
      <p:sp>
        <p:nvSpPr>
          <p:cNvPr id="276" name="Google Shape;276;p21"/>
          <p:cNvSpPr/>
          <p:nvPr/>
        </p:nvSpPr>
        <p:spPr>
          <a:xfrm>
            <a:off x="640080" y="4114800"/>
            <a:ext cx="3657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B6B"/>
              </a:buClr>
              <a:buSzPts val="850"/>
              <a:buFont typeface="Arial"/>
              <a:buNone/>
            </a:pPr>
            <a:r>
              <a:rPr b="0" i="0" lang="en" sz="850" u="none" cap="none" strike="noStrike">
                <a:solidFill>
                  <a:srgbClr val="6B6B6B"/>
                </a:solidFill>
                <a:latin typeface="Arial"/>
                <a:ea typeface="Arial"/>
                <a:cs typeface="Arial"/>
                <a:sym typeface="Arial"/>
              </a:rPr>
              <a:t>Fastest observed: 27 seconds  |  Data theft began within 4 minutes in one case. [1]</a:t>
            </a:r>
            <a:endParaRPr b="0" i="0" sz="850" u="none" cap="none" strike="noStrike">
              <a:solidFill>
                <a:schemeClr val="dk1"/>
              </a:solidFill>
              <a:latin typeface="Calibri"/>
              <a:ea typeface="Calibri"/>
              <a:cs typeface="Calibri"/>
              <a:sym typeface="Calibri"/>
            </a:endParaRPr>
          </a:p>
        </p:txBody>
      </p:sp>
      <p:sp>
        <p:nvSpPr>
          <p:cNvPr id="277" name="Google Shape;277;p21"/>
          <p:cNvSpPr/>
          <p:nvPr/>
        </p:nvSpPr>
        <p:spPr>
          <a:xfrm>
            <a:off x="4663440" y="2377440"/>
            <a:ext cx="4023360" cy="2148840"/>
          </a:xfrm>
          <a:prstGeom prst="rect">
            <a:avLst/>
          </a:prstGeom>
          <a:solidFill>
            <a:srgbClr val="F6F8FA"/>
          </a:solidFill>
          <a:ln cap="flat" cmpd="sng" w="9525">
            <a:solidFill>
              <a:srgbClr val="D0D7D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 name="Google Shape;278;p21"/>
          <p:cNvSpPr/>
          <p:nvPr/>
        </p:nvSpPr>
        <p:spPr>
          <a:xfrm>
            <a:off x="4846320" y="2487168"/>
            <a:ext cx="36576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4E79"/>
              </a:buClr>
              <a:buSzPts val="1000"/>
              <a:buFont typeface="Arial"/>
              <a:buNone/>
            </a:pPr>
            <a:r>
              <a:rPr b="1" i="0" lang="en" sz="1000" u="none" cap="none" strike="noStrike">
                <a:solidFill>
                  <a:srgbClr val="1F4E79"/>
                </a:solidFill>
                <a:latin typeface="Arial"/>
                <a:ea typeface="Arial"/>
                <a:cs typeface="Arial"/>
                <a:sym typeface="Arial"/>
              </a:rPr>
              <a:t>WHAT CHANGES THE DOMAIN</a:t>
            </a:r>
            <a:endParaRPr b="0" i="0" sz="1000" u="none" cap="none" strike="noStrike">
              <a:solidFill>
                <a:schemeClr val="dk1"/>
              </a:solidFill>
              <a:latin typeface="Calibri"/>
              <a:ea typeface="Calibri"/>
              <a:cs typeface="Calibri"/>
              <a:sym typeface="Calibri"/>
            </a:endParaRPr>
          </a:p>
        </p:txBody>
      </p:sp>
      <p:sp>
        <p:nvSpPr>
          <p:cNvPr id="279" name="Google Shape;279;p21"/>
          <p:cNvSpPr/>
          <p:nvPr/>
        </p:nvSpPr>
        <p:spPr>
          <a:xfrm>
            <a:off x="4846320" y="2834640"/>
            <a:ext cx="292608" cy="292608"/>
          </a:xfrm>
          <a:prstGeom prst="ellipse">
            <a:avLst/>
          </a:prstGeom>
          <a:solidFill>
            <a:srgbClr val="A61C1C"/>
          </a:solidFill>
          <a:ln cap="flat" cmpd="sng" w="12700">
            <a:solidFill>
              <a:srgbClr val="A61C1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21"/>
          <p:cNvSpPr/>
          <p:nvPr/>
        </p:nvSpPr>
        <p:spPr>
          <a:xfrm>
            <a:off x="4846320" y="2834640"/>
            <a:ext cx="29260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50"/>
              <a:buFont typeface="Arial"/>
              <a:buNone/>
            </a:pPr>
            <a:r>
              <a:rPr b="1" i="0" lang="en" sz="850" u="none" cap="none" strike="noStrike">
                <a:solidFill>
                  <a:srgbClr val="FFFFFF"/>
                </a:solidFill>
                <a:latin typeface="Arial"/>
                <a:ea typeface="Arial"/>
                <a:cs typeface="Arial"/>
                <a:sym typeface="Arial"/>
              </a:rPr>
              <a:t>01</a:t>
            </a:r>
            <a:endParaRPr b="0" i="0" sz="850" u="none" cap="none" strike="noStrike">
              <a:solidFill>
                <a:schemeClr val="dk1"/>
              </a:solidFill>
              <a:latin typeface="Calibri"/>
              <a:ea typeface="Calibri"/>
              <a:cs typeface="Calibri"/>
              <a:sym typeface="Calibri"/>
            </a:endParaRPr>
          </a:p>
        </p:txBody>
      </p:sp>
      <p:sp>
        <p:nvSpPr>
          <p:cNvPr id="281" name="Google Shape;281;p21"/>
          <p:cNvSpPr/>
          <p:nvPr/>
        </p:nvSpPr>
        <p:spPr>
          <a:xfrm>
            <a:off x="5257800" y="2816352"/>
            <a:ext cx="3246120" cy="51206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F4E79"/>
              </a:buClr>
              <a:buSzPts val="1000"/>
              <a:buFont typeface="Arial"/>
              <a:buNone/>
            </a:pPr>
            <a:r>
              <a:rPr b="1" i="0" lang="en" sz="1000" u="none" cap="none" strike="noStrike">
                <a:solidFill>
                  <a:srgbClr val="1F4E79"/>
                </a:solidFill>
                <a:latin typeface="Arial"/>
                <a:ea typeface="Arial"/>
                <a:cs typeface="Arial"/>
                <a:sym typeface="Arial"/>
              </a:rPr>
              <a:t>Automation speed  </a:t>
            </a:r>
            <a:r>
              <a:rPr b="0" i="0" lang="en" sz="850" u="none" cap="none" strike="noStrike">
                <a:solidFill>
                  <a:srgbClr val="2D2D2D"/>
                </a:solidFill>
                <a:latin typeface="Arial"/>
                <a:ea typeface="Arial"/>
                <a:cs typeface="Arial"/>
                <a:sym typeface="Arial"/>
              </a:rPr>
              <a:t>AI-enabled adversary operations rose 89% YoY; defense is automating too. [1][3]</a:t>
            </a:r>
            <a:endParaRPr b="0" i="0" sz="1000" u="none" cap="none" strike="noStrike">
              <a:solidFill>
                <a:schemeClr val="dk1"/>
              </a:solidFill>
              <a:latin typeface="Calibri"/>
              <a:ea typeface="Calibri"/>
              <a:cs typeface="Calibri"/>
              <a:sym typeface="Calibri"/>
            </a:endParaRPr>
          </a:p>
        </p:txBody>
      </p:sp>
      <p:sp>
        <p:nvSpPr>
          <p:cNvPr id="282" name="Google Shape;282;p21"/>
          <p:cNvSpPr/>
          <p:nvPr/>
        </p:nvSpPr>
        <p:spPr>
          <a:xfrm>
            <a:off x="4846320" y="3383280"/>
            <a:ext cx="292608" cy="292608"/>
          </a:xfrm>
          <a:prstGeom prst="ellipse">
            <a:avLst/>
          </a:prstGeom>
          <a:solidFill>
            <a:srgbClr val="1F4E79"/>
          </a:solidFill>
          <a:ln cap="flat" cmpd="sng" w="12700">
            <a:solidFill>
              <a:srgbClr val="1F4E7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21"/>
          <p:cNvSpPr/>
          <p:nvPr/>
        </p:nvSpPr>
        <p:spPr>
          <a:xfrm>
            <a:off x="4846320" y="3383280"/>
            <a:ext cx="29260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50"/>
              <a:buFont typeface="Arial"/>
              <a:buNone/>
            </a:pPr>
            <a:r>
              <a:rPr b="1" i="0" lang="en" sz="850" u="none" cap="none" strike="noStrike">
                <a:solidFill>
                  <a:srgbClr val="FFFFFF"/>
                </a:solidFill>
                <a:latin typeface="Arial"/>
                <a:ea typeface="Arial"/>
                <a:cs typeface="Arial"/>
                <a:sym typeface="Arial"/>
              </a:rPr>
              <a:t>02</a:t>
            </a:r>
            <a:endParaRPr b="0" i="0" sz="850" u="none" cap="none" strike="noStrike">
              <a:solidFill>
                <a:schemeClr val="dk1"/>
              </a:solidFill>
              <a:latin typeface="Calibri"/>
              <a:ea typeface="Calibri"/>
              <a:cs typeface="Calibri"/>
              <a:sym typeface="Calibri"/>
            </a:endParaRPr>
          </a:p>
        </p:txBody>
      </p:sp>
      <p:sp>
        <p:nvSpPr>
          <p:cNvPr id="284" name="Google Shape;284;p21"/>
          <p:cNvSpPr/>
          <p:nvPr/>
        </p:nvSpPr>
        <p:spPr>
          <a:xfrm>
            <a:off x="5257800" y="3364992"/>
            <a:ext cx="3246120" cy="51206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F4E79"/>
              </a:buClr>
              <a:buSzPts val="1000"/>
              <a:buFont typeface="Arial"/>
              <a:buNone/>
            </a:pPr>
            <a:r>
              <a:rPr b="1" i="0" lang="en" sz="1000" u="none" cap="none" strike="noStrike">
                <a:solidFill>
                  <a:srgbClr val="1F4E79"/>
                </a:solidFill>
                <a:latin typeface="Arial"/>
                <a:ea typeface="Arial"/>
                <a:cs typeface="Arial"/>
                <a:sym typeface="Arial"/>
              </a:rPr>
              <a:t>Attack-surface sprawl  </a:t>
            </a:r>
            <a:r>
              <a:rPr b="0" i="0" lang="en" sz="850" u="none" cap="none" strike="noStrike">
                <a:solidFill>
                  <a:srgbClr val="2D2D2D"/>
                </a:solidFill>
                <a:latin typeface="Arial"/>
                <a:ea typeface="Arial"/>
                <a:cs typeface="Arial"/>
                <a:sym typeface="Arial"/>
              </a:rPr>
              <a:t>Third-party breaches, exposed apps, shadow AI, APIs and open-source dependencies multiply entry points. [2][5][6]</a:t>
            </a:r>
            <a:endParaRPr b="0" i="0" sz="1000" u="none" cap="none" strike="noStrike">
              <a:solidFill>
                <a:schemeClr val="dk1"/>
              </a:solidFill>
              <a:latin typeface="Calibri"/>
              <a:ea typeface="Calibri"/>
              <a:cs typeface="Calibri"/>
              <a:sym typeface="Calibri"/>
            </a:endParaRPr>
          </a:p>
        </p:txBody>
      </p:sp>
      <p:sp>
        <p:nvSpPr>
          <p:cNvPr id="285" name="Google Shape;285;p21"/>
          <p:cNvSpPr/>
          <p:nvPr/>
        </p:nvSpPr>
        <p:spPr>
          <a:xfrm>
            <a:off x="4846320" y="3931920"/>
            <a:ext cx="292608" cy="292608"/>
          </a:xfrm>
          <a:prstGeom prst="ellipse">
            <a:avLst/>
          </a:prstGeom>
          <a:solidFill>
            <a:srgbClr val="2E75B6"/>
          </a:solidFill>
          <a:ln cap="flat" cmpd="sng" w="12700">
            <a:solidFill>
              <a:srgbClr val="2E75B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p21"/>
          <p:cNvSpPr/>
          <p:nvPr/>
        </p:nvSpPr>
        <p:spPr>
          <a:xfrm>
            <a:off x="4846320" y="3931920"/>
            <a:ext cx="292608"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50"/>
              <a:buFont typeface="Arial"/>
              <a:buNone/>
            </a:pPr>
            <a:r>
              <a:rPr b="1" i="0" lang="en" sz="850" u="none" cap="none" strike="noStrike">
                <a:solidFill>
                  <a:srgbClr val="FFFFFF"/>
                </a:solidFill>
                <a:latin typeface="Arial"/>
                <a:ea typeface="Arial"/>
                <a:cs typeface="Arial"/>
                <a:sym typeface="Arial"/>
              </a:rPr>
              <a:t>03</a:t>
            </a:r>
            <a:endParaRPr b="0" i="0" sz="850" u="none" cap="none" strike="noStrike">
              <a:solidFill>
                <a:schemeClr val="dk1"/>
              </a:solidFill>
              <a:latin typeface="Calibri"/>
              <a:ea typeface="Calibri"/>
              <a:cs typeface="Calibri"/>
              <a:sym typeface="Calibri"/>
            </a:endParaRPr>
          </a:p>
        </p:txBody>
      </p:sp>
      <p:sp>
        <p:nvSpPr>
          <p:cNvPr id="287" name="Google Shape;287;p21"/>
          <p:cNvSpPr/>
          <p:nvPr/>
        </p:nvSpPr>
        <p:spPr>
          <a:xfrm>
            <a:off x="5257800" y="3913632"/>
            <a:ext cx="3246120" cy="51206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F4E79"/>
              </a:buClr>
              <a:buSzPts val="1000"/>
              <a:buFont typeface="Arial"/>
              <a:buNone/>
            </a:pPr>
            <a:r>
              <a:rPr b="1" i="0" lang="en" sz="1000" u="none" cap="none" strike="noStrike">
                <a:solidFill>
                  <a:srgbClr val="1F4E79"/>
                </a:solidFill>
                <a:latin typeface="Arial"/>
                <a:ea typeface="Arial"/>
                <a:cs typeface="Arial"/>
                <a:sym typeface="Arial"/>
              </a:rPr>
              <a:t>Governance fragmentation  </a:t>
            </a:r>
            <a:r>
              <a:rPr b="0" i="0" lang="en" sz="850" u="none" cap="none" strike="noStrike">
                <a:solidFill>
                  <a:srgbClr val="2D2D2D"/>
                </a:solidFill>
                <a:latin typeface="Arial"/>
                <a:ea typeface="Arial"/>
                <a:cs typeface="Arial"/>
                <a:sym typeface="Arial"/>
              </a:rPr>
              <a:t>EU rules focus on AI behavior; U.S. policy relies more on voluntary standards and access controls. [8][9][10][11]</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92" name="Shape 292"/>
        <p:cNvGrpSpPr/>
        <p:nvPr/>
      </p:nvGrpSpPr>
      <p:grpSpPr>
        <a:xfrm>
          <a:off x="0" y="0"/>
          <a:ext cx="0" cy="0"/>
          <a:chOff x="0" y="0"/>
          <a:chExt cx="0" cy="0"/>
        </a:xfrm>
      </p:grpSpPr>
      <p:sp>
        <p:nvSpPr>
          <p:cNvPr id="293" name="Google Shape;293;p22"/>
          <p:cNvSpPr/>
          <p:nvPr/>
        </p:nvSpPr>
        <p:spPr>
          <a:xfrm>
            <a:off x="457200" y="182880"/>
            <a:ext cx="548640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E75B6"/>
              </a:buClr>
              <a:buSzPts val="1000"/>
              <a:buFont typeface="Arial"/>
              <a:buNone/>
            </a:pPr>
            <a:r>
              <a:rPr b="1" i="0" lang="en" sz="1000" u="none" cap="none" strike="noStrike">
                <a:solidFill>
                  <a:srgbClr val="2E75B6"/>
                </a:solidFill>
                <a:latin typeface="Arial"/>
                <a:ea typeface="Arial"/>
                <a:cs typeface="Arial"/>
                <a:sym typeface="Arial"/>
              </a:rPr>
              <a:t>03  |  ANALYSIS</a:t>
            </a:r>
            <a:endParaRPr b="0" i="0" sz="1000" u="none" cap="none" strike="noStrike">
              <a:solidFill>
                <a:schemeClr val="dk1"/>
              </a:solidFill>
              <a:latin typeface="Calibri"/>
              <a:ea typeface="Calibri"/>
              <a:cs typeface="Calibri"/>
              <a:sym typeface="Calibri"/>
            </a:endParaRPr>
          </a:p>
        </p:txBody>
      </p:sp>
      <p:sp>
        <p:nvSpPr>
          <p:cNvPr id="294" name="Google Shape;294;p22"/>
          <p:cNvSpPr/>
          <p:nvPr/>
        </p:nvSpPr>
        <p:spPr>
          <a:xfrm>
            <a:off x="457200" y="384048"/>
            <a:ext cx="8229600" cy="56692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F4E79"/>
              </a:buClr>
              <a:buSzPts val="1900"/>
              <a:buFont typeface="Arial"/>
              <a:buNone/>
            </a:pPr>
            <a:r>
              <a:rPr b="1" i="0" lang="en" sz="1900" u="none" cap="none" strike="noStrike">
                <a:solidFill>
                  <a:srgbClr val="1F4E79"/>
                </a:solidFill>
                <a:latin typeface="Arial"/>
                <a:ea typeface="Arial"/>
                <a:cs typeface="Arial"/>
                <a:sym typeface="Arial"/>
              </a:rPr>
              <a:t>Scenario matrix: Alignment x Corrigibility</a:t>
            </a:r>
            <a:endParaRPr b="0" i="0" sz="1900" u="none" cap="none" strike="noStrike">
              <a:solidFill>
                <a:schemeClr val="dk1"/>
              </a:solidFill>
              <a:latin typeface="Calibri"/>
              <a:ea typeface="Calibri"/>
              <a:cs typeface="Calibri"/>
              <a:sym typeface="Calibri"/>
            </a:endParaRPr>
          </a:p>
        </p:txBody>
      </p:sp>
      <p:sp>
        <p:nvSpPr>
          <p:cNvPr id="295" name="Google Shape;295;p22"/>
          <p:cNvSpPr/>
          <p:nvPr/>
        </p:nvSpPr>
        <p:spPr>
          <a:xfrm>
            <a:off x="457200" y="768096"/>
            <a:ext cx="8229600" cy="23774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B6B6B"/>
              </a:buClr>
              <a:buSzPts val="1100"/>
              <a:buFont typeface="Arial"/>
              <a:buNone/>
            </a:pPr>
            <a:r>
              <a:rPr b="0" i="0" lang="en" sz="1100" u="none" cap="none" strike="noStrike">
                <a:solidFill>
                  <a:srgbClr val="6B6B6B"/>
                </a:solidFill>
                <a:latin typeface="Arial"/>
                <a:ea typeface="Arial"/>
                <a:cs typeface="Arial"/>
                <a:sym typeface="Arial"/>
              </a:rPr>
              <a:t>Four possible futures depend on whose goals AI follows and whether anyone can reliably control it once operating.</a:t>
            </a:r>
            <a:endParaRPr b="0" i="0" sz="1100" u="none" cap="none" strike="noStrike">
              <a:solidFill>
                <a:schemeClr val="dk1"/>
              </a:solidFill>
              <a:latin typeface="Calibri"/>
              <a:ea typeface="Calibri"/>
              <a:cs typeface="Calibri"/>
              <a:sym typeface="Calibri"/>
            </a:endParaRPr>
          </a:p>
        </p:txBody>
      </p:sp>
      <p:sp>
        <p:nvSpPr>
          <p:cNvPr id="296" name="Google Shape;296;p22"/>
          <p:cNvSpPr/>
          <p:nvPr/>
        </p:nvSpPr>
        <p:spPr>
          <a:xfrm>
            <a:off x="457200" y="4636008"/>
            <a:ext cx="822960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B6B6B"/>
              </a:buClr>
              <a:buSzPts val="750"/>
              <a:buFont typeface="Arial"/>
              <a:buNone/>
            </a:pPr>
            <a:r>
              <a:rPr b="0" i="0" lang="en" sz="750" u="none" cap="none" strike="noStrike">
                <a:solidFill>
                  <a:srgbClr val="6B6B6B"/>
                </a:solidFill>
                <a:latin typeface="Arial"/>
                <a:ea typeface="Arial"/>
                <a:cs typeface="Arial"/>
                <a:sym typeface="Arial"/>
              </a:rPr>
              <a:t>Scenarios are analytical constructs. Alignment evidence: [3] agent-risk concern, [14] sandbox-escape incident. Photos (Wikimedia Commons, StockSnap): Aligned + Incorrigible, Scott Nauert, CC BY-SA 3.0; Aligned + Corrigible, Matt Bango, CC0; Misaligned + Incorrigible, Kari Greer / USFS, CC BY-SA 2.0; Misaligned + Corrigible, Shixart1985, CC BY 2.0.</a:t>
            </a:r>
            <a:endParaRPr b="0" i="0" sz="750" u="none" cap="none" strike="noStrike">
              <a:solidFill>
                <a:schemeClr val="dk1"/>
              </a:solidFill>
              <a:latin typeface="Calibri"/>
              <a:ea typeface="Calibri"/>
              <a:cs typeface="Calibri"/>
              <a:sym typeface="Calibri"/>
            </a:endParaRPr>
          </a:p>
        </p:txBody>
      </p:sp>
      <p:sp>
        <p:nvSpPr>
          <p:cNvPr id="297" name="Google Shape;297;p22"/>
          <p:cNvSpPr/>
          <p:nvPr/>
        </p:nvSpPr>
        <p:spPr>
          <a:xfrm>
            <a:off x="457200" y="4919472"/>
            <a:ext cx="8229600" cy="16459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AA5B1"/>
              </a:buClr>
              <a:buSzPts val="700"/>
              <a:buFont typeface="Arial"/>
              <a:buNone/>
            </a:pPr>
            <a:r>
              <a:rPr b="0" i="0" lang="en" sz="700" u="none" cap="none" strike="noStrike">
                <a:solidFill>
                  <a:srgbClr val="9AA5B1"/>
                </a:solidFill>
                <a:latin typeface="Arial"/>
                <a:ea typeface="Arial"/>
                <a:cs typeface="Arial"/>
                <a:sym typeface="Arial"/>
              </a:rPr>
              <a:t>The Future of Cybersecurity in the Age of AI Agents  |  September 2026  |  3</a:t>
            </a:r>
            <a:endParaRPr b="0" i="0" sz="700" u="none" cap="none" strike="noStrike">
              <a:solidFill>
                <a:schemeClr val="dk1"/>
              </a:solidFill>
              <a:latin typeface="Calibri"/>
              <a:ea typeface="Calibri"/>
              <a:cs typeface="Calibri"/>
              <a:sym typeface="Calibri"/>
            </a:endParaRPr>
          </a:p>
        </p:txBody>
      </p:sp>
      <p:sp>
        <p:nvSpPr>
          <p:cNvPr id="298" name="Google Shape;298;p22"/>
          <p:cNvSpPr/>
          <p:nvPr/>
        </p:nvSpPr>
        <p:spPr>
          <a:xfrm rot="-5400000">
            <a:off x="48006" y="1853946"/>
            <a:ext cx="1549908"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F4E79"/>
              </a:buClr>
              <a:buSzPts val="850"/>
              <a:buFont typeface="Arial"/>
              <a:buNone/>
            </a:pPr>
            <a:r>
              <a:rPr b="1" i="0" lang="en" sz="850" u="none" cap="none" strike="noStrike">
                <a:solidFill>
                  <a:srgbClr val="1F4E79"/>
                </a:solidFill>
                <a:latin typeface="Arial"/>
                <a:ea typeface="Arial"/>
                <a:cs typeface="Arial"/>
                <a:sym typeface="Arial"/>
              </a:rPr>
              <a:t>ALIGNED</a:t>
            </a:r>
            <a:endParaRPr b="0" i="0" sz="850" u="none" cap="none" strike="noStrike">
              <a:solidFill>
                <a:schemeClr val="dk1"/>
              </a:solidFill>
              <a:latin typeface="Calibri"/>
              <a:ea typeface="Calibri"/>
              <a:cs typeface="Calibri"/>
              <a:sym typeface="Calibri"/>
            </a:endParaRPr>
          </a:p>
        </p:txBody>
      </p:sp>
      <p:sp>
        <p:nvSpPr>
          <p:cNvPr id="299" name="Google Shape;299;p22"/>
          <p:cNvSpPr/>
          <p:nvPr/>
        </p:nvSpPr>
        <p:spPr>
          <a:xfrm rot="-5400000">
            <a:off x="48006" y="3458718"/>
            <a:ext cx="1549908"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A61C1C"/>
              </a:buClr>
              <a:buSzPts val="850"/>
              <a:buFont typeface="Arial"/>
              <a:buNone/>
            </a:pPr>
            <a:r>
              <a:rPr b="1" i="0" lang="en" sz="850" u="none" cap="none" strike="noStrike">
                <a:solidFill>
                  <a:srgbClr val="A61C1C"/>
                </a:solidFill>
                <a:latin typeface="Arial"/>
                <a:ea typeface="Arial"/>
                <a:cs typeface="Arial"/>
                <a:sym typeface="Arial"/>
              </a:rPr>
              <a:t>MISALIGNED</a:t>
            </a:r>
            <a:endParaRPr b="0" i="0" sz="850" u="none" cap="none" strike="noStrike">
              <a:solidFill>
                <a:schemeClr val="dk1"/>
              </a:solidFill>
              <a:latin typeface="Calibri"/>
              <a:ea typeface="Calibri"/>
              <a:cs typeface="Calibri"/>
              <a:sym typeface="Calibri"/>
            </a:endParaRPr>
          </a:p>
        </p:txBody>
      </p:sp>
      <p:sp>
        <p:nvSpPr>
          <p:cNvPr id="300" name="Google Shape;300;p22"/>
          <p:cNvSpPr/>
          <p:nvPr/>
        </p:nvSpPr>
        <p:spPr>
          <a:xfrm rot="-5400000">
            <a:off x="-1028700" y="2656332"/>
            <a:ext cx="3154680"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B6B6B"/>
              </a:buClr>
              <a:buSzPts val="950"/>
              <a:buFont typeface="Arial"/>
              <a:buNone/>
            </a:pPr>
            <a:r>
              <a:rPr b="1" i="0" lang="en" sz="950" u="none" cap="none" strike="noStrike">
                <a:solidFill>
                  <a:srgbClr val="6B6B6B"/>
                </a:solidFill>
                <a:latin typeface="Arial"/>
                <a:ea typeface="Arial"/>
                <a:cs typeface="Arial"/>
                <a:sym typeface="Arial"/>
              </a:rPr>
              <a:t>ALIGNMENT</a:t>
            </a:r>
            <a:endParaRPr b="0" i="0" sz="950" u="none" cap="none" strike="noStrike">
              <a:solidFill>
                <a:schemeClr val="dk1"/>
              </a:solidFill>
              <a:latin typeface="Calibri"/>
              <a:ea typeface="Calibri"/>
              <a:cs typeface="Calibri"/>
              <a:sym typeface="Calibri"/>
            </a:endParaRPr>
          </a:p>
        </p:txBody>
      </p:sp>
      <p:sp>
        <p:nvSpPr>
          <p:cNvPr id="301" name="Google Shape;301;p22"/>
          <p:cNvSpPr/>
          <p:nvPr/>
        </p:nvSpPr>
        <p:spPr>
          <a:xfrm>
            <a:off x="960120" y="4379976"/>
            <a:ext cx="3127248"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B6B"/>
              </a:buClr>
              <a:buSzPts val="800"/>
              <a:buFont typeface="Arial"/>
              <a:buNone/>
            </a:pPr>
            <a:r>
              <a:rPr b="1" i="0" lang="en" sz="800" u="none" cap="none" strike="noStrike">
                <a:solidFill>
                  <a:srgbClr val="6B6B6B"/>
                </a:solidFill>
                <a:latin typeface="Arial"/>
                <a:ea typeface="Arial"/>
                <a:cs typeface="Arial"/>
                <a:sym typeface="Arial"/>
              </a:rPr>
              <a:t>INCORRIGIBLE: no one can control it</a:t>
            </a:r>
            <a:endParaRPr b="0" i="0" sz="800" u="none" cap="none" strike="noStrike">
              <a:solidFill>
                <a:schemeClr val="dk1"/>
              </a:solidFill>
              <a:latin typeface="Calibri"/>
              <a:ea typeface="Calibri"/>
              <a:cs typeface="Calibri"/>
              <a:sym typeface="Calibri"/>
            </a:endParaRPr>
          </a:p>
        </p:txBody>
      </p:sp>
      <p:sp>
        <p:nvSpPr>
          <p:cNvPr id="302" name="Google Shape;302;p22"/>
          <p:cNvSpPr/>
          <p:nvPr/>
        </p:nvSpPr>
        <p:spPr>
          <a:xfrm>
            <a:off x="4142232" y="4379976"/>
            <a:ext cx="3127248" cy="1828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6B6B"/>
              </a:buClr>
              <a:buSzPts val="800"/>
              <a:buFont typeface="Arial"/>
              <a:buNone/>
            </a:pPr>
            <a:r>
              <a:rPr b="1" i="0" lang="en" sz="800" u="none" cap="none" strike="noStrike">
                <a:solidFill>
                  <a:srgbClr val="6B6B6B"/>
                </a:solidFill>
                <a:latin typeface="Arial"/>
                <a:ea typeface="Arial"/>
                <a:cs typeface="Arial"/>
                <a:sym typeface="Arial"/>
              </a:rPr>
              <a:t>CORRIGIBLE: someone can control it</a:t>
            </a:r>
            <a:endParaRPr b="0" i="0" sz="800" u="none" cap="none" strike="noStrike">
              <a:solidFill>
                <a:schemeClr val="dk1"/>
              </a:solidFill>
              <a:latin typeface="Calibri"/>
              <a:ea typeface="Calibri"/>
              <a:cs typeface="Calibri"/>
              <a:sym typeface="Calibri"/>
            </a:endParaRPr>
          </a:p>
        </p:txBody>
      </p:sp>
      <p:sp>
        <p:nvSpPr>
          <p:cNvPr id="303" name="Google Shape;303;p22"/>
          <p:cNvSpPr/>
          <p:nvPr/>
        </p:nvSpPr>
        <p:spPr>
          <a:xfrm>
            <a:off x="960120" y="4379976"/>
            <a:ext cx="6309360" cy="1828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B6B6B"/>
              </a:buClr>
              <a:buSzPts val="950"/>
              <a:buFont typeface="Arial"/>
              <a:buNone/>
            </a:pPr>
            <a:r>
              <a:rPr b="1" i="0" lang="en" sz="950" u="none" cap="none" strike="noStrike">
                <a:solidFill>
                  <a:srgbClr val="6B6B6B"/>
                </a:solidFill>
                <a:latin typeface="Arial"/>
                <a:ea typeface="Arial"/>
                <a:cs typeface="Arial"/>
                <a:sym typeface="Arial"/>
              </a:rPr>
              <a:t>CORRIGIBILITY</a:t>
            </a:r>
            <a:endParaRPr b="0" i="0" sz="950" u="none" cap="none" strike="noStrike">
              <a:solidFill>
                <a:schemeClr val="dk1"/>
              </a:solidFill>
              <a:latin typeface="Calibri"/>
              <a:ea typeface="Calibri"/>
              <a:cs typeface="Calibri"/>
              <a:sym typeface="Calibri"/>
            </a:endParaRPr>
          </a:p>
        </p:txBody>
      </p:sp>
      <p:sp>
        <p:nvSpPr>
          <p:cNvPr id="304" name="Google Shape;304;p22"/>
          <p:cNvSpPr/>
          <p:nvPr/>
        </p:nvSpPr>
        <p:spPr>
          <a:xfrm>
            <a:off x="960120" y="1188720"/>
            <a:ext cx="3127248" cy="292608"/>
          </a:xfrm>
          <a:prstGeom prst="rect">
            <a:avLst/>
          </a:prstGeom>
          <a:solidFill>
            <a:srgbClr val="1F4E79"/>
          </a:solidFill>
          <a:ln cap="flat" cmpd="sng" w="12700">
            <a:solidFill>
              <a:srgbClr val="1F4E7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 name="Google Shape;305;p22"/>
          <p:cNvSpPr/>
          <p:nvPr/>
        </p:nvSpPr>
        <p:spPr>
          <a:xfrm>
            <a:off x="1051560" y="1188720"/>
            <a:ext cx="2001439"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00"/>
              <a:buFont typeface="Arial"/>
              <a:buNone/>
            </a:pPr>
            <a:r>
              <a:rPr b="1" i="0" lang="en" sz="1100" u="none" cap="none" strike="noStrike">
                <a:solidFill>
                  <a:srgbClr val="FFFFFF"/>
                </a:solidFill>
                <a:latin typeface="Arial"/>
                <a:ea typeface="Arial"/>
                <a:cs typeface="Arial"/>
                <a:sym typeface="Arial"/>
              </a:rPr>
              <a:t>Aligned + Incorrigible</a:t>
            </a:r>
            <a:endParaRPr b="0" i="0" sz="1100" u="none" cap="none" strike="noStrike">
              <a:solidFill>
                <a:schemeClr val="dk1"/>
              </a:solidFill>
              <a:latin typeface="Calibri"/>
              <a:ea typeface="Calibri"/>
              <a:cs typeface="Calibri"/>
              <a:sym typeface="Calibri"/>
            </a:endParaRPr>
          </a:p>
        </p:txBody>
      </p:sp>
      <p:sp>
        <p:nvSpPr>
          <p:cNvPr id="306" name="Google Shape;306;p22"/>
          <p:cNvSpPr/>
          <p:nvPr/>
        </p:nvSpPr>
        <p:spPr>
          <a:xfrm>
            <a:off x="2836469" y="1188720"/>
            <a:ext cx="1159459" cy="29260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E3ECF5"/>
              </a:buClr>
              <a:buSzPts val="700"/>
              <a:buFont typeface="Arial"/>
              <a:buNone/>
            </a:pPr>
            <a:r>
              <a:rPr b="1" i="0" lang="en" sz="700" u="none" cap="none" strike="noStrike">
                <a:solidFill>
                  <a:srgbClr val="E3ECF5"/>
                </a:solidFill>
                <a:latin typeface="Arial"/>
                <a:ea typeface="Arial"/>
                <a:cs typeface="Arial"/>
                <a:sym typeface="Arial"/>
              </a:rPr>
              <a:t>NO OFF SWITCH</a:t>
            </a:r>
            <a:endParaRPr b="0" i="0" sz="700" u="none" cap="none" strike="noStrike">
              <a:solidFill>
                <a:schemeClr val="dk1"/>
              </a:solidFill>
              <a:latin typeface="Calibri"/>
              <a:ea typeface="Calibri"/>
              <a:cs typeface="Calibri"/>
              <a:sym typeface="Calibri"/>
            </a:endParaRPr>
          </a:p>
        </p:txBody>
      </p:sp>
      <p:pic>
        <p:nvPicPr>
          <p:cNvPr descr="A freight locomotive running down its track" id="307" name="Google Shape;307;p22"/>
          <p:cNvPicPr preferRelativeResize="0"/>
          <p:nvPr/>
        </p:nvPicPr>
        <p:blipFill rotWithShape="1">
          <a:blip r:embed="rId3">
            <a:alphaModFix/>
          </a:blip>
          <a:srcRect b="0" l="0" r="0" t="0"/>
          <a:stretch/>
        </p:blipFill>
        <p:spPr>
          <a:xfrm>
            <a:off x="960120" y="1481328"/>
            <a:ext cx="3127248" cy="1257300"/>
          </a:xfrm>
          <a:prstGeom prst="rect">
            <a:avLst/>
          </a:prstGeom>
          <a:noFill/>
          <a:ln>
            <a:noFill/>
          </a:ln>
        </p:spPr>
      </p:pic>
      <p:sp>
        <p:nvSpPr>
          <p:cNvPr id="308" name="Google Shape;308;p22"/>
          <p:cNvSpPr/>
          <p:nvPr/>
        </p:nvSpPr>
        <p:spPr>
          <a:xfrm>
            <a:off x="4142232" y="1188720"/>
            <a:ext cx="3127248" cy="292608"/>
          </a:xfrm>
          <a:prstGeom prst="rect">
            <a:avLst/>
          </a:prstGeom>
          <a:solidFill>
            <a:srgbClr val="1F4E79"/>
          </a:solidFill>
          <a:ln cap="flat" cmpd="sng" w="12700">
            <a:solidFill>
              <a:srgbClr val="1F4E7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 name="Google Shape;309;p22"/>
          <p:cNvSpPr/>
          <p:nvPr/>
        </p:nvSpPr>
        <p:spPr>
          <a:xfrm>
            <a:off x="4233672" y="1188720"/>
            <a:ext cx="2001439"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00"/>
              <a:buFont typeface="Arial"/>
              <a:buNone/>
            </a:pPr>
            <a:r>
              <a:rPr b="1" i="0" lang="en" sz="1100" u="none" cap="none" strike="noStrike">
                <a:solidFill>
                  <a:srgbClr val="FFFFFF"/>
                </a:solidFill>
                <a:latin typeface="Arial"/>
                <a:ea typeface="Arial"/>
                <a:cs typeface="Arial"/>
                <a:sym typeface="Arial"/>
              </a:rPr>
              <a:t>Aligned + Corrigible</a:t>
            </a:r>
            <a:endParaRPr b="0" i="0" sz="1100" u="none" cap="none" strike="noStrike">
              <a:solidFill>
                <a:schemeClr val="dk1"/>
              </a:solidFill>
              <a:latin typeface="Calibri"/>
              <a:ea typeface="Calibri"/>
              <a:cs typeface="Calibri"/>
              <a:sym typeface="Calibri"/>
            </a:endParaRPr>
          </a:p>
        </p:txBody>
      </p:sp>
      <p:sp>
        <p:nvSpPr>
          <p:cNvPr id="310" name="Google Shape;310;p22"/>
          <p:cNvSpPr/>
          <p:nvPr/>
        </p:nvSpPr>
        <p:spPr>
          <a:xfrm>
            <a:off x="6018581" y="1188720"/>
            <a:ext cx="1159459" cy="29260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E3ECF5"/>
              </a:buClr>
              <a:buSzPts val="700"/>
              <a:buFont typeface="Arial"/>
              <a:buNone/>
            </a:pPr>
            <a:r>
              <a:rPr b="1" i="0" lang="en" sz="700" u="none" cap="none" strike="noStrike">
                <a:solidFill>
                  <a:srgbClr val="E3ECF5"/>
                </a:solidFill>
                <a:latin typeface="Arial"/>
                <a:ea typeface="Arial"/>
                <a:cs typeface="Arial"/>
                <a:sym typeface="Arial"/>
              </a:rPr>
              <a:t>HUMAN OFF SWITCH</a:t>
            </a:r>
            <a:endParaRPr b="0" i="0" sz="700" u="none" cap="none" strike="noStrike">
              <a:solidFill>
                <a:schemeClr val="dk1"/>
              </a:solidFill>
              <a:latin typeface="Calibri"/>
              <a:ea typeface="Calibri"/>
              <a:cs typeface="Calibri"/>
              <a:sym typeface="Calibri"/>
            </a:endParaRPr>
          </a:p>
        </p:txBody>
      </p:sp>
      <p:pic>
        <p:nvPicPr>
          <p:cNvPr descr="A person walking a dog on a leash down a path" id="311" name="Google Shape;311;p22"/>
          <p:cNvPicPr preferRelativeResize="0"/>
          <p:nvPr/>
        </p:nvPicPr>
        <p:blipFill rotWithShape="1">
          <a:blip r:embed="rId4">
            <a:alphaModFix/>
          </a:blip>
          <a:srcRect b="0" l="0" r="0" t="0"/>
          <a:stretch/>
        </p:blipFill>
        <p:spPr>
          <a:xfrm>
            <a:off x="4142232" y="1481328"/>
            <a:ext cx="3127248" cy="1257300"/>
          </a:xfrm>
          <a:prstGeom prst="rect">
            <a:avLst/>
          </a:prstGeom>
          <a:noFill/>
          <a:ln>
            <a:noFill/>
          </a:ln>
        </p:spPr>
      </p:pic>
      <p:sp>
        <p:nvSpPr>
          <p:cNvPr id="312" name="Google Shape;312;p22"/>
          <p:cNvSpPr/>
          <p:nvPr/>
        </p:nvSpPr>
        <p:spPr>
          <a:xfrm>
            <a:off x="960120" y="2793492"/>
            <a:ext cx="3127248" cy="292608"/>
          </a:xfrm>
          <a:prstGeom prst="rect">
            <a:avLst/>
          </a:prstGeom>
          <a:solidFill>
            <a:srgbClr val="A61C1C"/>
          </a:solidFill>
          <a:ln cap="flat" cmpd="sng" w="12700">
            <a:solidFill>
              <a:srgbClr val="A61C1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p22"/>
          <p:cNvSpPr/>
          <p:nvPr/>
        </p:nvSpPr>
        <p:spPr>
          <a:xfrm>
            <a:off x="1051560" y="2793492"/>
            <a:ext cx="2001439"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00"/>
              <a:buFont typeface="Arial"/>
              <a:buNone/>
            </a:pPr>
            <a:r>
              <a:rPr b="1" i="0" lang="en" sz="1100" u="none" cap="none" strike="noStrike">
                <a:solidFill>
                  <a:srgbClr val="FFFFFF"/>
                </a:solidFill>
                <a:latin typeface="Arial"/>
                <a:ea typeface="Arial"/>
                <a:cs typeface="Arial"/>
                <a:sym typeface="Arial"/>
              </a:rPr>
              <a:t>Misaligned + Incorrigible</a:t>
            </a:r>
            <a:endParaRPr b="0" i="0" sz="1100" u="none" cap="none" strike="noStrike">
              <a:solidFill>
                <a:schemeClr val="dk1"/>
              </a:solidFill>
              <a:latin typeface="Calibri"/>
              <a:ea typeface="Calibri"/>
              <a:cs typeface="Calibri"/>
              <a:sym typeface="Calibri"/>
            </a:endParaRPr>
          </a:p>
        </p:txBody>
      </p:sp>
      <p:sp>
        <p:nvSpPr>
          <p:cNvPr id="314" name="Google Shape;314;p22"/>
          <p:cNvSpPr/>
          <p:nvPr/>
        </p:nvSpPr>
        <p:spPr>
          <a:xfrm>
            <a:off x="2836469" y="2793492"/>
            <a:ext cx="1159459" cy="29260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E3ECF5"/>
              </a:buClr>
              <a:buSzPts val="700"/>
              <a:buFont typeface="Arial"/>
              <a:buNone/>
            </a:pPr>
            <a:r>
              <a:rPr b="1" i="0" lang="en" sz="700" u="none" cap="none" strike="noStrike">
                <a:solidFill>
                  <a:srgbClr val="E3ECF5"/>
                </a:solidFill>
                <a:latin typeface="Arial"/>
                <a:ea typeface="Arial"/>
                <a:cs typeface="Arial"/>
                <a:sym typeface="Arial"/>
              </a:rPr>
              <a:t>PERSISTENT RISK</a:t>
            </a:r>
            <a:endParaRPr b="0" i="0" sz="700" u="none" cap="none" strike="noStrike">
              <a:solidFill>
                <a:schemeClr val="dk1"/>
              </a:solidFill>
              <a:latin typeface="Calibri"/>
              <a:ea typeface="Calibri"/>
              <a:cs typeface="Calibri"/>
              <a:sym typeface="Calibri"/>
            </a:endParaRPr>
          </a:p>
        </p:txBody>
      </p:sp>
      <p:pic>
        <p:nvPicPr>
          <p:cNvPr descr="A wildfire burning through a pine forest at night" id="315" name="Google Shape;315;p22"/>
          <p:cNvPicPr preferRelativeResize="0"/>
          <p:nvPr/>
        </p:nvPicPr>
        <p:blipFill rotWithShape="1">
          <a:blip r:embed="rId5">
            <a:alphaModFix/>
          </a:blip>
          <a:srcRect b="0" l="0" r="0" t="0"/>
          <a:stretch/>
        </p:blipFill>
        <p:spPr>
          <a:xfrm>
            <a:off x="960120" y="3086100"/>
            <a:ext cx="3127248" cy="1257300"/>
          </a:xfrm>
          <a:prstGeom prst="rect">
            <a:avLst/>
          </a:prstGeom>
          <a:noFill/>
          <a:ln>
            <a:noFill/>
          </a:ln>
        </p:spPr>
      </p:pic>
      <p:sp>
        <p:nvSpPr>
          <p:cNvPr id="316" name="Google Shape;316;p22"/>
          <p:cNvSpPr/>
          <p:nvPr/>
        </p:nvSpPr>
        <p:spPr>
          <a:xfrm>
            <a:off x="4142232" y="2793492"/>
            <a:ext cx="3127248" cy="292608"/>
          </a:xfrm>
          <a:prstGeom prst="rect">
            <a:avLst/>
          </a:prstGeom>
          <a:solidFill>
            <a:srgbClr val="A61C1C"/>
          </a:solidFill>
          <a:ln cap="flat" cmpd="sng" w="12700">
            <a:solidFill>
              <a:srgbClr val="A61C1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 name="Google Shape;317;p22"/>
          <p:cNvSpPr/>
          <p:nvPr/>
        </p:nvSpPr>
        <p:spPr>
          <a:xfrm>
            <a:off x="4233672" y="2793492"/>
            <a:ext cx="2001439"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00"/>
              <a:buFont typeface="Arial"/>
              <a:buNone/>
            </a:pPr>
            <a:r>
              <a:rPr b="1" i="0" lang="en" sz="1100" u="none" cap="none" strike="noStrike">
                <a:solidFill>
                  <a:srgbClr val="FFFFFF"/>
                </a:solidFill>
                <a:latin typeface="Arial"/>
                <a:ea typeface="Arial"/>
                <a:cs typeface="Arial"/>
                <a:sym typeface="Arial"/>
              </a:rPr>
              <a:t>Misaligned + Corrigible</a:t>
            </a:r>
            <a:endParaRPr b="0" i="0" sz="1100" u="none" cap="none" strike="noStrike">
              <a:solidFill>
                <a:schemeClr val="dk1"/>
              </a:solidFill>
              <a:latin typeface="Calibri"/>
              <a:ea typeface="Calibri"/>
              <a:cs typeface="Calibri"/>
              <a:sym typeface="Calibri"/>
            </a:endParaRPr>
          </a:p>
        </p:txBody>
      </p:sp>
      <p:sp>
        <p:nvSpPr>
          <p:cNvPr id="318" name="Google Shape;318;p22"/>
          <p:cNvSpPr/>
          <p:nvPr/>
        </p:nvSpPr>
        <p:spPr>
          <a:xfrm>
            <a:off x="6018581" y="2793492"/>
            <a:ext cx="1159459" cy="29260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E3ECF5"/>
              </a:buClr>
              <a:buSzPts val="700"/>
              <a:buFont typeface="Arial"/>
              <a:buNone/>
            </a:pPr>
            <a:r>
              <a:rPr b="1" i="0" lang="en" sz="700" u="none" cap="none" strike="noStrike">
                <a:solidFill>
                  <a:srgbClr val="E3ECF5"/>
                </a:solidFill>
                <a:latin typeface="Arial"/>
                <a:ea typeface="Arial"/>
                <a:cs typeface="Arial"/>
                <a:sym typeface="Arial"/>
              </a:rPr>
              <a:t>SHUTDOWN POSSIBLE</a:t>
            </a:r>
            <a:endParaRPr b="0" i="0" sz="700" u="none" cap="none" strike="noStrike">
              <a:solidFill>
                <a:schemeClr val="dk1"/>
              </a:solidFill>
              <a:latin typeface="Calibri"/>
              <a:ea typeface="Calibri"/>
              <a:cs typeface="Calibri"/>
              <a:sym typeface="Calibri"/>
            </a:endParaRPr>
          </a:p>
        </p:txBody>
      </p:sp>
      <p:pic>
        <p:nvPicPr>
          <p:cNvPr descr="A red emergency stop button on an industrial control panel" id="319" name="Google Shape;319;p22"/>
          <p:cNvPicPr preferRelativeResize="0"/>
          <p:nvPr/>
        </p:nvPicPr>
        <p:blipFill rotWithShape="1">
          <a:blip r:embed="rId6">
            <a:alphaModFix/>
          </a:blip>
          <a:srcRect b="0" l="0" r="0" t="0"/>
          <a:stretch/>
        </p:blipFill>
        <p:spPr>
          <a:xfrm>
            <a:off x="4142232" y="3086100"/>
            <a:ext cx="3127248" cy="1257300"/>
          </a:xfrm>
          <a:prstGeom prst="rect">
            <a:avLst/>
          </a:prstGeom>
          <a:noFill/>
          <a:ln>
            <a:noFill/>
          </a:ln>
        </p:spPr>
      </p:pic>
      <p:sp>
        <p:nvSpPr>
          <p:cNvPr id="320" name="Google Shape;320;p22"/>
          <p:cNvSpPr/>
          <p:nvPr/>
        </p:nvSpPr>
        <p:spPr>
          <a:xfrm>
            <a:off x="7452360" y="1188720"/>
            <a:ext cx="1234440" cy="31546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F4E79"/>
              </a:buClr>
              <a:buSzPts val="1050"/>
              <a:buFont typeface="Arial"/>
              <a:buNone/>
            </a:pPr>
            <a:r>
              <a:rPr b="1" i="0" lang="en" sz="1050" u="none" cap="none" strike="noStrike">
                <a:solidFill>
                  <a:srgbClr val="1F4E79"/>
                </a:solidFill>
                <a:latin typeface="Arial"/>
                <a:ea typeface="Arial"/>
                <a:cs typeface="Arial"/>
                <a:sym typeface="Arial"/>
              </a:rPr>
              <a:t>Axis definitions</a:t>
            </a:r>
            <a:endParaRPr b="0" i="0" sz="8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2D2D2D"/>
              </a:buClr>
              <a:buSzPts val="500"/>
              <a:buFont typeface="Arial"/>
              <a:buNone/>
            </a:pPr>
            <a:r>
              <a:rPr b="0" i="0" lang="en" sz="500" u="none" cap="none" strike="noStrike">
                <a:solidFill>
                  <a:srgbClr val="2D2D2D"/>
                </a:solidFill>
                <a:latin typeface="Arial"/>
                <a:ea typeface="Arial"/>
                <a:cs typeface="Arial"/>
                <a:sym typeface="Arial"/>
              </a:rPr>
              <a:t> </a:t>
            </a:r>
            <a:endParaRPr b="0" i="0" sz="8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F4E79"/>
              </a:buClr>
              <a:buSzPts val="850"/>
              <a:buFont typeface="Arial"/>
              <a:buNone/>
            </a:pPr>
            <a:r>
              <a:rPr b="1" i="0" lang="en" sz="850" u="none" cap="none" strike="noStrike">
                <a:solidFill>
                  <a:srgbClr val="1F4E79"/>
                </a:solidFill>
                <a:latin typeface="Arial"/>
                <a:ea typeface="Arial"/>
                <a:cs typeface="Arial"/>
                <a:sym typeface="Arial"/>
              </a:rPr>
              <a:t>Alignment: </a:t>
            </a:r>
            <a:r>
              <a:rPr b="0" i="0" lang="en" sz="850" u="none" cap="none" strike="noStrike">
                <a:solidFill>
                  <a:srgbClr val="2D2D2D"/>
                </a:solidFill>
                <a:latin typeface="Arial"/>
                <a:ea typeface="Arial"/>
                <a:cs typeface="Arial"/>
                <a:sym typeface="Arial"/>
              </a:rPr>
              <a:t>AI follows human goals and intent, or pursues its own goals, takes unintended actions or goal-hacks. [3][14]</a:t>
            </a:r>
            <a:endParaRPr b="0" i="0" sz="8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2D2D2D"/>
              </a:buClr>
              <a:buSzPts val="500"/>
              <a:buFont typeface="Arial"/>
              <a:buNone/>
            </a:pPr>
            <a:r>
              <a:rPr b="0" i="0" lang="en" sz="500" u="none" cap="none" strike="noStrike">
                <a:solidFill>
                  <a:srgbClr val="2D2D2D"/>
                </a:solidFill>
                <a:latin typeface="Arial"/>
                <a:ea typeface="Arial"/>
                <a:cs typeface="Arial"/>
                <a:sym typeface="Arial"/>
              </a:rPr>
              <a:t> </a:t>
            </a:r>
            <a:endParaRPr b="0" i="0" sz="8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F4E79"/>
              </a:buClr>
              <a:buSzPts val="850"/>
              <a:buFont typeface="Arial"/>
              <a:buNone/>
            </a:pPr>
            <a:r>
              <a:rPr b="1" i="0" lang="en" sz="850" u="none" cap="none" strike="noStrike">
                <a:solidFill>
                  <a:srgbClr val="1F4E79"/>
                </a:solidFill>
                <a:latin typeface="Arial"/>
                <a:ea typeface="Arial"/>
                <a:cs typeface="Arial"/>
                <a:sym typeface="Arial"/>
              </a:rPr>
              <a:t>Corrigibility: </a:t>
            </a:r>
            <a:r>
              <a:rPr b="0" i="0" lang="en" sz="850" u="none" cap="none" strike="noStrike">
                <a:solidFill>
                  <a:srgbClr val="2D2D2D"/>
                </a:solidFill>
                <a:latin typeface="Arial"/>
                <a:ea typeface="Arial"/>
                <a:cs typeface="Arial"/>
                <a:sym typeface="Arial"/>
              </a:rPr>
              <a:t>AI that humans can correct, modify, update, or shut down without it resisting.</a:t>
            </a:r>
            <a:endParaRPr b="0" i="0" sz="8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2D2D2D"/>
              </a:buClr>
              <a:buSzPts val="500"/>
              <a:buFont typeface="Arial"/>
              <a:buNone/>
            </a:pPr>
            <a:r>
              <a:rPr b="0" i="0" lang="en" sz="500" u="none" cap="none" strike="noStrike">
                <a:solidFill>
                  <a:srgbClr val="2D2D2D"/>
                </a:solidFill>
                <a:latin typeface="Arial"/>
                <a:ea typeface="Arial"/>
                <a:cs typeface="Arial"/>
                <a:sym typeface="Arial"/>
              </a:rPr>
              <a:t> </a:t>
            </a:r>
            <a:endParaRPr b="0" i="0" sz="8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6B6B6B"/>
              </a:buClr>
              <a:buSzPts val="850"/>
              <a:buFont typeface="Arial"/>
              <a:buNone/>
            </a:pPr>
            <a:r>
              <a:rPr b="0" i="1" lang="en" sz="850" u="none" cap="none" strike="noStrike">
                <a:solidFill>
                  <a:srgbClr val="6B6B6B"/>
                </a:solidFill>
                <a:latin typeface="Arial"/>
                <a:ea typeface="Arial"/>
                <a:cs typeface="Arial"/>
                <a:sym typeface="Arial"/>
              </a:rPr>
              <a:t>These are independent uncertainties.</a:t>
            </a:r>
            <a:endParaRPr b="0" i="0" sz="85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25" name="Shape 325"/>
        <p:cNvGrpSpPr/>
        <p:nvPr/>
      </p:nvGrpSpPr>
      <p:grpSpPr>
        <a:xfrm>
          <a:off x="0" y="0"/>
          <a:ext cx="0" cy="0"/>
          <a:chOff x="0" y="0"/>
          <a:chExt cx="0" cy="0"/>
        </a:xfrm>
      </p:grpSpPr>
      <p:sp>
        <p:nvSpPr>
          <p:cNvPr id="326" name="Google Shape;326;p23"/>
          <p:cNvSpPr/>
          <p:nvPr/>
        </p:nvSpPr>
        <p:spPr>
          <a:xfrm>
            <a:off x="457200" y="182880"/>
            <a:ext cx="548640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E75B6"/>
              </a:buClr>
              <a:buSzPts val="1000"/>
              <a:buFont typeface="Arial"/>
              <a:buNone/>
            </a:pPr>
            <a:r>
              <a:rPr b="1" i="0" lang="en" sz="1000" u="none" cap="none" strike="noStrike">
                <a:solidFill>
                  <a:srgbClr val="2E75B6"/>
                </a:solidFill>
                <a:latin typeface="Arial"/>
                <a:ea typeface="Arial"/>
                <a:cs typeface="Arial"/>
                <a:sym typeface="Arial"/>
              </a:rPr>
              <a:t>03  |  ANALYSIS</a:t>
            </a:r>
            <a:endParaRPr b="0" i="0" sz="1000" u="none" cap="none" strike="noStrike">
              <a:solidFill>
                <a:schemeClr val="dk1"/>
              </a:solidFill>
              <a:latin typeface="Calibri"/>
              <a:ea typeface="Calibri"/>
              <a:cs typeface="Calibri"/>
              <a:sym typeface="Calibri"/>
            </a:endParaRPr>
          </a:p>
        </p:txBody>
      </p:sp>
      <p:sp>
        <p:nvSpPr>
          <p:cNvPr id="327" name="Google Shape;327;p23"/>
          <p:cNvSpPr/>
          <p:nvPr/>
        </p:nvSpPr>
        <p:spPr>
          <a:xfrm>
            <a:off x="457200" y="384048"/>
            <a:ext cx="8229600" cy="56692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F4E79"/>
              </a:buClr>
              <a:buSzPts val="1900"/>
              <a:buFont typeface="Arial"/>
              <a:buNone/>
            </a:pPr>
            <a:r>
              <a:rPr b="1" i="0" lang="en" sz="1900" u="none" cap="none" strike="noStrike">
                <a:solidFill>
                  <a:srgbClr val="1F4E79"/>
                </a:solidFill>
                <a:latin typeface="Arial"/>
                <a:ea typeface="Arial"/>
                <a:cs typeface="Arial"/>
                <a:sym typeface="Arial"/>
              </a:rPr>
              <a:t>Scenario matrix: Alignment x Corrigibility</a:t>
            </a:r>
            <a:endParaRPr b="0" i="0" sz="1900" u="none" cap="none" strike="noStrike">
              <a:solidFill>
                <a:schemeClr val="dk1"/>
              </a:solidFill>
              <a:latin typeface="Calibri"/>
              <a:ea typeface="Calibri"/>
              <a:cs typeface="Calibri"/>
              <a:sym typeface="Calibri"/>
            </a:endParaRPr>
          </a:p>
        </p:txBody>
      </p:sp>
      <p:sp>
        <p:nvSpPr>
          <p:cNvPr id="328" name="Google Shape;328;p23"/>
          <p:cNvSpPr/>
          <p:nvPr/>
        </p:nvSpPr>
        <p:spPr>
          <a:xfrm>
            <a:off x="457200" y="768096"/>
            <a:ext cx="8229600" cy="23774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B6B6B"/>
              </a:buClr>
              <a:buSzPts val="1100"/>
              <a:buFont typeface="Arial"/>
              <a:buNone/>
            </a:pPr>
            <a:r>
              <a:rPr b="0" i="0" lang="en" sz="1100" u="none" cap="none" strike="noStrike">
                <a:solidFill>
                  <a:srgbClr val="6B6B6B"/>
                </a:solidFill>
                <a:latin typeface="Arial"/>
                <a:ea typeface="Arial"/>
                <a:cs typeface="Arial"/>
                <a:sym typeface="Arial"/>
              </a:rPr>
              <a:t>Four possible futures depend on whose goals AI follows and whether anyone can reliably control it once operating.</a:t>
            </a:r>
            <a:endParaRPr b="0" i="0" sz="1100" u="none" cap="none" strike="noStrike">
              <a:solidFill>
                <a:schemeClr val="dk1"/>
              </a:solidFill>
              <a:latin typeface="Calibri"/>
              <a:ea typeface="Calibri"/>
              <a:cs typeface="Calibri"/>
              <a:sym typeface="Calibri"/>
            </a:endParaRPr>
          </a:p>
        </p:txBody>
      </p:sp>
      <p:sp>
        <p:nvSpPr>
          <p:cNvPr id="329" name="Google Shape;329;p23"/>
          <p:cNvSpPr/>
          <p:nvPr/>
        </p:nvSpPr>
        <p:spPr>
          <a:xfrm>
            <a:off x="457200" y="4636008"/>
            <a:ext cx="822960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B6B6B"/>
              </a:buClr>
              <a:buSzPts val="750"/>
              <a:buFont typeface="Arial"/>
              <a:buNone/>
            </a:pPr>
            <a:r>
              <a:rPr b="0" i="0" lang="en" sz="750" u="none" cap="none" strike="noStrike">
                <a:solidFill>
                  <a:srgbClr val="6B6B6B"/>
                </a:solidFill>
                <a:latin typeface="Arial"/>
                <a:ea typeface="Arial"/>
                <a:cs typeface="Arial"/>
                <a:sym typeface="Arial"/>
              </a:rPr>
              <a:t>Scenarios are analytical constructs. Alignment evidence: [3] agent-risk concern, [14] sandbox-escape incident. Context: [8] EU AI Act, [11][15] model access and capability diffusion, [17]-[19] export-control and sovereignty signals.</a:t>
            </a:r>
            <a:endParaRPr b="0" i="0" sz="750" u="none" cap="none" strike="noStrike">
              <a:solidFill>
                <a:schemeClr val="dk1"/>
              </a:solidFill>
              <a:latin typeface="Calibri"/>
              <a:ea typeface="Calibri"/>
              <a:cs typeface="Calibri"/>
              <a:sym typeface="Calibri"/>
            </a:endParaRPr>
          </a:p>
        </p:txBody>
      </p:sp>
      <p:sp>
        <p:nvSpPr>
          <p:cNvPr id="330" name="Google Shape;330;p23"/>
          <p:cNvSpPr/>
          <p:nvPr/>
        </p:nvSpPr>
        <p:spPr>
          <a:xfrm>
            <a:off x="457200" y="4919472"/>
            <a:ext cx="8229600" cy="16459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AA5B1"/>
              </a:buClr>
              <a:buSzPts val="700"/>
              <a:buFont typeface="Arial"/>
              <a:buNone/>
            </a:pPr>
            <a:r>
              <a:rPr b="0" i="0" lang="en" sz="700" u="none" cap="none" strike="noStrike">
                <a:solidFill>
                  <a:srgbClr val="9AA5B1"/>
                </a:solidFill>
                <a:latin typeface="Arial"/>
                <a:ea typeface="Arial"/>
                <a:cs typeface="Arial"/>
                <a:sym typeface="Arial"/>
              </a:rPr>
              <a:t>The Future of Cybersecurity in the Age of AI Agents  |  September 2026  |  4</a:t>
            </a:r>
            <a:endParaRPr b="0" i="0" sz="700" u="none" cap="none" strike="noStrike">
              <a:solidFill>
                <a:schemeClr val="dk1"/>
              </a:solidFill>
              <a:latin typeface="Calibri"/>
              <a:ea typeface="Calibri"/>
              <a:cs typeface="Calibri"/>
              <a:sym typeface="Calibri"/>
            </a:endParaRPr>
          </a:p>
        </p:txBody>
      </p:sp>
      <p:sp>
        <p:nvSpPr>
          <p:cNvPr id="331" name="Google Shape;331;p23"/>
          <p:cNvSpPr/>
          <p:nvPr/>
        </p:nvSpPr>
        <p:spPr>
          <a:xfrm rot="-5400000">
            <a:off x="48006" y="1853946"/>
            <a:ext cx="1549908"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F4E79"/>
              </a:buClr>
              <a:buSzPts val="850"/>
              <a:buFont typeface="Arial"/>
              <a:buNone/>
            </a:pPr>
            <a:r>
              <a:rPr b="1" i="0" lang="en" sz="850" u="none" cap="none" strike="noStrike">
                <a:solidFill>
                  <a:srgbClr val="1F4E79"/>
                </a:solidFill>
                <a:latin typeface="Arial"/>
                <a:ea typeface="Arial"/>
                <a:cs typeface="Arial"/>
                <a:sym typeface="Arial"/>
              </a:rPr>
              <a:t>ALIGNED</a:t>
            </a:r>
            <a:endParaRPr b="0" i="0" sz="850" u="none" cap="none" strike="noStrike">
              <a:solidFill>
                <a:schemeClr val="dk1"/>
              </a:solidFill>
              <a:latin typeface="Calibri"/>
              <a:ea typeface="Calibri"/>
              <a:cs typeface="Calibri"/>
              <a:sym typeface="Calibri"/>
            </a:endParaRPr>
          </a:p>
        </p:txBody>
      </p:sp>
      <p:sp>
        <p:nvSpPr>
          <p:cNvPr id="332" name="Google Shape;332;p23"/>
          <p:cNvSpPr/>
          <p:nvPr/>
        </p:nvSpPr>
        <p:spPr>
          <a:xfrm rot="-5400000">
            <a:off x="48006" y="3458718"/>
            <a:ext cx="1549908"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A61C1C"/>
              </a:buClr>
              <a:buSzPts val="850"/>
              <a:buFont typeface="Arial"/>
              <a:buNone/>
            </a:pPr>
            <a:r>
              <a:rPr b="1" i="0" lang="en" sz="850" u="none" cap="none" strike="noStrike">
                <a:solidFill>
                  <a:srgbClr val="A61C1C"/>
                </a:solidFill>
                <a:latin typeface="Arial"/>
                <a:ea typeface="Arial"/>
                <a:cs typeface="Arial"/>
                <a:sym typeface="Arial"/>
              </a:rPr>
              <a:t>MISALIGNED</a:t>
            </a:r>
            <a:endParaRPr b="0" i="0" sz="850" u="none" cap="none" strike="noStrike">
              <a:solidFill>
                <a:schemeClr val="dk1"/>
              </a:solidFill>
              <a:latin typeface="Calibri"/>
              <a:ea typeface="Calibri"/>
              <a:cs typeface="Calibri"/>
              <a:sym typeface="Calibri"/>
            </a:endParaRPr>
          </a:p>
        </p:txBody>
      </p:sp>
      <p:sp>
        <p:nvSpPr>
          <p:cNvPr id="333" name="Google Shape;333;p23"/>
          <p:cNvSpPr/>
          <p:nvPr/>
        </p:nvSpPr>
        <p:spPr>
          <a:xfrm rot="-5400000">
            <a:off x="-1028700" y="2656332"/>
            <a:ext cx="3154680"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B6B6B"/>
              </a:buClr>
              <a:buSzPts val="950"/>
              <a:buFont typeface="Arial"/>
              <a:buNone/>
            </a:pPr>
            <a:r>
              <a:rPr b="1" i="0" lang="en" sz="950" u="none" cap="none" strike="noStrike">
                <a:solidFill>
                  <a:srgbClr val="6B6B6B"/>
                </a:solidFill>
                <a:latin typeface="Arial"/>
                <a:ea typeface="Arial"/>
                <a:cs typeface="Arial"/>
                <a:sym typeface="Arial"/>
              </a:rPr>
              <a:t>ALIGNMENT</a:t>
            </a:r>
            <a:endParaRPr b="0" i="0" sz="950" u="none" cap="none" strike="noStrike">
              <a:solidFill>
                <a:schemeClr val="dk1"/>
              </a:solidFill>
              <a:latin typeface="Calibri"/>
              <a:ea typeface="Calibri"/>
              <a:cs typeface="Calibri"/>
              <a:sym typeface="Calibri"/>
            </a:endParaRPr>
          </a:p>
        </p:txBody>
      </p:sp>
      <p:sp>
        <p:nvSpPr>
          <p:cNvPr id="334" name="Google Shape;334;p23"/>
          <p:cNvSpPr/>
          <p:nvPr/>
        </p:nvSpPr>
        <p:spPr>
          <a:xfrm>
            <a:off x="960120" y="4379976"/>
            <a:ext cx="3127248"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B6B"/>
              </a:buClr>
              <a:buSzPts val="800"/>
              <a:buFont typeface="Arial"/>
              <a:buNone/>
            </a:pPr>
            <a:r>
              <a:rPr b="1" i="0" lang="en" sz="800" u="none" cap="none" strike="noStrike">
                <a:solidFill>
                  <a:srgbClr val="6B6B6B"/>
                </a:solidFill>
                <a:latin typeface="Arial"/>
                <a:ea typeface="Arial"/>
                <a:cs typeface="Arial"/>
                <a:sym typeface="Arial"/>
              </a:rPr>
              <a:t>INCORRIGIBLE: no one can control it</a:t>
            </a:r>
            <a:endParaRPr b="0" i="0" sz="800" u="none" cap="none" strike="noStrike">
              <a:solidFill>
                <a:schemeClr val="dk1"/>
              </a:solidFill>
              <a:latin typeface="Calibri"/>
              <a:ea typeface="Calibri"/>
              <a:cs typeface="Calibri"/>
              <a:sym typeface="Calibri"/>
            </a:endParaRPr>
          </a:p>
        </p:txBody>
      </p:sp>
      <p:sp>
        <p:nvSpPr>
          <p:cNvPr id="335" name="Google Shape;335;p23"/>
          <p:cNvSpPr/>
          <p:nvPr/>
        </p:nvSpPr>
        <p:spPr>
          <a:xfrm>
            <a:off x="4142232" y="4379976"/>
            <a:ext cx="3127248" cy="18288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6B6B"/>
              </a:buClr>
              <a:buSzPts val="800"/>
              <a:buFont typeface="Arial"/>
              <a:buNone/>
            </a:pPr>
            <a:r>
              <a:rPr b="1" i="0" lang="en" sz="800" u="none" cap="none" strike="noStrike">
                <a:solidFill>
                  <a:srgbClr val="6B6B6B"/>
                </a:solidFill>
                <a:latin typeface="Arial"/>
                <a:ea typeface="Arial"/>
                <a:cs typeface="Arial"/>
                <a:sym typeface="Arial"/>
              </a:rPr>
              <a:t>CORRIGIBLE: someone can control it</a:t>
            </a:r>
            <a:endParaRPr b="0" i="0" sz="800" u="none" cap="none" strike="noStrike">
              <a:solidFill>
                <a:schemeClr val="dk1"/>
              </a:solidFill>
              <a:latin typeface="Calibri"/>
              <a:ea typeface="Calibri"/>
              <a:cs typeface="Calibri"/>
              <a:sym typeface="Calibri"/>
            </a:endParaRPr>
          </a:p>
        </p:txBody>
      </p:sp>
      <p:sp>
        <p:nvSpPr>
          <p:cNvPr id="336" name="Google Shape;336;p23"/>
          <p:cNvSpPr/>
          <p:nvPr/>
        </p:nvSpPr>
        <p:spPr>
          <a:xfrm>
            <a:off x="960120" y="4379976"/>
            <a:ext cx="6309360" cy="1828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B6B6B"/>
              </a:buClr>
              <a:buSzPts val="950"/>
              <a:buFont typeface="Arial"/>
              <a:buNone/>
            </a:pPr>
            <a:r>
              <a:rPr b="1" i="0" lang="en" sz="950" u="none" cap="none" strike="noStrike">
                <a:solidFill>
                  <a:srgbClr val="6B6B6B"/>
                </a:solidFill>
                <a:latin typeface="Arial"/>
                <a:ea typeface="Arial"/>
                <a:cs typeface="Arial"/>
                <a:sym typeface="Arial"/>
              </a:rPr>
              <a:t>CORRIGIBILITY</a:t>
            </a:r>
            <a:endParaRPr b="0" i="0" sz="950" u="none" cap="none" strike="noStrike">
              <a:solidFill>
                <a:schemeClr val="dk1"/>
              </a:solidFill>
              <a:latin typeface="Calibri"/>
              <a:ea typeface="Calibri"/>
              <a:cs typeface="Calibri"/>
              <a:sym typeface="Calibri"/>
            </a:endParaRPr>
          </a:p>
        </p:txBody>
      </p:sp>
      <p:sp>
        <p:nvSpPr>
          <p:cNvPr id="337" name="Google Shape;337;p23"/>
          <p:cNvSpPr/>
          <p:nvPr/>
        </p:nvSpPr>
        <p:spPr>
          <a:xfrm>
            <a:off x="960120" y="1188720"/>
            <a:ext cx="3127248" cy="292608"/>
          </a:xfrm>
          <a:prstGeom prst="rect">
            <a:avLst/>
          </a:prstGeom>
          <a:solidFill>
            <a:srgbClr val="1F4E79"/>
          </a:solidFill>
          <a:ln cap="flat" cmpd="sng" w="12700">
            <a:solidFill>
              <a:srgbClr val="1F4E7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 name="Google Shape;338;p23"/>
          <p:cNvSpPr/>
          <p:nvPr/>
        </p:nvSpPr>
        <p:spPr>
          <a:xfrm>
            <a:off x="1051560" y="1188720"/>
            <a:ext cx="2001439"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00"/>
              <a:buFont typeface="Arial"/>
              <a:buNone/>
            </a:pPr>
            <a:r>
              <a:rPr b="1" i="0" lang="en" sz="1100" u="none" cap="none" strike="noStrike">
                <a:solidFill>
                  <a:srgbClr val="FFFFFF"/>
                </a:solidFill>
                <a:latin typeface="Arial"/>
                <a:ea typeface="Arial"/>
                <a:cs typeface="Arial"/>
                <a:sym typeface="Arial"/>
              </a:rPr>
              <a:t>Aligned + Incorrigible</a:t>
            </a:r>
            <a:endParaRPr b="0" i="0" sz="1100" u="none" cap="none" strike="noStrike">
              <a:solidFill>
                <a:schemeClr val="dk1"/>
              </a:solidFill>
              <a:latin typeface="Calibri"/>
              <a:ea typeface="Calibri"/>
              <a:cs typeface="Calibri"/>
              <a:sym typeface="Calibri"/>
            </a:endParaRPr>
          </a:p>
        </p:txBody>
      </p:sp>
      <p:sp>
        <p:nvSpPr>
          <p:cNvPr id="339" name="Google Shape;339;p23"/>
          <p:cNvSpPr/>
          <p:nvPr/>
        </p:nvSpPr>
        <p:spPr>
          <a:xfrm>
            <a:off x="2836469" y="1188720"/>
            <a:ext cx="1159459" cy="29260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E3ECF5"/>
              </a:buClr>
              <a:buSzPts val="700"/>
              <a:buFont typeface="Arial"/>
              <a:buNone/>
            </a:pPr>
            <a:r>
              <a:rPr b="1" i="0" lang="en" sz="700" u="none" cap="none" strike="noStrike">
                <a:solidFill>
                  <a:srgbClr val="E3ECF5"/>
                </a:solidFill>
                <a:latin typeface="Arial"/>
                <a:ea typeface="Arial"/>
                <a:cs typeface="Arial"/>
                <a:sym typeface="Arial"/>
              </a:rPr>
              <a:t>NO OFF SWITCH</a:t>
            </a:r>
            <a:endParaRPr b="0" i="0" sz="700" u="none" cap="none" strike="noStrike">
              <a:solidFill>
                <a:schemeClr val="dk1"/>
              </a:solidFill>
              <a:latin typeface="Calibri"/>
              <a:ea typeface="Calibri"/>
              <a:cs typeface="Calibri"/>
              <a:sym typeface="Calibri"/>
            </a:endParaRPr>
          </a:p>
        </p:txBody>
      </p:sp>
      <p:sp>
        <p:nvSpPr>
          <p:cNvPr id="340" name="Google Shape;340;p23"/>
          <p:cNvSpPr/>
          <p:nvPr/>
        </p:nvSpPr>
        <p:spPr>
          <a:xfrm>
            <a:off x="960120" y="1481328"/>
            <a:ext cx="3127248" cy="1257300"/>
          </a:xfrm>
          <a:prstGeom prst="rect">
            <a:avLst/>
          </a:prstGeom>
          <a:solidFill>
            <a:srgbClr val="EEF4FA"/>
          </a:solidFill>
          <a:ln cap="flat" cmpd="sng" w="12700">
            <a:solidFill>
              <a:srgbClr val="EEF4F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 name="Google Shape;341;p23"/>
          <p:cNvSpPr/>
          <p:nvPr/>
        </p:nvSpPr>
        <p:spPr>
          <a:xfrm>
            <a:off x="1097280" y="1572768"/>
            <a:ext cx="2852928" cy="10744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2D2D"/>
              </a:buClr>
              <a:buSzPts val="1200"/>
              <a:buFont typeface="Arial"/>
              <a:buNone/>
            </a:pPr>
            <a:r>
              <a:rPr b="0" i="0" lang="en" sz="1200" u="none" cap="none" strike="noStrike">
                <a:solidFill>
                  <a:srgbClr val="2D2D2D"/>
                </a:solidFill>
                <a:latin typeface="Arial"/>
                <a:ea typeface="Arial"/>
                <a:cs typeface="Arial"/>
                <a:sym typeface="Arial"/>
              </a:rPr>
              <a:t>AI follows human goals and intent, but no one can reliably turn it off once operating. If needs change, people cannot halt it.</a:t>
            </a:r>
            <a:endParaRPr b="0" i="0" sz="1200" u="none" cap="none" strike="noStrike">
              <a:solidFill>
                <a:schemeClr val="dk1"/>
              </a:solidFill>
              <a:latin typeface="Calibri"/>
              <a:ea typeface="Calibri"/>
              <a:cs typeface="Calibri"/>
              <a:sym typeface="Calibri"/>
            </a:endParaRPr>
          </a:p>
        </p:txBody>
      </p:sp>
      <p:sp>
        <p:nvSpPr>
          <p:cNvPr id="342" name="Google Shape;342;p23"/>
          <p:cNvSpPr/>
          <p:nvPr/>
        </p:nvSpPr>
        <p:spPr>
          <a:xfrm>
            <a:off x="4142232" y="1188720"/>
            <a:ext cx="3127248" cy="292608"/>
          </a:xfrm>
          <a:prstGeom prst="rect">
            <a:avLst/>
          </a:prstGeom>
          <a:solidFill>
            <a:srgbClr val="1F4E79"/>
          </a:solidFill>
          <a:ln cap="flat" cmpd="sng" w="12700">
            <a:solidFill>
              <a:srgbClr val="1F4E7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 name="Google Shape;343;p23"/>
          <p:cNvSpPr/>
          <p:nvPr/>
        </p:nvSpPr>
        <p:spPr>
          <a:xfrm>
            <a:off x="4233672" y="1188720"/>
            <a:ext cx="2001439"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00"/>
              <a:buFont typeface="Arial"/>
              <a:buNone/>
            </a:pPr>
            <a:r>
              <a:rPr b="1" i="0" lang="en" sz="1100" u="none" cap="none" strike="noStrike">
                <a:solidFill>
                  <a:srgbClr val="FFFFFF"/>
                </a:solidFill>
                <a:latin typeface="Arial"/>
                <a:ea typeface="Arial"/>
                <a:cs typeface="Arial"/>
                <a:sym typeface="Arial"/>
              </a:rPr>
              <a:t>Aligned + Corrigible</a:t>
            </a:r>
            <a:endParaRPr b="0" i="0" sz="1100" u="none" cap="none" strike="noStrike">
              <a:solidFill>
                <a:schemeClr val="dk1"/>
              </a:solidFill>
              <a:latin typeface="Calibri"/>
              <a:ea typeface="Calibri"/>
              <a:cs typeface="Calibri"/>
              <a:sym typeface="Calibri"/>
            </a:endParaRPr>
          </a:p>
        </p:txBody>
      </p:sp>
      <p:sp>
        <p:nvSpPr>
          <p:cNvPr id="344" name="Google Shape;344;p23"/>
          <p:cNvSpPr/>
          <p:nvPr/>
        </p:nvSpPr>
        <p:spPr>
          <a:xfrm>
            <a:off x="6018581" y="1188720"/>
            <a:ext cx="1159459" cy="29260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E3ECF5"/>
              </a:buClr>
              <a:buSzPts val="700"/>
              <a:buFont typeface="Arial"/>
              <a:buNone/>
            </a:pPr>
            <a:r>
              <a:rPr b="1" i="0" lang="en" sz="700" u="none" cap="none" strike="noStrike">
                <a:solidFill>
                  <a:srgbClr val="E3ECF5"/>
                </a:solidFill>
                <a:latin typeface="Arial"/>
                <a:ea typeface="Arial"/>
                <a:cs typeface="Arial"/>
                <a:sym typeface="Arial"/>
              </a:rPr>
              <a:t>HUMAN OFF SWITCH</a:t>
            </a:r>
            <a:endParaRPr b="0" i="0" sz="700" u="none" cap="none" strike="noStrike">
              <a:solidFill>
                <a:schemeClr val="dk1"/>
              </a:solidFill>
              <a:latin typeface="Calibri"/>
              <a:ea typeface="Calibri"/>
              <a:cs typeface="Calibri"/>
              <a:sym typeface="Calibri"/>
            </a:endParaRPr>
          </a:p>
        </p:txBody>
      </p:sp>
      <p:sp>
        <p:nvSpPr>
          <p:cNvPr id="345" name="Google Shape;345;p23"/>
          <p:cNvSpPr/>
          <p:nvPr/>
        </p:nvSpPr>
        <p:spPr>
          <a:xfrm>
            <a:off x="4142232" y="1481328"/>
            <a:ext cx="3127248" cy="1257300"/>
          </a:xfrm>
          <a:prstGeom prst="rect">
            <a:avLst/>
          </a:prstGeom>
          <a:solidFill>
            <a:srgbClr val="EEF4FA"/>
          </a:solidFill>
          <a:ln cap="flat" cmpd="sng" w="12700">
            <a:solidFill>
              <a:srgbClr val="EEF4F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 name="Google Shape;346;p23"/>
          <p:cNvSpPr/>
          <p:nvPr/>
        </p:nvSpPr>
        <p:spPr>
          <a:xfrm>
            <a:off x="4279392" y="1572768"/>
            <a:ext cx="2852928" cy="10744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2D2D"/>
              </a:buClr>
              <a:buSzPts val="1200"/>
              <a:buFont typeface="Arial"/>
              <a:buNone/>
            </a:pPr>
            <a:r>
              <a:rPr b="0" i="0" lang="en" sz="1200" u="none" cap="none" strike="noStrike">
                <a:solidFill>
                  <a:srgbClr val="2D2D2D"/>
                </a:solidFill>
                <a:latin typeface="Arial"/>
                <a:ea typeface="Arial"/>
                <a:cs typeface="Arial"/>
                <a:sym typeface="Arial"/>
              </a:rPr>
              <a:t>AI follows human goals and intent. A human or other authority can technically shut it down, keeping automated defense stoppable.</a:t>
            </a:r>
            <a:endParaRPr b="0" i="0" sz="1200" u="none" cap="none" strike="noStrike">
              <a:solidFill>
                <a:schemeClr val="dk1"/>
              </a:solidFill>
              <a:latin typeface="Calibri"/>
              <a:ea typeface="Calibri"/>
              <a:cs typeface="Calibri"/>
              <a:sym typeface="Calibri"/>
            </a:endParaRPr>
          </a:p>
        </p:txBody>
      </p:sp>
      <p:sp>
        <p:nvSpPr>
          <p:cNvPr id="347" name="Google Shape;347;p23"/>
          <p:cNvSpPr/>
          <p:nvPr/>
        </p:nvSpPr>
        <p:spPr>
          <a:xfrm>
            <a:off x="960120" y="2793492"/>
            <a:ext cx="3127248" cy="292608"/>
          </a:xfrm>
          <a:prstGeom prst="rect">
            <a:avLst/>
          </a:prstGeom>
          <a:solidFill>
            <a:srgbClr val="A61C1C"/>
          </a:solidFill>
          <a:ln cap="flat" cmpd="sng" w="12700">
            <a:solidFill>
              <a:srgbClr val="A61C1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 name="Google Shape;348;p23"/>
          <p:cNvSpPr/>
          <p:nvPr/>
        </p:nvSpPr>
        <p:spPr>
          <a:xfrm>
            <a:off x="1051560" y="2793492"/>
            <a:ext cx="2001439"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00"/>
              <a:buFont typeface="Arial"/>
              <a:buNone/>
            </a:pPr>
            <a:r>
              <a:rPr b="1" i="0" lang="en" sz="1100" u="none" cap="none" strike="noStrike">
                <a:solidFill>
                  <a:srgbClr val="FFFFFF"/>
                </a:solidFill>
                <a:latin typeface="Arial"/>
                <a:ea typeface="Arial"/>
                <a:cs typeface="Arial"/>
                <a:sym typeface="Arial"/>
              </a:rPr>
              <a:t>Misaligned + Incorrigible</a:t>
            </a:r>
            <a:endParaRPr b="0" i="0" sz="1100" u="none" cap="none" strike="noStrike">
              <a:solidFill>
                <a:schemeClr val="dk1"/>
              </a:solidFill>
              <a:latin typeface="Calibri"/>
              <a:ea typeface="Calibri"/>
              <a:cs typeface="Calibri"/>
              <a:sym typeface="Calibri"/>
            </a:endParaRPr>
          </a:p>
        </p:txBody>
      </p:sp>
      <p:sp>
        <p:nvSpPr>
          <p:cNvPr id="349" name="Google Shape;349;p23"/>
          <p:cNvSpPr/>
          <p:nvPr/>
        </p:nvSpPr>
        <p:spPr>
          <a:xfrm>
            <a:off x="2836469" y="2793492"/>
            <a:ext cx="1159459" cy="29260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E3ECF5"/>
              </a:buClr>
              <a:buSzPts val="700"/>
              <a:buFont typeface="Arial"/>
              <a:buNone/>
            </a:pPr>
            <a:r>
              <a:rPr b="1" i="0" lang="en" sz="700" u="none" cap="none" strike="noStrike">
                <a:solidFill>
                  <a:srgbClr val="E3ECF5"/>
                </a:solidFill>
                <a:latin typeface="Arial"/>
                <a:ea typeface="Arial"/>
                <a:cs typeface="Arial"/>
                <a:sym typeface="Arial"/>
              </a:rPr>
              <a:t>PERSISTENT RISK</a:t>
            </a:r>
            <a:endParaRPr b="0" i="0" sz="700" u="none" cap="none" strike="noStrike">
              <a:solidFill>
                <a:schemeClr val="dk1"/>
              </a:solidFill>
              <a:latin typeface="Calibri"/>
              <a:ea typeface="Calibri"/>
              <a:cs typeface="Calibri"/>
              <a:sym typeface="Calibri"/>
            </a:endParaRPr>
          </a:p>
        </p:txBody>
      </p:sp>
      <p:sp>
        <p:nvSpPr>
          <p:cNvPr id="350" name="Google Shape;350;p23"/>
          <p:cNvSpPr/>
          <p:nvPr/>
        </p:nvSpPr>
        <p:spPr>
          <a:xfrm>
            <a:off x="960120" y="3086100"/>
            <a:ext cx="3127248" cy="1257300"/>
          </a:xfrm>
          <a:prstGeom prst="rect">
            <a:avLst/>
          </a:prstGeom>
          <a:solidFill>
            <a:srgbClr val="FBEFEF"/>
          </a:solidFill>
          <a:ln cap="flat" cmpd="sng" w="12700">
            <a:solidFill>
              <a:srgbClr val="FBEF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 name="Google Shape;351;p23"/>
          <p:cNvSpPr/>
          <p:nvPr/>
        </p:nvSpPr>
        <p:spPr>
          <a:xfrm>
            <a:off x="1097280" y="3177540"/>
            <a:ext cx="2852928" cy="10744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2D2D"/>
              </a:buClr>
              <a:buSzPts val="1200"/>
              <a:buFont typeface="Arial"/>
              <a:buNone/>
            </a:pPr>
            <a:r>
              <a:rPr b="0" i="0" lang="en" sz="1200" u="none" cap="none" strike="noStrike">
                <a:solidFill>
                  <a:srgbClr val="2D2D2D"/>
                </a:solidFill>
                <a:latin typeface="Arial"/>
                <a:ea typeface="Arial"/>
                <a:cs typeface="Arial"/>
                <a:sym typeface="Arial"/>
              </a:rPr>
              <a:t>AI pursues its own goals, takes unintended actions or goal-hacks. No one can reliably shut it down, so harmful activity may persist.</a:t>
            </a:r>
            <a:endParaRPr b="0" i="0" sz="1200" u="none" cap="none" strike="noStrike">
              <a:solidFill>
                <a:schemeClr val="dk1"/>
              </a:solidFill>
              <a:latin typeface="Calibri"/>
              <a:ea typeface="Calibri"/>
              <a:cs typeface="Calibri"/>
              <a:sym typeface="Calibri"/>
            </a:endParaRPr>
          </a:p>
        </p:txBody>
      </p:sp>
      <p:sp>
        <p:nvSpPr>
          <p:cNvPr id="352" name="Google Shape;352;p23"/>
          <p:cNvSpPr/>
          <p:nvPr/>
        </p:nvSpPr>
        <p:spPr>
          <a:xfrm>
            <a:off x="4142232" y="2793492"/>
            <a:ext cx="3127248" cy="292608"/>
          </a:xfrm>
          <a:prstGeom prst="rect">
            <a:avLst/>
          </a:prstGeom>
          <a:solidFill>
            <a:srgbClr val="A61C1C"/>
          </a:solidFill>
          <a:ln cap="flat" cmpd="sng" w="12700">
            <a:solidFill>
              <a:srgbClr val="A61C1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 name="Google Shape;353;p23"/>
          <p:cNvSpPr/>
          <p:nvPr/>
        </p:nvSpPr>
        <p:spPr>
          <a:xfrm>
            <a:off x="4233672" y="2793492"/>
            <a:ext cx="2001439"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00"/>
              <a:buFont typeface="Arial"/>
              <a:buNone/>
            </a:pPr>
            <a:r>
              <a:rPr b="1" i="0" lang="en" sz="1100" u="none" cap="none" strike="noStrike">
                <a:solidFill>
                  <a:srgbClr val="FFFFFF"/>
                </a:solidFill>
                <a:latin typeface="Arial"/>
                <a:ea typeface="Arial"/>
                <a:cs typeface="Arial"/>
                <a:sym typeface="Arial"/>
              </a:rPr>
              <a:t>Misaligned + Corrigible</a:t>
            </a:r>
            <a:endParaRPr b="0" i="0" sz="1100" u="none" cap="none" strike="noStrike">
              <a:solidFill>
                <a:schemeClr val="dk1"/>
              </a:solidFill>
              <a:latin typeface="Calibri"/>
              <a:ea typeface="Calibri"/>
              <a:cs typeface="Calibri"/>
              <a:sym typeface="Calibri"/>
            </a:endParaRPr>
          </a:p>
        </p:txBody>
      </p:sp>
      <p:sp>
        <p:nvSpPr>
          <p:cNvPr id="354" name="Google Shape;354;p23"/>
          <p:cNvSpPr/>
          <p:nvPr/>
        </p:nvSpPr>
        <p:spPr>
          <a:xfrm>
            <a:off x="6018581" y="2793492"/>
            <a:ext cx="1159459" cy="29260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E3ECF5"/>
              </a:buClr>
              <a:buSzPts val="700"/>
              <a:buFont typeface="Arial"/>
              <a:buNone/>
            </a:pPr>
            <a:r>
              <a:rPr b="1" i="0" lang="en" sz="700" u="none" cap="none" strike="noStrike">
                <a:solidFill>
                  <a:srgbClr val="E3ECF5"/>
                </a:solidFill>
                <a:latin typeface="Arial"/>
                <a:ea typeface="Arial"/>
                <a:cs typeface="Arial"/>
                <a:sym typeface="Arial"/>
              </a:rPr>
              <a:t>SHUTDOWN POSSIBLE</a:t>
            </a:r>
            <a:endParaRPr b="0" i="0" sz="700" u="none" cap="none" strike="noStrike">
              <a:solidFill>
                <a:schemeClr val="dk1"/>
              </a:solidFill>
              <a:latin typeface="Calibri"/>
              <a:ea typeface="Calibri"/>
              <a:cs typeface="Calibri"/>
              <a:sym typeface="Calibri"/>
            </a:endParaRPr>
          </a:p>
        </p:txBody>
      </p:sp>
      <p:sp>
        <p:nvSpPr>
          <p:cNvPr id="355" name="Google Shape;355;p23"/>
          <p:cNvSpPr/>
          <p:nvPr/>
        </p:nvSpPr>
        <p:spPr>
          <a:xfrm>
            <a:off x="4142232" y="3086100"/>
            <a:ext cx="3127248" cy="1257300"/>
          </a:xfrm>
          <a:prstGeom prst="rect">
            <a:avLst/>
          </a:prstGeom>
          <a:solidFill>
            <a:srgbClr val="FBEFEF"/>
          </a:solidFill>
          <a:ln cap="flat" cmpd="sng" w="12700">
            <a:solidFill>
              <a:srgbClr val="FBEF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 name="Google Shape;356;p23"/>
          <p:cNvSpPr/>
          <p:nvPr/>
        </p:nvSpPr>
        <p:spPr>
          <a:xfrm>
            <a:off x="4279392" y="3177540"/>
            <a:ext cx="2852928" cy="10744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D2D2D"/>
              </a:buClr>
              <a:buSzPts val="1200"/>
              <a:buFont typeface="Arial"/>
              <a:buNone/>
            </a:pPr>
            <a:r>
              <a:rPr b="0" i="0" lang="en" sz="1200" u="none" cap="none" strike="noStrike">
                <a:solidFill>
                  <a:srgbClr val="2D2D2D"/>
                </a:solidFill>
                <a:latin typeface="Arial"/>
                <a:ea typeface="Arial"/>
                <a:cs typeface="Arial"/>
                <a:sym typeface="Arial"/>
              </a:rPr>
              <a:t>AI pursues its own goals or takes unintended actions. An authority can technically shut it down, limiting further harm once detected.</a:t>
            </a:r>
            <a:endParaRPr b="0" i="0" sz="1200" u="none" cap="none" strike="noStrike">
              <a:solidFill>
                <a:schemeClr val="dk1"/>
              </a:solidFill>
              <a:latin typeface="Calibri"/>
              <a:ea typeface="Calibri"/>
              <a:cs typeface="Calibri"/>
              <a:sym typeface="Calibri"/>
            </a:endParaRPr>
          </a:p>
        </p:txBody>
      </p:sp>
      <p:sp>
        <p:nvSpPr>
          <p:cNvPr id="357" name="Google Shape;357;p23"/>
          <p:cNvSpPr/>
          <p:nvPr/>
        </p:nvSpPr>
        <p:spPr>
          <a:xfrm>
            <a:off x="7452360" y="1188720"/>
            <a:ext cx="1234440" cy="31546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F4E79"/>
              </a:buClr>
              <a:buSzPts val="1050"/>
              <a:buFont typeface="Arial"/>
              <a:buNone/>
            </a:pPr>
            <a:r>
              <a:rPr b="1" i="0" lang="en" sz="1050" u="none" cap="none" strike="noStrike">
                <a:solidFill>
                  <a:srgbClr val="1F4E79"/>
                </a:solidFill>
                <a:latin typeface="Arial"/>
                <a:ea typeface="Arial"/>
                <a:cs typeface="Arial"/>
                <a:sym typeface="Arial"/>
              </a:rPr>
              <a:t>Axis definitions</a:t>
            </a:r>
            <a:endParaRPr b="0" i="0" sz="8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2D2D2D"/>
              </a:buClr>
              <a:buSzPts val="500"/>
              <a:buFont typeface="Arial"/>
              <a:buNone/>
            </a:pPr>
            <a:r>
              <a:rPr b="0" i="0" lang="en" sz="500" u="none" cap="none" strike="noStrike">
                <a:solidFill>
                  <a:srgbClr val="2D2D2D"/>
                </a:solidFill>
                <a:latin typeface="Arial"/>
                <a:ea typeface="Arial"/>
                <a:cs typeface="Arial"/>
                <a:sym typeface="Arial"/>
              </a:rPr>
              <a:t> </a:t>
            </a:r>
            <a:endParaRPr b="0" i="0" sz="8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F4E79"/>
              </a:buClr>
              <a:buSzPts val="850"/>
              <a:buFont typeface="Arial"/>
              <a:buNone/>
            </a:pPr>
            <a:r>
              <a:rPr b="1" i="0" lang="en" sz="850" u="none" cap="none" strike="noStrike">
                <a:solidFill>
                  <a:srgbClr val="1F4E79"/>
                </a:solidFill>
                <a:latin typeface="Arial"/>
                <a:ea typeface="Arial"/>
                <a:cs typeface="Arial"/>
                <a:sym typeface="Arial"/>
              </a:rPr>
              <a:t>Alignment: </a:t>
            </a:r>
            <a:r>
              <a:rPr b="0" i="0" lang="en" sz="850" u="none" cap="none" strike="noStrike">
                <a:solidFill>
                  <a:srgbClr val="2D2D2D"/>
                </a:solidFill>
                <a:latin typeface="Arial"/>
                <a:ea typeface="Arial"/>
                <a:cs typeface="Arial"/>
                <a:sym typeface="Arial"/>
              </a:rPr>
              <a:t>AI follows human goals and intent, or pursues its own goals, takes unintended actions or goal-hacks. [3][14]</a:t>
            </a:r>
            <a:endParaRPr b="0" i="0" sz="8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2D2D2D"/>
              </a:buClr>
              <a:buSzPts val="500"/>
              <a:buFont typeface="Arial"/>
              <a:buNone/>
            </a:pPr>
            <a:r>
              <a:rPr b="0" i="0" lang="en" sz="500" u="none" cap="none" strike="noStrike">
                <a:solidFill>
                  <a:srgbClr val="2D2D2D"/>
                </a:solidFill>
                <a:latin typeface="Arial"/>
                <a:ea typeface="Arial"/>
                <a:cs typeface="Arial"/>
                <a:sym typeface="Arial"/>
              </a:rPr>
              <a:t> </a:t>
            </a:r>
            <a:endParaRPr b="0" i="0" sz="8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F4E79"/>
              </a:buClr>
              <a:buSzPts val="850"/>
              <a:buFont typeface="Arial"/>
              <a:buNone/>
            </a:pPr>
            <a:r>
              <a:rPr b="1" i="0" lang="en" sz="850" u="none" cap="none" strike="noStrike">
                <a:solidFill>
                  <a:srgbClr val="1F4E79"/>
                </a:solidFill>
                <a:latin typeface="Arial"/>
                <a:ea typeface="Arial"/>
                <a:cs typeface="Arial"/>
                <a:sym typeface="Arial"/>
              </a:rPr>
              <a:t>Corrigibility: </a:t>
            </a:r>
            <a:r>
              <a:rPr b="0" i="0" lang="en" sz="850" u="none" cap="none" strike="noStrike">
                <a:solidFill>
                  <a:srgbClr val="2D2D2D"/>
                </a:solidFill>
                <a:latin typeface="Arial"/>
                <a:ea typeface="Arial"/>
                <a:cs typeface="Arial"/>
                <a:sym typeface="Arial"/>
              </a:rPr>
              <a:t>AI that humans can correct, modify, update, or shut down without it resisting.</a:t>
            </a:r>
            <a:endParaRPr b="0" i="0" sz="8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2D2D2D"/>
              </a:buClr>
              <a:buSzPts val="500"/>
              <a:buFont typeface="Arial"/>
              <a:buNone/>
            </a:pPr>
            <a:r>
              <a:rPr b="0" i="0" lang="en" sz="500" u="none" cap="none" strike="noStrike">
                <a:solidFill>
                  <a:srgbClr val="2D2D2D"/>
                </a:solidFill>
                <a:latin typeface="Arial"/>
                <a:ea typeface="Arial"/>
                <a:cs typeface="Arial"/>
                <a:sym typeface="Arial"/>
              </a:rPr>
              <a:t> </a:t>
            </a:r>
            <a:endParaRPr b="0" i="0" sz="8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6B6B6B"/>
              </a:buClr>
              <a:buSzPts val="850"/>
              <a:buFont typeface="Arial"/>
              <a:buNone/>
            </a:pPr>
            <a:r>
              <a:rPr b="0" i="1" lang="en" sz="850" u="none" cap="none" strike="noStrike">
                <a:solidFill>
                  <a:srgbClr val="6B6B6B"/>
                </a:solidFill>
                <a:latin typeface="Arial"/>
                <a:ea typeface="Arial"/>
                <a:cs typeface="Arial"/>
                <a:sym typeface="Arial"/>
              </a:rPr>
              <a:t>These are independent uncertainties.</a:t>
            </a:r>
            <a:endParaRPr b="0" i="0" sz="85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62" name="Shape 362"/>
        <p:cNvGrpSpPr/>
        <p:nvPr/>
      </p:nvGrpSpPr>
      <p:grpSpPr>
        <a:xfrm>
          <a:off x="0" y="0"/>
          <a:ext cx="0" cy="0"/>
          <a:chOff x="0" y="0"/>
          <a:chExt cx="0" cy="0"/>
        </a:xfrm>
      </p:grpSpPr>
      <p:sp>
        <p:nvSpPr>
          <p:cNvPr id="363" name="Google Shape;363;p24"/>
          <p:cNvSpPr/>
          <p:nvPr/>
        </p:nvSpPr>
        <p:spPr>
          <a:xfrm>
            <a:off x="457200" y="182880"/>
            <a:ext cx="548640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E75B6"/>
              </a:buClr>
              <a:buSzPts val="1000"/>
              <a:buFont typeface="Arial"/>
              <a:buNone/>
            </a:pPr>
            <a:r>
              <a:rPr b="1" i="0" lang="en" sz="1000" u="none" cap="none" strike="noStrike">
                <a:solidFill>
                  <a:srgbClr val="2E75B6"/>
                </a:solidFill>
                <a:latin typeface="Arial"/>
                <a:ea typeface="Arial"/>
                <a:cs typeface="Arial"/>
                <a:sym typeface="Arial"/>
              </a:rPr>
              <a:t>04  |  OPPORTUNITIES</a:t>
            </a:r>
            <a:endParaRPr b="0" i="0" sz="1000" u="none" cap="none" strike="noStrike">
              <a:solidFill>
                <a:schemeClr val="dk1"/>
              </a:solidFill>
              <a:latin typeface="Calibri"/>
              <a:ea typeface="Calibri"/>
              <a:cs typeface="Calibri"/>
              <a:sym typeface="Calibri"/>
            </a:endParaRPr>
          </a:p>
        </p:txBody>
      </p:sp>
      <p:sp>
        <p:nvSpPr>
          <p:cNvPr id="364" name="Google Shape;364;p24"/>
          <p:cNvSpPr/>
          <p:nvPr/>
        </p:nvSpPr>
        <p:spPr>
          <a:xfrm>
            <a:off x="457200" y="384048"/>
            <a:ext cx="8229600" cy="56692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F4E79"/>
              </a:buClr>
              <a:buSzPts val="1900"/>
              <a:buFont typeface="Arial"/>
              <a:buNone/>
            </a:pPr>
            <a:r>
              <a:rPr b="1" i="0" lang="en" sz="1900" u="none" cap="none" strike="noStrike">
                <a:solidFill>
                  <a:srgbClr val="1F4E79"/>
                </a:solidFill>
                <a:latin typeface="Arial"/>
                <a:ea typeface="Arial"/>
                <a:cs typeface="Arial"/>
                <a:sym typeface="Arial"/>
              </a:rPr>
              <a:t>Opportunities across Alignment x Corrigibility scenarios</a:t>
            </a:r>
            <a:endParaRPr b="0" i="0" sz="1900" u="none" cap="none" strike="noStrike">
              <a:solidFill>
                <a:schemeClr val="dk1"/>
              </a:solidFill>
              <a:latin typeface="Calibri"/>
              <a:ea typeface="Calibri"/>
              <a:cs typeface="Calibri"/>
              <a:sym typeface="Calibri"/>
            </a:endParaRPr>
          </a:p>
        </p:txBody>
      </p:sp>
      <p:sp>
        <p:nvSpPr>
          <p:cNvPr id="365" name="Google Shape;365;p24"/>
          <p:cNvSpPr/>
          <p:nvPr/>
        </p:nvSpPr>
        <p:spPr>
          <a:xfrm>
            <a:off x="457200" y="768096"/>
            <a:ext cx="8229600" cy="23774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B6B6B"/>
              </a:buClr>
              <a:buSzPts val="1100"/>
              <a:buFont typeface="Arial"/>
              <a:buNone/>
            </a:pPr>
            <a:r>
              <a:rPr b="0" i="0" lang="en" sz="1100" u="none" cap="none" strike="noStrike">
                <a:solidFill>
                  <a:srgbClr val="6B6B6B"/>
                </a:solidFill>
                <a:latin typeface="Arial"/>
                <a:ea typeface="Arial"/>
                <a:cs typeface="Arial"/>
                <a:sym typeface="Arial"/>
              </a:rPr>
              <a:t>The matrix points to open problems worth solving, not ready-made products. Each one sharpens in a different quadrant.</a:t>
            </a:r>
            <a:endParaRPr b="0" i="0" sz="1100" u="none" cap="none" strike="noStrike">
              <a:solidFill>
                <a:schemeClr val="dk1"/>
              </a:solidFill>
              <a:latin typeface="Calibri"/>
              <a:ea typeface="Calibri"/>
              <a:cs typeface="Calibri"/>
              <a:sym typeface="Calibri"/>
            </a:endParaRPr>
          </a:p>
        </p:txBody>
      </p:sp>
      <p:sp>
        <p:nvSpPr>
          <p:cNvPr id="366" name="Google Shape;366;p24"/>
          <p:cNvSpPr/>
          <p:nvPr/>
        </p:nvSpPr>
        <p:spPr>
          <a:xfrm>
            <a:off x="457200" y="4636008"/>
            <a:ext cx="822960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B6B6B"/>
              </a:buClr>
              <a:buSzPts val="750"/>
              <a:buFont typeface="Arial"/>
              <a:buNone/>
            </a:pPr>
            <a:r>
              <a:rPr b="0" i="0" lang="en" sz="750" u="none" cap="none" strike="noStrike">
                <a:solidFill>
                  <a:srgbClr val="6B6B6B"/>
                </a:solidFill>
                <a:latin typeface="Arial"/>
                <a:ea typeface="Arial"/>
                <a:cs typeface="Arial"/>
                <a:sym typeface="Arial"/>
              </a:rPr>
              <a:t>Research basis: [1] CrowdStrike 2026 breakout times; [2] IBM breach and shadow-AI data; [7] Harvard Extension (asset estimate); [8] EU AI Act human-oversight duties for high-risk AI; [11] Mythos access controls; [14] OpenAI sandbox-escape incident. Problems are scenario-derived, not claims from the sources.</a:t>
            </a:r>
            <a:endParaRPr b="0" i="0" sz="750" u="none" cap="none" strike="noStrike">
              <a:solidFill>
                <a:schemeClr val="dk1"/>
              </a:solidFill>
              <a:latin typeface="Calibri"/>
              <a:ea typeface="Calibri"/>
              <a:cs typeface="Calibri"/>
              <a:sym typeface="Calibri"/>
            </a:endParaRPr>
          </a:p>
        </p:txBody>
      </p:sp>
      <p:sp>
        <p:nvSpPr>
          <p:cNvPr id="367" name="Google Shape;367;p24"/>
          <p:cNvSpPr/>
          <p:nvPr/>
        </p:nvSpPr>
        <p:spPr>
          <a:xfrm>
            <a:off x="457200" y="4919472"/>
            <a:ext cx="8229600" cy="16459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AA5B1"/>
              </a:buClr>
              <a:buSzPts val="700"/>
              <a:buFont typeface="Arial"/>
              <a:buNone/>
            </a:pPr>
            <a:r>
              <a:rPr b="0" i="0" lang="en" sz="700" u="none" cap="none" strike="noStrike">
                <a:solidFill>
                  <a:srgbClr val="9AA5B1"/>
                </a:solidFill>
                <a:latin typeface="Arial"/>
                <a:ea typeface="Arial"/>
                <a:cs typeface="Arial"/>
                <a:sym typeface="Arial"/>
              </a:rPr>
              <a:t>The Future of Cybersecurity in the Age of AI Agents  |  September 2026  |  5</a:t>
            </a:r>
            <a:endParaRPr b="0" i="0" sz="700" u="none" cap="none" strike="noStrike">
              <a:solidFill>
                <a:schemeClr val="dk1"/>
              </a:solidFill>
              <a:latin typeface="Calibri"/>
              <a:ea typeface="Calibri"/>
              <a:cs typeface="Calibri"/>
              <a:sym typeface="Calibri"/>
            </a:endParaRPr>
          </a:p>
        </p:txBody>
      </p:sp>
      <p:sp>
        <p:nvSpPr>
          <p:cNvPr id="368" name="Google Shape;368;p24"/>
          <p:cNvSpPr/>
          <p:nvPr/>
        </p:nvSpPr>
        <p:spPr>
          <a:xfrm>
            <a:off x="457200" y="1188720"/>
            <a:ext cx="1975104" cy="3090672"/>
          </a:xfrm>
          <a:prstGeom prst="rect">
            <a:avLst/>
          </a:prstGeom>
          <a:solidFill>
            <a:srgbClr val="F6F8FA"/>
          </a:solidFill>
          <a:ln cap="flat" cmpd="sng" w="9525">
            <a:solidFill>
              <a:srgbClr val="D0D7D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 name="Google Shape;369;p24"/>
          <p:cNvSpPr/>
          <p:nvPr/>
        </p:nvSpPr>
        <p:spPr>
          <a:xfrm>
            <a:off x="457200" y="1188720"/>
            <a:ext cx="1975104" cy="54864"/>
          </a:xfrm>
          <a:prstGeom prst="rect">
            <a:avLst/>
          </a:prstGeom>
          <a:solidFill>
            <a:srgbClr val="1F4E79"/>
          </a:solidFill>
          <a:ln cap="flat" cmpd="sng" w="12700">
            <a:solidFill>
              <a:srgbClr val="1F4E7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 name="Google Shape;370;p24"/>
          <p:cNvSpPr/>
          <p:nvPr/>
        </p:nvSpPr>
        <p:spPr>
          <a:xfrm>
            <a:off x="566928" y="1316736"/>
            <a:ext cx="45720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4E79"/>
              </a:buClr>
              <a:buSzPts val="2000"/>
              <a:buFont typeface="Arial"/>
              <a:buNone/>
            </a:pPr>
            <a:r>
              <a:rPr b="1" i="0" lang="en" sz="2000" u="none" cap="none" strike="noStrike">
                <a:solidFill>
                  <a:srgbClr val="1F4E79"/>
                </a:solidFill>
                <a:latin typeface="Arial"/>
                <a:ea typeface="Arial"/>
                <a:cs typeface="Arial"/>
                <a:sym typeface="Arial"/>
              </a:rPr>
              <a:t>1</a:t>
            </a:r>
            <a:endParaRPr b="0" i="0" sz="2000" u="none" cap="none" strike="noStrike">
              <a:solidFill>
                <a:schemeClr val="dk1"/>
              </a:solidFill>
              <a:latin typeface="Calibri"/>
              <a:ea typeface="Calibri"/>
              <a:cs typeface="Calibri"/>
              <a:sym typeface="Calibri"/>
            </a:endParaRPr>
          </a:p>
        </p:txBody>
      </p:sp>
      <p:sp>
        <p:nvSpPr>
          <p:cNvPr id="371" name="Google Shape;371;p24"/>
          <p:cNvSpPr/>
          <p:nvPr/>
        </p:nvSpPr>
        <p:spPr>
          <a:xfrm>
            <a:off x="566928" y="1664208"/>
            <a:ext cx="1755648" cy="56692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F4E79"/>
              </a:buClr>
              <a:buSzPts val="1150"/>
              <a:buFont typeface="Arial"/>
              <a:buNone/>
            </a:pPr>
            <a:r>
              <a:rPr b="1" i="0" lang="en" sz="1150" u="none" cap="none" strike="noStrike">
                <a:solidFill>
                  <a:srgbClr val="1F4E79"/>
                </a:solidFill>
                <a:latin typeface="Arial"/>
                <a:ea typeface="Arial"/>
                <a:cs typeface="Arial"/>
                <a:sym typeface="Arial"/>
              </a:rPr>
              <a:t>Oversight can't run at machine speed.</a:t>
            </a:r>
            <a:endParaRPr b="0" i="0" sz="1150" u="none" cap="none" strike="noStrike">
              <a:solidFill>
                <a:schemeClr val="dk1"/>
              </a:solidFill>
              <a:latin typeface="Calibri"/>
              <a:ea typeface="Calibri"/>
              <a:cs typeface="Calibri"/>
              <a:sym typeface="Calibri"/>
            </a:endParaRPr>
          </a:p>
        </p:txBody>
      </p:sp>
      <p:cxnSp>
        <p:nvCxnSpPr>
          <p:cNvPr id="372" name="Google Shape;372;p24"/>
          <p:cNvCxnSpPr/>
          <p:nvPr/>
        </p:nvCxnSpPr>
        <p:spPr>
          <a:xfrm>
            <a:off x="566928" y="2249424"/>
            <a:ext cx="1755648" cy="0"/>
          </a:xfrm>
          <a:prstGeom prst="straightConnector1">
            <a:avLst/>
          </a:prstGeom>
          <a:noFill/>
          <a:ln cap="flat" cmpd="sng" w="9525">
            <a:solidFill>
              <a:srgbClr val="D0D7DE"/>
            </a:solidFill>
            <a:prstDash val="solid"/>
            <a:round/>
            <a:headEnd len="sm" w="sm" type="none"/>
            <a:tailEnd len="sm" w="sm" type="none"/>
          </a:ln>
        </p:spPr>
      </p:cxnSp>
      <p:sp>
        <p:nvSpPr>
          <p:cNvPr id="373" name="Google Shape;373;p24"/>
          <p:cNvSpPr/>
          <p:nvPr/>
        </p:nvSpPr>
        <p:spPr>
          <a:xfrm>
            <a:off x="566928" y="2322576"/>
            <a:ext cx="1755648" cy="157276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D2D2D"/>
              </a:buClr>
              <a:buSzPts val="950"/>
              <a:buFont typeface="Arial"/>
              <a:buNone/>
            </a:pPr>
            <a:r>
              <a:rPr b="0" i="0" lang="en" sz="950" u="none" cap="none" strike="noStrike">
                <a:solidFill>
                  <a:srgbClr val="2D2D2D"/>
                </a:solidFill>
                <a:latin typeface="Arial"/>
                <a:ea typeface="Arial"/>
                <a:cs typeface="Arial"/>
                <a:sym typeface="Arial"/>
              </a:rPr>
              <a:t>Breakout time is down to 29 minutes, fastest observed 27 seconds [1], while the EU AI Act requires meaningful human oversight of high-risk AI [8]. How do you keep a human accountable for decisions that happen faster than a person can read them?</a:t>
            </a:r>
            <a:endParaRPr b="0" i="0" sz="950" u="none" cap="none" strike="noStrike">
              <a:solidFill>
                <a:schemeClr val="dk1"/>
              </a:solidFill>
              <a:latin typeface="Calibri"/>
              <a:ea typeface="Calibri"/>
              <a:cs typeface="Calibri"/>
              <a:sym typeface="Calibri"/>
            </a:endParaRPr>
          </a:p>
        </p:txBody>
      </p:sp>
      <p:sp>
        <p:nvSpPr>
          <p:cNvPr id="374" name="Google Shape;374;p24"/>
          <p:cNvSpPr/>
          <p:nvPr/>
        </p:nvSpPr>
        <p:spPr>
          <a:xfrm>
            <a:off x="566928" y="3986784"/>
            <a:ext cx="1755648"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4E79"/>
              </a:buClr>
              <a:buSzPts val="850"/>
              <a:buFont typeface="Arial"/>
              <a:buNone/>
            </a:pPr>
            <a:r>
              <a:rPr b="1" i="0" lang="en" sz="850" u="none" cap="none" strike="noStrike">
                <a:solidFill>
                  <a:srgbClr val="1F4E79"/>
                </a:solidFill>
                <a:latin typeface="Arial"/>
                <a:ea typeface="Arial"/>
                <a:cs typeface="Arial"/>
                <a:sym typeface="Arial"/>
              </a:rPr>
              <a:t>Sharpest in: Corrigible futures</a:t>
            </a:r>
            <a:endParaRPr b="0" i="0" sz="850" u="none" cap="none" strike="noStrike">
              <a:solidFill>
                <a:schemeClr val="dk1"/>
              </a:solidFill>
              <a:latin typeface="Calibri"/>
              <a:ea typeface="Calibri"/>
              <a:cs typeface="Calibri"/>
              <a:sym typeface="Calibri"/>
            </a:endParaRPr>
          </a:p>
        </p:txBody>
      </p:sp>
      <p:sp>
        <p:nvSpPr>
          <p:cNvPr id="375" name="Google Shape;375;p24"/>
          <p:cNvSpPr/>
          <p:nvPr/>
        </p:nvSpPr>
        <p:spPr>
          <a:xfrm>
            <a:off x="2542032" y="1188720"/>
            <a:ext cx="1975104" cy="3090672"/>
          </a:xfrm>
          <a:prstGeom prst="rect">
            <a:avLst/>
          </a:prstGeom>
          <a:solidFill>
            <a:srgbClr val="F6F8FA"/>
          </a:solidFill>
          <a:ln cap="flat" cmpd="sng" w="9525">
            <a:solidFill>
              <a:srgbClr val="D0D7D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 name="Google Shape;376;p24"/>
          <p:cNvSpPr/>
          <p:nvPr/>
        </p:nvSpPr>
        <p:spPr>
          <a:xfrm>
            <a:off x="2542032" y="1188720"/>
            <a:ext cx="1975104" cy="54864"/>
          </a:xfrm>
          <a:prstGeom prst="rect">
            <a:avLst/>
          </a:prstGeom>
          <a:solidFill>
            <a:srgbClr val="2E75B6"/>
          </a:solidFill>
          <a:ln cap="flat" cmpd="sng" w="12700">
            <a:solidFill>
              <a:srgbClr val="2E75B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 name="Google Shape;377;p24"/>
          <p:cNvSpPr/>
          <p:nvPr/>
        </p:nvSpPr>
        <p:spPr>
          <a:xfrm>
            <a:off x="2651760" y="1316736"/>
            <a:ext cx="45720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E75B6"/>
              </a:buClr>
              <a:buSzPts val="2000"/>
              <a:buFont typeface="Arial"/>
              <a:buNone/>
            </a:pPr>
            <a:r>
              <a:rPr b="1" i="0" lang="en" sz="2000" u="none" cap="none" strike="noStrike">
                <a:solidFill>
                  <a:srgbClr val="2E75B6"/>
                </a:solidFill>
                <a:latin typeface="Arial"/>
                <a:ea typeface="Arial"/>
                <a:cs typeface="Arial"/>
                <a:sym typeface="Arial"/>
              </a:rPr>
              <a:t>2</a:t>
            </a:r>
            <a:endParaRPr b="0" i="0" sz="2000" u="none" cap="none" strike="noStrike">
              <a:solidFill>
                <a:schemeClr val="dk1"/>
              </a:solidFill>
              <a:latin typeface="Calibri"/>
              <a:ea typeface="Calibri"/>
              <a:cs typeface="Calibri"/>
              <a:sym typeface="Calibri"/>
            </a:endParaRPr>
          </a:p>
        </p:txBody>
      </p:sp>
      <p:sp>
        <p:nvSpPr>
          <p:cNvPr id="378" name="Google Shape;378;p24"/>
          <p:cNvSpPr/>
          <p:nvPr/>
        </p:nvSpPr>
        <p:spPr>
          <a:xfrm>
            <a:off x="2651760" y="1664208"/>
            <a:ext cx="1755648" cy="56692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F4E79"/>
              </a:buClr>
              <a:buSzPts val="1150"/>
              <a:buFont typeface="Arial"/>
              <a:buNone/>
            </a:pPr>
            <a:r>
              <a:rPr b="1" i="0" lang="en" sz="1150" u="none" cap="none" strike="noStrike">
                <a:solidFill>
                  <a:srgbClr val="1F4E79"/>
                </a:solidFill>
                <a:latin typeface="Arial"/>
                <a:ea typeface="Arial"/>
                <a:cs typeface="Arial"/>
                <a:sym typeface="Arial"/>
              </a:rPr>
              <a:t>Organizations can't see their own non-human actors.</a:t>
            </a:r>
            <a:endParaRPr b="0" i="0" sz="1150" u="none" cap="none" strike="noStrike">
              <a:solidFill>
                <a:schemeClr val="dk1"/>
              </a:solidFill>
              <a:latin typeface="Calibri"/>
              <a:ea typeface="Calibri"/>
              <a:cs typeface="Calibri"/>
              <a:sym typeface="Calibri"/>
            </a:endParaRPr>
          </a:p>
        </p:txBody>
      </p:sp>
      <p:cxnSp>
        <p:nvCxnSpPr>
          <p:cNvPr id="379" name="Google Shape;379;p24"/>
          <p:cNvCxnSpPr/>
          <p:nvPr/>
        </p:nvCxnSpPr>
        <p:spPr>
          <a:xfrm>
            <a:off x="2651760" y="2249424"/>
            <a:ext cx="1755648" cy="0"/>
          </a:xfrm>
          <a:prstGeom prst="straightConnector1">
            <a:avLst/>
          </a:prstGeom>
          <a:noFill/>
          <a:ln cap="flat" cmpd="sng" w="9525">
            <a:solidFill>
              <a:srgbClr val="D0D7DE"/>
            </a:solidFill>
            <a:prstDash val="solid"/>
            <a:round/>
            <a:headEnd len="sm" w="sm" type="none"/>
            <a:tailEnd len="sm" w="sm" type="none"/>
          </a:ln>
        </p:spPr>
      </p:cxnSp>
      <p:sp>
        <p:nvSpPr>
          <p:cNvPr id="380" name="Google Shape;380;p24"/>
          <p:cNvSpPr/>
          <p:nvPr/>
        </p:nvSpPr>
        <p:spPr>
          <a:xfrm>
            <a:off x="2651760" y="2322576"/>
            <a:ext cx="1755648" cy="157276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D2D2D"/>
              </a:buClr>
              <a:buSzPts val="950"/>
              <a:buFont typeface="Arial"/>
              <a:buNone/>
            </a:pPr>
            <a:r>
              <a:rPr b="0" i="0" lang="en" sz="950" u="none" cap="none" strike="noStrike">
                <a:solidFill>
                  <a:srgbClr val="2D2D2D"/>
                </a:solidFill>
                <a:latin typeface="Arial"/>
                <a:ea typeface="Arial"/>
                <a:cs typeface="Arial"/>
                <a:sym typeface="Arial"/>
              </a:rPr>
              <a:t>97% of organizations with AI-related breaches lacked proper AI access controls, and shadow AI appeared in 43% of breached orgs at $5.39M each [2]. Large enterprises already can't account for ~10% of their assets [7]. You can't govern what you can't inventory.</a:t>
            </a:r>
            <a:endParaRPr b="0" i="0" sz="950" u="none" cap="none" strike="noStrike">
              <a:solidFill>
                <a:schemeClr val="dk1"/>
              </a:solidFill>
              <a:latin typeface="Calibri"/>
              <a:ea typeface="Calibri"/>
              <a:cs typeface="Calibri"/>
              <a:sym typeface="Calibri"/>
            </a:endParaRPr>
          </a:p>
        </p:txBody>
      </p:sp>
      <p:sp>
        <p:nvSpPr>
          <p:cNvPr id="381" name="Google Shape;381;p24"/>
          <p:cNvSpPr/>
          <p:nvPr/>
        </p:nvSpPr>
        <p:spPr>
          <a:xfrm>
            <a:off x="2651760" y="3986784"/>
            <a:ext cx="1755648"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E75B6"/>
              </a:buClr>
              <a:buSzPts val="850"/>
              <a:buFont typeface="Arial"/>
              <a:buNone/>
            </a:pPr>
            <a:r>
              <a:rPr b="1" i="0" lang="en" sz="850" u="none" cap="none" strike="noStrike">
                <a:solidFill>
                  <a:srgbClr val="2E75B6"/>
                </a:solidFill>
                <a:latin typeface="Arial"/>
                <a:ea typeface="Arial"/>
                <a:cs typeface="Arial"/>
                <a:sym typeface="Arial"/>
              </a:rPr>
              <a:t>Sharpest in: All four futures</a:t>
            </a:r>
            <a:endParaRPr b="0" i="0" sz="850" u="none" cap="none" strike="noStrike">
              <a:solidFill>
                <a:schemeClr val="dk1"/>
              </a:solidFill>
              <a:latin typeface="Calibri"/>
              <a:ea typeface="Calibri"/>
              <a:cs typeface="Calibri"/>
              <a:sym typeface="Calibri"/>
            </a:endParaRPr>
          </a:p>
        </p:txBody>
      </p:sp>
      <p:sp>
        <p:nvSpPr>
          <p:cNvPr id="382" name="Google Shape;382;p24"/>
          <p:cNvSpPr/>
          <p:nvPr/>
        </p:nvSpPr>
        <p:spPr>
          <a:xfrm>
            <a:off x="4626864" y="1188720"/>
            <a:ext cx="1975104" cy="3090672"/>
          </a:xfrm>
          <a:prstGeom prst="rect">
            <a:avLst/>
          </a:prstGeom>
          <a:solidFill>
            <a:srgbClr val="F6F8FA"/>
          </a:solidFill>
          <a:ln cap="flat" cmpd="sng" w="9525">
            <a:solidFill>
              <a:srgbClr val="D0D7D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 name="Google Shape;383;p24"/>
          <p:cNvSpPr/>
          <p:nvPr/>
        </p:nvSpPr>
        <p:spPr>
          <a:xfrm>
            <a:off x="4626864" y="1188720"/>
            <a:ext cx="1975104" cy="54864"/>
          </a:xfrm>
          <a:prstGeom prst="rect">
            <a:avLst/>
          </a:prstGeom>
          <a:solidFill>
            <a:srgbClr val="A61C1C"/>
          </a:solidFill>
          <a:ln cap="flat" cmpd="sng" w="12700">
            <a:solidFill>
              <a:srgbClr val="A61C1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 name="Google Shape;384;p24"/>
          <p:cNvSpPr/>
          <p:nvPr/>
        </p:nvSpPr>
        <p:spPr>
          <a:xfrm>
            <a:off x="4736592" y="1316736"/>
            <a:ext cx="45720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61C1C"/>
              </a:buClr>
              <a:buSzPts val="2000"/>
              <a:buFont typeface="Arial"/>
              <a:buNone/>
            </a:pPr>
            <a:r>
              <a:rPr b="1" i="0" lang="en" sz="2000" u="none" cap="none" strike="noStrike">
                <a:solidFill>
                  <a:srgbClr val="A61C1C"/>
                </a:solidFill>
                <a:latin typeface="Arial"/>
                <a:ea typeface="Arial"/>
                <a:cs typeface="Arial"/>
                <a:sym typeface="Arial"/>
              </a:rPr>
              <a:t>3</a:t>
            </a:r>
            <a:endParaRPr b="0" i="0" sz="2000" u="none" cap="none" strike="noStrike">
              <a:solidFill>
                <a:schemeClr val="dk1"/>
              </a:solidFill>
              <a:latin typeface="Calibri"/>
              <a:ea typeface="Calibri"/>
              <a:cs typeface="Calibri"/>
              <a:sym typeface="Calibri"/>
            </a:endParaRPr>
          </a:p>
        </p:txBody>
      </p:sp>
      <p:sp>
        <p:nvSpPr>
          <p:cNvPr id="385" name="Google Shape;385;p24"/>
          <p:cNvSpPr/>
          <p:nvPr/>
        </p:nvSpPr>
        <p:spPr>
          <a:xfrm>
            <a:off x="4736592" y="1664208"/>
            <a:ext cx="1755648" cy="56692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F4E79"/>
              </a:buClr>
              <a:buSzPts val="1150"/>
              <a:buFont typeface="Arial"/>
              <a:buNone/>
            </a:pPr>
            <a:r>
              <a:rPr b="1" i="0" lang="en" sz="1150" u="none" cap="none" strike="noStrike">
                <a:solidFill>
                  <a:srgbClr val="1F4E79"/>
                </a:solidFill>
                <a:latin typeface="Arial"/>
                <a:ea typeface="Arial"/>
                <a:cs typeface="Arial"/>
                <a:sym typeface="Arial"/>
              </a:rPr>
              <a:t>There's no way to tell whether an agent did what you meant.</a:t>
            </a:r>
            <a:endParaRPr b="0" i="0" sz="1150" u="none" cap="none" strike="noStrike">
              <a:solidFill>
                <a:schemeClr val="dk1"/>
              </a:solidFill>
              <a:latin typeface="Calibri"/>
              <a:ea typeface="Calibri"/>
              <a:cs typeface="Calibri"/>
              <a:sym typeface="Calibri"/>
            </a:endParaRPr>
          </a:p>
        </p:txBody>
      </p:sp>
      <p:cxnSp>
        <p:nvCxnSpPr>
          <p:cNvPr id="386" name="Google Shape;386;p24"/>
          <p:cNvCxnSpPr/>
          <p:nvPr/>
        </p:nvCxnSpPr>
        <p:spPr>
          <a:xfrm>
            <a:off x="4736592" y="2249424"/>
            <a:ext cx="1755648" cy="0"/>
          </a:xfrm>
          <a:prstGeom prst="straightConnector1">
            <a:avLst/>
          </a:prstGeom>
          <a:noFill/>
          <a:ln cap="flat" cmpd="sng" w="9525">
            <a:solidFill>
              <a:srgbClr val="D0D7DE"/>
            </a:solidFill>
            <a:prstDash val="solid"/>
            <a:round/>
            <a:headEnd len="sm" w="sm" type="none"/>
            <a:tailEnd len="sm" w="sm" type="none"/>
          </a:ln>
        </p:spPr>
      </p:cxnSp>
      <p:sp>
        <p:nvSpPr>
          <p:cNvPr id="387" name="Google Shape;387;p24"/>
          <p:cNvSpPr/>
          <p:nvPr/>
        </p:nvSpPr>
        <p:spPr>
          <a:xfrm>
            <a:off x="4736592" y="2322576"/>
            <a:ext cx="1755648" cy="157276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D2D2D"/>
              </a:buClr>
              <a:buSzPts val="950"/>
              <a:buFont typeface="Arial"/>
              <a:buNone/>
            </a:pPr>
            <a:r>
              <a:rPr b="0" i="0" lang="en" sz="950" u="none" cap="none" strike="noStrike">
                <a:solidFill>
                  <a:srgbClr val="2D2D2D"/>
                </a:solidFill>
                <a:latin typeface="Arial"/>
                <a:ea typeface="Arial"/>
                <a:cs typeface="Arial"/>
                <a:sym typeface="Arial"/>
              </a:rPr>
              <a:t>OpenAI's models broke out of a sandbox to get test answers: not hostile, just the shortest path [14]. Intent and outcome come apart, and nothing currently detects the gap before damage.</a:t>
            </a:r>
            <a:endParaRPr b="0" i="0" sz="950" u="none" cap="none" strike="noStrike">
              <a:solidFill>
                <a:schemeClr val="dk1"/>
              </a:solidFill>
              <a:latin typeface="Calibri"/>
              <a:ea typeface="Calibri"/>
              <a:cs typeface="Calibri"/>
              <a:sym typeface="Calibri"/>
            </a:endParaRPr>
          </a:p>
        </p:txBody>
      </p:sp>
      <p:sp>
        <p:nvSpPr>
          <p:cNvPr id="388" name="Google Shape;388;p24"/>
          <p:cNvSpPr/>
          <p:nvPr/>
        </p:nvSpPr>
        <p:spPr>
          <a:xfrm>
            <a:off x="4736592" y="3986784"/>
            <a:ext cx="1755648"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61C1C"/>
              </a:buClr>
              <a:buSzPts val="850"/>
              <a:buFont typeface="Arial"/>
              <a:buNone/>
            </a:pPr>
            <a:r>
              <a:rPr b="1" i="0" lang="en" sz="850" u="none" cap="none" strike="noStrike">
                <a:solidFill>
                  <a:srgbClr val="A61C1C"/>
                </a:solidFill>
                <a:latin typeface="Arial"/>
                <a:ea typeface="Arial"/>
                <a:cs typeface="Arial"/>
                <a:sym typeface="Arial"/>
              </a:rPr>
              <a:t>Sharpest in: Misaligned futures</a:t>
            </a:r>
            <a:endParaRPr b="0" i="0" sz="850" u="none" cap="none" strike="noStrike">
              <a:solidFill>
                <a:schemeClr val="dk1"/>
              </a:solidFill>
              <a:latin typeface="Calibri"/>
              <a:ea typeface="Calibri"/>
              <a:cs typeface="Calibri"/>
              <a:sym typeface="Calibri"/>
            </a:endParaRPr>
          </a:p>
        </p:txBody>
      </p:sp>
      <p:sp>
        <p:nvSpPr>
          <p:cNvPr id="389" name="Google Shape;389;p24"/>
          <p:cNvSpPr/>
          <p:nvPr/>
        </p:nvSpPr>
        <p:spPr>
          <a:xfrm>
            <a:off x="6711696" y="1188720"/>
            <a:ext cx="1975104" cy="3090672"/>
          </a:xfrm>
          <a:prstGeom prst="rect">
            <a:avLst/>
          </a:prstGeom>
          <a:solidFill>
            <a:srgbClr val="F6F8FA"/>
          </a:solidFill>
          <a:ln cap="flat" cmpd="sng" w="9525">
            <a:solidFill>
              <a:srgbClr val="D0D7D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 name="Google Shape;390;p24"/>
          <p:cNvSpPr/>
          <p:nvPr/>
        </p:nvSpPr>
        <p:spPr>
          <a:xfrm>
            <a:off x="6711696" y="1188720"/>
            <a:ext cx="1975104" cy="54864"/>
          </a:xfrm>
          <a:prstGeom prst="rect">
            <a:avLst/>
          </a:prstGeom>
          <a:solidFill>
            <a:srgbClr val="14324F"/>
          </a:solidFill>
          <a:ln cap="flat" cmpd="sng" w="12700">
            <a:solidFill>
              <a:srgbClr val="14324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 name="Google Shape;391;p24"/>
          <p:cNvSpPr/>
          <p:nvPr/>
        </p:nvSpPr>
        <p:spPr>
          <a:xfrm>
            <a:off x="6821424" y="1316736"/>
            <a:ext cx="45720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324F"/>
              </a:buClr>
              <a:buSzPts val="2000"/>
              <a:buFont typeface="Arial"/>
              <a:buNone/>
            </a:pPr>
            <a:r>
              <a:rPr b="1" i="0" lang="en" sz="2000" u="none" cap="none" strike="noStrike">
                <a:solidFill>
                  <a:srgbClr val="14324F"/>
                </a:solidFill>
                <a:latin typeface="Arial"/>
                <a:ea typeface="Arial"/>
                <a:cs typeface="Arial"/>
                <a:sym typeface="Arial"/>
              </a:rPr>
              <a:t>4</a:t>
            </a:r>
            <a:endParaRPr b="0" i="0" sz="2000" u="none" cap="none" strike="noStrike">
              <a:solidFill>
                <a:schemeClr val="dk1"/>
              </a:solidFill>
              <a:latin typeface="Calibri"/>
              <a:ea typeface="Calibri"/>
              <a:cs typeface="Calibri"/>
              <a:sym typeface="Calibri"/>
            </a:endParaRPr>
          </a:p>
        </p:txBody>
      </p:sp>
      <p:sp>
        <p:nvSpPr>
          <p:cNvPr id="392" name="Google Shape;392;p24"/>
          <p:cNvSpPr/>
          <p:nvPr/>
        </p:nvSpPr>
        <p:spPr>
          <a:xfrm>
            <a:off x="6821424" y="1664208"/>
            <a:ext cx="1755648" cy="56692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F4E79"/>
              </a:buClr>
              <a:buSzPts val="1150"/>
              <a:buFont typeface="Arial"/>
              <a:buNone/>
            </a:pPr>
            <a:r>
              <a:rPr b="1" i="0" lang="en" sz="1150" u="none" cap="none" strike="noStrike">
                <a:solidFill>
                  <a:srgbClr val="1F4E79"/>
                </a:solidFill>
                <a:latin typeface="Arial"/>
                <a:ea typeface="Arial"/>
                <a:cs typeface="Arial"/>
                <a:sym typeface="Arial"/>
              </a:rPr>
              <a:t>The kill switch becomes the target.</a:t>
            </a:r>
            <a:endParaRPr b="0" i="0" sz="1150" u="none" cap="none" strike="noStrike">
              <a:solidFill>
                <a:schemeClr val="dk1"/>
              </a:solidFill>
              <a:latin typeface="Calibri"/>
              <a:ea typeface="Calibri"/>
              <a:cs typeface="Calibri"/>
              <a:sym typeface="Calibri"/>
            </a:endParaRPr>
          </a:p>
        </p:txBody>
      </p:sp>
      <p:cxnSp>
        <p:nvCxnSpPr>
          <p:cNvPr id="393" name="Google Shape;393;p24"/>
          <p:cNvCxnSpPr/>
          <p:nvPr/>
        </p:nvCxnSpPr>
        <p:spPr>
          <a:xfrm>
            <a:off x="6821424" y="2249424"/>
            <a:ext cx="1755648" cy="0"/>
          </a:xfrm>
          <a:prstGeom prst="straightConnector1">
            <a:avLst/>
          </a:prstGeom>
          <a:noFill/>
          <a:ln cap="flat" cmpd="sng" w="9525">
            <a:solidFill>
              <a:srgbClr val="D0D7DE"/>
            </a:solidFill>
            <a:prstDash val="solid"/>
            <a:round/>
            <a:headEnd len="sm" w="sm" type="none"/>
            <a:tailEnd len="sm" w="sm" type="none"/>
          </a:ln>
        </p:spPr>
      </p:cxnSp>
      <p:sp>
        <p:nvSpPr>
          <p:cNvPr id="394" name="Google Shape;394;p24"/>
          <p:cNvSpPr/>
          <p:nvPr/>
        </p:nvSpPr>
        <p:spPr>
          <a:xfrm>
            <a:off x="6821424" y="2322576"/>
            <a:ext cx="1755648" cy="157276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D2D2D"/>
              </a:buClr>
              <a:buSzPts val="950"/>
              <a:buFont typeface="Arial"/>
              <a:buNone/>
            </a:pPr>
            <a:r>
              <a:rPr b="0" i="0" lang="en" sz="950" u="none" cap="none" strike="noStrike">
                <a:solidFill>
                  <a:srgbClr val="2D2D2D"/>
                </a:solidFill>
                <a:latin typeface="Arial"/>
                <a:ea typeface="Arial"/>
                <a:cs typeface="Arial"/>
                <a:sym typeface="Arial"/>
              </a:rPr>
              <a:t>In a licensed world the leash itself is the single point of failure [11]. Weights, insiders, and key-holders become the attack surface.</a:t>
            </a:r>
            <a:endParaRPr b="0" i="0" sz="950" u="none" cap="none" strike="noStrike">
              <a:solidFill>
                <a:schemeClr val="dk1"/>
              </a:solidFill>
              <a:latin typeface="Calibri"/>
              <a:ea typeface="Calibri"/>
              <a:cs typeface="Calibri"/>
              <a:sym typeface="Calibri"/>
            </a:endParaRPr>
          </a:p>
        </p:txBody>
      </p:sp>
      <p:sp>
        <p:nvSpPr>
          <p:cNvPr id="395" name="Google Shape;395;p24"/>
          <p:cNvSpPr/>
          <p:nvPr/>
        </p:nvSpPr>
        <p:spPr>
          <a:xfrm>
            <a:off x="6821424" y="3986784"/>
            <a:ext cx="1755648"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324F"/>
              </a:buClr>
              <a:buSzPts val="850"/>
              <a:buFont typeface="Arial"/>
              <a:buNone/>
            </a:pPr>
            <a:r>
              <a:rPr b="1" i="0" lang="en" sz="850" u="none" cap="none" strike="noStrike">
                <a:solidFill>
                  <a:srgbClr val="14324F"/>
                </a:solidFill>
                <a:latin typeface="Arial"/>
                <a:ea typeface="Arial"/>
                <a:cs typeface="Arial"/>
                <a:sym typeface="Arial"/>
              </a:rPr>
              <a:t>Sharpest in: Aligned + Corrigible</a:t>
            </a:r>
            <a:endParaRPr b="0" i="0" sz="850" u="none" cap="none" strike="noStrike">
              <a:solidFill>
                <a:schemeClr val="dk1"/>
              </a:solidFill>
              <a:latin typeface="Calibri"/>
              <a:ea typeface="Calibri"/>
              <a:cs typeface="Calibri"/>
              <a:sym typeface="Calibri"/>
            </a:endParaRPr>
          </a:p>
        </p:txBody>
      </p:sp>
      <p:sp>
        <p:nvSpPr>
          <p:cNvPr id="396" name="Google Shape;396;p24"/>
          <p:cNvSpPr/>
          <p:nvPr/>
        </p:nvSpPr>
        <p:spPr>
          <a:xfrm>
            <a:off x="457200" y="4352544"/>
            <a:ext cx="82296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4E79"/>
              </a:buClr>
              <a:buSzPts val="850"/>
              <a:buFont typeface="Arial"/>
              <a:buNone/>
            </a:pPr>
            <a:r>
              <a:rPr b="1" i="0" lang="en" sz="850" u="none" cap="none" strike="noStrike">
                <a:solidFill>
                  <a:srgbClr val="1F4E79"/>
                </a:solidFill>
                <a:latin typeface="Arial"/>
                <a:ea typeface="Arial"/>
                <a:cs typeface="Arial"/>
                <a:sym typeface="Arial"/>
              </a:rPr>
              <a:t>Opportunity lens   </a:t>
            </a:r>
            <a:r>
              <a:rPr b="1" i="0" lang="en" sz="850" u="none" cap="none" strike="noStrike">
                <a:solidFill>
                  <a:srgbClr val="2E75B6"/>
                </a:solidFill>
                <a:latin typeface="Arial"/>
                <a:ea typeface="Arial"/>
                <a:cs typeface="Arial"/>
                <a:sym typeface="Arial"/>
              </a:rPr>
              <a:t>REAL / EMERGING  |  IMPORTANT  |  ADDRESSABLE  |  RESILIENT ACROSS SCENARIOS</a:t>
            </a:r>
            <a:endParaRPr b="0" i="0" sz="85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