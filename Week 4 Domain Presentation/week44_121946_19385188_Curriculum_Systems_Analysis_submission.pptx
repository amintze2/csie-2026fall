
<file path=[Content_Types].xml><?xml version="1.0" encoding="utf-8"?>
<Types xmlns="http://schemas.openxmlformats.org/package/2006/content-types">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slideLayout+xml" PartName="/ppt/slideLayouts/slideLayout1.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8" r:id="rId3"/>
  </p:sldMasterIdLst>
  <p:notesMasterIdLst>
    <p:notesMasterId r:id="rId4"/>
  </p:notesMasterIdLst>
  <p:sldIdLst>
    <p:sldId id="256" r:id="rId5"/>
    <p:sldId id="257" r:id="rId6"/>
    <p:sldId id="258" r:id="rId7"/>
    <p:sldId id="259" r:id="rId8"/>
  </p:sldIdLst>
  <p:sldSz cy="6858000" cx="12192000"/>
  <p:notesSz cx="6858000" cy="12192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9" roundtripDataSignature="AMtx7mij8KVkqSofTGdKGMyumm06GUYXbg=="/>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customschemas.google.com/relationships/presentationmetadata" Target="metadata"/><Relationship Id="rId5" Type="http://schemas.openxmlformats.org/officeDocument/2006/relationships/slide" Target="slides/slide1.xml"/><Relationship Id="rId6" Type="http://schemas.openxmlformats.org/officeDocument/2006/relationships/slide" Target="slides/slide2.xml"/><Relationship Id="rId7" Type="http://schemas.openxmlformats.org/officeDocument/2006/relationships/slide" Target="slides/slide3.xml"/><Relationship Id="rId8" Type="http://schemas.openxmlformats.org/officeDocument/2006/relationships/slide" Target="slides/slide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 name="Shape 11"/>
        <p:cNvGrpSpPr/>
        <p:nvPr/>
      </p:nvGrpSpPr>
      <p:grpSpPr>
        <a:xfrm>
          <a:off x="0" y="0"/>
          <a:ext cx="0" cy="0"/>
          <a:chOff x="0" y="0"/>
          <a:chExt cx="0" cy="0"/>
        </a:xfrm>
      </p:grpSpPr>
      <p:sp>
        <p:nvSpPr>
          <p:cNvPr id="12" name="Google Shape;12;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 name="Google Shape;13;p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Slide 1: Cover</a:t>
            </a:r>
            <a:br>
              <a:rPr lang="en-US"/>
            </a:br>
            <a:br>
              <a:rPr lang="en-US"/>
            </a:br>
            <a:r>
              <a:rPr lang="en-US"/>
              <a:t>What this slide is doing:</a:t>
            </a:r>
            <a:br>
              <a:rPr lang="en-US"/>
            </a:br>
            <a:r>
              <a:rPr lang="en-US"/>
              <a:t>- Introduces the domain: higher education, with curriculum as the focal point of the analysis.</a:t>
            </a:r>
            <a:br>
              <a:rPr lang="en-US"/>
            </a:br>
            <a:r>
              <a:rPr lang="en-US"/>
              <a:t>- Frames the project as a systems question rather than a teaching-quality question.</a:t>
            </a:r>
            <a:br>
              <a:rPr lang="en-US"/>
            </a:br>
            <a:r>
              <a:rPr lang="en-US"/>
              <a:t>- Signals the method: nested hierarchies and systems analysis, not trend extrapolation or scenarios.</a:t>
            </a:r>
            <a:br>
              <a:rPr lang="en-US"/>
            </a:br>
            <a:br>
              <a:rPr lang="en-US"/>
            </a:br>
            <a:r>
              <a:rPr lang="en-US"/>
              <a:t>Core idea to understand:</a:t>
            </a:r>
            <a:br>
              <a:rPr lang="en-US"/>
            </a:br>
            <a:r>
              <a:rPr lang="en-US"/>
              <a:t>- Every system sits inside a larger system and contains smaller ones. Innovation fails when it happens at the wrong level.</a:t>
            </a:r>
            <a:br>
              <a:rPr lang="en-US"/>
            </a:br>
            <a:r>
              <a:rPr lang="en-US"/>
              <a:t>- Our hierarchy runs Elements to Classes to Curriculum to Education to Workforce. We put our focal point on curriculum.</a:t>
            </a:r>
            <a:br>
              <a:rPr lang="en-US"/>
            </a:br>
            <a:br>
              <a:rPr lang="en-US"/>
            </a:br>
            <a:r>
              <a:rPr lang="en-US"/>
              <a:t>Why this domain matters:</a:t>
            </a:r>
            <a:br>
              <a:rPr lang="en-US"/>
            </a:br>
            <a:r>
              <a:rPr lang="en-US"/>
              <a:t>- It is the system all three of us are inside right now, so we can see its elements directly.</a:t>
            </a:r>
            <a:br>
              <a:rPr lang="en-US"/>
            </a:br>
            <a:r>
              <a:rPr lang="en-US"/>
              <a:t>- It is under live pressure from AI, from the entry-level job market, and from falling public confidence.</a:t>
            </a:r>
            <a:br>
              <a:rPr lang="en-US"/>
            </a:br>
            <a:br>
              <a:rPr lang="en-US"/>
            </a:br>
            <a:r>
              <a:rPr lang="en-US"/>
              <a:t>Transition:</a:t>
            </a:r>
            <a:br>
              <a:rPr lang="en-US"/>
            </a:br>
            <a:r>
              <a:rPr lang="en-US"/>
              <a:t>- The next slide shows the background data: what has already changed, and at which level.</a:t>
            </a:r>
            <a:endParaRPr/>
          </a:p>
        </p:txBody>
      </p:sp>
      <p:sp>
        <p:nvSpPr>
          <p:cNvPr id="14" name="Google Shape;14;p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 name="Shape 36"/>
        <p:cNvGrpSpPr/>
        <p:nvPr/>
      </p:nvGrpSpPr>
      <p:grpSpPr>
        <a:xfrm>
          <a:off x="0" y="0"/>
          <a:ext cx="0" cy="0"/>
          <a:chOff x="0" y="0"/>
          <a:chExt cx="0" cy="0"/>
        </a:xfrm>
      </p:grpSpPr>
      <p:sp>
        <p:nvSpPr>
          <p:cNvPr id="37" name="Google Shape;37;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8" name="Google Shape;38;p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Slide 2: Domain + Relevant Data</a:t>
            </a:r>
            <a:br>
              <a:rPr lang="en-US"/>
            </a:br>
            <a:br>
              <a:rPr lang="en-US"/>
            </a:br>
            <a:r>
              <a:rPr lang="en-US"/>
              <a:t>Intro to domain:</a:t>
            </a:r>
            <a:br>
              <a:rPr lang="en-US"/>
            </a:br>
            <a:r>
              <a:rPr lang="en-US"/>
              <a:t>- The curriculum level decides what is taught, in what sequence, and how learning is assessed. Classes sit inside it; education and the workforce sit above it.</a:t>
            </a:r>
            <a:br>
              <a:rPr lang="en-US"/>
            </a:br>
            <a:r>
              <a:rPr lang="en-US"/>
              <a:t>- Its elements are the things we listed in the worksheet: textbooks, lectures, professors, students, TAs, testing, grades, homework, projects, autograding, AI, reading, collaboration.</a:t>
            </a:r>
            <a:br>
              <a:rPr lang="en-US"/>
            </a:br>
            <a:r>
              <a:rPr lang="en-US"/>
              <a:t>- The argument of this slide is that the elements moved and the level above them did not.</a:t>
            </a:r>
            <a:br>
              <a:rPr lang="en-US"/>
            </a:br>
            <a:br>
              <a:rPr lang="en-US"/>
            </a:br>
            <a:r>
              <a:rPr lang="en-US"/>
              <a:t>How to read the chart:</a:t>
            </a:r>
            <a:br>
              <a:rPr lang="en-US"/>
            </a:br>
            <a:r>
              <a:rPr lang="en-US"/>
              <a:t>- The chart shows the share of Harvard undergraduate grades awarded as A's: about 25% in 2005, roughly 40% a decade ago, and more than 60% in 2024-25.</a:t>
            </a:r>
            <a:br>
              <a:rPr lang="en-US"/>
            </a:br>
            <a:r>
              <a:rPr lang="en-US"/>
              <a:t>- Harvard is one institution, so treat it as an illustration of grade compression rather than a national measurement.</a:t>
            </a:r>
            <a:br>
              <a:rPr lang="en-US"/>
            </a:br>
            <a:r>
              <a:rPr lang="en-US"/>
              <a:t>- The point is that the main output signal of the curriculum carries less information every year.</a:t>
            </a:r>
            <a:br>
              <a:rPr lang="en-US"/>
            </a:br>
            <a:br>
              <a:rPr lang="en-US"/>
            </a:br>
            <a:r>
              <a:rPr lang="en-US"/>
              <a:t>Why the metric cards matter:</a:t>
            </a:r>
            <a:br>
              <a:rPr lang="en-US"/>
            </a:br>
            <a:r>
              <a:rPr lang="en-US"/>
              <a:t>- 88% student AI adoption and 77% faculty adoption, from a 45,000-response survey across 35 countries, shows the elements changed everywhere at once.</a:t>
            </a:r>
            <a:br>
              <a:rPr lang="en-US"/>
            </a:br>
            <a:r>
              <a:rPr lang="en-US"/>
              <a:t>- Under 30% of students think assessments reflect what an AI-enabled workplace needs. The students themselves are telling us the assessment design is stale.</a:t>
            </a:r>
            <a:br>
              <a:rPr lang="en-US"/>
            </a:br>
            <a:r>
              <a:rPr lang="en-US"/>
              <a:t>- 39% of core skills changing by 2030 sets the clock speed of the level above us, and 63% of employers call the skills gap their top barrier.</a:t>
            </a:r>
            <a:br>
              <a:rPr lang="en-US"/>
            </a:br>
            <a:r>
              <a:rPr lang="en-US"/>
              <a:t>- Two years is the clock speed of our own level. Those two numbers next to each other are the whole problem.</a:t>
            </a:r>
            <a:br>
              <a:rPr lang="en-US"/>
            </a:br>
            <a:br>
              <a:rPr lang="en-US"/>
            </a:br>
            <a:r>
              <a:rPr lang="en-US"/>
              <a:t>Interpretation:</a:t>
            </a:r>
            <a:br>
              <a:rPr lang="en-US"/>
            </a:br>
            <a:r>
              <a:rPr lang="en-US"/>
              <a:t>- This is not a story about bad teaching or lazy students. It is a mismatch of clock speeds between levels of one system.</a:t>
            </a:r>
            <a:br>
              <a:rPr lang="en-US"/>
            </a:br>
            <a:br>
              <a:rPr lang="en-US"/>
            </a:br>
            <a:r>
              <a:rPr lang="en-US"/>
              <a:t>Suggested transition:</a:t>
            </a:r>
            <a:br>
              <a:rPr lang="en-US"/>
            </a:br>
            <a:r>
              <a:rPr lang="en-US"/>
              <a:t>- If the constraint is structural, we need a method that shows which level it sits on. That is systems analysis.</a:t>
            </a:r>
            <a:endParaRPr/>
          </a:p>
        </p:txBody>
      </p:sp>
      <p:sp>
        <p:nvSpPr>
          <p:cNvPr id="39" name="Google Shape;39;p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 name="Shape 75"/>
        <p:cNvGrpSpPr/>
        <p:nvPr/>
      </p:nvGrpSpPr>
      <p:grpSpPr>
        <a:xfrm>
          <a:off x="0" y="0"/>
          <a:ext cx="0" cy="0"/>
          <a:chOff x="0" y="0"/>
          <a:chExt cx="0" cy="0"/>
        </a:xfrm>
      </p:grpSpPr>
      <p:sp>
        <p:nvSpPr>
          <p:cNvPr id="76" name="Google Shape;76;h6100cc4b0deec59a_1_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7" name="Google Shape;77;h6100cc4b0deec59a_1_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Slide 3: Analysis — Systems Analysis</a:t>
            </a:r>
            <a:br>
              <a:rPr lang="en-US"/>
            </a:br>
            <a:br>
              <a:rPr lang="en-US"/>
            </a:br>
            <a:r>
              <a:rPr lang="en-US"/>
              <a:t>What method we are using:</a:t>
            </a:r>
            <a:br>
              <a:rPr lang="en-US"/>
            </a:br>
            <a:r>
              <a:rPr lang="en-US"/>
              <a:t>- Nested hierarchies: every system is embedded in a larger system and contains smaller ones. Innovation often fails because the improvement is real but it happens at the wrong level.</a:t>
            </a:r>
            <a:br>
              <a:rPr lang="en-US"/>
            </a:br>
            <a:r>
              <a:rPr lang="en-US"/>
              <a:t>- The method forces you to look up and down the hierarchy before deciding where to focus.</a:t>
            </a:r>
            <a:br>
              <a:rPr lang="en-US"/>
            </a:br>
            <a:br>
              <a:rPr lang="en-US"/>
            </a:br>
            <a:r>
              <a:rPr lang="en-US"/>
              <a:t>How to read the left panel:</a:t>
            </a:r>
            <a:br>
              <a:rPr lang="en-US"/>
            </a:br>
            <a:r>
              <a:rPr lang="en-US"/>
              <a:t>- Our hierarchy runs Elements, Classes, Curriculum, Education, Workforce. The star marks curriculum as our focal point.</a:t>
            </a:r>
            <a:br>
              <a:rPr lang="en-US"/>
            </a:br>
            <a:r>
              <a:rPr lang="en-US"/>
              <a:t>- The elements listed underneath are the ones we identified in the worksheet.</a:t>
            </a:r>
            <a:br>
              <a:rPr lang="en-US"/>
            </a:br>
            <a:r>
              <a:rPr lang="en-US"/>
              <a:t>- The constraint we found is at the focal level: the gap between what a course could be and how it is actually taught, traditional grading making courses harder without making them better, and assessment that rewards memorization over exploration.</a:t>
            </a:r>
            <a:br>
              <a:rPr lang="en-US"/>
            </a:br>
            <a:br>
              <a:rPr lang="en-US"/>
            </a:br>
            <a:r>
              <a:rPr lang="en-US"/>
              <a:t>How to read the right panel:</a:t>
            </a:r>
            <a:br>
              <a:rPr lang="en-US"/>
            </a:br>
            <a:r>
              <a:rPr lang="en-US"/>
              <a:t>- These are the four kinds of innovation available once a focal system is chosen. They are not a second hierarchy.</a:t>
            </a:r>
            <a:br>
              <a:rPr lang="en-US"/>
            </a:br>
            <a:r>
              <a:rPr lang="en-US"/>
              <a:t>- Elements: improve a component. Interactions: improve how components work together. System: remove the constraint on the whole. Purpose: change what the system is for.</a:t>
            </a:r>
            <a:br>
              <a:rPr lang="en-US"/>
            </a:br>
            <a:r>
              <a:rPr lang="en-US"/>
              <a:t>- The arrow matters. Moving down gets harder and more valuable, and most people stop at the top because that is where the work is easiest to authorize.</a:t>
            </a:r>
            <a:br>
              <a:rPr lang="en-US"/>
            </a:br>
            <a:br>
              <a:rPr lang="en-US"/>
            </a:br>
            <a:r>
              <a:rPr lang="en-US"/>
              <a:t>- The italic text on the right answers each question for our domain:</a:t>
            </a:r>
            <a:br>
              <a:rPr lang="en-US"/>
            </a:br>
            <a:r>
              <a:rPr lang="en-US"/>
              <a:t>- Elements: assessments that test thinking with AI, and graded practice in communication and judgment.</a:t>
            </a:r>
            <a:br>
              <a:rPr lang="en-US"/>
            </a:br>
            <a:r>
              <a:rPr lang="en-US"/>
              <a:t>- Interactions: courses that build on each other, and a record of ability employers can trust beyond GPA.</a:t>
            </a:r>
            <a:br>
              <a:rPr lang="en-US"/>
            </a:br>
            <a:r>
              <a:rPr lang="en-US"/>
              <a:t>- System: 2-3 weeks of theory, then application, with content that updates faster than the two-year approval cycle.</a:t>
            </a:r>
            <a:br>
              <a:rPr lang="en-US"/>
            </a:br>
            <a:r>
              <a:rPr lang="en-US"/>
              <a:t>- Purpose: a degree that keeps skills current past 22 and offers something students cannot get from a job or an AI tutor.</a:t>
            </a:r>
            <a:br>
              <a:rPr lang="en-US"/>
            </a:br>
            <a:br>
              <a:rPr lang="en-US"/>
            </a:br>
            <a:r>
              <a:rPr lang="en-US"/>
              <a:t>Main insight:</a:t>
            </a:r>
            <a:br>
              <a:rPr lang="en-US"/>
            </a:br>
            <a:r>
              <a:rPr lang="en-US"/>
              <a:t>- Looking up the hierarchy changed our answer. The curriculum is where the pain shows up, but much of what holds it still is authorized one level above, in approval cycles and credit-hour rules.</a:t>
            </a:r>
            <a:br>
              <a:rPr lang="en-US"/>
            </a:br>
            <a:r>
              <a:rPr lang="en-US"/>
              <a:t>- That is why the next slide spreads opportunities across all four levels instead of stacking them at the element level.</a:t>
            </a:r>
            <a:endParaRPr/>
          </a:p>
        </p:txBody>
      </p:sp>
      <p:sp>
        <p:nvSpPr>
          <p:cNvPr id="78" name="Google Shape;78;h6100cc4b0deec59a_1_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0" name="Shape 130"/>
        <p:cNvGrpSpPr/>
        <p:nvPr/>
      </p:nvGrpSpPr>
      <p:grpSpPr>
        <a:xfrm>
          <a:off x="0" y="0"/>
          <a:ext cx="0" cy="0"/>
          <a:chOff x="0" y="0"/>
          <a:chExt cx="0" cy="0"/>
        </a:xfrm>
      </p:grpSpPr>
      <p:sp>
        <p:nvSpPr>
          <p:cNvPr id="131" name="Google Shape;131;h473429a1d00369bc_4_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2" name="Google Shape;132;h473429a1d00369bc_4_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US"/>
              <a:t>Slide 4: Opportunities</a:t>
            </a:r>
            <a:br>
              <a:rPr lang="en-US"/>
            </a:br>
            <a:br>
              <a:rPr lang="en-US"/>
            </a:br>
            <a:r>
              <a:rPr lang="en-US"/>
              <a:t>What this slide is doing:</a:t>
            </a:r>
            <a:br>
              <a:rPr lang="en-US"/>
            </a:br>
            <a:r>
              <a:rPr lang="en-US"/>
              <a:t>- Six opportunity spaces for solutions, not the solutions themselves. Each card states a problem and turns it into a "How might we" question.</a:t>
            </a:r>
            <a:br>
              <a:rPr lang="en-US"/>
            </a:br>
            <a:r>
              <a:rPr lang="en-US"/>
              <a:t>- These apply to every major. AI has changed the work in nearly every field graduates go into.</a:t>
            </a:r>
            <a:br>
              <a:rPr lang="en-US"/>
            </a:br>
            <a:r>
              <a:rPr lang="en-US"/>
              <a:t>- All six of our original opportunities are still here (Assessment That Survives AI is folded into the first card), plus a new one: why a degree is still worth paying for.</a:t>
            </a:r>
            <a:br>
              <a:rPr lang="en-US"/>
            </a:br>
            <a:r>
              <a:rPr lang="en-US"/>
              <a:t>- Cards follow the innovation ladder from the analysis slide: Elements, Interactions, System, Purpose. Reading left to right, top to bottom, they get harder to act on and more valuable if solved.</a:t>
            </a:r>
            <a:br>
              <a:rPr lang="en-US"/>
            </a:br>
            <a:br>
              <a:rPr lang="en-US"/>
            </a:br>
            <a:r>
              <a:rPr lang="en-US"/>
              <a:t>Elements: What's easy to grade gets taught</a:t>
            </a:r>
            <a:br>
              <a:rPr lang="en-US"/>
            </a:br>
            <a:r>
              <a:rPr lang="en-US"/>
              <a:t>- Grading capacity (TAs, autograders, multiple choice) quietly sets the ceiling on what can be assigned. With 300 students and three TAs, the assessment will be whatever can be graded at that scale, in any subject.</a:t>
            </a:r>
            <a:br>
              <a:rPr lang="en-US"/>
            </a:br>
            <a:r>
              <a:rPr lang="en-US"/>
              <a:t>- AI proved it: many schools went back to proctored handwritten exams, chosen for gradeability rather than for what they measure.</a:t>
            </a:r>
            <a:br>
              <a:rPr lang="en-US"/>
            </a:br>
            <a:r>
              <a:rPr lang="en-US"/>
              <a:t>- Under 30% of students think their assessments reflect what an AI-enabled workplace needs (Digital Education Council 2026). If the test rewards recall, the course teaches recall.</a:t>
            </a:r>
            <a:br>
              <a:rPr lang="en-US"/>
            </a:br>
            <a:r>
              <a:rPr lang="en-US"/>
              <a:t>- Opportunity: how might any major assess how students think and work with AI, at a scale instructors can grade?</a:t>
            </a:r>
            <a:br>
              <a:rPr lang="en-US"/>
            </a:br>
            <a:br>
              <a:rPr lang="en-US"/>
            </a:br>
            <a:r>
              <a:rPr lang="en-US"/>
              <a:t>Elements: The skills nobody assigns</a:t>
            </a:r>
            <a:br>
              <a:rPr lang="en-US"/>
            </a:br>
            <a:r>
              <a:rPr lang="en-US"/>
              <a:t>- Employers report 43-point gaps between how important communication and critical thinking are and how proficient graduates are. Half of educators give 20% or less of the curriculum to workforce skills.</a:t>
            </a:r>
            <a:br>
              <a:rPr lang="en-US"/>
            </a:br>
            <a:r>
              <a:rPr lang="en-US"/>
              <a:t>- As AI takes over routine work, judgment and communication are what's left for people, so the gap gets more expensive.</a:t>
            </a:r>
            <a:br>
              <a:rPr lang="en-US"/>
            </a:br>
            <a:r>
              <a:rPr lang="en-US"/>
              <a:t>- Opportunity: how might judgment and communication become skills students practice and get graded on, rather than byproducts?</a:t>
            </a:r>
            <a:br>
              <a:rPr lang="en-US"/>
            </a:br>
            <a:br>
              <a:rPr lang="en-US"/>
            </a:br>
            <a:r>
              <a:rPr lang="en-US"/>
              <a:t>Interactions: The transcript stopped signaling</a:t>
            </a:r>
            <a:br>
              <a:rPr lang="en-US"/>
            </a:br>
            <a:r>
              <a:rPr lang="en-US"/>
              <a:t>- Harvard's A share went from about 25% in 2005 to over 60% in 2024-25. Employers responded: GPA screening fell from 73% to 42%.</a:t>
            </a:r>
            <a:br>
              <a:rPr lang="en-US"/>
            </a:br>
            <a:r>
              <a:rPr lang="en-US"/>
              <a:t>- This sits on the boundary between the curriculum and the workforce. The handoff still happens; the information in it does not.</a:t>
            </a:r>
            <a:br>
              <a:rPr lang="en-US"/>
            </a:br>
            <a:r>
              <a:rPr lang="en-US"/>
              <a:t>- Opportunity: how might students show employers what they can actually do, beyond a GPA?</a:t>
            </a:r>
            <a:br>
              <a:rPr lang="en-US"/>
            </a:br>
            <a:br>
              <a:rPr lang="en-US"/>
            </a:br>
            <a:r>
              <a:rPr lang="en-US"/>
              <a:t>System: Theory without application</a:t>
            </a:r>
            <a:br>
              <a:rPr lang="en-US"/>
            </a:br>
            <a:r>
              <a:rPr lang="en-US"/>
              <a:t>- Most courses spend the term on lectures and exams, with application saved for a final project if there is one.</a:t>
            </a:r>
            <a:br>
              <a:rPr lang="en-US"/>
            </a:br>
            <a:r>
              <a:rPr lang="en-US"/>
              <a:t>- 39% of core skills change by 2030, yet a substantive curriculum change takes about two years to reach the catalog. This is the reverse salient that holds everything else back.</a:t>
            </a:r>
            <a:br>
              <a:rPr lang="en-US"/>
            </a:br>
            <a:r>
              <a:rPr lang="en-US"/>
              <a:t>- Opportunity: how might a course cover essential theory in 2-3 weeks, then spend the rest applying it to real work? For nursing that might be clinical cases, for writing a published piece, for engineering a prototype. Applied projects can also change every term without waiting for a two-year approval.</a:t>
            </a:r>
            <a:br>
              <a:rPr lang="en-US"/>
            </a:br>
            <a:br>
              <a:rPr lang="en-US"/>
            </a:br>
            <a:r>
              <a:rPr lang="en-US"/>
              <a:t>Purpose: A degree that stops at 22</a:t>
            </a:r>
            <a:br>
              <a:rPr lang="en-US"/>
            </a:br>
            <a:r>
              <a:rPr lang="en-US"/>
              <a:t>- College teaches everything once, between 18 and 22, then stops. AI takes over entry-level tasks first: Stanford's Digital Economy Lab found young workers in the most AI-exposed jobs saw a 13% relative drop in employment. About 70% of employers say new grads still need substantial training.</a:t>
            </a:r>
            <a:br>
              <a:rPr lang="en-US"/>
            </a:br>
            <a:r>
              <a:rPr lang="en-US"/>
              <a:t>- If the purpose shifted from issuing a qualification to maintaining a capability, terms, credits and graduation would all look different.</a:t>
            </a:r>
            <a:br>
              <a:rPr lang="en-US"/>
            </a:br>
            <a:r>
              <a:rPr lang="en-US"/>
              <a:t>- Opportunity: how might a degree keep graduates' skills current over a career, instead of ending at graduation?</a:t>
            </a:r>
            <a:br>
              <a:rPr lang="en-US"/>
            </a:br>
            <a:br>
              <a:rPr lang="en-US"/>
            </a:br>
            <a:r>
              <a:rPr lang="en-US"/>
              <a:t>Purpose: Why pay for the degree?</a:t>
            </a:r>
            <a:br>
              <a:rPr lang="en-US"/>
            </a:br>
            <a:r>
              <a:rPr lang="en-US"/>
              <a:t>- Employers are building their own paths around college. Palantir's Meritocracy Fellowship (2025) took 22 recent high school graduates who skipped college, chosen from over 500 applicants, with a path to full-time roles. In a 2025 survey of 1,000 hiring managers, 7 in 10 said their company weighs relevant experience over a bachelor's degree, and a quarter planned to drop degree requirements for some roles.</a:t>
            </a:r>
            <a:br>
              <a:rPr lang="en-US"/>
            </a:br>
            <a:r>
              <a:rPr lang="en-US"/>
              <a:t>- At the same time, AI can teach much of the content of a course on demand, for free.</a:t>
            </a:r>
            <a:br>
              <a:rPr lang="en-US"/>
            </a:br>
            <a:r>
              <a:rPr lang="en-US"/>
              <a:t>- So the degree can no longer rely on being the only way in. It has to offer something students can't get from a job, an apprenticeship or an AI tutor: maybe mentorship, real projects with experts, a network, or space to explore. Which of those is the open question.</a:t>
            </a:r>
            <a:br>
              <a:rPr lang="en-US"/>
            </a:br>
            <a:r>
              <a:rPr lang="en-US"/>
              <a:t>- Opportunity: how might college offer value students can't get from a job, an apprenticeship or an AI tutor?</a:t>
            </a:r>
            <a:br>
              <a:rPr lang="en-US"/>
            </a:br>
            <a:r>
              <a:rPr lang="en-US"/>
              <a:t>- This is the hardest and most valuable level: it questions what the whole system is for.</a:t>
            </a:r>
            <a:br>
              <a:rPr lang="en-US"/>
            </a:br>
            <a:br>
              <a:rPr lang="en-US"/>
            </a:br>
            <a:r>
              <a:rPr lang="en-US"/>
              <a:t>Questions any solution has to answer (say aloud, not on the slide):</a:t>
            </a:r>
            <a:br>
              <a:rPr lang="en-US"/>
            </a:br>
            <a:r>
              <a:rPr lang="en-US"/>
              <a:t>- What is the minimum theory? What must come first before students can apply it?</a:t>
            </a:r>
            <a:br>
              <a:rPr lang="en-US"/>
            </a:br>
            <a:r>
              <a:rPr lang="en-US"/>
              <a:t>- Where does AI fit? What should AI do, and what must students own?</a:t>
            </a:r>
            <a:br>
              <a:rPr lang="en-US"/>
            </a:br>
            <a:r>
              <a:rPr lang="en-US"/>
              <a:t>- How do we know it stuck? What shows real understanding, not just a finished output?</a:t>
            </a:r>
            <a:br>
              <a:rPr lang="en-US"/>
            </a:br>
            <a:r>
              <a:rPr lang="en-US"/>
              <a:t>- We are not proposing an answer. These are the tests any solution would have to pass.</a:t>
            </a:r>
            <a:br>
              <a:rPr lang="en-US"/>
            </a:br>
            <a:br>
              <a:rPr lang="en-US"/>
            </a:br>
            <a:r>
              <a:rPr lang="en-US"/>
              <a:t>Closing interpretation:</a:t>
            </a:r>
            <a:br>
              <a:rPr lang="en-US"/>
            </a:br>
            <a:r>
              <a:rPr lang="en-US"/>
              <a:t>- The common thread is application and value. Across every major, the opportunity is to move from teaching students to produce answers to teaching them to apply and judge, and to make the degree worth more than the alternatives that now exist.</a:t>
            </a:r>
            <a:endParaRPr/>
          </a:p>
        </p:txBody>
      </p:sp>
      <p:sp>
        <p:nvSpPr>
          <p:cNvPr id="133" name="Google Shape;133;h473429a1d00369bc_4_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p:cSld name="DEFAULT">
    <p:bg>
      <p:bgPr>
        <a:solidFill>
          <a:schemeClr val="lt1"/>
        </a:solidFill>
      </p:bgPr>
    </p:bg>
    <p:spTree>
      <p:nvGrpSpPr>
        <p:cNvPr id="10" name="Shape 10"/>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 name="Shape 9"/>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47483649" r:id="rId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png"/><Relationship Id="rId4" Type="http://schemas.openxmlformats.org/officeDocument/2006/relationships/image" Target="../media/image18.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3.png"/><Relationship Id="rId4" Type="http://schemas.openxmlformats.org/officeDocument/2006/relationships/image" Target="../media/image2.png"/><Relationship Id="rId5" Type="http://schemas.openxmlformats.org/officeDocument/2006/relationships/image" Target="../media/image5.png"/><Relationship Id="rId6" Type="http://schemas.openxmlformats.org/officeDocument/2006/relationships/image" Target="../media/image10.png"/><Relationship Id="rId7" Type="http://schemas.openxmlformats.org/officeDocument/2006/relationships/image" Target="../media/image4.png"/><Relationship Id="rId8" Type="http://schemas.openxmlformats.org/officeDocument/2006/relationships/image" Target="../media/image8.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1.png"/><Relationship Id="rId4" Type="http://schemas.openxmlformats.org/officeDocument/2006/relationships/image" Target="../media/image6.png"/><Relationship Id="rId5" Type="http://schemas.openxmlformats.org/officeDocument/2006/relationships/image" Target="../media/image14.png"/><Relationship Id="rId6" Type="http://schemas.openxmlformats.org/officeDocument/2006/relationships/image" Target="../media/image16.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2.png"/><Relationship Id="rId4" Type="http://schemas.openxmlformats.org/officeDocument/2006/relationships/image" Target="../media/image11.png"/><Relationship Id="rId5" Type="http://schemas.openxmlformats.org/officeDocument/2006/relationships/image" Target="../media/image12.png"/><Relationship Id="rId6" Type="http://schemas.openxmlformats.org/officeDocument/2006/relationships/image" Target="../media/image10.png"/><Relationship Id="rId7" Type="http://schemas.openxmlformats.org/officeDocument/2006/relationships/image" Target="../media/image16.png"/><Relationship Id="rId8" Type="http://schemas.openxmlformats.org/officeDocument/2006/relationships/image" Target="../media/image13.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5" name="Shape 15"/>
        <p:cNvGrpSpPr/>
        <p:nvPr/>
      </p:nvGrpSpPr>
      <p:grpSpPr>
        <a:xfrm>
          <a:off x="0" y="0"/>
          <a:ext cx="0" cy="0"/>
          <a:chOff x="0" y="0"/>
          <a:chExt cx="0" cy="0"/>
        </a:xfrm>
      </p:grpSpPr>
      <p:sp>
        <p:nvSpPr>
          <p:cNvPr id="16" name="Google Shape;16;p1"/>
          <p:cNvSpPr txBox="1"/>
          <p:nvPr/>
        </p:nvSpPr>
        <p:spPr>
          <a:xfrm>
            <a:off x="1143000" y="146304"/>
            <a:ext cx="6583680"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2B5B"/>
              </a:buClr>
              <a:buSzPts val="950"/>
              <a:buFont typeface="Arial"/>
              <a:buNone/>
            </a:pPr>
            <a:r>
              <a:rPr b="1" lang="en-US" sz="950">
                <a:solidFill>
                  <a:srgbClr val="0F2B5B"/>
                </a:solidFill>
              </a:rPr>
              <a:t>Innovation </a:t>
            </a:r>
            <a:r>
              <a:rPr b="1" i="0" lang="en-US" sz="950" u="none" cap="none" strike="noStrike">
                <a:solidFill>
                  <a:srgbClr val="0F2B5B"/>
                </a:solidFill>
                <a:latin typeface="Arial"/>
                <a:ea typeface="Arial"/>
                <a:cs typeface="Arial"/>
                <a:sym typeface="Arial"/>
              </a:rPr>
              <a:t>&amp; </a:t>
            </a:r>
            <a:r>
              <a:rPr b="1" lang="en-US" sz="950">
                <a:solidFill>
                  <a:srgbClr val="0F2B5B"/>
                </a:solidFill>
              </a:rPr>
              <a:t>Entrepreneurship</a:t>
            </a:r>
            <a:r>
              <a:rPr b="1" lang="en-US" sz="950">
                <a:solidFill>
                  <a:srgbClr val="0F2B5B"/>
                </a:solidFill>
              </a:rPr>
              <a:t>: Undefined Problems</a:t>
            </a:r>
            <a:endParaRPr b="0" i="0" sz="950" u="none" cap="none" strike="noStrike">
              <a:solidFill>
                <a:schemeClr val="dk1"/>
              </a:solidFill>
              <a:latin typeface="Calibri"/>
              <a:ea typeface="Calibri"/>
              <a:cs typeface="Calibri"/>
              <a:sym typeface="Calibri"/>
            </a:endParaRPr>
          </a:p>
        </p:txBody>
      </p:sp>
      <p:sp>
        <p:nvSpPr>
          <p:cNvPr id="17" name="Google Shape;17;p1"/>
          <p:cNvSpPr/>
          <p:nvPr/>
        </p:nvSpPr>
        <p:spPr>
          <a:xfrm>
            <a:off x="6537960" y="0"/>
            <a:ext cx="5653735" cy="6858000"/>
          </a:xfrm>
          <a:prstGeom prst="rect">
            <a:avLst/>
          </a:prstGeom>
          <a:solidFill>
            <a:srgbClr val="0F2B5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 name="Google Shape;18;p1"/>
          <p:cNvSpPr/>
          <p:nvPr/>
        </p:nvSpPr>
        <p:spPr>
          <a:xfrm>
            <a:off x="8679028" y="1234440"/>
            <a:ext cx="1371600" cy="621792"/>
          </a:xfrm>
          <a:prstGeom prst="roundRect">
            <a:avLst>
              <a:gd fmla="val 7353" name="adj"/>
            </a:avLst>
          </a:prstGeom>
          <a:solidFill>
            <a:srgbClr val="21457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 name="Google Shape;19;p1"/>
          <p:cNvSpPr/>
          <p:nvPr/>
        </p:nvSpPr>
        <p:spPr>
          <a:xfrm>
            <a:off x="8313268" y="2002536"/>
            <a:ext cx="2103120" cy="621792"/>
          </a:xfrm>
          <a:prstGeom prst="roundRect">
            <a:avLst>
              <a:gd fmla="val 7353" name="adj"/>
            </a:avLst>
          </a:prstGeom>
          <a:solidFill>
            <a:srgbClr val="21457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 name="Google Shape;20;p1"/>
          <p:cNvSpPr/>
          <p:nvPr/>
        </p:nvSpPr>
        <p:spPr>
          <a:xfrm>
            <a:off x="7947508" y="2770632"/>
            <a:ext cx="2834640" cy="621792"/>
          </a:xfrm>
          <a:prstGeom prst="roundRect">
            <a:avLst>
              <a:gd fmla="val 7353" name="adj"/>
            </a:avLst>
          </a:prstGeom>
          <a:solidFill>
            <a:srgbClr val="1367E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 name="Google Shape;21;p1"/>
          <p:cNvSpPr/>
          <p:nvPr/>
        </p:nvSpPr>
        <p:spPr>
          <a:xfrm>
            <a:off x="7581748" y="3538728"/>
            <a:ext cx="3566160" cy="621792"/>
          </a:xfrm>
          <a:prstGeom prst="roundRect">
            <a:avLst>
              <a:gd fmla="val 7353" name="adj"/>
            </a:avLst>
          </a:prstGeom>
          <a:solidFill>
            <a:srgbClr val="21457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 name="Google Shape;22;p1"/>
          <p:cNvSpPr/>
          <p:nvPr/>
        </p:nvSpPr>
        <p:spPr>
          <a:xfrm>
            <a:off x="7215988" y="4306824"/>
            <a:ext cx="4297680" cy="621792"/>
          </a:xfrm>
          <a:prstGeom prst="roundRect">
            <a:avLst>
              <a:gd fmla="val 7353" name="adj"/>
            </a:avLst>
          </a:prstGeom>
          <a:solidFill>
            <a:srgbClr val="21457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 name="Google Shape;23;p1"/>
          <p:cNvSpPr/>
          <p:nvPr/>
        </p:nvSpPr>
        <p:spPr>
          <a:xfrm>
            <a:off x="9127084" y="5440680"/>
            <a:ext cx="475488" cy="475488"/>
          </a:xfrm>
          <a:prstGeom prst="ellipse">
            <a:avLst/>
          </a:prstGeom>
          <a:solidFill>
            <a:srgbClr val="21457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24" name="Google Shape;24;p1"/>
          <p:cNvPicPr preferRelativeResize="0"/>
          <p:nvPr/>
        </p:nvPicPr>
        <p:blipFill rotWithShape="1">
          <a:blip r:embed="rId3">
            <a:alphaModFix amt="80000"/>
          </a:blip>
          <a:srcRect b="0" l="0" r="0" t="0"/>
          <a:stretch/>
        </p:blipFill>
        <p:spPr>
          <a:xfrm>
            <a:off x="9245956" y="5559552"/>
            <a:ext cx="237744" cy="237744"/>
          </a:xfrm>
          <a:prstGeom prst="rect">
            <a:avLst/>
          </a:prstGeom>
          <a:noFill/>
          <a:ln>
            <a:noFill/>
          </a:ln>
        </p:spPr>
      </p:pic>
      <p:sp>
        <p:nvSpPr>
          <p:cNvPr id="25" name="Google Shape;25;p1"/>
          <p:cNvSpPr/>
          <p:nvPr/>
        </p:nvSpPr>
        <p:spPr>
          <a:xfrm>
            <a:off x="411480" y="274320"/>
            <a:ext cx="384048" cy="54864"/>
          </a:xfrm>
          <a:prstGeom prst="rect">
            <a:avLst/>
          </a:prstGeom>
          <a:solidFill>
            <a:srgbClr val="1367E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 name="Google Shape;26;p1"/>
          <p:cNvSpPr/>
          <p:nvPr/>
        </p:nvSpPr>
        <p:spPr>
          <a:xfrm>
            <a:off x="841248" y="274320"/>
            <a:ext cx="201168" cy="54864"/>
          </a:xfrm>
          <a:prstGeom prst="rect">
            <a:avLst/>
          </a:prstGeom>
          <a:solidFill>
            <a:srgbClr val="AFC9E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 name="Google Shape;27;p1"/>
          <p:cNvSpPr txBox="1"/>
          <p:nvPr/>
        </p:nvSpPr>
        <p:spPr>
          <a:xfrm>
            <a:off x="411480" y="1188720"/>
            <a:ext cx="5943600" cy="8229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2B5B"/>
              </a:buClr>
              <a:buSzPts val="4600"/>
              <a:buFont typeface="Arial"/>
              <a:buNone/>
            </a:pPr>
            <a:r>
              <a:rPr b="1" i="0" lang="en-US" sz="4600" u="none" cap="none" strike="noStrike">
                <a:solidFill>
                  <a:srgbClr val="0F2B5B"/>
                </a:solidFill>
                <a:latin typeface="Arial"/>
                <a:ea typeface="Arial"/>
                <a:cs typeface="Arial"/>
                <a:sym typeface="Arial"/>
              </a:rPr>
              <a:t>Curriculum as</a:t>
            </a:r>
            <a:endParaRPr b="0" i="0" sz="4600" u="none" cap="none" strike="noStrike">
              <a:solidFill>
                <a:schemeClr val="dk1"/>
              </a:solidFill>
              <a:latin typeface="Calibri"/>
              <a:ea typeface="Calibri"/>
              <a:cs typeface="Calibri"/>
              <a:sym typeface="Calibri"/>
            </a:endParaRPr>
          </a:p>
        </p:txBody>
      </p:sp>
      <p:sp>
        <p:nvSpPr>
          <p:cNvPr id="28" name="Google Shape;28;p1"/>
          <p:cNvSpPr txBox="1"/>
          <p:nvPr/>
        </p:nvSpPr>
        <p:spPr>
          <a:xfrm>
            <a:off x="411480" y="1956816"/>
            <a:ext cx="6035040" cy="8229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367E8"/>
              </a:buClr>
              <a:buSzPts val="4600"/>
              <a:buFont typeface="Arial"/>
              <a:buNone/>
            </a:pPr>
            <a:r>
              <a:rPr b="1" i="0" lang="en-US" sz="4600" u="none" cap="none" strike="noStrike">
                <a:solidFill>
                  <a:srgbClr val="1367E8"/>
                </a:solidFill>
                <a:latin typeface="Arial"/>
                <a:ea typeface="Arial"/>
                <a:cs typeface="Arial"/>
                <a:sym typeface="Arial"/>
              </a:rPr>
              <a:t>Part of a System</a:t>
            </a:r>
            <a:endParaRPr b="0" i="0" sz="4600" u="none" cap="none" strike="noStrike">
              <a:solidFill>
                <a:schemeClr val="dk1"/>
              </a:solidFill>
              <a:latin typeface="Calibri"/>
              <a:ea typeface="Calibri"/>
              <a:cs typeface="Calibri"/>
              <a:sym typeface="Calibri"/>
            </a:endParaRPr>
          </a:p>
        </p:txBody>
      </p:sp>
      <p:sp>
        <p:nvSpPr>
          <p:cNvPr id="29" name="Google Shape;29;p1"/>
          <p:cNvSpPr txBox="1"/>
          <p:nvPr/>
        </p:nvSpPr>
        <p:spPr>
          <a:xfrm>
            <a:off x="429768" y="2926080"/>
            <a:ext cx="5760720" cy="868680"/>
          </a:xfrm>
          <a:prstGeom prst="rect">
            <a:avLst/>
          </a:prstGeom>
          <a:noFill/>
          <a:ln>
            <a:noFill/>
          </a:ln>
        </p:spPr>
        <p:txBody>
          <a:bodyPr anchorCtr="0" anchor="t" bIns="0" lIns="0" spcFirstLastPara="1" rIns="0" wrap="square" tIns="0">
            <a:noAutofit/>
          </a:bodyPr>
          <a:lstStyle/>
          <a:p>
            <a:pPr indent="0" lvl="0" marL="0" marR="0" rtl="0" algn="l">
              <a:lnSpc>
                <a:spcPct val="142105"/>
              </a:lnSpc>
              <a:spcBef>
                <a:spcPts val="0"/>
              </a:spcBef>
              <a:spcAft>
                <a:spcPts val="0"/>
              </a:spcAft>
              <a:buClr>
                <a:srgbClr val="3A4A5F"/>
              </a:buClr>
              <a:buSzPts val="1900"/>
              <a:buFont typeface="Calibri"/>
              <a:buNone/>
            </a:pPr>
            <a:r>
              <a:rPr b="0" i="0" lang="en-US" sz="1900" u="none" cap="none" strike="noStrike">
                <a:solidFill>
                  <a:srgbClr val="3A4A5F"/>
                </a:solidFill>
                <a:latin typeface="Calibri"/>
                <a:ea typeface="Calibri"/>
                <a:cs typeface="Calibri"/>
                <a:sym typeface="Calibri"/>
              </a:rPr>
              <a:t>Systems Analysis</a:t>
            </a:r>
            <a:endParaRPr b="0" i="0" sz="1900" u="none" cap="none" strike="noStrike">
              <a:solidFill>
                <a:schemeClr val="dk1"/>
              </a:solidFill>
              <a:latin typeface="Calibri"/>
              <a:ea typeface="Calibri"/>
              <a:cs typeface="Calibri"/>
              <a:sym typeface="Calibri"/>
            </a:endParaRPr>
          </a:p>
        </p:txBody>
      </p:sp>
      <p:sp>
        <p:nvSpPr>
          <p:cNvPr id="30" name="Google Shape;30;p1"/>
          <p:cNvSpPr/>
          <p:nvPr/>
        </p:nvSpPr>
        <p:spPr>
          <a:xfrm>
            <a:off x="429768" y="3931920"/>
            <a:ext cx="1051560" cy="41148"/>
          </a:xfrm>
          <a:prstGeom prst="rect">
            <a:avLst/>
          </a:prstGeom>
          <a:solidFill>
            <a:srgbClr val="AFC9E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 name="Google Shape;31;p1"/>
          <p:cNvSpPr txBox="1"/>
          <p:nvPr/>
        </p:nvSpPr>
        <p:spPr>
          <a:xfrm>
            <a:off x="429768" y="4224528"/>
            <a:ext cx="585216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367E8"/>
              </a:buClr>
              <a:buSzPts val="1550"/>
              <a:buFont typeface="Calibri"/>
              <a:buNone/>
            </a:pPr>
            <a:r>
              <a:rPr b="1" i="0" lang="en-US" sz="1550" u="none" cap="none" strike="noStrike">
                <a:solidFill>
                  <a:srgbClr val="1367E8"/>
                </a:solidFill>
                <a:latin typeface="Calibri"/>
                <a:ea typeface="Calibri"/>
                <a:cs typeface="Calibri"/>
                <a:sym typeface="Calibri"/>
              </a:rPr>
              <a:t>Domain: </a:t>
            </a:r>
            <a:r>
              <a:rPr b="0" i="0" lang="en-US" sz="1550" u="none" cap="none" strike="noStrike">
                <a:solidFill>
                  <a:srgbClr val="3A4A5F"/>
                </a:solidFill>
                <a:latin typeface="Calibri"/>
                <a:ea typeface="Calibri"/>
                <a:cs typeface="Calibri"/>
                <a:sym typeface="Calibri"/>
              </a:rPr>
              <a:t>Higher education  </a:t>
            </a:r>
            <a:r>
              <a:rPr b="1" i="0" lang="en-US" sz="1550" u="none" cap="none" strike="noStrike">
                <a:solidFill>
                  <a:srgbClr val="1367E8"/>
                </a:solidFill>
                <a:latin typeface="Calibri"/>
                <a:ea typeface="Calibri"/>
                <a:cs typeface="Calibri"/>
                <a:sym typeface="Calibri"/>
              </a:rPr>
              <a:t>|  Focal point: </a:t>
            </a:r>
            <a:r>
              <a:rPr b="0" i="0" lang="en-US" sz="1550" u="none" cap="none" strike="noStrike">
                <a:solidFill>
                  <a:srgbClr val="3A4A5F"/>
                </a:solidFill>
                <a:latin typeface="Calibri"/>
                <a:ea typeface="Calibri"/>
                <a:cs typeface="Calibri"/>
                <a:sym typeface="Calibri"/>
              </a:rPr>
              <a:t>Curriculum</a:t>
            </a:r>
            <a:endParaRPr b="0" i="0" sz="1550" u="none" cap="none" strike="noStrike">
              <a:solidFill>
                <a:schemeClr val="dk1"/>
              </a:solidFill>
              <a:latin typeface="Calibri"/>
              <a:ea typeface="Calibri"/>
              <a:cs typeface="Calibri"/>
              <a:sym typeface="Calibri"/>
            </a:endParaRPr>
          </a:p>
        </p:txBody>
      </p:sp>
      <p:sp>
        <p:nvSpPr>
          <p:cNvPr id="32" name="Google Shape;32;p1"/>
          <p:cNvSpPr txBox="1"/>
          <p:nvPr/>
        </p:nvSpPr>
        <p:spPr>
          <a:xfrm>
            <a:off x="429768" y="4983480"/>
            <a:ext cx="585216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2B5B"/>
              </a:buClr>
              <a:buSzPts val="1700"/>
              <a:buFont typeface="Arial"/>
              <a:buNone/>
            </a:pPr>
            <a:r>
              <a:rPr b="1" i="0" lang="en-US" sz="1700" u="none" cap="none" strike="noStrike">
                <a:solidFill>
                  <a:srgbClr val="0F2B5B"/>
                </a:solidFill>
                <a:latin typeface="Arial"/>
                <a:ea typeface="Arial"/>
                <a:cs typeface="Arial"/>
                <a:sym typeface="Arial"/>
              </a:rPr>
              <a:t>Michael</a:t>
            </a:r>
            <a:r>
              <a:rPr b="1" i="0" lang="en-US" sz="1700" u="none" cap="none" strike="noStrike">
                <a:solidFill>
                  <a:srgbClr val="1367E8"/>
                </a:solidFill>
                <a:latin typeface="Arial"/>
                <a:ea typeface="Arial"/>
                <a:cs typeface="Arial"/>
                <a:sym typeface="Arial"/>
              </a:rPr>
              <a:t>  •  </a:t>
            </a:r>
            <a:r>
              <a:rPr b="1" i="0" lang="en-US" sz="1700" u="none" cap="none" strike="noStrike">
                <a:solidFill>
                  <a:srgbClr val="0F2B5B"/>
                </a:solidFill>
                <a:latin typeface="Arial"/>
                <a:ea typeface="Arial"/>
                <a:cs typeface="Arial"/>
                <a:sym typeface="Arial"/>
              </a:rPr>
              <a:t>Sahanna</a:t>
            </a:r>
            <a:r>
              <a:rPr b="1" i="0" lang="en-US" sz="1700" u="none" cap="none" strike="noStrike">
                <a:solidFill>
                  <a:srgbClr val="1367E8"/>
                </a:solidFill>
                <a:latin typeface="Arial"/>
                <a:ea typeface="Arial"/>
                <a:cs typeface="Arial"/>
                <a:sym typeface="Arial"/>
              </a:rPr>
              <a:t>  •  </a:t>
            </a:r>
            <a:r>
              <a:rPr b="1" i="0" lang="en-US" sz="1700" u="none" cap="none" strike="noStrike">
                <a:solidFill>
                  <a:srgbClr val="0F2B5B"/>
                </a:solidFill>
                <a:latin typeface="Arial"/>
                <a:ea typeface="Arial"/>
                <a:cs typeface="Arial"/>
                <a:sym typeface="Arial"/>
              </a:rPr>
              <a:t>Kerry</a:t>
            </a:r>
            <a:endParaRPr b="0" i="0" sz="1700" u="none" cap="none" strike="noStrike">
              <a:solidFill>
                <a:schemeClr val="dk1"/>
              </a:solidFill>
              <a:latin typeface="Calibri"/>
              <a:ea typeface="Calibri"/>
              <a:cs typeface="Calibri"/>
              <a:sym typeface="Calibri"/>
            </a:endParaRPr>
          </a:p>
        </p:txBody>
      </p:sp>
      <p:sp>
        <p:nvSpPr>
          <p:cNvPr id="33" name="Google Shape;33;p1"/>
          <p:cNvSpPr txBox="1"/>
          <p:nvPr/>
        </p:nvSpPr>
        <p:spPr>
          <a:xfrm>
            <a:off x="429768" y="6080760"/>
            <a:ext cx="502920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4A90E2"/>
              </a:buClr>
              <a:buSzPts val="1100"/>
              <a:buFont typeface="Arial"/>
              <a:buNone/>
            </a:pPr>
            <a:r>
              <a:rPr b="1" i="0" lang="en-US" sz="1100" u="none" cap="none" strike="noStrike">
                <a:solidFill>
                  <a:srgbClr val="4A90E2"/>
                </a:solidFill>
                <a:latin typeface="Arial"/>
                <a:ea typeface="Arial"/>
                <a:cs typeface="Arial"/>
                <a:sym typeface="Arial"/>
              </a:rPr>
              <a:t>Skills Move Fast. Curricula Do Not.</a:t>
            </a:r>
            <a:endParaRPr b="0" i="0" sz="1100" u="none" cap="none" strike="noStrike">
              <a:solidFill>
                <a:schemeClr val="dk1"/>
              </a:solidFill>
              <a:latin typeface="Calibri"/>
              <a:ea typeface="Calibri"/>
              <a:cs typeface="Calibri"/>
              <a:sym typeface="Calibri"/>
            </a:endParaRPr>
          </a:p>
        </p:txBody>
      </p:sp>
      <p:pic>
        <p:nvPicPr>
          <p:cNvPr id="34" name="Google Shape;34;p1" title="Screenshot 2026-10-04 at 5.14.13 PM.png"/>
          <p:cNvPicPr preferRelativeResize="0"/>
          <p:nvPr/>
        </p:nvPicPr>
        <p:blipFill>
          <a:blip r:embed="rId4">
            <a:alphaModFix/>
          </a:blip>
          <a:stretch>
            <a:fillRect/>
          </a:stretch>
        </p:blipFill>
        <p:spPr>
          <a:xfrm>
            <a:off x="6571243" y="0"/>
            <a:ext cx="5587188" cy="6857999"/>
          </a:xfrm>
          <a:prstGeom prst="rect">
            <a:avLst/>
          </a:prstGeom>
          <a:noFill/>
          <a:ln>
            <a:noFill/>
          </a:ln>
        </p:spPr>
      </p:pic>
      <p:sp>
        <p:nvSpPr>
          <p:cNvPr id="35" name="Google Shape;35;p1"/>
          <p:cNvSpPr txBox="1"/>
          <p:nvPr/>
        </p:nvSpPr>
        <p:spPr>
          <a:xfrm>
            <a:off x="11658600" y="6446520"/>
            <a:ext cx="320040" cy="27432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FFFFFF"/>
              </a:buClr>
              <a:buSzPts val="1100"/>
              <a:buFont typeface="Calibri"/>
              <a:buNone/>
            </a:pPr>
            <a:r>
              <a:rPr b="0" i="0" lang="en-US" sz="1100" u="none" cap="none" strike="noStrike">
                <a:solidFill>
                  <a:srgbClr val="FFFFFF"/>
                </a:solidFill>
                <a:latin typeface="Calibri"/>
                <a:ea typeface="Calibri"/>
                <a:cs typeface="Calibri"/>
                <a:sym typeface="Calibri"/>
              </a:rPr>
              <a:t>1</a:t>
            </a:r>
            <a:endParaRPr b="0" i="0" sz="1100" u="none" cap="none" strike="noStrike">
              <a:solidFill>
                <a:schemeClr val="dk1"/>
              </a:solidFill>
              <a:latin typeface="Calibri"/>
              <a:ea typeface="Calibri"/>
              <a:cs typeface="Calibri"/>
              <a:sym typeface="Calibri"/>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40" name="Shape 40"/>
        <p:cNvGrpSpPr/>
        <p:nvPr/>
      </p:nvGrpSpPr>
      <p:grpSpPr>
        <a:xfrm>
          <a:off x="0" y="0"/>
          <a:ext cx="0" cy="0"/>
          <a:chOff x="0" y="0"/>
          <a:chExt cx="0" cy="0"/>
        </a:xfrm>
      </p:grpSpPr>
      <p:sp>
        <p:nvSpPr>
          <p:cNvPr id="41" name="Google Shape;41;p2"/>
          <p:cNvSpPr/>
          <p:nvPr/>
        </p:nvSpPr>
        <p:spPr>
          <a:xfrm>
            <a:off x="411480" y="274320"/>
            <a:ext cx="384048" cy="54864"/>
          </a:xfrm>
          <a:prstGeom prst="rect">
            <a:avLst/>
          </a:prstGeom>
          <a:solidFill>
            <a:srgbClr val="1367E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 name="Google Shape;42;p2"/>
          <p:cNvSpPr/>
          <p:nvPr/>
        </p:nvSpPr>
        <p:spPr>
          <a:xfrm>
            <a:off x="841248" y="274320"/>
            <a:ext cx="201168" cy="54864"/>
          </a:xfrm>
          <a:prstGeom prst="rect">
            <a:avLst/>
          </a:prstGeom>
          <a:solidFill>
            <a:srgbClr val="AFC9E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 name="Google Shape;43;p2"/>
          <p:cNvSpPr txBox="1"/>
          <p:nvPr/>
        </p:nvSpPr>
        <p:spPr>
          <a:xfrm>
            <a:off x="1143000" y="146304"/>
            <a:ext cx="6583680" cy="29260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2B5B"/>
              </a:buClr>
              <a:buSzPts val="950"/>
              <a:buFont typeface="Arial"/>
              <a:buNone/>
            </a:pPr>
            <a:r>
              <a:rPr b="1" lang="en-US" sz="950">
                <a:solidFill>
                  <a:srgbClr val="0F2B5B"/>
                </a:solidFill>
              </a:rPr>
              <a:t>Innovation &amp; Entrepreneurship: Undefined Problems</a:t>
            </a:r>
            <a:endParaRPr b="1" sz="950">
              <a:solidFill>
                <a:srgbClr val="0F2B5B"/>
              </a:solidFill>
            </a:endParaRPr>
          </a:p>
        </p:txBody>
      </p:sp>
      <p:sp>
        <p:nvSpPr>
          <p:cNvPr id="44" name="Google Shape;44;p2"/>
          <p:cNvSpPr txBox="1"/>
          <p:nvPr/>
        </p:nvSpPr>
        <p:spPr>
          <a:xfrm>
            <a:off x="411480" y="603504"/>
            <a:ext cx="6035040" cy="65836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F2B5B"/>
              </a:buClr>
              <a:buSzPts val="4000"/>
              <a:buFont typeface="Arial"/>
              <a:buNone/>
            </a:pPr>
            <a:r>
              <a:rPr b="1" i="0" lang="en-US" sz="4000" u="none" cap="none" strike="noStrike">
                <a:solidFill>
                  <a:srgbClr val="0F2B5B"/>
                </a:solidFill>
                <a:latin typeface="Arial"/>
                <a:ea typeface="Arial"/>
                <a:cs typeface="Arial"/>
                <a:sym typeface="Arial"/>
              </a:rPr>
              <a:t>Domain + </a:t>
            </a:r>
            <a:r>
              <a:rPr b="1" i="0" lang="en-US" sz="4000" u="none" cap="none" strike="noStrike">
                <a:solidFill>
                  <a:srgbClr val="1367E8"/>
                </a:solidFill>
                <a:latin typeface="Arial"/>
                <a:ea typeface="Arial"/>
                <a:cs typeface="Arial"/>
                <a:sym typeface="Arial"/>
              </a:rPr>
              <a:t>Relevant Data</a:t>
            </a:r>
            <a:endParaRPr b="0" i="0" sz="4000" u="none" cap="none" strike="noStrike">
              <a:solidFill>
                <a:schemeClr val="dk1"/>
              </a:solidFill>
              <a:latin typeface="Calibri"/>
              <a:ea typeface="Calibri"/>
              <a:cs typeface="Calibri"/>
              <a:sym typeface="Calibri"/>
            </a:endParaRPr>
          </a:p>
        </p:txBody>
      </p:sp>
      <p:sp>
        <p:nvSpPr>
          <p:cNvPr id="45" name="Google Shape;45;p2"/>
          <p:cNvSpPr txBox="1"/>
          <p:nvPr/>
        </p:nvSpPr>
        <p:spPr>
          <a:xfrm>
            <a:off x="429776" y="1335025"/>
            <a:ext cx="5797200" cy="2925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0F2B5B"/>
              </a:buClr>
              <a:buSzPts val="1900"/>
              <a:buFont typeface="Arial"/>
              <a:buNone/>
            </a:pPr>
            <a:r>
              <a:rPr b="1" i="0" lang="en-US" sz="1900" u="none" cap="none" strike="noStrike">
                <a:solidFill>
                  <a:srgbClr val="0F2B5B"/>
                </a:solidFill>
                <a:latin typeface="Arial"/>
                <a:ea typeface="Arial"/>
                <a:cs typeface="Arial"/>
                <a:sym typeface="Arial"/>
              </a:rPr>
              <a:t>What is </a:t>
            </a:r>
            <a:r>
              <a:rPr b="1" lang="en-US" sz="1900">
                <a:solidFill>
                  <a:srgbClr val="0F2B5B"/>
                </a:solidFill>
              </a:rPr>
              <a:t>a </a:t>
            </a:r>
            <a:r>
              <a:rPr b="1" i="0" lang="en-US" sz="1900" u="none" cap="none" strike="noStrike">
                <a:solidFill>
                  <a:srgbClr val="0F2B5B"/>
                </a:solidFill>
                <a:latin typeface="Arial"/>
                <a:ea typeface="Arial"/>
                <a:cs typeface="Arial"/>
                <a:sym typeface="Arial"/>
              </a:rPr>
              <a:t>curriculu</a:t>
            </a:r>
            <a:r>
              <a:rPr b="1" lang="en-US" sz="1900">
                <a:solidFill>
                  <a:srgbClr val="0F2B5B"/>
                </a:solidFill>
              </a:rPr>
              <a:t>m? Why is it important</a:t>
            </a:r>
            <a:r>
              <a:rPr b="1" i="0" lang="en-US" sz="1900" u="none" cap="none" strike="noStrike">
                <a:solidFill>
                  <a:srgbClr val="0F2B5B"/>
                </a:solidFill>
                <a:latin typeface="Arial"/>
                <a:ea typeface="Arial"/>
                <a:cs typeface="Arial"/>
                <a:sym typeface="Arial"/>
              </a:rPr>
              <a:t>?</a:t>
            </a:r>
            <a:endParaRPr b="0" i="0" sz="1900" u="none" cap="none" strike="noStrike">
              <a:solidFill>
                <a:schemeClr val="dk1"/>
              </a:solidFill>
              <a:latin typeface="Calibri"/>
              <a:ea typeface="Calibri"/>
              <a:cs typeface="Calibri"/>
              <a:sym typeface="Calibri"/>
            </a:endParaRPr>
          </a:p>
        </p:txBody>
      </p:sp>
      <p:sp>
        <p:nvSpPr>
          <p:cNvPr id="46" name="Google Shape;46;p2"/>
          <p:cNvSpPr txBox="1"/>
          <p:nvPr/>
        </p:nvSpPr>
        <p:spPr>
          <a:xfrm>
            <a:off x="429768" y="1755648"/>
            <a:ext cx="5074920" cy="2103120"/>
          </a:xfrm>
          <a:prstGeom prst="rect">
            <a:avLst/>
          </a:prstGeom>
          <a:noFill/>
          <a:ln>
            <a:noFill/>
          </a:ln>
        </p:spPr>
        <p:txBody>
          <a:bodyPr anchorCtr="0" anchor="t" bIns="0" lIns="0" spcFirstLastPara="1" rIns="0" wrap="square" tIns="0">
            <a:noAutofit/>
          </a:bodyPr>
          <a:lstStyle/>
          <a:p>
            <a:pPr indent="-342900" lvl="0" marL="342900" marR="0" rtl="0" algn="l">
              <a:lnSpc>
                <a:spcPct val="135714"/>
              </a:lnSpc>
              <a:spcBef>
                <a:spcPts val="0"/>
              </a:spcBef>
              <a:spcAft>
                <a:spcPts val="0"/>
              </a:spcAft>
              <a:buClr>
                <a:srgbClr val="3A4A5F"/>
              </a:buClr>
              <a:buSzPts val="1400"/>
              <a:buFont typeface="Calibri"/>
              <a:buChar char="•"/>
            </a:pPr>
            <a:r>
              <a:rPr lang="en-US">
                <a:solidFill>
                  <a:srgbClr val="3A4A5F"/>
                </a:solidFill>
                <a:latin typeface="Calibri"/>
                <a:ea typeface="Calibri"/>
                <a:cs typeface="Calibri"/>
                <a:sym typeface="Calibri"/>
              </a:rPr>
              <a:t>A curriculum determines how classes educate students, including learning objectives, content and subjects, teaching styles, order of material, assessments and grading, and more.</a:t>
            </a:r>
            <a:endParaRPr b="0" i="0" sz="1400" u="none" cap="none" strike="noStrike">
              <a:solidFill>
                <a:schemeClr val="dk1"/>
              </a:solidFill>
              <a:latin typeface="Calibri"/>
              <a:ea typeface="Calibri"/>
              <a:cs typeface="Calibri"/>
              <a:sym typeface="Calibri"/>
            </a:endParaRPr>
          </a:p>
          <a:p>
            <a:pPr indent="-342900" lvl="0" marL="342900" marR="0" rtl="0" algn="l">
              <a:lnSpc>
                <a:spcPct val="100000"/>
              </a:lnSpc>
              <a:spcBef>
                <a:spcPts val="900"/>
              </a:spcBef>
              <a:spcAft>
                <a:spcPts val="0"/>
              </a:spcAft>
              <a:buClr>
                <a:srgbClr val="3A4A5F"/>
              </a:buClr>
              <a:buSzPts val="1400"/>
              <a:buFont typeface="Calibri"/>
              <a:buChar char="•"/>
            </a:pPr>
            <a:r>
              <a:rPr lang="en-US">
                <a:solidFill>
                  <a:srgbClr val="3A4A5F"/>
                </a:solidFill>
                <a:latin typeface="Calibri"/>
                <a:ea typeface="Calibri"/>
                <a:cs typeface="Calibri"/>
                <a:sym typeface="Calibri"/>
              </a:rPr>
              <a:t>A </a:t>
            </a:r>
            <a:r>
              <a:rPr lang="en-US">
                <a:solidFill>
                  <a:srgbClr val="3A4A5F"/>
                </a:solidFill>
                <a:latin typeface="Calibri"/>
                <a:ea typeface="Calibri"/>
                <a:cs typeface="Calibri"/>
                <a:sym typeface="Calibri"/>
              </a:rPr>
              <a:t>curriculum’s </a:t>
            </a:r>
            <a:r>
              <a:rPr b="0" i="0" lang="en-US" sz="1400" u="none" cap="none" strike="noStrike">
                <a:solidFill>
                  <a:srgbClr val="3A4A5F"/>
                </a:solidFill>
                <a:latin typeface="Calibri"/>
                <a:ea typeface="Calibri"/>
                <a:cs typeface="Calibri"/>
                <a:sym typeface="Calibri"/>
              </a:rPr>
              <a:t>elements</a:t>
            </a:r>
            <a:r>
              <a:rPr lang="en-US">
                <a:solidFill>
                  <a:srgbClr val="3A4A5F"/>
                </a:solidFill>
                <a:latin typeface="Calibri"/>
                <a:ea typeface="Calibri"/>
                <a:cs typeface="Calibri"/>
                <a:sym typeface="Calibri"/>
              </a:rPr>
              <a:t> (e.g. </a:t>
            </a:r>
            <a:r>
              <a:rPr b="0" i="0" lang="en-US" sz="1400" u="none" cap="none" strike="noStrike">
                <a:solidFill>
                  <a:srgbClr val="3A4A5F"/>
                </a:solidFill>
                <a:latin typeface="Calibri"/>
                <a:ea typeface="Calibri"/>
                <a:cs typeface="Calibri"/>
                <a:sym typeface="Calibri"/>
              </a:rPr>
              <a:t>lectures, readings, assignments, grades, and TAs</a:t>
            </a:r>
            <a:r>
              <a:rPr lang="en-US">
                <a:solidFill>
                  <a:srgbClr val="3A4A5F"/>
                </a:solidFill>
                <a:latin typeface="Calibri"/>
                <a:ea typeface="Calibri"/>
                <a:cs typeface="Calibri"/>
                <a:sym typeface="Calibri"/>
              </a:rPr>
              <a:t>)</a:t>
            </a:r>
            <a:r>
              <a:rPr b="0" i="0" lang="en-US" sz="1400" u="none" cap="none" strike="noStrike">
                <a:solidFill>
                  <a:srgbClr val="3A4A5F"/>
                </a:solidFill>
                <a:latin typeface="Calibri"/>
                <a:ea typeface="Calibri"/>
                <a:cs typeface="Calibri"/>
                <a:sym typeface="Calibri"/>
              </a:rPr>
              <a:t> </a:t>
            </a:r>
            <a:r>
              <a:rPr lang="en-US">
                <a:solidFill>
                  <a:srgbClr val="3A4A5F"/>
                </a:solidFill>
                <a:latin typeface="Calibri"/>
                <a:ea typeface="Calibri"/>
                <a:cs typeface="Calibri"/>
                <a:sym typeface="Calibri"/>
              </a:rPr>
              <a:t>are rapidly changing </a:t>
            </a:r>
            <a:r>
              <a:rPr lang="en-US">
                <a:solidFill>
                  <a:srgbClr val="3A4A5F"/>
                </a:solidFill>
                <a:latin typeface="Calibri"/>
                <a:ea typeface="Calibri"/>
                <a:cs typeface="Calibri"/>
                <a:sym typeface="Calibri"/>
              </a:rPr>
              <a:t>from</a:t>
            </a:r>
            <a:r>
              <a:rPr lang="en-US">
                <a:solidFill>
                  <a:srgbClr val="3A4A5F"/>
                </a:solidFill>
                <a:latin typeface="Calibri"/>
                <a:ea typeface="Calibri"/>
                <a:cs typeface="Calibri"/>
                <a:sym typeface="Calibri"/>
              </a:rPr>
              <a:t> one or both:</a:t>
            </a:r>
            <a:endParaRPr>
              <a:solidFill>
                <a:srgbClr val="3A4A5F"/>
              </a:solidFill>
              <a:latin typeface="Calibri"/>
              <a:ea typeface="Calibri"/>
              <a:cs typeface="Calibri"/>
              <a:sym typeface="Calibri"/>
            </a:endParaRPr>
          </a:p>
          <a:p>
            <a:pPr indent="-317500" lvl="1" marL="914400" marR="0" rtl="0" algn="l">
              <a:lnSpc>
                <a:spcPct val="100000"/>
              </a:lnSpc>
              <a:spcBef>
                <a:spcPts val="900"/>
              </a:spcBef>
              <a:spcAft>
                <a:spcPts val="0"/>
              </a:spcAft>
              <a:buClr>
                <a:srgbClr val="3A4A5F"/>
              </a:buClr>
              <a:buSzPts val="1400"/>
              <a:buFont typeface="Calibri"/>
              <a:buChar char="○"/>
            </a:pPr>
            <a:r>
              <a:rPr lang="en-US">
                <a:solidFill>
                  <a:srgbClr val="3A4A5F"/>
                </a:solidFill>
                <a:latin typeface="Calibri"/>
                <a:ea typeface="Calibri"/>
                <a:cs typeface="Calibri"/>
                <a:sym typeface="Calibri"/>
              </a:rPr>
              <a:t>teachers are adapting their curriculum for AI</a:t>
            </a:r>
            <a:endParaRPr>
              <a:solidFill>
                <a:srgbClr val="3A4A5F"/>
              </a:solidFill>
              <a:latin typeface="Calibri"/>
              <a:ea typeface="Calibri"/>
              <a:cs typeface="Calibri"/>
              <a:sym typeface="Calibri"/>
            </a:endParaRPr>
          </a:p>
          <a:p>
            <a:pPr indent="-317500" lvl="1" marL="914400" marR="0" rtl="0" algn="l">
              <a:lnSpc>
                <a:spcPct val="100000"/>
              </a:lnSpc>
              <a:spcBef>
                <a:spcPts val="900"/>
              </a:spcBef>
              <a:spcAft>
                <a:spcPts val="0"/>
              </a:spcAft>
              <a:buClr>
                <a:srgbClr val="3A4A5F"/>
              </a:buClr>
              <a:buSzPts val="1400"/>
              <a:buFont typeface="Calibri"/>
              <a:buChar char="○"/>
            </a:pPr>
            <a:r>
              <a:rPr lang="en-US">
                <a:solidFill>
                  <a:srgbClr val="3A4A5F"/>
                </a:solidFill>
                <a:latin typeface="Calibri"/>
                <a:ea typeface="Calibri"/>
                <a:cs typeface="Calibri"/>
                <a:sym typeface="Calibri"/>
              </a:rPr>
              <a:t>students are changing their learning habits with AI</a:t>
            </a:r>
            <a:endParaRPr b="0" i="0" sz="1400" u="none" cap="none" strike="noStrike">
              <a:solidFill>
                <a:schemeClr val="dk1"/>
              </a:solidFill>
              <a:latin typeface="Calibri"/>
              <a:ea typeface="Calibri"/>
              <a:cs typeface="Calibri"/>
              <a:sym typeface="Calibri"/>
            </a:endParaRPr>
          </a:p>
        </p:txBody>
      </p:sp>
      <p:sp>
        <p:nvSpPr>
          <p:cNvPr id="47" name="Google Shape;47;p2"/>
          <p:cNvSpPr/>
          <p:nvPr/>
        </p:nvSpPr>
        <p:spPr>
          <a:xfrm>
            <a:off x="411480" y="3950208"/>
            <a:ext cx="2734056" cy="1691640"/>
          </a:xfrm>
          <a:prstGeom prst="roundRect">
            <a:avLst>
              <a:gd fmla="val 2703" name="adj"/>
            </a:avLst>
          </a:prstGeom>
          <a:solidFill>
            <a:srgbClr val="F5F9FF"/>
          </a:solidFill>
          <a:ln cap="flat" cmpd="sng" w="12700">
            <a:solidFill>
              <a:srgbClr val="D8E6F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 name="Google Shape;48;p2"/>
          <p:cNvSpPr/>
          <p:nvPr/>
        </p:nvSpPr>
        <p:spPr>
          <a:xfrm>
            <a:off x="594360" y="4133088"/>
            <a:ext cx="475488" cy="475488"/>
          </a:xfrm>
          <a:prstGeom prst="ellipse">
            <a:avLst/>
          </a:prstGeom>
          <a:solidFill>
            <a:srgbClr val="E8F1F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49" name="Google Shape;49;p2"/>
          <p:cNvPicPr preferRelativeResize="0"/>
          <p:nvPr/>
        </p:nvPicPr>
        <p:blipFill rotWithShape="1">
          <a:blip r:embed="rId3">
            <a:alphaModFix/>
          </a:blip>
          <a:srcRect b="0" l="0" r="0" t="0"/>
          <a:stretch/>
        </p:blipFill>
        <p:spPr>
          <a:xfrm>
            <a:off x="713232" y="4251960"/>
            <a:ext cx="237744" cy="237744"/>
          </a:xfrm>
          <a:prstGeom prst="rect">
            <a:avLst/>
          </a:prstGeom>
          <a:noFill/>
          <a:ln>
            <a:noFill/>
          </a:ln>
        </p:spPr>
      </p:pic>
      <p:sp>
        <p:nvSpPr>
          <p:cNvPr id="50" name="Google Shape;50;p2"/>
          <p:cNvSpPr txBox="1"/>
          <p:nvPr/>
        </p:nvSpPr>
        <p:spPr>
          <a:xfrm>
            <a:off x="1161288" y="4114800"/>
            <a:ext cx="1865376" cy="51206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367E8"/>
              </a:buClr>
              <a:buSzPts val="2500"/>
              <a:buFont typeface="Arial"/>
              <a:buNone/>
            </a:pPr>
            <a:r>
              <a:rPr b="1" i="0" lang="en-US" sz="2500" u="none" cap="none" strike="noStrike">
                <a:solidFill>
                  <a:srgbClr val="1367E8"/>
                </a:solidFill>
                <a:latin typeface="Arial"/>
                <a:ea typeface="Arial"/>
                <a:cs typeface="Arial"/>
                <a:sym typeface="Arial"/>
              </a:rPr>
              <a:t>88%</a:t>
            </a:r>
            <a:endParaRPr b="0" i="0" sz="2500" u="none" cap="none" strike="noStrike">
              <a:solidFill>
                <a:schemeClr val="dk1"/>
              </a:solidFill>
              <a:latin typeface="Calibri"/>
              <a:ea typeface="Calibri"/>
              <a:cs typeface="Calibri"/>
              <a:sym typeface="Calibri"/>
            </a:endParaRPr>
          </a:p>
        </p:txBody>
      </p:sp>
      <p:sp>
        <p:nvSpPr>
          <p:cNvPr id="51" name="Google Shape;51;p2"/>
          <p:cNvSpPr txBox="1"/>
          <p:nvPr/>
        </p:nvSpPr>
        <p:spPr>
          <a:xfrm>
            <a:off x="603504" y="4700016"/>
            <a:ext cx="2350008" cy="868680"/>
          </a:xfrm>
          <a:prstGeom prst="rect">
            <a:avLst/>
          </a:prstGeom>
          <a:noFill/>
          <a:ln>
            <a:noFill/>
          </a:ln>
        </p:spPr>
        <p:txBody>
          <a:bodyPr anchorCtr="0" anchor="t" bIns="0" lIns="0" spcFirstLastPara="1" rIns="0" wrap="square" tIns="0">
            <a:noAutofit/>
          </a:bodyPr>
          <a:lstStyle/>
          <a:p>
            <a:pPr indent="0" lvl="0" marL="0" marR="0" rtl="0" algn="l">
              <a:lnSpc>
                <a:spcPct val="127272"/>
              </a:lnSpc>
              <a:spcBef>
                <a:spcPts val="0"/>
              </a:spcBef>
              <a:spcAft>
                <a:spcPts val="0"/>
              </a:spcAft>
              <a:buClr>
                <a:srgbClr val="3A4A5F"/>
              </a:buClr>
              <a:buSzPts val="1100"/>
              <a:buFont typeface="Calibri"/>
              <a:buNone/>
            </a:pPr>
            <a:r>
              <a:rPr b="0" i="0" lang="en-US" sz="1100" u="none" cap="none" strike="noStrike">
                <a:solidFill>
                  <a:srgbClr val="3A4A5F"/>
                </a:solidFill>
                <a:latin typeface="Calibri"/>
                <a:ea typeface="Calibri"/>
                <a:cs typeface="Calibri"/>
                <a:sym typeface="Calibri"/>
              </a:rPr>
              <a:t>Of students now use AI in their learning</a:t>
            </a:r>
            <a:r>
              <a:rPr lang="en-US" sz="1100">
                <a:solidFill>
                  <a:srgbClr val="3A4A5F"/>
                </a:solidFill>
                <a:latin typeface="Calibri"/>
                <a:ea typeface="Calibri"/>
                <a:cs typeface="Calibri"/>
                <a:sym typeface="Calibri"/>
              </a:rPr>
              <a:t> and </a:t>
            </a:r>
            <a:r>
              <a:rPr b="0" i="0" lang="en-US" sz="1100" u="none" cap="none" strike="noStrike">
                <a:solidFill>
                  <a:srgbClr val="3A4A5F"/>
                </a:solidFill>
                <a:latin typeface="Calibri"/>
                <a:ea typeface="Calibri"/>
                <a:cs typeface="Calibri"/>
                <a:sym typeface="Calibri"/>
              </a:rPr>
              <a:t>77% of faculty use </a:t>
            </a:r>
            <a:r>
              <a:rPr lang="en-US" sz="1100">
                <a:solidFill>
                  <a:srgbClr val="3A4A5F"/>
                </a:solidFill>
                <a:latin typeface="Calibri"/>
                <a:ea typeface="Calibri"/>
                <a:cs typeface="Calibri"/>
                <a:sym typeface="Calibri"/>
              </a:rPr>
              <a:t>AI </a:t>
            </a:r>
            <a:r>
              <a:rPr b="0" i="0" lang="en-US" sz="1100" u="none" cap="none" strike="noStrike">
                <a:solidFill>
                  <a:srgbClr val="3A4A5F"/>
                </a:solidFill>
                <a:latin typeface="Calibri"/>
                <a:ea typeface="Calibri"/>
                <a:cs typeface="Calibri"/>
                <a:sym typeface="Calibri"/>
              </a:rPr>
              <a:t>to teach</a:t>
            </a:r>
            <a:r>
              <a:rPr lang="en-US" sz="1100">
                <a:solidFill>
                  <a:srgbClr val="3A4A5F"/>
                </a:solidFill>
                <a:latin typeface="Calibri"/>
                <a:ea typeface="Calibri"/>
                <a:cs typeface="Calibri"/>
                <a:sym typeface="Calibri"/>
              </a:rPr>
              <a:t> (in data </a:t>
            </a:r>
            <a:r>
              <a:rPr b="0" i="0" lang="en-US" sz="1100" u="none" cap="none" strike="noStrike">
                <a:solidFill>
                  <a:srgbClr val="3A4A5F"/>
                </a:solidFill>
                <a:latin typeface="Calibri"/>
                <a:ea typeface="Calibri"/>
                <a:cs typeface="Calibri"/>
                <a:sym typeface="Calibri"/>
              </a:rPr>
              <a:t>across 35 countries</a:t>
            </a:r>
            <a:r>
              <a:rPr lang="en-US" sz="1100">
                <a:solidFill>
                  <a:srgbClr val="3A4A5F"/>
                </a:solidFill>
                <a:latin typeface="Calibri"/>
                <a:ea typeface="Calibri"/>
                <a:cs typeface="Calibri"/>
                <a:sym typeface="Calibri"/>
              </a:rPr>
              <a:t>).</a:t>
            </a:r>
            <a:endParaRPr b="0" i="0" sz="1100" u="none" cap="none" strike="noStrike">
              <a:solidFill>
                <a:schemeClr val="dk1"/>
              </a:solidFill>
              <a:latin typeface="Calibri"/>
              <a:ea typeface="Calibri"/>
              <a:cs typeface="Calibri"/>
              <a:sym typeface="Calibri"/>
            </a:endParaRPr>
          </a:p>
        </p:txBody>
      </p:sp>
      <p:sp>
        <p:nvSpPr>
          <p:cNvPr id="52" name="Google Shape;52;p2"/>
          <p:cNvSpPr/>
          <p:nvPr/>
        </p:nvSpPr>
        <p:spPr>
          <a:xfrm>
            <a:off x="3319272" y="3950208"/>
            <a:ext cx="2734056" cy="1691640"/>
          </a:xfrm>
          <a:prstGeom prst="roundRect">
            <a:avLst>
              <a:gd fmla="val 2703" name="adj"/>
            </a:avLst>
          </a:prstGeom>
          <a:solidFill>
            <a:srgbClr val="F5F9FF"/>
          </a:solidFill>
          <a:ln cap="flat" cmpd="sng" w="12700">
            <a:solidFill>
              <a:srgbClr val="D8E6F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 name="Google Shape;53;p2"/>
          <p:cNvSpPr/>
          <p:nvPr/>
        </p:nvSpPr>
        <p:spPr>
          <a:xfrm>
            <a:off x="3502152" y="4133088"/>
            <a:ext cx="475488" cy="475488"/>
          </a:xfrm>
          <a:prstGeom prst="ellipse">
            <a:avLst/>
          </a:prstGeom>
          <a:solidFill>
            <a:srgbClr val="E8F1F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54" name="Google Shape;54;p2"/>
          <p:cNvPicPr preferRelativeResize="0"/>
          <p:nvPr/>
        </p:nvPicPr>
        <p:blipFill rotWithShape="1">
          <a:blip r:embed="rId4">
            <a:alphaModFix/>
          </a:blip>
          <a:srcRect b="0" l="0" r="0" t="0"/>
          <a:stretch/>
        </p:blipFill>
        <p:spPr>
          <a:xfrm>
            <a:off x="3621024" y="4251960"/>
            <a:ext cx="237744" cy="237744"/>
          </a:xfrm>
          <a:prstGeom prst="rect">
            <a:avLst/>
          </a:prstGeom>
          <a:noFill/>
          <a:ln>
            <a:noFill/>
          </a:ln>
        </p:spPr>
      </p:pic>
      <p:sp>
        <p:nvSpPr>
          <p:cNvPr id="55" name="Google Shape;55;p2"/>
          <p:cNvSpPr txBox="1"/>
          <p:nvPr/>
        </p:nvSpPr>
        <p:spPr>
          <a:xfrm>
            <a:off x="4069080" y="4114800"/>
            <a:ext cx="1865376" cy="51206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367E8"/>
              </a:buClr>
              <a:buSzPts val="2000"/>
              <a:buFont typeface="Arial"/>
              <a:buNone/>
            </a:pPr>
            <a:r>
              <a:rPr b="1" i="0" lang="en-US" sz="2000" u="none" cap="none" strike="noStrike">
                <a:solidFill>
                  <a:srgbClr val="1367E8"/>
                </a:solidFill>
                <a:latin typeface="Arial"/>
                <a:ea typeface="Arial"/>
                <a:cs typeface="Arial"/>
                <a:sym typeface="Arial"/>
              </a:rPr>
              <a:t>Under 30%</a:t>
            </a:r>
            <a:endParaRPr b="0" i="0" sz="2000" u="none" cap="none" strike="noStrike">
              <a:solidFill>
                <a:schemeClr val="dk1"/>
              </a:solidFill>
              <a:latin typeface="Calibri"/>
              <a:ea typeface="Calibri"/>
              <a:cs typeface="Calibri"/>
              <a:sym typeface="Calibri"/>
            </a:endParaRPr>
          </a:p>
        </p:txBody>
      </p:sp>
      <p:sp>
        <p:nvSpPr>
          <p:cNvPr id="56" name="Google Shape;56;p2"/>
          <p:cNvSpPr txBox="1"/>
          <p:nvPr/>
        </p:nvSpPr>
        <p:spPr>
          <a:xfrm>
            <a:off x="3511296" y="4700016"/>
            <a:ext cx="2350008" cy="868680"/>
          </a:xfrm>
          <a:prstGeom prst="rect">
            <a:avLst/>
          </a:prstGeom>
          <a:noFill/>
          <a:ln>
            <a:noFill/>
          </a:ln>
        </p:spPr>
        <p:txBody>
          <a:bodyPr anchorCtr="0" anchor="t" bIns="0" lIns="0" spcFirstLastPara="1" rIns="0" wrap="square" tIns="0">
            <a:noAutofit/>
          </a:bodyPr>
          <a:lstStyle/>
          <a:p>
            <a:pPr indent="0" lvl="0" marL="0" marR="0" rtl="0" algn="l">
              <a:lnSpc>
                <a:spcPct val="127272"/>
              </a:lnSpc>
              <a:spcBef>
                <a:spcPts val="0"/>
              </a:spcBef>
              <a:spcAft>
                <a:spcPts val="0"/>
              </a:spcAft>
              <a:buClr>
                <a:srgbClr val="3A4A5F"/>
              </a:buClr>
              <a:buSzPts val="1100"/>
              <a:buFont typeface="Calibri"/>
              <a:buNone/>
            </a:pPr>
            <a:r>
              <a:rPr b="0" i="0" lang="en-US" sz="1100" u="none" cap="none" strike="noStrike">
                <a:solidFill>
                  <a:srgbClr val="3A4A5F"/>
                </a:solidFill>
                <a:latin typeface="Calibri"/>
                <a:ea typeface="Calibri"/>
                <a:cs typeface="Calibri"/>
                <a:sym typeface="Calibri"/>
              </a:rPr>
              <a:t>Of students believe their assessments reflect the work and judgment an AI-enabled workplace will need.</a:t>
            </a:r>
            <a:endParaRPr b="0" i="0" sz="1100" u="none" cap="none" strike="noStrike">
              <a:solidFill>
                <a:schemeClr val="dk1"/>
              </a:solidFill>
              <a:latin typeface="Calibri"/>
              <a:ea typeface="Calibri"/>
              <a:cs typeface="Calibri"/>
              <a:sym typeface="Calibri"/>
            </a:endParaRPr>
          </a:p>
        </p:txBody>
      </p:sp>
      <p:sp>
        <p:nvSpPr>
          <p:cNvPr id="57" name="Google Shape;57;p2"/>
          <p:cNvSpPr/>
          <p:nvPr/>
        </p:nvSpPr>
        <p:spPr>
          <a:xfrm>
            <a:off x="6227064" y="3950208"/>
            <a:ext cx="2734056" cy="1691640"/>
          </a:xfrm>
          <a:prstGeom prst="roundRect">
            <a:avLst>
              <a:gd fmla="val 2703" name="adj"/>
            </a:avLst>
          </a:prstGeom>
          <a:solidFill>
            <a:srgbClr val="F5F9FF"/>
          </a:solidFill>
          <a:ln cap="flat" cmpd="sng" w="12700">
            <a:solidFill>
              <a:srgbClr val="D8E6F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 name="Google Shape;58;p2"/>
          <p:cNvSpPr/>
          <p:nvPr/>
        </p:nvSpPr>
        <p:spPr>
          <a:xfrm>
            <a:off x="6409944" y="4133088"/>
            <a:ext cx="475488" cy="475488"/>
          </a:xfrm>
          <a:prstGeom prst="ellipse">
            <a:avLst/>
          </a:prstGeom>
          <a:solidFill>
            <a:srgbClr val="E8F1F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59" name="Google Shape;59;p2"/>
          <p:cNvPicPr preferRelativeResize="0"/>
          <p:nvPr/>
        </p:nvPicPr>
        <p:blipFill rotWithShape="1">
          <a:blip r:embed="rId5">
            <a:alphaModFix/>
          </a:blip>
          <a:srcRect b="0" l="0" r="0" t="0"/>
          <a:stretch/>
        </p:blipFill>
        <p:spPr>
          <a:xfrm>
            <a:off x="6528816" y="4251960"/>
            <a:ext cx="237744" cy="237744"/>
          </a:xfrm>
          <a:prstGeom prst="rect">
            <a:avLst/>
          </a:prstGeom>
          <a:noFill/>
          <a:ln>
            <a:noFill/>
          </a:ln>
        </p:spPr>
      </p:pic>
      <p:sp>
        <p:nvSpPr>
          <p:cNvPr id="60" name="Google Shape;60;p2"/>
          <p:cNvSpPr txBox="1"/>
          <p:nvPr/>
        </p:nvSpPr>
        <p:spPr>
          <a:xfrm>
            <a:off x="6976872" y="4114800"/>
            <a:ext cx="1865376" cy="51206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367E8"/>
              </a:buClr>
              <a:buSzPts val="2500"/>
              <a:buFont typeface="Arial"/>
              <a:buNone/>
            </a:pPr>
            <a:r>
              <a:rPr b="1" i="0" lang="en-US" sz="2500" u="none" cap="none" strike="noStrike">
                <a:solidFill>
                  <a:srgbClr val="1367E8"/>
                </a:solidFill>
                <a:latin typeface="Arial"/>
                <a:ea typeface="Arial"/>
                <a:cs typeface="Arial"/>
                <a:sym typeface="Arial"/>
              </a:rPr>
              <a:t>39%</a:t>
            </a:r>
            <a:endParaRPr b="0" i="0" sz="2500" u="none" cap="none" strike="noStrike">
              <a:solidFill>
                <a:schemeClr val="dk1"/>
              </a:solidFill>
              <a:latin typeface="Calibri"/>
              <a:ea typeface="Calibri"/>
              <a:cs typeface="Calibri"/>
              <a:sym typeface="Calibri"/>
            </a:endParaRPr>
          </a:p>
        </p:txBody>
      </p:sp>
      <p:sp>
        <p:nvSpPr>
          <p:cNvPr id="61" name="Google Shape;61;p2"/>
          <p:cNvSpPr txBox="1"/>
          <p:nvPr/>
        </p:nvSpPr>
        <p:spPr>
          <a:xfrm>
            <a:off x="6419088" y="4700016"/>
            <a:ext cx="2350008" cy="868680"/>
          </a:xfrm>
          <a:prstGeom prst="rect">
            <a:avLst/>
          </a:prstGeom>
          <a:noFill/>
          <a:ln>
            <a:noFill/>
          </a:ln>
        </p:spPr>
        <p:txBody>
          <a:bodyPr anchorCtr="0" anchor="t" bIns="0" lIns="0" spcFirstLastPara="1" rIns="0" wrap="square" tIns="0">
            <a:noAutofit/>
          </a:bodyPr>
          <a:lstStyle/>
          <a:p>
            <a:pPr indent="0" lvl="0" marL="0" marR="0" rtl="0" algn="l">
              <a:lnSpc>
                <a:spcPct val="127272"/>
              </a:lnSpc>
              <a:spcBef>
                <a:spcPts val="0"/>
              </a:spcBef>
              <a:spcAft>
                <a:spcPts val="0"/>
              </a:spcAft>
              <a:buClr>
                <a:srgbClr val="3A4A5F"/>
              </a:buClr>
              <a:buSzPts val="1100"/>
              <a:buFont typeface="Calibri"/>
              <a:buNone/>
            </a:pPr>
            <a:r>
              <a:rPr b="0" i="0" lang="en-US" sz="1100" u="none" cap="none" strike="noStrike">
                <a:solidFill>
                  <a:srgbClr val="3A4A5F"/>
                </a:solidFill>
                <a:latin typeface="Calibri"/>
                <a:ea typeface="Calibri"/>
                <a:cs typeface="Calibri"/>
                <a:sym typeface="Calibri"/>
              </a:rPr>
              <a:t>Of workers' core skills are expected to change by 2030, with 63% of employers calling the skills gap their top barrier.</a:t>
            </a:r>
            <a:endParaRPr b="0" i="0" sz="1100" u="none" cap="none" strike="noStrike">
              <a:solidFill>
                <a:schemeClr val="dk1"/>
              </a:solidFill>
              <a:latin typeface="Calibri"/>
              <a:ea typeface="Calibri"/>
              <a:cs typeface="Calibri"/>
              <a:sym typeface="Calibri"/>
            </a:endParaRPr>
          </a:p>
        </p:txBody>
      </p:sp>
      <p:sp>
        <p:nvSpPr>
          <p:cNvPr id="62" name="Google Shape;62;p2"/>
          <p:cNvSpPr/>
          <p:nvPr/>
        </p:nvSpPr>
        <p:spPr>
          <a:xfrm>
            <a:off x="9134856" y="3950208"/>
            <a:ext cx="2734056" cy="1691640"/>
          </a:xfrm>
          <a:prstGeom prst="roundRect">
            <a:avLst>
              <a:gd fmla="val 2703" name="adj"/>
            </a:avLst>
          </a:prstGeom>
          <a:solidFill>
            <a:srgbClr val="F5F9FF"/>
          </a:solidFill>
          <a:ln cap="flat" cmpd="sng" w="12700">
            <a:solidFill>
              <a:srgbClr val="D8E6F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 name="Google Shape;63;p2"/>
          <p:cNvSpPr/>
          <p:nvPr/>
        </p:nvSpPr>
        <p:spPr>
          <a:xfrm>
            <a:off x="9317736" y="4133088"/>
            <a:ext cx="475488" cy="475488"/>
          </a:xfrm>
          <a:prstGeom prst="ellipse">
            <a:avLst/>
          </a:prstGeom>
          <a:solidFill>
            <a:srgbClr val="E8F1F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64" name="Google Shape;64;p2"/>
          <p:cNvPicPr preferRelativeResize="0"/>
          <p:nvPr/>
        </p:nvPicPr>
        <p:blipFill rotWithShape="1">
          <a:blip r:embed="rId6">
            <a:alphaModFix/>
          </a:blip>
          <a:srcRect b="0" l="0" r="0" t="0"/>
          <a:stretch/>
        </p:blipFill>
        <p:spPr>
          <a:xfrm>
            <a:off x="9436608" y="4251960"/>
            <a:ext cx="237744" cy="237744"/>
          </a:xfrm>
          <a:prstGeom prst="rect">
            <a:avLst/>
          </a:prstGeom>
          <a:noFill/>
          <a:ln>
            <a:noFill/>
          </a:ln>
        </p:spPr>
      </p:pic>
      <p:sp>
        <p:nvSpPr>
          <p:cNvPr id="65" name="Google Shape;65;p2"/>
          <p:cNvSpPr txBox="1"/>
          <p:nvPr/>
        </p:nvSpPr>
        <p:spPr>
          <a:xfrm>
            <a:off x="9884664" y="4114800"/>
            <a:ext cx="1865376" cy="51206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367E8"/>
              </a:buClr>
              <a:buSzPts val="2000"/>
              <a:buFont typeface="Arial"/>
              <a:buNone/>
            </a:pPr>
            <a:r>
              <a:rPr b="1" i="0" lang="en-US" sz="2000" u="none" cap="none" strike="noStrike">
                <a:solidFill>
                  <a:srgbClr val="1367E8"/>
                </a:solidFill>
                <a:latin typeface="Arial"/>
                <a:ea typeface="Arial"/>
                <a:cs typeface="Arial"/>
                <a:sym typeface="Arial"/>
              </a:rPr>
              <a:t>2 years</a:t>
            </a:r>
            <a:endParaRPr b="0" i="0" sz="2000" u="none" cap="none" strike="noStrike">
              <a:solidFill>
                <a:schemeClr val="dk1"/>
              </a:solidFill>
              <a:latin typeface="Calibri"/>
              <a:ea typeface="Calibri"/>
              <a:cs typeface="Calibri"/>
              <a:sym typeface="Calibri"/>
            </a:endParaRPr>
          </a:p>
        </p:txBody>
      </p:sp>
      <p:sp>
        <p:nvSpPr>
          <p:cNvPr id="66" name="Google Shape;66;p2"/>
          <p:cNvSpPr txBox="1"/>
          <p:nvPr/>
        </p:nvSpPr>
        <p:spPr>
          <a:xfrm>
            <a:off x="9326880" y="4700016"/>
            <a:ext cx="2350008" cy="868680"/>
          </a:xfrm>
          <a:prstGeom prst="rect">
            <a:avLst/>
          </a:prstGeom>
          <a:noFill/>
          <a:ln>
            <a:noFill/>
          </a:ln>
        </p:spPr>
        <p:txBody>
          <a:bodyPr anchorCtr="0" anchor="t" bIns="0" lIns="0" spcFirstLastPara="1" rIns="0" wrap="square" tIns="0">
            <a:noAutofit/>
          </a:bodyPr>
          <a:lstStyle/>
          <a:p>
            <a:pPr indent="0" lvl="0" marL="0" marR="0" rtl="0" algn="l">
              <a:lnSpc>
                <a:spcPct val="127272"/>
              </a:lnSpc>
              <a:spcBef>
                <a:spcPts val="0"/>
              </a:spcBef>
              <a:spcAft>
                <a:spcPts val="0"/>
              </a:spcAft>
              <a:buClr>
                <a:srgbClr val="3A4A5F"/>
              </a:buClr>
              <a:buSzPts val="1100"/>
              <a:buFont typeface="Calibri"/>
              <a:buNone/>
            </a:pPr>
            <a:r>
              <a:rPr b="0" i="0" lang="en-US" sz="1100" u="none" cap="none" strike="noStrike">
                <a:solidFill>
                  <a:srgbClr val="3A4A5F"/>
                </a:solidFill>
                <a:latin typeface="Calibri"/>
                <a:ea typeface="Calibri"/>
                <a:cs typeface="Calibri"/>
                <a:sym typeface="Calibri"/>
              </a:rPr>
              <a:t>Typical time for a new program or substantive change to move from planning to an active catalog entry.</a:t>
            </a:r>
            <a:endParaRPr b="0" i="0" sz="1100" u="none" cap="none" strike="noStrike">
              <a:solidFill>
                <a:schemeClr val="dk1"/>
              </a:solidFill>
              <a:latin typeface="Calibri"/>
              <a:ea typeface="Calibri"/>
              <a:cs typeface="Calibri"/>
              <a:sym typeface="Calibri"/>
            </a:endParaRPr>
          </a:p>
        </p:txBody>
      </p:sp>
      <p:sp>
        <p:nvSpPr>
          <p:cNvPr id="67" name="Google Shape;67;p2"/>
          <p:cNvSpPr/>
          <p:nvPr/>
        </p:nvSpPr>
        <p:spPr>
          <a:xfrm>
            <a:off x="411480" y="5779008"/>
            <a:ext cx="11365992" cy="530352"/>
          </a:xfrm>
          <a:prstGeom prst="roundRect">
            <a:avLst>
              <a:gd fmla="val 8621" name="adj"/>
            </a:avLst>
          </a:prstGeom>
          <a:solidFill>
            <a:srgbClr val="EAF2F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 name="Google Shape;68;p2"/>
          <p:cNvSpPr/>
          <p:nvPr/>
        </p:nvSpPr>
        <p:spPr>
          <a:xfrm>
            <a:off x="621792" y="5907024"/>
            <a:ext cx="274320" cy="274320"/>
          </a:xfrm>
          <a:prstGeom prst="ellipse">
            <a:avLst/>
          </a:prstGeom>
          <a:solidFill>
            <a:srgbClr val="1367E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69" name="Google Shape;69;p2"/>
          <p:cNvPicPr preferRelativeResize="0"/>
          <p:nvPr/>
        </p:nvPicPr>
        <p:blipFill rotWithShape="1">
          <a:blip r:embed="rId7">
            <a:alphaModFix/>
          </a:blip>
          <a:srcRect b="0" l="0" r="0" t="0"/>
          <a:stretch/>
        </p:blipFill>
        <p:spPr>
          <a:xfrm>
            <a:off x="690372" y="5975604"/>
            <a:ext cx="137160" cy="137160"/>
          </a:xfrm>
          <a:prstGeom prst="rect">
            <a:avLst/>
          </a:prstGeom>
          <a:noFill/>
          <a:ln>
            <a:noFill/>
          </a:ln>
        </p:spPr>
      </p:pic>
      <p:sp>
        <p:nvSpPr>
          <p:cNvPr id="70" name="Google Shape;70;p2"/>
          <p:cNvSpPr txBox="1"/>
          <p:nvPr/>
        </p:nvSpPr>
        <p:spPr>
          <a:xfrm>
            <a:off x="1024128" y="5779008"/>
            <a:ext cx="10607040" cy="53035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367E8"/>
              </a:buClr>
              <a:buSzPts val="1500"/>
              <a:buFont typeface="Arial"/>
              <a:buNone/>
            </a:pPr>
            <a:r>
              <a:rPr b="1" i="0" lang="en-US" sz="1500" u="none" cap="none" strike="noStrike">
                <a:solidFill>
                  <a:srgbClr val="1367E8"/>
                </a:solidFill>
                <a:latin typeface="Arial"/>
                <a:ea typeface="Arial"/>
                <a:cs typeface="Arial"/>
                <a:sym typeface="Arial"/>
              </a:rPr>
              <a:t>Takeaway: </a:t>
            </a:r>
            <a:r>
              <a:rPr lang="en-US" sz="1500">
                <a:solidFill>
                  <a:srgbClr val="0F2B5B"/>
                </a:solidFill>
                <a:latin typeface="Calibri"/>
                <a:ea typeface="Calibri"/>
                <a:cs typeface="Calibri"/>
                <a:sym typeface="Calibri"/>
              </a:rPr>
              <a:t>curriculum elements are rapidly changing and will continue to until AI matures</a:t>
            </a:r>
            <a:endParaRPr b="0" i="0" sz="1500" u="none" cap="none" strike="noStrike">
              <a:solidFill>
                <a:schemeClr val="dk1"/>
              </a:solidFill>
              <a:latin typeface="Calibri"/>
              <a:ea typeface="Calibri"/>
              <a:cs typeface="Calibri"/>
              <a:sym typeface="Calibri"/>
            </a:endParaRPr>
          </a:p>
        </p:txBody>
      </p:sp>
      <p:sp>
        <p:nvSpPr>
          <p:cNvPr id="71" name="Google Shape;71;p2"/>
          <p:cNvSpPr txBox="1"/>
          <p:nvPr/>
        </p:nvSpPr>
        <p:spPr>
          <a:xfrm>
            <a:off x="411480" y="6400800"/>
            <a:ext cx="11064240" cy="27432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6E7F96"/>
              </a:buClr>
              <a:buSzPts val="900"/>
              <a:buFont typeface="Calibri"/>
              <a:buNone/>
            </a:pPr>
            <a:r>
              <a:rPr b="0" i="0" lang="en-US" sz="900" u="none" cap="none" strike="noStrike">
                <a:solidFill>
                  <a:srgbClr val="6E7F96"/>
                </a:solidFill>
                <a:latin typeface="Calibri"/>
                <a:ea typeface="Calibri"/>
                <a:cs typeface="Calibri"/>
                <a:sym typeface="Calibri"/>
              </a:rPr>
              <a:t>Sources: Digital Education Council AI in Higher Education Global Survey 2026; Harvard Office of Undergraduate Education grade report (Oct. 2025); WEF Future of Jobs Report 2025; university curriculum approval timelines (UA Little Rock; Univ. of South Carolina).</a:t>
            </a:r>
            <a:endParaRPr b="0" i="0" sz="900" u="none" cap="none" strike="noStrike">
              <a:solidFill>
                <a:schemeClr val="dk1"/>
              </a:solidFill>
              <a:latin typeface="Calibri"/>
              <a:ea typeface="Calibri"/>
              <a:cs typeface="Calibri"/>
              <a:sym typeface="Calibri"/>
            </a:endParaRPr>
          </a:p>
        </p:txBody>
      </p:sp>
      <p:sp>
        <p:nvSpPr>
          <p:cNvPr id="72" name="Google Shape;72;p2"/>
          <p:cNvSpPr txBox="1"/>
          <p:nvPr/>
        </p:nvSpPr>
        <p:spPr>
          <a:xfrm>
            <a:off x="11658600" y="6446520"/>
            <a:ext cx="320040" cy="27432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6E7F96"/>
              </a:buClr>
              <a:buSzPts val="1100"/>
              <a:buFont typeface="Calibri"/>
              <a:buNone/>
            </a:pPr>
            <a:r>
              <a:rPr b="0" i="0" lang="en-US" sz="1100" u="none" cap="none" strike="noStrike">
                <a:solidFill>
                  <a:srgbClr val="6E7F96"/>
                </a:solidFill>
                <a:latin typeface="Calibri"/>
                <a:ea typeface="Calibri"/>
                <a:cs typeface="Calibri"/>
                <a:sym typeface="Calibri"/>
              </a:rPr>
              <a:t>2</a:t>
            </a:r>
            <a:endParaRPr b="0" i="0" sz="1100" u="none" cap="none" strike="noStrike">
              <a:solidFill>
                <a:schemeClr val="dk1"/>
              </a:solidFill>
              <a:latin typeface="Calibri"/>
              <a:ea typeface="Calibri"/>
              <a:cs typeface="Calibri"/>
              <a:sym typeface="Calibri"/>
            </a:endParaRPr>
          </a:p>
        </p:txBody>
      </p:sp>
      <p:pic>
        <p:nvPicPr>
          <p:cNvPr id="73" name="Google Shape;73;p2"/>
          <p:cNvPicPr preferRelativeResize="0"/>
          <p:nvPr/>
        </p:nvPicPr>
        <p:blipFill rotWithShape="1">
          <a:blip r:embed="rId8">
            <a:alphaModFix/>
          </a:blip>
          <a:srcRect b="37799" l="0" r="0" t="0"/>
          <a:stretch/>
        </p:blipFill>
        <p:spPr>
          <a:xfrm>
            <a:off x="7076190" y="146301"/>
            <a:ext cx="4701283" cy="2832827"/>
          </a:xfrm>
          <a:prstGeom prst="rect">
            <a:avLst/>
          </a:prstGeom>
          <a:noFill/>
          <a:ln>
            <a:noFill/>
          </a:ln>
        </p:spPr>
      </p:pic>
      <p:pic>
        <p:nvPicPr>
          <p:cNvPr id="74" name="Google Shape;74;p2"/>
          <p:cNvPicPr preferRelativeResize="0"/>
          <p:nvPr/>
        </p:nvPicPr>
        <p:blipFill rotWithShape="1">
          <a:blip r:embed="rId8">
            <a:alphaModFix/>
          </a:blip>
          <a:srcRect b="0" l="0" r="0" t="86600"/>
          <a:stretch/>
        </p:blipFill>
        <p:spPr>
          <a:xfrm>
            <a:off x="7075800" y="2979117"/>
            <a:ext cx="4701283" cy="610285"/>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79" name="Shape 79"/>
        <p:cNvGrpSpPr/>
        <p:nvPr/>
      </p:nvGrpSpPr>
      <p:grpSpPr>
        <a:xfrm>
          <a:off x="0" y="0"/>
          <a:ext cx="0" cy="0"/>
          <a:chOff x="0" y="0"/>
          <a:chExt cx="0" cy="0"/>
        </a:xfrm>
      </p:grpSpPr>
      <p:sp>
        <p:nvSpPr>
          <p:cNvPr id="80" name="Google Shape;80;h6100cc4b0deec59a_1_0"/>
          <p:cNvSpPr/>
          <p:nvPr/>
        </p:nvSpPr>
        <p:spPr>
          <a:xfrm>
            <a:off x="411480" y="274320"/>
            <a:ext cx="384048" cy="54864"/>
          </a:xfrm>
          <a:prstGeom prst="rect">
            <a:avLst/>
          </a:prstGeom>
          <a:solidFill>
            <a:srgbClr val="1367E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1" name="Google Shape;81;h6100cc4b0deec59a_1_0"/>
          <p:cNvSpPr/>
          <p:nvPr/>
        </p:nvSpPr>
        <p:spPr>
          <a:xfrm>
            <a:off x="841248" y="274320"/>
            <a:ext cx="201168" cy="54864"/>
          </a:xfrm>
          <a:prstGeom prst="rect">
            <a:avLst/>
          </a:prstGeom>
          <a:solidFill>
            <a:srgbClr val="AFC9E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2" name="Google Shape;82;h6100cc4b0deec59a_1_0"/>
          <p:cNvSpPr txBox="1"/>
          <p:nvPr/>
        </p:nvSpPr>
        <p:spPr>
          <a:xfrm>
            <a:off x="1143000" y="146304"/>
            <a:ext cx="6583680" cy="29260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2B5B"/>
              </a:buClr>
              <a:buSzPts val="950"/>
              <a:buFont typeface="Arial"/>
              <a:buNone/>
            </a:pPr>
            <a:r>
              <a:rPr b="1" i="0" lang="en-US" sz="950" u="none" cap="none" strike="noStrike">
                <a:solidFill>
                  <a:srgbClr val="0F2B5B"/>
                </a:solidFill>
                <a:latin typeface="Arial"/>
                <a:ea typeface="Arial"/>
                <a:cs typeface="Arial"/>
                <a:sym typeface="Arial"/>
              </a:rPr>
              <a:t>INNOVATION &amp; ENTREPRENEURSHIP — UN-DEFINED PROBLEMS</a:t>
            </a:r>
            <a:endParaRPr b="0" i="0" sz="950" u="none" cap="none" strike="noStrike">
              <a:solidFill>
                <a:schemeClr val="dk1"/>
              </a:solidFill>
              <a:latin typeface="Calibri"/>
              <a:ea typeface="Calibri"/>
              <a:cs typeface="Calibri"/>
              <a:sym typeface="Calibri"/>
            </a:endParaRPr>
          </a:p>
        </p:txBody>
      </p:sp>
      <p:sp>
        <p:nvSpPr>
          <p:cNvPr id="83" name="Google Shape;83;h6100cc4b0deec59a_1_0"/>
          <p:cNvSpPr txBox="1"/>
          <p:nvPr/>
        </p:nvSpPr>
        <p:spPr>
          <a:xfrm>
            <a:off x="7589520" y="146304"/>
            <a:ext cx="4206240" cy="292608"/>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4A90E2"/>
              </a:buClr>
              <a:buSzPts val="950"/>
              <a:buFont typeface="Arial"/>
              <a:buNone/>
            </a:pPr>
            <a:r>
              <a:rPr b="1" i="0" lang="en-US" sz="950" u="none" cap="none" strike="noStrike">
                <a:solidFill>
                  <a:srgbClr val="4A90E2"/>
                </a:solidFill>
                <a:latin typeface="Arial"/>
                <a:ea typeface="Arial"/>
                <a:cs typeface="Arial"/>
                <a:sym typeface="Arial"/>
              </a:rPr>
              <a:t>SKILLS MOVE FAST. CURRICULA DO NOT.</a:t>
            </a:r>
            <a:endParaRPr b="0" i="0" sz="950" u="none" cap="none" strike="noStrike">
              <a:solidFill>
                <a:schemeClr val="dk1"/>
              </a:solidFill>
              <a:latin typeface="Calibri"/>
              <a:ea typeface="Calibri"/>
              <a:cs typeface="Calibri"/>
              <a:sym typeface="Calibri"/>
            </a:endParaRPr>
          </a:p>
        </p:txBody>
      </p:sp>
      <p:sp>
        <p:nvSpPr>
          <p:cNvPr id="84" name="Google Shape;84;h6100cc4b0deec59a_1_0"/>
          <p:cNvSpPr txBox="1"/>
          <p:nvPr/>
        </p:nvSpPr>
        <p:spPr>
          <a:xfrm>
            <a:off x="411480" y="548640"/>
            <a:ext cx="9601200" cy="621792"/>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2B5B"/>
              </a:buClr>
              <a:buSzPts val="3600"/>
              <a:buFont typeface="Arial"/>
              <a:buNone/>
            </a:pPr>
            <a:r>
              <a:rPr b="1" i="0" lang="en-US" sz="3600" u="none" cap="none" strike="noStrike">
                <a:solidFill>
                  <a:srgbClr val="0F2B5B"/>
                </a:solidFill>
                <a:latin typeface="Arial"/>
                <a:ea typeface="Arial"/>
                <a:cs typeface="Arial"/>
                <a:sym typeface="Arial"/>
              </a:rPr>
              <a:t>Analysis: </a:t>
            </a:r>
            <a:r>
              <a:rPr b="1" i="0" lang="en-US" sz="3600" u="none" cap="none" strike="noStrike">
                <a:solidFill>
                  <a:srgbClr val="1367E8"/>
                </a:solidFill>
                <a:latin typeface="Arial"/>
                <a:ea typeface="Arial"/>
                <a:cs typeface="Arial"/>
                <a:sym typeface="Arial"/>
              </a:rPr>
              <a:t>Systems Analysis</a:t>
            </a:r>
            <a:endParaRPr b="0" i="0" sz="3600" u="none" cap="none" strike="noStrike">
              <a:solidFill>
                <a:schemeClr val="dk1"/>
              </a:solidFill>
              <a:latin typeface="Calibri"/>
              <a:ea typeface="Calibri"/>
              <a:cs typeface="Calibri"/>
              <a:sym typeface="Calibri"/>
            </a:endParaRPr>
          </a:p>
        </p:txBody>
      </p:sp>
      <p:sp>
        <p:nvSpPr>
          <p:cNvPr id="85" name="Google Shape;85;h6100cc4b0deec59a_1_0"/>
          <p:cNvSpPr txBox="1"/>
          <p:nvPr/>
        </p:nvSpPr>
        <p:spPr>
          <a:xfrm>
            <a:off x="429768" y="1152144"/>
            <a:ext cx="11338560" cy="27432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367E8"/>
              </a:buClr>
              <a:buSzPts val="1350"/>
              <a:buFont typeface="Arial"/>
              <a:buNone/>
            </a:pPr>
            <a:r>
              <a:rPr b="1" i="0" lang="en-US" sz="1350" u="none" cap="none" strike="noStrike">
                <a:solidFill>
                  <a:srgbClr val="1367E8"/>
                </a:solidFill>
                <a:latin typeface="Arial"/>
                <a:ea typeface="Arial"/>
                <a:cs typeface="Arial"/>
                <a:sym typeface="Arial"/>
              </a:rPr>
              <a:t>Class tool: </a:t>
            </a:r>
            <a:r>
              <a:rPr b="0" i="0" lang="en-US" sz="1350" u="none" cap="none" strike="noStrike">
                <a:solidFill>
                  <a:srgbClr val="3A4A5F"/>
                </a:solidFill>
                <a:latin typeface="Calibri"/>
                <a:ea typeface="Calibri"/>
                <a:cs typeface="Calibri"/>
                <a:sym typeface="Calibri"/>
              </a:rPr>
              <a:t>map the hierarchy to find the level where the constraint really sits, then choose what kind of innovation to make there.</a:t>
            </a:r>
            <a:endParaRPr b="0" i="0" sz="1350" u="none" cap="none" strike="noStrike">
              <a:solidFill>
                <a:schemeClr val="dk1"/>
              </a:solidFill>
              <a:latin typeface="Calibri"/>
              <a:ea typeface="Calibri"/>
              <a:cs typeface="Calibri"/>
              <a:sym typeface="Calibri"/>
            </a:endParaRPr>
          </a:p>
        </p:txBody>
      </p:sp>
      <p:sp>
        <p:nvSpPr>
          <p:cNvPr id="86" name="Google Shape;86;h6100cc4b0deec59a_1_0"/>
          <p:cNvSpPr/>
          <p:nvPr/>
        </p:nvSpPr>
        <p:spPr>
          <a:xfrm>
            <a:off x="411480" y="1572768"/>
            <a:ext cx="4800600" cy="4617720"/>
          </a:xfrm>
          <a:prstGeom prst="roundRect">
            <a:avLst>
              <a:gd fmla="val 990" name="adj"/>
            </a:avLst>
          </a:prstGeom>
          <a:solidFill>
            <a:srgbClr val="F5F9FF"/>
          </a:solidFill>
          <a:ln cap="flat" cmpd="sng" w="12700">
            <a:solidFill>
              <a:srgbClr val="D8E6FA"/>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7" name="Google Shape;87;h6100cc4b0deec59a_1_0"/>
          <p:cNvSpPr txBox="1"/>
          <p:nvPr/>
        </p:nvSpPr>
        <p:spPr>
          <a:xfrm>
            <a:off x="594360" y="1719072"/>
            <a:ext cx="4434840" cy="27432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F2B5B"/>
              </a:buClr>
              <a:buSzPts val="1400"/>
              <a:buFont typeface="Arial"/>
              <a:buNone/>
            </a:pPr>
            <a:r>
              <a:rPr b="1" i="0" lang="en-US" sz="1400" u="none" cap="none" strike="noStrike">
                <a:solidFill>
                  <a:srgbClr val="0F2B5B"/>
                </a:solidFill>
                <a:latin typeface="Arial"/>
                <a:ea typeface="Arial"/>
                <a:cs typeface="Arial"/>
                <a:sym typeface="Arial"/>
              </a:rPr>
              <a:t>Curriculum as part of a system</a:t>
            </a:r>
            <a:endParaRPr b="0" i="0" sz="1400" u="none" cap="none" strike="noStrike">
              <a:solidFill>
                <a:schemeClr val="dk1"/>
              </a:solidFill>
              <a:latin typeface="Calibri"/>
              <a:ea typeface="Calibri"/>
              <a:cs typeface="Calibri"/>
              <a:sym typeface="Calibri"/>
            </a:endParaRPr>
          </a:p>
        </p:txBody>
      </p:sp>
      <p:sp>
        <p:nvSpPr>
          <p:cNvPr id="88" name="Google Shape;88;h6100cc4b0deec59a_1_0"/>
          <p:cNvSpPr/>
          <p:nvPr/>
        </p:nvSpPr>
        <p:spPr>
          <a:xfrm>
            <a:off x="2011680" y="2103120"/>
            <a:ext cx="1600200" cy="457200"/>
          </a:xfrm>
          <a:prstGeom prst="roundRect">
            <a:avLst>
              <a:gd fmla="val 8000" name="adj"/>
            </a:avLst>
          </a:prstGeom>
          <a:solidFill>
            <a:srgbClr val="DCE9FB"/>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9" name="Google Shape;89;h6100cc4b0deec59a_1_0"/>
          <p:cNvSpPr txBox="1"/>
          <p:nvPr/>
        </p:nvSpPr>
        <p:spPr>
          <a:xfrm>
            <a:off x="2011680" y="2103120"/>
            <a:ext cx="1600200" cy="4572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F2B5B"/>
              </a:buClr>
              <a:buSzPts val="1250"/>
              <a:buFont typeface="Arial"/>
              <a:buNone/>
            </a:pPr>
            <a:r>
              <a:rPr b="1" i="0" lang="en-US" sz="1250" u="none" cap="none" strike="noStrike">
                <a:solidFill>
                  <a:srgbClr val="0F2B5B"/>
                </a:solidFill>
                <a:latin typeface="Arial"/>
                <a:ea typeface="Arial"/>
                <a:cs typeface="Arial"/>
                <a:sym typeface="Arial"/>
              </a:rPr>
              <a:t>Workforce</a:t>
            </a:r>
            <a:endParaRPr b="0" i="0" sz="1250" u="none" cap="none" strike="noStrike">
              <a:solidFill>
                <a:schemeClr val="dk1"/>
              </a:solidFill>
              <a:latin typeface="Calibri"/>
              <a:ea typeface="Calibri"/>
              <a:cs typeface="Calibri"/>
              <a:sym typeface="Calibri"/>
            </a:endParaRPr>
          </a:p>
        </p:txBody>
      </p:sp>
      <p:sp>
        <p:nvSpPr>
          <p:cNvPr id="90" name="Google Shape;90;h6100cc4b0deec59a_1_0"/>
          <p:cNvSpPr/>
          <p:nvPr/>
        </p:nvSpPr>
        <p:spPr>
          <a:xfrm>
            <a:off x="1691640" y="2633472"/>
            <a:ext cx="2240280" cy="457200"/>
          </a:xfrm>
          <a:prstGeom prst="roundRect">
            <a:avLst>
              <a:gd fmla="val 8000" name="adj"/>
            </a:avLst>
          </a:prstGeom>
          <a:solidFill>
            <a:srgbClr val="DCE9FB"/>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1" name="Google Shape;91;h6100cc4b0deec59a_1_0"/>
          <p:cNvSpPr txBox="1"/>
          <p:nvPr/>
        </p:nvSpPr>
        <p:spPr>
          <a:xfrm>
            <a:off x="1691640" y="2633472"/>
            <a:ext cx="2240280" cy="4572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F2B5B"/>
              </a:buClr>
              <a:buSzPts val="1250"/>
              <a:buFont typeface="Arial"/>
              <a:buNone/>
            </a:pPr>
            <a:r>
              <a:rPr b="1" i="0" lang="en-US" sz="1250" u="none" cap="none" strike="noStrike">
                <a:solidFill>
                  <a:srgbClr val="0F2B5B"/>
                </a:solidFill>
                <a:latin typeface="Arial"/>
                <a:ea typeface="Arial"/>
                <a:cs typeface="Arial"/>
                <a:sym typeface="Arial"/>
              </a:rPr>
              <a:t>Education</a:t>
            </a:r>
            <a:endParaRPr b="0" i="0" sz="1250" u="none" cap="none" strike="noStrike">
              <a:solidFill>
                <a:schemeClr val="dk1"/>
              </a:solidFill>
              <a:latin typeface="Calibri"/>
              <a:ea typeface="Calibri"/>
              <a:cs typeface="Calibri"/>
              <a:sym typeface="Calibri"/>
            </a:endParaRPr>
          </a:p>
        </p:txBody>
      </p:sp>
      <p:sp>
        <p:nvSpPr>
          <p:cNvPr id="92" name="Google Shape;92;h6100cc4b0deec59a_1_0"/>
          <p:cNvSpPr/>
          <p:nvPr/>
        </p:nvSpPr>
        <p:spPr>
          <a:xfrm>
            <a:off x="1371600" y="3163824"/>
            <a:ext cx="2880360" cy="457200"/>
          </a:xfrm>
          <a:prstGeom prst="roundRect">
            <a:avLst>
              <a:gd fmla="val 8000" name="adj"/>
            </a:avLst>
          </a:prstGeom>
          <a:solidFill>
            <a:srgbClr val="1367E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3" name="Google Shape;93;h6100cc4b0deec59a_1_0"/>
          <p:cNvSpPr txBox="1"/>
          <p:nvPr/>
        </p:nvSpPr>
        <p:spPr>
          <a:xfrm>
            <a:off x="1371600" y="3163824"/>
            <a:ext cx="2880360" cy="4572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1400"/>
              <a:buFont typeface="Arial"/>
              <a:buNone/>
            </a:pPr>
            <a:r>
              <a:rPr b="1" i="0" lang="en-US" sz="1400" u="none" cap="none" strike="noStrike">
                <a:solidFill>
                  <a:srgbClr val="FFFFFF"/>
                </a:solidFill>
                <a:latin typeface="Arial"/>
                <a:ea typeface="Arial"/>
                <a:cs typeface="Arial"/>
                <a:sym typeface="Arial"/>
              </a:rPr>
              <a:t>Curriculum  ★</a:t>
            </a:r>
            <a:endParaRPr b="0" i="0" sz="1400" u="none" cap="none" strike="noStrike">
              <a:solidFill>
                <a:schemeClr val="dk1"/>
              </a:solidFill>
              <a:latin typeface="Calibri"/>
              <a:ea typeface="Calibri"/>
              <a:cs typeface="Calibri"/>
              <a:sym typeface="Calibri"/>
            </a:endParaRPr>
          </a:p>
        </p:txBody>
      </p:sp>
      <p:sp>
        <p:nvSpPr>
          <p:cNvPr id="94" name="Google Shape;94;h6100cc4b0deec59a_1_0"/>
          <p:cNvSpPr/>
          <p:nvPr/>
        </p:nvSpPr>
        <p:spPr>
          <a:xfrm>
            <a:off x="1051560" y="3694176"/>
            <a:ext cx="3520440" cy="457200"/>
          </a:xfrm>
          <a:prstGeom prst="roundRect">
            <a:avLst>
              <a:gd fmla="val 8000" name="adj"/>
            </a:avLst>
          </a:prstGeom>
          <a:solidFill>
            <a:srgbClr val="DCE9FB"/>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5" name="Google Shape;95;h6100cc4b0deec59a_1_0"/>
          <p:cNvSpPr txBox="1"/>
          <p:nvPr/>
        </p:nvSpPr>
        <p:spPr>
          <a:xfrm>
            <a:off x="1051560" y="3694176"/>
            <a:ext cx="3520440" cy="4572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F2B5B"/>
              </a:buClr>
              <a:buSzPts val="1250"/>
              <a:buFont typeface="Arial"/>
              <a:buNone/>
            </a:pPr>
            <a:r>
              <a:rPr b="1" i="0" lang="en-US" sz="1250" u="none" cap="none" strike="noStrike">
                <a:solidFill>
                  <a:srgbClr val="0F2B5B"/>
                </a:solidFill>
                <a:latin typeface="Arial"/>
                <a:ea typeface="Arial"/>
                <a:cs typeface="Arial"/>
                <a:sym typeface="Arial"/>
              </a:rPr>
              <a:t>Classes</a:t>
            </a:r>
            <a:endParaRPr b="0" i="0" sz="1250" u="none" cap="none" strike="noStrike">
              <a:solidFill>
                <a:schemeClr val="dk1"/>
              </a:solidFill>
              <a:latin typeface="Calibri"/>
              <a:ea typeface="Calibri"/>
              <a:cs typeface="Calibri"/>
              <a:sym typeface="Calibri"/>
            </a:endParaRPr>
          </a:p>
        </p:txBody>
      </p:sp>
      <p:sp>
        <p:nvSpPr>
          <p:cNvPr id="96" name="Google Shape;96;h6100cc4b0deec59a_1_0"/>
          <p:cNvSpPr/>
          <p:nvPr/>
        </p:nvSpPr>
        <p:spPr>
          <a:xfrm>
            <a:off x="731520" y="4224528"/>
            <a:ext cx="4160520" cy="457200"/>
          </a:xfrm>
          <a:prstGeom prst="roundRect">
            <a:avLst>
              <a:gd fmla="val 8000" name="adj"/>
            </a:avLst>
          </a:prstGeom>
          <a:solidFill>
            <a:srgbClr val="DCE9FB"/>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7" name="Google Shape;97;h6100cc4b0deec59a_1_0"/>
          <p:cNvSpPr txBox="1"/>
          <p:nvPr/>
        </p:nvSpPr>
        <p:spPr>
          <a:xfrm>
            <a:off x="731520" y="4224528"/>
            <a:ext cx="4160520" cy="4572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F2B5B"/>
              </a:buClr>
              <a:buSzPts val="1250"/>
              <a:buFont typeface="Arial"/>
              <a:buNone/>
            </a:pPr>
            <a:r>
              <a:rPr b="1" i="0" lang="en-US" sz="1250" u="none" cap="none" strike="noStrike">
                <a:solidFill>
                  <a:srgbClr val="0F2B5B"/>
                </a:solidFill>
                <a:latin typeface="Arial"/>
                <a:ea typeface="Arial"/>
                <a:cs typeface="Arial"/>
                <a:sym typeface="Arial"/>
              </a:rPr>
              <a:t>Elements</a:t>
            </a:r>
            <a:endParaRPr b="0" i="0" sz="1250" u="none" cap="none" strike="noStrike">
              <a:solidFill>
                <a:schemeClr val="dk1"/>
              </a:solidFill>
              <a:latin typeface="Calibri"/>
              <a:ea typeface="Calibri"/>
              <a:cs typeface="Calibri"/>
              <a:sym typeface="Calibri"/>
            </a:endParaRPr>
          </a:p>
        </p:txBody>
      </p:sp>
      <p:sp>
        <p:nvSpPr>
          <p:cNvPr id="98" name="Google Shape;98;h6100cc4b0deec59a_1_0"/>
          <p:cNvSpPr txBox="1"/>
          <p:nvPr/>
        </p:nvSpPr>
        <p:spPr>
          <a:xfrm>
            <a:off x="658368" y="4809744"/>
            <a:ext cx="4297680" cy="548640"/>
          </a:xfrm>
          <a:prstGeom prst="rect">
            <a:avLst/>
          </a:prstGeom>
          <a:noFill/>
          <a:ln>
            <a:noFill/>
          </a:ln>
        </p:spPr>
        <p:txBody>
          <a:bodyPr anchorCtr="0" anchor="t" bIns="0" lIns="0" spcFirstLastPara="1" rIns="0" wrap="square" tIns="0">
            <a:noAutofit/>
          </a:bodyPr>
          <a:lstStyle/>
          <a:p>
            <a:pPr indent="0" lvl="0" marL="0" marR="0" rtl="0" algn="ctr">
              <a:lnSpc>
                <a:spcPct val="126315"/>
              </a:lnSpc>
              <a:spcBef>
                <a:spcPts val="0"/>
              </a:spcBef>
              <a:spcAft>
                <a:spcPts val="0"/>
              </a:spcAft>
              <a:buClr>
                <a:srgbClr val="6E7F96"/>
              </a:buClr>
              <a:buSzPts val="950"/>
              <a:buFont typeface="Calibri"/>
              <a:buNone/>
            </a:pPr>
            <a:r>
              <a:rPr b="0" i="0" lang="en-US" sz="950" u="none" cap="none" strike="noStrike">
                <a:solidFill>
                  <a:srgbClr val="6E7F96"/>
                </a:solidFill>
                <a:latin typeface="Calibri"/>
                <a:ea typeface="Calibri"/>
                <a:cs typeface="Calibri"/>
                <a:sym typeface="Calibri"/>
              </a:rPr>
              <a:t>Textbooks • lectures • professors • students • TAs • testing • grades • homework • projects • autograding • AI • reading • collaboration</a:t>
            </a:r>
            <a:endParaRPr b="0" i="0" sz="950" u="none" cap="none" strike="noStrike">
              <a:solidFill>
                <a:schemeClr val="dk1"/>
              </a:solidFill>
              <a:latin typeface="Calibri"/>
              <a:ea typeface="Calibri"/>
              <a:cs typeface="Calibri"/>
              <a:sym typeface="Calibri"/>
            </a:endParaRPr>
          </a:p>
        </p:txBody>
      </p:sp>
      <p:sp>
        <p:nvSpPr>
          <p:cNvPr id="99" name="Google Shape;99;h6100cc4b0deec59a_1_0"/>
          <p:cNvSpPr txBox="1"/>
          <p:nvPr/>
        </p:nvSpPr>
        <p:spPr>
          <a:xfrm>
            <a:off x="658368" y="5394960"/>
            <a:ext cx="4297680" cy="731520"/>
          </a:xfrm>
          <a:prstGeom prst="rect">
            <a:avLst/>
          </a:prstGeom>
          <a:noFill/>
          <a:ln>
            <a:noFill/>
          </a:ln>
        </p:spPr>
        <p:txBody>
          <a:bodyPr anchorCtr="0" anchor="t" bIns="0" lIns="0" spcFirstLastPara="1" rIns="0" wrap="square" tIns="0">
            <a:noAutofit/>
          </a:bodyPr>
          <a:lstStyle/>
          <a:p>
            <a:pPr indent="0" lvl="0" marL="0" marR="0" rtl="0" algn="l">
              <a:lnSpc>
                <a:spcPct val="123809"/>
              </a:lnSpc>
              <a:spcBef>
                <a:spcPts val="0"/>
              </a:spcBef>
              <a:spcAft>
                <a:spcPts val="0"/>
              </a:spcAft>
              <a:buClr>
                <a:srgbClr val="3A4A5F"/>
              </a:buClr>
              <a:buSzPts val="1050"/>
              <a:buFont typeface="Calibri"/>
              <a:buNone/>
            </a:pPr>
            <a:r>
              <a:rPr b="0" i="0" lang="en-US" sz="1050" u="none" cap="none" strike="noStrike">
                <a:solidFill>
                  <a:srgbClr val="3A4A5F"/>
                </a:solidFill>
                <a:latin typeface="Calibri"/>
                <a:ea typeface="Calibri"/>
                <a:cs typeface="Calibri"/>
                <a:sym typeface="Calibri"/>
              </a:rPr>
              <a:t>★  Focal point. Curriculum is our focal system, so the four levels on the right are the ways to innovate on it. The constraint we found sits here: the gap between what a course could be and how it is actually taught.</a:t>
            </a:r>
            <a:endParaRPr b="0" i="0" sz="1050" u="none" cap="none" strike="noStrike">
              <a:solidFill>
                <a:schemeClr val="dk1"/>
              </a:solidFill>
              <a:latin typeface="Calibri"/>
              <a:ea typeface="Calibri"/>
              <a:cs typeface="Calibri"/>
              <a:sym typeface="Calibri"/>
            </a:endParaRPr>
          </a:p>
        </p:txBody>
      </p:sp>
      <p:sp>
        <p:nvSpPr>
          <p:cNvPr id="100" name="Google Shape;100;h6100cc4b0deec59a_1_0"/>
          <p:cNvSpPr txBox="1"/>
          <p:nvPr/>
        </p:nvSpPr>
        <p:spPr>
          <a:xfrm>
            <a:off x="5897880" y="1609344"/>
            <a:ext cx="5486400" cy="27432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F2B5B"/>
              </a:buClr>
              <a:buSzPts val="1400"/>
              <a:buFont typeface="Arial"/>
              <a:buNone/>
            </a:pPr>
            <a:r>
              <a:rPr b="1" i="0" lang="en-US" sz="1400" u="none" cap="none" strike="noStrike">
                <a:solidFill>
                  <a:srgbClr val="0F2B5B"/>
                </a:solidFill>
                <a:latin typeface="Arial"/>
                <a:ea typeface="Arial"/>
                <a:cs typeface="Arial"/>
                <a:sym typeface="Arial"/>
              </a:rPr>
              <a:t>Where can innovation happen?</a:t>
            </a:r>
            <a:endParaRPr b="0" i="0" sz="1400" u="none" cap="none" strike="noStrike">
              <a:solidFill>
                <a:schemeClr val="dk1"/>
              </a:solidFill>
              <a:latin typeface="Calibri"/>
              <a:ea typeface="Calibri"/>
              <a:cs typeface="Calibri"/>
              <a:sym typeface="Calibri"/>
            </a:endParaRPr>
          </a:p>
        </p:txBody>
      </p:sp>
      <p:sp>
        <p:nvSpPr>
          <p:cNvPr id="101" name="Google Shape;101;h6100cc4b0deec59a_1_0"/>
          <p:cNvSpPr txBox="1"/>
          <p:nvPr/>
        </p:nvSpPr>
        <p:spPr>
          <a:xfrm>
            <a:off x="10332720" y="1627632"/>
            <a:ext cx="1463040" cy="201168"/>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6E7F96"/>
              </a:buClr>
              <a:buSzPts val="900"/>
              <a:buFont typeface="Arial"/>
              <a:buNone/>
            </a:pPr>
            <a:r>
              <a:rPr b="1" i="0" lang="en-US" sz="900" u="none" cap="none" strike="noStrike">
                <a:solidFill>
                  <a:srgbClr val="6E7F96"/>
                </a:solidFill>
                <a:latin typeface="Arial"/>
                <a:ea typeface="Arial"/>
                <a:cs typeface="Arial"/>
                <a:sym typeface="Arial"/>
              </a:rPr>
              <a:t>EASIER</a:t>
            </a:r>
            <a:endParaRPr b="0" i="0" sz="900" u="none" cap="none" strike="noStrike">
              <a:solidFill>
                <a:schemeClr val="dk1"/>
              </a:solidFill>
              <a:latin typeface="Calibri"/>
              <a:ea typeface="Calibri"/>
              <a:cs typeface="Calibri"/>
              <a:sym typeface="Calibri"/>
            </a:endParaRPr>
          </a:p>
        </p:txBody>
      </p:sp>
      <p:sp>
        <p:nvSpPr>
          <p:cNvPr id="102" name="Google Shape;102;h6100cc4b0deec59a_1_0"/>
          <p:cNvSpPr txBox="1"/>
          <p:nvPr/>
        </p:nvSpPr>
        <p:spPr>
          <a:xfrm>
            <a:off x="9052560" y="5907024"/>
            <a:ext cx="2743200" cy="201168"/>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6E7F96"/>
              </a:buClr>
              <a:buSzPts val="900"/>
              <a:buFont typeface="Arial"/>
              <a:buNone/>
            </a:pPr>
            <a:r>
              <a:rPr b="1" i="0" lang="en-US" sz="900" u="none" cap="none" strike="noStrike">
                <a:solidFill>
                  <a:srgbClr val="6E7F96"/>
                </a:solidFill>
                <a:latin typeface="Arial"/>
                <a:ea typeface="Arial"/>
                <a:cs typeface="Arial"/>
                <a:sym typeface="Arial"/>
              </a:rPr>
              <a:t>HARDER, MORE VALUABLE</a:t>
            </a:r>
            <a:endParaRPr b="0" i="0" sz="900" u="none" cap="none" strike="noStrike">
              <a:solidFill>
                <a:schemeClr val="dk1"/>
              </a:solidFill>
              <a:latin typeface="Calibri"/>
              <a:ea typeface="Calibri"/>
              <a:cs typeface="Calibri"/>
              <a:sym typeface="Calibri"/>
            </a:endParaRPr>
          </a:p>
        </p:txBody>
      </p:sp>
      <p:cxnSp>
        <p:nvCxnSpPr>
          <p:cNvPr id="103" name="Google Shape;103;h6100cc4b0deec59a_1_0"/>
          <p:cNvCxnSpPr/>
          <p:nvPr/>
        </p:nvCxnSpPr>
        <p:spPr>
          <a:xfrm>
            <a:off x="11868912" y="1938528"/>
            <a:ext cx="9144" cy="3840480"/>
          </a:xfrm>
          <a:prstGeom prst="straightConnector1">
            <a:avLst/>
          </a:prstGeom>
          <a:noFill/>
          <a:ln cap="flat" cmpd="sng" w="25400">
            <a:solidFill>
              <a:srgbClr val="C3D6EF"/>
            </a:solidFill>
            <a:prstDash val="solid"/>
            <a:round/>
            <a:headEnd len="sm" w="sm" type="none"/>
            <a:tailEnd len="med" w="med" type="triangle"/>
          </a:ln>
        </p:spPr>
      </p:cxnSp>
      <p:sp>
        <p:nvSpPr>
          <p:cNvPr id="104" name="Google Shape;104;h6100cc4b0deec59a_1_0"/>
          <p:cNvSpPr/>
          <p:nvPr/>
        </p:nvSpPr>
        <p:spPr>
          <a:xfrm>
            <a:off x="5486400" y="1993392"/>
            <a:ext cx="6080760" cy="896112"/>
          </a:xfrm>
          <a:prstGeom prst="roundRect">
            <a:avLst>
              <a:gd fmla="val 4082" name="adj"/>
            </a:avLst>
          </a:prstGeom>
          <a:solidFill>
            <a:srgbClr val="F5F9FF"/>
          </a:solidFill>
          <a:ln cap="flat" cmpd="sng" w="12700">
            <a:solidFill>
              <a:srgbClr val="D8E6FA"/>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5" name="Google Shape;105;h6100cc4b0deec59a_1_0"/>
          <p:cNvSpPr/>
          <p:nvPr/>
        </p:nvSpPr>
        <p:spPr>
          <a:xfrm>
            <a:off x="5669280" y="2231136"/>
            <a:ext cx="420624" cy="420624"/>
          </a:xfrm>
          <a:prstGeom prst="ellipse">
            <a:avLst/>
          </a:prstGeom>
          <a:solidFill>
            <a:srgbClr val="E8F1FE"/>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preencoded.png" id="106" name="Google Shape;106;h6100cc4b0deec59a_1_0"/>
          <p:cNvPicPr preferRelativeResize="0"/>
          <p:nvPr/>
        </p:nvPicPr>
        <p:blipFill rotWithShape="1">
          <a:blip r:embed="rId3">
            <a:alphaModFix/>
          </a:blip>
          <a:srcRect b="0" l="0" r="0" t="0"/>
          <a:stretch/>
        </p:blipFill>
        <p:spPr>
          <a:xfrm>
            <a:off x="5774436" y="2336292"/>
            <a:ext cx="210312" cy="210312"/>
          </a:xfrm>
          <a:prstGeom prst="rect">
            <a:avLst/>
          </a:prstGeom>
          <a:noFill/>
          <a:ln>
            <a:noFill/>
          </a:ln>
        </p:spPr>
      </p:pic>
      <p:sp>
        <p:nvSpPr>
          <p:cNvPr id="107" name="Google Shape;107;h6100cc4b0deec59a_1_0"/>
          <p:cNvSpPr txBox="1"/>
          <p:nvPr/>
        </p:nvSpPr>
        <p:spPr>
          <a:xfrm>
            <a:off x="6217920" y="2121408"/>
            <a:ext cx="1463040" cy="27432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F2B5B"/>
              </a:buClr>
              <a:buSzPts val="1400"/>
              <a:buFont typeface="Arial"/>
              <a:buNone/>
            </a:pPr>
            <a:r>
              <a:rPr b="1" i="0" lang="en-US" sz="1400" u="none" cap="none" strike="noStrike">
                <a:solidFill>
                  <a:srgbClr val="0F2B5B"/>
                </a:solidFill>
                <a:latin typeface="Arial"/>
                <a:ea typeface="Arial"/>
                <a:cs typeface="Arial"/>
                <a:sym typeface="Arial"/>
              </a:rPr>
              <a:t>Elements</a:t>
            </a:r>
            <a:endParaRPr b="0" i="0" sz="1400" u="none" cap="none" strike="noStrike">
              <a:solidFill>
                <a:schemeClr val="dk1"/>
              </a:solidFill>
              <a:latin typeface="Calibri"/>
              <a:ea typeface="Calibri"/>
              <a:cs typeface="Calibri"/>
              <a:sym typeface="Calibri"/>
            </a:endParaRPr>
          </a:p>
        </p:txBody>
      </p:sp>
      <p:sp>
        <p:nvSpPr>
          <p:cNvPr id="108" name="Google Shape;108;h6100cc4b0deec59a_1_0"/>
          <p:cNvSpPr txBox="1"/>
          <p:nvPr/>
        </p:nvSpPr>
        <p:spPr>
          <a:xfrm>
            <a:off x="6217920" y="2414016"/>
            <a:ext cx="2743200" cy="402336"/>
          </a:xfrm>
          <a:prstGeom prst="rect">
            <a:avLst/>
          </a:prstGeom>
          <a:noFill/>
          <a:ln>
            <a:noFill/>
          </a:ln>
        </p:spPr>
        <p:txBody>
          <a:bodyPr anchorCtr="0" anchor="t" bIns="0" lIns="0" spcFirstLastPara="1" rIns="0" wrap="square" tIns="0">
            <a:noAutofit/>
          </a:bodyPr>
          <a:lstStyle/>
          <a:p>
            <a:pPr indent="0" lvl="0" marL="0" marR="0" rtl="0" algn="l">
              <a:lnSpc>
                <a:spcPct val="118181"/>
              </a:lnSpc>
              <a:spcBef>
                <a:spcPts val="0"/>
              </a:spcBef>
              <a:spcAft>
                <a:spcPts val="0"/>
              </a:spcAft>
              <a:buClr>
                <a:srgbClr val="3A4A5F"/>
              </a:buClr>
              <a:buSzPts val="1100"/>
              <a:buFont typeface="Calibri"/>
              <a:buNone/>
            </a:pPr>
            <a:r>
              <a:rPr b="0" i="0" lang="en-US" sz="1100" u="none" cap="none" strike="noStrike">
                <a:solidFill>
                  <a:srgbClr val="3A4A5F"/>
                </a:solidFill>
                <a:latin typeface="Calibri"/>
                <a:ea typeface="Calibri"/>
                <a:cs typeface="Calibri"/>
                <a:sym typeface="Calibri"/>
              </a:rPr>
              <a:t>How can individual components be made more effective?</a:t>
            </a:r>
            <a:endParaRPr b="0" i="0" sz="1100" u="none" cap="none" strike="noStrike">
              <a:solidFill>
                <a:schemeClr val="dk1"/>
              </a:solidFill>
              <a:latin typeface="Calibri"/>
              <a:ea typeface="Calibri"/>
              <a:cs typeface="Calibri"/>
              <a:sym typeface="Calibri"/>
            </a:endParaRPr>
          </a:p>
        </p:txBody>
      </p:sp>
      <p:sp>
        <p:nvSpPr>
          <p:cNvPr id="109" name="Google Shape;109;h6100cc4b0deec59a_1_0"/>
          <p:cNvSpPr txBox="1"/>
          <p:nvPr/>
        </p:nvSpPr>
        <p:spPr>
          <a:xfrm>
            <a:off x="9098280" y="2084832"/>
            <a:ext cx="2331720" cy="713232"/>
          </a:xfrm>
          <a:prstGeom prst="rect">
            <a:avLst/>
          </a:prstGeom>
          <a:noFill/>
          <a:ln>
            <a:noFill/>
          </a:ln>
        </p:spPr>
        <p:txBody>
          <a:bodyPr anchorCtr="0" anchor="ctr" bIns="0" lIns="0" spcFirstLastPara="1" rIns="0" wrap="square" tIns="0">
            <a:noAutofit/>
          </a:bodyPr>
          <a:lstStyle/>
          <a:p>
            <a:pPr indent="0" lvl="0" marL="0" marR="0" rtl="0" algn="l">
              <a:lnSpc>
                <a:spcPct val="110000"/>
              </a:lnSpc>
              <a:spcBef>
                <a:spcPts val="0"/>
              </a:spcBef>
              <a:spcAft>
                <a:spcPts val="0"/>
              </a:spcAft>
              <a:buClr>
                <a:srgbClr val="6E7F96"/>
              </a:buClr>
              <a:buSzPts val="1050"/>
              <a:buFont typeface="Calibri"/>
              <a:buNone/>
            </a:pPr>
            <a:r>
              <a:rPr b="0" i="1" lang="en-US" sz="1000" u="none" cap="none" strike="noStrike">
                <a:solidFill>
                  <a:srgbClr val="3A4A5F"/>
                </a:solidFill>
                <a:latin typeface="Calibri"/>
                <a:ea typeface="Calibri"/>
                <a:cs typeface="Calibri"/>
                <a:sym typeface="Calibri"/>
              </a:rPr>
              <a:t>AI-ready assessments, and graded practice in communication and judgment</a:t>
            </a:r>
            <a:endParaRPr b="0" i="0" sz="1000" u="none" cap="none" strike="noStrike">
              <a:solidFill>
                <a:schemeClr val="dk1"/>
              </a:solidFill>
              <a:latin typeface="Calibri"/>
              <a:ea typeface="Calibri"/>
              <a:cs typeface="Calibri"/>
              <a:sym typeface="Calibri"/>
            </a:endParaRPr>
          </a:p>
        </p:txBody>
      </p:sp>
      <p:sp>
        <p:nvSpPr>
          <p:cNvPr id="110" name="Google Shape;110;h6100cc4b0deec59a_1_0"/>
          <p:cNvSpPr/>
          <p:nvPr/>
        </p:nvSpPr>
        <p:spPr>
          <a:xfrm>
            <a:off x="5486400" y="2999232"/>
            <a:ext cx="6080760" cy="896112"/>
          </a:xfrm>
          <a:prstGeom prst="roundRect">
            <a:avLst>
              <a:gd fmla="val 4082" name="adj"/>
            </a:avLst>
          </a:prstGeom>
          <a:solidFill>
            <a:srgbClr val="F5F9FF"/>
          </a:solidFill>
          <a:ln cap="flat" cmpd="sng" w="12700">
            <a:solidFill>
              <a:srgbClr val="D8E6FA"/>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1" name="Google Shape;111;h6100cc4b0deec59a_1_0"/>
          <p:cNvSpPr/>
          <p:nvPr/>
        </p:nvSpPr>
        <p:spPr>
          <a:xfrm>
            <a:off x="5669280" y="3236976"/>
            <a:ext cx="420624" cy="420624"/>
          </a:xfrm>
          <a:prstGeom prst="ellipse">
            <a:avLst/>
          </a:prstGeom>
          <a:solidFill>
            <a:srgbClr val="E8F1FE"/>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preencoded.png" id="112" name="Google Shape;112;h6100cc4b0deec59a_1_0"/>
          <p:cNvPicPr preferRelativeResize="0"/>
          <p:nvPr/>
        </p:nvPicPr>
        <p:blipFill rotWithShape="1">
          <a:blip r:embed="rId4">
            <a:alphaModFix/>
          </a:blip>
          <a:srcRect b="0" l="0" r="0" t="0"/>
          <a:stretch/>
        </p:blipFill>
        <p:spPr>
          <a:xfrm>
            <a:off x="5774436" y="3342132"/>
            <a:ext cx="210312" cy="210312"/>
          </a:xfrm>
          <a:prstGeom prst="rect">
            <a:avLst/>
          </a:prstGeom>
          <a:noFill/>
          <a:ln>
            <a:noFill/>
          </a:ln>
        </p:spPr>
      </p:pic>
      <p:sp>
        <p:nvSpPr>
          <p:cNvPr id="113" name="Google Shape;113;h6100cc4b0deec59a_1_0"/>
          <p:cNvSpPr txBox="1"/>
          <p:nvPr/>
        </p:nvSpPr>
        <p:spPr>
          <a:xfrm>
            <a:off x="6217920" y="3127248"/>
            <a:ext cx="1463040" cy="27432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F2B5B"/>
              </a:buClr>
              <a:buSzPts val="1400"/>
              <a:buFont typeface="Arial"/>
              <a:buNone/>
            </a:pPr>
            <a:r>
              <a:rPr b="1" i="0" lang="en-US" sz="1400" u="none" cap="none" strike="noStrike">
                <a:solidFill>
                  <a:srgbClr val="0F2B5B"/>
                </a:solidFill>
                <a:latin typeface="Arial"/>
                <a:ea typeface="Arial"/>
                <a:cs typeface="Arial"/>
                <a:sym typeface="Arial"/>
              </a:rPr>
              <a:t>Interactions</a:t>
            </a:r>
            <a:endParaRPr b="0" i="0" sz="1400" u="none" cap="none" strike="noStrike">
              <a:solidFill>
                <a:schemeClr val="dk1"/>
              </a:solidFill>
              <a:latin typeface="Calibri"/>
              <a:ea typeface="Calibri"/>
              <a:cs typeface="Calibri"/>
              <a:sym typeface="Calibri"/>
            </a:endParaRPr>
          </a:p>
        </p:txBody>
      </p:sp>
      <p:sp>
        <p:nvSpPr>
          <p:cNvPr id="114" name="Google Shape;114;h6100cc4b0deec59a_1_0"/>
          <p:cNvSpPr txBox="1"/>
          <p:nvPr/>
        </p:nvSpPr>
        <p:spPr>
          <a:xfrm>
            <a:off x="6217920" y="3419856"/>
            <a:ext cx="2743200" cy="402336"/>
          </a:xfrm>
          <a:prstGeom prst="rect">
            <a:avLst/>
          </a:prstGeom>
          <a:noFill/>
          <a:ln>
            <a:noFill/>
          </a:ln>
        </p:spPr>
        <p:txBody>
          <a:bodyPr anchorCtr="0" anchor="t" bIns="0" lIns="0" spcFirstLastPara="1" rIns="0" wrap="square" tIns="0">
            <a:noAutofit/>
          </a:bodyPr>
          <a:lstStyle/>
          <a:p>
            <a:pPr indent="0" lvl="0" marL="0" marR="0" rtl="0" algn="l">
              <a:lnSpc>
                <a:spcPct val="118181"/>
              </a:lnSpc>
              <a:spcBef>
                <a:spcPts val="0"/>
              </a:spcBef>
              <a:spcAft>
                <a:spcPts val="0"/>
              </a:spcAft>
              <a:buClr>
                <a:srgbClr val="3A4A5F"/>
              </a:buClr>
              <a:buSzPts val="1100"/>
              <a:buFont typeface="Calibri"/>
              <a:buNone/>
            </a:pPr>
            <a:r>
              <a:rPr b="0" i="0" lang="en-US" sz="1100" u="none" cap="none" strike="noStrike">
                <a:solidFill>
                  <a:srgbClr val="3A4A5F"/>
                </a:solidFill>
                <a:latin typeface="Calibri"/>
                <a:ea typeface="Calibri"/>
                <a:cs typeface="Calibri"/>
                <a:sym typeface="Calibri"/>
              </a:rPr>
              <a:t>How can the components work together better?</a:t>
            </a:r>
            <a:endParaRPr b="0" i="0" sz="1100" u="none" cap="none" strike="noStrike">
              <a:solidFill>
                <a:schemeClr val="dk1"/>
              </a:solidFill>
              <a:latin typeface="Calibri"/>
              <a:ea typeface="Calibri"/>
              <a:cs typeface="Calibri"/>
              <a:sym typeface="Calibri"/>
            </a:endParaRPr>
          </a:p>
        </p:txBody>
      </p:sp>
      <p:sp>
        <p:nvSpPr>
          <p:cNvPr id="115" name="Google Shape;115;h6100cc4b0deec59a_1_0"/>
          <p:cNvSpPr txBox="1"/>
          <p:nvPr/>
        </p:nvSpPr>
        <p:spPr>
          <a:xfrm>
            <a:off x="9098280" y="3090672"/>
            <a:ext cx="2331720" cy="713232"/>
          </a:xfrm>
          <a:prstGeom prst="rect">
            <a:avLst/>
          </a:prstGeom>
          <a:noFill/>
          <a:ln>
            <a:noFill/>
          </a:ln>
        </p:spPr>
        <p:txBody>
          <a:bodyPr anchorCtr="0" anchor="ctr" bIns="0" lIns="0" spcFirstLastPara="1" rIns="0" wrap="square" tIns="0">
            <a:noAutofit/>
          </a:bodyPr>
          <a:lstStyle/>
          <a:p>
            <a:pPr indent="0" lvl="0" marL="0" marR="0" rtl="0" algn="l">
              <a:lnSpc>
                <a:spcPct val="110000"/>
              </a:lnSpc>
              <a:spcBef>
                <a:spcPts val="0"/>
              </a:spcBef>
              <a:spcAft>
                <a:spcPts val="0"/>
              </a:spcAft>
              <a:buClr>
                <a:srgbClr val="6E7F96"/>
              </a:buClr>
              <a:buSzPts val="1050"/>
              <a:buFont typeface="Calibri"/>
              <a:buNone/>
            </a:pPr>
            <a:r>
              <a:rPr b="0" i="1" lang="en-US" sz="1000" u="none" cap="none" strike="noStrike">
                <a:solidFill>
                  <a:srgbClr val="3A4A5F"/>
                </a:solidFill>
                <a:latin typeface="Calibri"/>
                <a:ea typeface="Calibri"/>
                <a:cs typeface="Calibri"/>
                <a:sym typeface="Calibri"/>
              </a:rPr>
              <a:t>Courses that build on each other, and proof of skill beyond a GPA</a:t>
            </a:r>
            <a:endParaRPr b="0" i="0" sz="1000" u="none" cap="none" strike="noStrike">
              <a:solidFill>
                <a:schemeClr val="dk1"/>
              </a:solidFill>
              <a:latin typeface="Calibri"/>
              <a:ea typeface="Calibri"/>
              <a:cs typeface="Calibri"/>
              <a:sym typeface="Calibri"/>
            </a:endParaRPr>
          </a:p>
        </p:txBody>
      </p:sp>
      <p:sp>
        <p:nvSpPr>
          <p:cNvPr id="116" name="Google Shape;116;h6100cc4b0deec59a_1_0"/>
          <p:cNvSpPr/>
          <p:nvPr/>
        </p:nvSpPr>
        <p:spPr>
          <a:xfrm>
            <a:off x="5486400" y="4005072"/>
            <a:ext cx="6080760" cy="896112"/>
          </a:xfrm>
          <a:prstGeom prst="roundRect">
            <a:avLst>
              <a:gd fmla="val 4082" name="adj"/>
            </a:avLst>
          </a:prstGeom>
          <a:solidFill>
            <a:srgbClr val="F5F9FF"/>
          </a:solidFill>
          <a:ln cap="flat" cmpd="sng" w="12700">
            <a:solidFill>
              <a:srgbClr val="D8E6FA"/>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7" name="Google Shape;117;h6100cc4b0deec59a_1_0"/>
          <p:cNvSpPr/>
          <p:nvPr/>
        </p:nvSpPr>
        <p:spPr>
          <a:xfrm>
            <a:off x="5669280" y="4242816"/>
            <a:ext cx="420624" cy="420624"/>
          </a:xfrm>
          <a:prstGeom prst="ellipse">
            <a:avLst/>
          </a:prstGeom>
          <a:solidFill>
            <a:srgbClr val="E8F1FE"/>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preencoded.png" id="118" name="Google Shape;118;h6100cc4b0deec59a_1_0"/>
          <p:cNvPicPr preferRelativeResize="0"/>
          <p:nvPr/>
        </p:nvPicPr>
        <p:blipFill rotWithShape="1">
          <a:blip r:embed="rId5">
            <a:alphaModFix/>
          </a:blip>
          <a:srcRect b="0" l="0" r="0" t="0"/>
          <a:stretch/>
        </p:blipFill>
        <p:spPr>
          <a:xfrm>
            <a:off x="5774436" y="4347972"/>
            <a:ext cx="210312" cy="210312"/>
          </a:xfrm>
          <a:prstGeom prst="rect">
            <a:avLst/>
          </a:prstGeom>
          <a:noFill/>
          <a:ln>
            <a:noFill/>
          </a:ln>
        </p:spPr>
      </p:pic>
      <p:sp>
        <p:nvSpPr>
          <p:cNvPr id="119" name="Google Shape;119;h6100cc4b0deec59a_1_0"/>
          <p:cNvSpPr txBox="1"/>
          <p:nvPr/>
        </p:nvSpPr>
        <p:spPr>
          <a:xfrm>
            <a:off x="6217920" y="4133088"/>
            <a:ext cx="1463040" cy="27432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F2B5B"/>
              </a:buClr>
              <a:buSzPts val="1400"/>
              <a:buFont typeface="Arial"/>
              <a:buNone/>
            </a:pPr>
            <a:r>
              <a:rPr b="1" i="0" lang="en-US" sz="1400" u="none" cap="none" strike="noStrike">
                <a:solidFill>
                  <a:srgbClr val="0F2B5B"/>
                </a:solidFill>
                <a:latin typeface="Arial"/>
                <a:ea typeface="Arial"/>
                <a:cs typeface="Arial"/>
                <a:sym typeface="Arial"/>
              </a:rPr>
              <a:t>System</a:t>
            </a:r>
            <a:endParaRPr b="0" i="0" sz="1400" u="none" cap="none" strike="noStrike">
              <a:solidFill>
                <a:schemeClr val="dk1"/>
              </a:solidFill>
              <a:latin typeface="Calibri"/>
              <a:ea typeface="Calibri"/>
              <a:cs typeface="Calibri"/>
              <a:sym typeface="Calibri"/>
            </a:endParaRPr>
          </a:p>
        </p:txBody>
      </p:sp>
      <p:sp>
        <p:nvSpPr>
          <p:cNvPr id="120" name="Google Shape;120;h6100cc4b0deec59a_1_0"/>
          <p:cNvSpPr txBox="1"/>
          <p:nvPr/>
        </p:nvSpPr>
        <p:spPr>
          <a:xfrm>
            <a:off x="6217920" y="4425696"/>
            <a:ext cx="2743200" cy="402336"/>
          </a:xfrm>
          <a:prstGeom prst="rect">
            <a:avLst/>
          </a:prstGeom>
          <a:noFill/>
          <a:ln>
            <a:noFill/>
          </a:ln>
        </p:spPr>
        <p:txBody>
          <a:bodyPr anchorCtr="0" anchor="t" bIns="0" lIns="0" spcFirstLastPara="1" rIns="0" wrap="square" tIns="0">
            <a:noAutofit/>
          </a:bodyPr>
          <a:lstStyle/>
          <a:p>
            <a:pPr indent="0" lvl="0" marL="0" marR="0" rtl="0" algn="l">
              <a:lnSpc>
                <a:spcPct val="118181"/>
              </a:lnSpc>
              <a:spcBef>
                <a:spcPts val="0"/>
              </a:spcBef>
              <a:spcAft>
                <a:spcPts val="0"/>
              </a:spcAft>
              <a:buClr>
                <a:srgbClr val="3A4A5F"/>
              </a:buClr>
              <a:buSzPts val="1100"/>
              <a:buFont typeface="Calibri"/>
              <a:buNone/>
            </a:pPr>
            <a:r>
              <a:rPr b="0" i="0" lang="en-US" sz="1100" u="none" cap="none" strike="noStrike">
                <a:solidFill>
                  <a:srgbClr val="3A4A5F"/>
                </a:solidFill>
                <a:latin typeface="Calibri"/>
                <a:ea typeface="Calibri"/>
                <a:cs typeface="Calibri"/>
                <a:sym typeface="Calibri"/>
              </a:rPr>
              <a:t>What constraints limit the whole system?</a:t>
            </a:r>
            <a:endParaRPr b="0" i="0" sz="1100" u="none" cap="none" strike="noStrike">
              <a:solidFill>
                <a:schemeClr val="dk1"/>
              </a:solidFill>
              <a:latin typeface="Calibri"/>
              <a:ea typeface="Calibri"/>
              <a:cs typeface="Calibri"/>
              <a:sym typeface="Calibri"/>
            </a:endParaRPr>
          </a:p>
        </p:txBody>
      </p:sp>
      <p:sp>
        <p:nvSpPr>
          <p:cNvPr id="121" name="Google Shape;121;h6100cc4b0deec59a_1_0"/>
          <p:cNvSpPr txBox="1"/>
          <p:nvPr/>
        </p:nvSpPr>
        <p:spPr>
          <a:xfrm>
            <a:off x="9098280" y="4096512"/>
            <a:ext cx="2331720" cy="713232"/>
          </a:xfrm>
          <a:prstGeom prst="rect">
            <a:avLst/>
          </a:prstGeom>
          <a:noFill/>
          <a:ln>
            <a:noFill/>
          </a:ln>
        </p:spPr>
        <p:txBody>
          <a:bodyPr anchorCtr="0" anchor="ctr" bIns="0" lIns="0" spcFirstLastPara="1" rIns="0" wrap="square" tIns="0">
            <a:noAutofit/>
          </a:bodyPr>
          <a:lstStyle/>
          <a:p>
            <a:pPr indent="0" lvl="0" marL="0" marR="0" rtl="0" algn="l">
              <a:lnSpc>
                <a:spcPct val="110000"/>
              </a:lnSpc>
              <a:spcBef>
                <a:spcPts val="0"/>
              </a:spcBef>
              <a:spcAft>
                <a:spcPts val="0"/>
              </a:spcAft>
              <a:buClr>
                <a:srgbClr val="6E7F96"/>
              </a:buClr>
              <a:buSzPts val="1050"/>
              <a:buFont typeface="Calibri"/>
              <a:buNone/>
            </a:pPr>
            <a:r>
              <a:rPr b="0" i="1" lang="en-US" sz="1000" u="none" cap="none" strike="noStrike">
                <a:solidFill>
                  <a:srgbClr val="3A4A5F"/>
                </a:solidFill>
                <a:latin typeface="Calibri"/>
                <a:ea typeface="Calibri"/>
                <a:cs typeface="Calibri"/>
                <a:sym typeface="Calibri"/>
              </a:rPr>
              <a:t>Theory in 2–3 weeks, then application, with content that updates every term</a:t>
            </a:r>
            <a:endParaRPr b="0" i="0" sz="1000" u="none" cap="none" strike="noStrike">
              <a:solidFill>
                <a:schemeClr val="dk1"/>
              </a:solidFill>
              <a:latin typeface="Calibri"/>
              <a:ea typeface="Calibri"/>
              <a:cs typeface="Calibri"/>
              <a:sym typeface="Calibri"/>
            </a:endParaRPr>
          </a:p>
        </p:txBody>
      </p:sp>
      <p:sp>
        <p:nvSpPr>
          <p:cNvPr id="122" name="Google Shape;122;h6100cc4b0deec59a_1_0"/>
          <p:cNvSpPr/>
          <p:nvPr/>
        </p:nvSpPr>
        <p:spPr>
          <a:xfrm>
            <a:off x="5486400" y="5010912"/>
            <a:ext cx="6080760" cy="896112"/>
          </a:xfrm>
          <a:prstGeom prst="roundRect">
            <a:avLst>
              <a:gd fmla="val 4082" name="adj"/>
            </a:avLst>
          </a:prstGeom>
          <a:solidFill>
            <a:srgbClr val="F5F9FF"/>
          </a:solidFill>
          <a:ln cap="flat" cmpd="sng" w="12700">
            <a:solidFill>
              <a:srgbClr val="D8E6FA"/>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3" name="Google Shape;123;h6100cc4b0deec59a_1_0"/>
          <p:cNvSpPr/>
          <p:nvPr/>
        </p:nvSpPr>
        <p:spPr>
          <a:xfrm>
            <a:off x="5669280" y="5248656"/>
            <a:ext cx="420624" cy="420624"/>
          </a:xfrm>
          <a:prstGeom prst="ellipse">
            <a:avLst/>
          </a:prstGeom>
          <a:solidFill>
            <a:srgbClr val="E8F1FE"/>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preencoded.png" id="124" name="Google Shape;124;h6100cc4b0deec59a_1_0"/>
          <p:cNvPicPr preferRelativeResize="0"/>
          <p:nvPr/>
        </p:nvPicPr>
        <p:blipFill rotWithShape="1">
          <a:blip r:embed="rId6">
            <a:alphaModFix/>
          </a:blip>
          <a:srcRect b="0" l="0" r="0" t="0"/>
          <a:stretch/>
        </p:blipFill>
        <p:spPr>
          <a:xfrm>
            <a:off x="5774436" y="5353812"/>
            <a:ext cx="210312" cy="210312"/>
          </a:xfrm>
          <a:prstGeom prst="rect">
            <a:avLst/>
          </a:prstGeom>
          <a:noFill/>
          <a:ln>
            <a:noFill/>
          </a:ln>
        </p:spPr>
      </p:pic>
      <p:sp>
        <p:nvSpPr>
          <p:cNvPr id="125" name="Google Shape;125;h6100cc4b0deec59a_1_0"/>
          <p:cNvSpPr txBox="1"/>
          <p:nvPr/>
        </p:nvSpPr>
        <p:spPr>
          <a:xfrm>
            <a:off x="6217920" y="5138928"/>
            <a:ext cx="1463040" cy="27432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F2B5B"/>
              </a:buClr>
              <a:buSzPts val="1400"/>
              <a:buFont typeface="Arial"/>
              <a:buNone/>
            </a:pPr>
            <a:r>
              <a:rPr b="1" i="0" lang="en-US" sz="1400" u="none" cap="none" strike="noStrike">
                <a:solidFill>
                  <a:srgbClr val="0F2B5B"/>
                </a:solidFill>
                <a:latin typeface="Arial"/>
                <a:ea typeface="Arial"/>
                <a:cs typeface="Arial"/>
                <a:sym typeface="Arial"/>
              </a:rPr>
              <a:t>Purpose</a:t>
            </a:r>
            <a:endParaRPr b="0" i="0" sz="1400" u="none" cap="none" strike="noStrike">
              <a:solidFill>
                <a:schemeClr val="dk1"/>
              </a:solidFill>
              <a:latin typeface="Calibri"/>
              <a:ea typeface="Calibri"/>
              <a:cs typeface="Calibri"/>
              <a:sym typeface="Calibri"/>
            </a:endParaRPr>
          </a:p>
        </p:txBody>
      </p:sp>
      <p:sp>
        <p:nvSpPr>
          <p:cNvPr id="126" name="Google Shape;126;h6100cc4b0deec59a_1_0"/>
          <p:cNvSpPr txBox="1"/>
          <p:nvPr/>
        </p:nvSpPr>
        <p:spPr>
          <a:xfrm>
            <a:off x="6217920" y="5431536"/>
            <a:ext cx="2743200" cy="402336"/>
          </a:xfrm>
          <a:prstGeom prst="rect">
            <a:avLst/>
          </a:prstGeom>
          <a:noFill/>
          <a:ln>
            <a:noFill/>
          </a:ln>
        </p:spPr>
        <p:txBody>
          <a:bodyPr anchorCtr="0" anchor="t" bIns="0" lIns="0" spcFirstLastPara="1" rIns="0" wrap="square" tIns="0">
            <a:noAutofit/>
          </a:bodyPr>
          <a:lstStyle/>
          <a:p>
            <a:pPr indent="0" lvl="0" marL="0" marR="0" rtl="0" algn="l">
              <a:lnSpc>
                <a:spcPct val="118181"/>
              </a:lnSpc>
              <a:spcBef>
                <a:spcPts val="0"/>
              </a:spcBef>
              <a:spcAft>
                <a:spcPts val="0"/>
              </a:spcAft>
              <a:buClr>
                <a:srgbClr val="3A4A5F"/>
              </a:buClr>
              <a:buSzPts val="1100"/>
              <a:buFont typeface="Calibri"/>
              <a:buNone/>
            </a:pPr>
            <a:r>
              <a:rPr b="0" i="0" lang="en-US" sz="1100" u="none" cap="none" strike="noStrike">
                <a:solidFill>
                  <a:srgbClr val="3A4A5F"/>
                </a:solidFill>
                <a:latin typeface="Calibri"/>
                <a:ea typeface="Calibri"/>
                <a:cs typeface="Calibri"/>
                <a:sym typeface="Calibri"/>
              </a:rPr>
              <a:t>What if we re-imagine what the system is for?</a:t>
            </a:r>
            <a:endParaRPr b="0" i="0" sz="1100" u="none" cap="none" strike="noStrike">
              <a:solidFill>
                <a:schemeClr val="dk1"/>
              </a:solidFill>
              <a:latin typeface="Calibri"/>
              <a:ea typeface="Calibri"/>
              <a:cs typeface="Calibri"/>
              <a:sym typeface="Calibri"/>
            </a:endParaRPr>
          </a:p>
        </p:txBody>
      </p:sp>
      <p:sp>
        <p:nvSpPr>
          <p:cNvPr id="127" name="Google Shape;127;h6100cc4b0deec59a_1_0"/>
          <p:cNvSpPr txBox="1"/>
          <p:nvPr/>
        </p:nvSpPr>
        <p:spPr>
          <a:xfrm>
            <a:off x="9098280" y="5102352"/>
            <a:ext cx="2331720" cy="713232"/>
          </a:xfrm>
          <a:prstGeom prst="rect">
            <a:avLst/>
          </a:prstGeom>
          <a:noFill/>
          <a:ln>
            <a:noFill/>
          </a:ln>
        </p:spPr>
        <p:txBody>
          <a:bodyPr anchorCtr="0" anchor="ctr" bIns="0" lIns="0" spcFirstLastPara="1" rIns="0" wrap="square" tIns="0">
            <a:noAutofit/>
          </a:bodyPr>
          <a:lstStyle/>
          <a:p>
            <a:pPr indent="0" lvl="0" marL="0" marR="0" rtl="0" algn="l">
              <a:lnSpc>
                <a:spcPct val="110000"/>
              </a:lnSpc>
              <a:spcBef>
                <a:spcPts val="0"/>
              </a:spcBef>
              <a:spcAft>
                <a:spcPts val="0"/>
              </a:spcAft>
              <a:buClr>
                <a:srgbClr val="6E7F96"/>
              </a:buClr>
              <a:buSzPts val="1050"/>
              <a:buFont typeface="Calibri"/>
              <a:buNone/>
            </a:pPr>
            <a:r>
              <a:rPr b="0" i="1" lang="en-US" sz="1000" u="none" cap="none" strike="noStrike">
                <a:solidFill>
                  <a:srgbClr val="3A4A5F"/>
                </a:solidFill>
                <a:latin typeface="Calibri"/>
                <a:ea typeface="Calibri"/>
                <a:cs typeface="Calibri"/>
                <a:sym typeface="Calibri"/>
              </a:rPr>
              <a:t>A degree that keeps skills current past 22 and offers what a job or AI tutor can’t</a:t>
            </a:r>
            <a:endParaRPr b="0" i="0" sz="1000" u="none" cap="none" strike="noStrike">
              <a:solidFill>
                <a:schemeClr val="dk1"/>
              </a:solidFill>
              <a:latin typeface="Calibri"/>
              <a:ea typeface="Calibri"/>
              <a:cs typeface="Calibri"/>
              <a:sym typeface="Calibri"/>
            </a:endParaRPr>
          </a:p>
        </p:txBody>
      </p:sp>
      <p:sp>
        <p:nvSpPr>
          <p:cNvPr id="128" name="Google Shape;128;h6100cc4b0deec59a_1_0"/>
          <p:cNvSpPr txBox="1"/>
          <p:nvPr/>
        </p:nvSpPr>
        <p:spPr>
          <a:xfrm>
            <a:off x="411480" y="6327648"/>
            <a:ext cx="11064240" cy="2286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6E7F96"/>
              </a:buClr>
              <a:buSzPts val="900"/>
              <a:buFont typeface="Calibri"/>
              <a:buNone/>
            </a:pPr>
            <a:r>
              <a:rPr b="0" i="0" lang="en-US" sz="900" u="none" cap="none" strike="noStrike">
                <a:solidFill>
                  <a:srgbClr val="6E7F96"/>
                </a:solidFill>
                <a:latin typeface="Calibri"/>
                <a:ea typeface="Calibri"/>
                <a:cs typeface="Calibri"/>
                <a:sym typeface="Calibri"/>
              </a:rPr>
              <a:t>Method adapted from JHU course deck: Un-defined Problems — Systems Analysis and Nested Hierarchies; hierarchy and constraint developed by the team.</a:t>
            </a:r>
            <a:endParaRPr b="0" i="0" sz="900" u="none" cap="none" strike="noStrike">
              <a:solidFill>
                <a:schemeClr val="dk1"/>
              </a:solidFill>
              <a:latin typeface="Calibri"/>
              <a:ea typeface="Calibri"/>
              <a:cs typeface="Calibri"/>
              <a:sym typeface="Calibri"/>
            </a:endParaRPr>
          </a:p>
        </p:txBody>
      </p:sp>
      <p:sp>
        <p:nvSpPr>
          <p:cNvPr id="129" name="Google Shape;129;h6100cc4b0deec59a_1_0"/>
          <p:cNvSpPr txBox="1"/>
          <p:nvPr/>
        </p:nvSpPr>
        <p:spPr>
          <a:xfrm>
            <a:off x="11658600" y="6446520"/>
            <a:ext cx="320040" cy="27432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6E7F96"/>
              </a:buClr>
              <a:buSzPts val="1100"/>
              <a:buFont typeface="Calibri"/>
              <a:buNone/>
            </a:pPr>
            <a:r>
              <a:rPr b="0" i="0" lang="en-US" sz="1100" u="none" cap="none" strike="noStrike">
                <a:solidFill>
                  <a:srgbClr val="6E7F96"/>
                </a:solidFill>
                <a:latin typeface="Calibri"/>
                <a:ea typeface="Calibri"/>
                <a:cs typeface="Calibri"/>
                <a:sym typeface="Calibri"/>
              </a:rPr>
              <a:t>3</a:t>
            </a:r>
            <a:endParaRPr b="0" i="0" sz="1100" u="none" cap="none" strike="noStrike">
              <a:solidFill>
                <a:schemeClr val="dk1"/>
              </a:solidFill>
              <a:latin typeface="Calibri"/>
              <a:ea typeface="Calibri"/>
              <a:cs typeface="Calibri"/>
              <a:sym typeface="Calibri"/>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34" name="Shape 134"/>
        <p:cNvGrpSpPr/>
        <p:nvPr/>
      </p:nvGrpSpPr>
      <p:grpSpPr>
        <a:xfrm>
          <a:off x="0" y="0"/>
          <a:ext cx="0" cy="0"/>
          <a:chOff x="0" y="0"/>
          <a:chExt cx="0" cy="0"/>
        </a:xfrm>
      </p:grpSpPr>
      <p:sp>
        <p:nvSpPr>
          <p:cNvPr id="135" name="Google Shape;135;h473429a1d00369bc_4_0"/>
          <p:cNvSpPr/>
          <p:nvPr/>
        </p:nvSpPr>
        <p:spPr>
          <a:xfrm>
            <a:off x="411480" y="274320"/>
            <a:ext cx="384048" cy="54864"/>
          </a:xfrm>
          <a:prstGeom prst="rect">
            <a:avLst/>
          </a:prstGeom>
          <a:solidFill>
            <a:srgbClr val="1367E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6" name="Google Shape;136;h473429a1d00369bc_4_0"/>
          <p:cNvSpPr/>
          <p:nvPr/>
        </p:nvSpPr>
        <p:spPr>
          <a:xfrm>
            <a:off x="841248" y="274320"/>
            <a:ext cx="201168" cy="54864"/>
          </a:xfrm>
          <a:prstGeom prst="rect">
            <a:avLst/>
          </a:prstGeom>
          <a:solidFill>
            <a:srgbClr val="AFC9E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7" name="Google Shape;137;h473429a1d00369bc_4_0"/>
          <p:cNvSpPr txBox="1"/>
          <p:nvPr/>
        </p:nvSpPr>
        <p:spPr>
          <a:xfrm>
            <a:off x="1143000" y="146304"/>
            <a:ext cx="6583680" cy="29260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2B5B"/>
              </a:buClr>
              <a:buSzPts val="950"/>
              <a:buFont typeface="Arial"/>
              <a:buNone/>
            </a:pPr>
            <a:r>
              <a:rPr b="1" i="0" lang="en-US" sz="950" u="none" cap="none" strike="noStrike">
                <a:solidFill>
                  <a:srgbClr val="0F2B5B"/>
                </a:solidFill>
                <a:latin typeface="Arial"/>
                <a:ea typeface="Arial"/>
                <a:cs typeface="Arial"/>
                <a:sym typeface="Arial"/>
              </a:rPr>
              <a:t>INNOVATION &amp; ENTREPRENEURSHIP — UN-DEFINED PROBLEMS</a:t>
            </a:r>
            <a:endParaRPr b="0" i="0" sz="950" u="none" cap="none" strike="noStrike">
              <a:solidFill>
                <a:schemeClr val="dk1"/>
              </a:solidFill>
              <a:latin typeface="Calibri"/>
              <a:ea typeface="Calibri"/>
              <a:cs typeface="Calibri"/>
              <a:sym typeface="Calibri"/>
            </a:endParaRPr>
          </a:p>
        </p:txBody>
      </p:sp>
      <p:sp>
        <p:nvSpPr>
          <p:cNvPr id="138" name="Google Shape;138;h473429a1d00369bc_4_0"/>
          <p:cNvSpPr txBox="1"/>
          <p:nvPr/>
        </p:nvSpPr>
        <p:spPr>
          <a:xfrm>
            <a:off x="7589520" y="146304"/>
            <a:ext cx="4206240" cy="292608"/>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4A90E2"/>
              </a:buClr>
              <a:buSzPts val="950"/>
              <a:buFont typeface="Arial"/>
              <a:buNone/>
            </a:pPr>
            <a:r>
              <a:rPr b="1" i="0" lang="en-US" sz="950" u="none" cap="none" strike="noStrike">
                <a:solidFill>
                  <a:srgbClr val="4A90E2"/>
                </a:solidFill>
                <a:latin typeface="Arial"/>
                <a:ea typeface="Arial"/>
                <a:cs typeface="Arial"/>
                <a:sym typeface="Arial"/>
              </a:rPr>
              <a:t>SKILLS MOVE FAST. CURRICULA DO NOT.</a:t>
            </a:r>
            <a:endParaRPr b="0" i="0" sz="950" u="none" cap="none" strike="noStrike">
              <a:solidFill>
                <a:schemeClr val="dk1"/>
              </a:solidFill>
              <a:latin typeface="Calibri"/>
              <a:ea typeface="Calibri"/>
              <a:cs typeface="Calibri"/>
              <a:sym typeface="Calibri"/>
            </a:endParaRPr>
          </a:p>
        </p:txBody>
      </p:sp>
      <p:sp>
        <p:nvSpPr>
          <p:cNvPr id="139" name="Google Shape;139;h473429a1d00369bc_4_0"/>
          <p:cNvSpPr txBox="1"/>
          <p:nvPr/>
        </p:nvSpPr>
        <p:spPr>
          <a:xfrm>
            <a:off x="411480" y="548640"/>
            <a:ext cx="6400800" cy="713232"/>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F2B5B"/>
              </a:buClr>
              <a:buSzPts val="4000"/>
              <a:buFont typeface="Arial"/>
              <a:buNone/>
            </a:pPr>
            <a:r>
              <a:rPr b="1" i="0" lang="en-US" sz="4000" u="none" cap="none" strike="noStrike">
                <a:solidFill>
                  <a:srgbClr val="0F2B5B"/>
                </a:solidFill>
                <a:latin typeface="Arial"/>
                <a:ea typeface="Arial"/>
                <a:cs typeface="Arial"/>
                <a:sym typeface="Arial"/>
              </a:rPr>
              <a:t>Opportunities</a:t>
            </a:r>
            <a:endParaRPr b="0" i="0" sz="4000" u="none" cap="none" strike="noStrike">
              <a:solidFill>
                <a:schemeClr val="dk1"/>
              </a:solidFill>
              <a:latin typeface="Calibri"/>
              <a:ea typeface="Calibri"/>
              <a:cs typeface="Calibri"/>
              <a:sym typeface="Calibri"/>
            </a:endParaRPr>
          </a:p>
        </p:txBody>
      </p:sp>
      <p:sp>
        <p:nvSpPr>
          <p:cNvPr id="140" name="Google Shape;140;h473429a1d00369bc_4_0"/>
          <p:cNvSpPr txBox="1"/>
          <p:nvPr/>
        </p:nvSpPr>
        <p:spPr>
          <a:xfrm>
            <a:off x="429768" y="1207008"/>
            <a:ext cx="11338560" cy="292608"/>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F2B5B"/>
              </a:buClr>
              <a:buSzPts val="1600"/>
              <a:buFont typeface="Calibri"/>
              <a:buNone/>
            </a:pPr>
            <a:r>
              <a:rPr b="0" i="0" lang="en-US" sz="1600" u="none" cap="none" strike="noStrike">
                <a:solidFill>
                  <a:srgbClr val="0F2B5B"/>
                </a:solidFill>
                <a:latin typeface="Calibri"/>
                <a:ea typeface="Calibri"/>
                <a:cs typeface="Calibri"/>
                <a:sym typeface="Calibri"/>
              </a:rPr>
              <a:t>AI changed work in every field. </a:t>
            </a:r>
            <a:r>
              <a:rPr b="0" i="0" lang="en-US" sz="1600" u="none" cap="none" strike="noStrike">
                <a:solidFill>
                  <a:srgbClr val="3A4A5F"/>
                </a:solidFill>
                <a:latin typeface="Calibri"/>
                <a:ea typeface="Calibri"/>
                <a:cs typeface="Calibri"/>
                <a:sym typeface="Calibri"/>
              </a:rPr>
              <a:t>These are openings for solutions, ordered by the level they act on.</a:t>
            </a:r>
            <a:endParaRPr b="0" i="0" sz="1600" u="none" cap="none" strike="noStrike">
              <a:solidFill>
                <a:schemeClr val="dk1"/>
              </a:solidFill>
              <a:latin typeface="Calibri"/>
              <a:ea typeface="Calibri"/>
              <a:cs typeface="Calibri"/>
              <a:sym typeface="Calibri"/>
            </a:endParaRPr>
          </a:p>
        </p:txBody>
      </p:sp>
      <p:sp>
        <p:nvSpPr>
          <p:cNvPr id="141" name="Google Shape;141;h473429a1d00369bc_4_0"/>
          <p:cNvSpPr/>
          <p:nvPr/>
        </p:nvSpPr>
        <p:spPr>
          <a:xfrm>
            <a:off x="411480" y="1572768"/>
            <a:ext cx="3703320" cy="2176272"/>
          </a:xfrm>
          <a:prstGeom prst="roundRect">
            <a:avLst>
              <a:gd fmla="val 1633" name="adj"/>
            </a:avLst>
          </a:prstGeom>
          <a:solidFill>
            <a:srgbClr val="FFFFFF"/>
          </a:solidFill>
          <a:ln cap="flat" cmpd="sng" w="12700">
            <a:solidFill>
              <a:srgbClr val="D8E6FA"/>
            </a:solidFill>
            <a:prstDash val="solid"/>
            <a:round/>
            <a:headEnd len="sm" w="sm" type="none"/>
            <a:tailEnd len="sm" w="sm" type="none"/>
          </a:ln>
          <a:effectLst>
            <a:outerShdw blurRad="101600" rotWithShape="0" algn="bl" dir="5400000" dist="12700">
              <a:srgbClr val="BBCDE6">
                <a:alpha val="25098"/>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2" name="Google Shape;142;h473429a1d00369bc_4_0"/>
          <p:cNvSpPr/>
          <p:nvPr/>
        </p:nvSpPr>
        <p:spPr>
          <a:xfrm>
            <a:off x="612648" y="1737360"/>
            <a:ext cx="420624" cy="420624"/>
          </a:xfrm>
          <a:prstGeom prst="ellipse">
            <a:avLst/>
          </a:prstGeom>
          <a:solidFill>
            <a:srgbClr val="E8F1FE"/>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preencoded.png" id="143" name="Google Shape;143;h473429a1d00369bc_4_0"/>
          <p:cNvPicPr preferRelativeResize="0"/>
          <p:nvPr/>
        </p:nvPicPr>
        <p:blipFill rotWithShape="1">
          <a:blip r:embed="rId3">
            <a:alphaModFix/>
          </a:blip>
          <a:srcRect b="0" l="0" r="0" t="0"/>
          <a:stretch/>
        </p:blipFill>
        <p:spPr>
          <a:xfrm>
            <a:off x="717804" y="1842516"/>
            <a:ext cx="210312" cy="210312"/>
          </a:xfrm>
          <a:prstGeom prst="rect">
            <a:avLst/>
          </a:prstGeom>
          <a:noFill/>
          <a:ln>
            <a:noFill/>
          </a:ln>
        </p:spPr>
      </p:pic>
      <p:sp>
        <p:nvSpPr>
          <p:cNvPr id="144" name="Google Shape;144;h473429a1d00369bc_4_0"/>
          <p:cNvSpPr/>
          <p:nvPr/>
        </p:nvSpPr>
        <p:spPr>
          <a:xfrm>
            <a:off x="1143000" y="1833372"/>
            <a:ext cx="735178" cy="228600"/>
          </a:xfrm>
          <a:prstGeom prst="roundRect">
            <a:avLst>
              <a:gd fmla="val 48000" name="adj"/>
            </a:avLst>
          </a:prstGeom>
          <a:solidFill>
            <a:srgbClr val="1367E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5" name="Google Shape;145;h473429a1d00369bc_4_0"/>
          <p:cNvSpPr txBox="1"/>
          <p:nvPr/>
        </p:nvSpPr>
        <p:spPr>
          <a:xfrm>
            <a:off x="1143000" y="1833372"/>
            <a:ext cx="735178" cy="2286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850"/>
              <a:buFont typeface="Calibri"/>
              <a:buNone/>
            </a:pPr>
            <a:r>
              <a:rPr b="1" i="0" lang="en-US" sz="850" u="none" cap="none" strike="noStrike">
                <a:solidFill>
                  <a:srgbClr val="FFFFFF"/>
                </a:solidFill>
                <a:latin typeface="Calibri"/>
                <a:ea typeface="Calibri"/>
                <a:cs typeface="Calibri"/>
                <a:sym typeface="Calibri"/>
              </a:rPr>
              <a:t>ELEMENTS</a:t>
            </a:r>
            <a:endParaRPr b="0" i="0" sz="850" u="none" cap="none" strike="noStrike">
              <a:solidFill>
                <a:schemeClr val="dk1"/>
              </a:solidFill>
              <a:latin typeface="Calibri"/>
              <a:ea typeface="Calibri"/>
              <a:cs typeface="Calibri"/>
              <a:sym typeface="Calibri"/>
            </a:endParaRPr>
          </a:p>
        </p:txBody>
      </p:sp>
      <p:sp>
        <p:nvSpPr>
          <p:cNvPr id="146" name="Google Shape;146;h473429a1d00369bc_4_0"/>
          <p:cNvSpPr txBox="1"/>
          <p:nvPr/>
        </p:nvSpPr>
        <p:spPr>
          <a:xfrm>
            <a:off x="630936" y="2249424"/>
            <a:ext cx="3264408" cy="274320"/>
          </a:xfrm>
          <a:prstGeom prst="rect">
            <a:avLst/>
          </a:prstGeom>
          <a:noFill/>
          <a:ln>
            <a:noFill/>
          </a:ln>
        </p:spPr>
        <p:txBody>
          <a:bodyPr anchorCtr="0" anchor="t" bIns="0" lIns="0" spcFirstLastPara="1" rIns="0" wrap="square" tIns="0">
            <a:noAutofit/>
          </a:bodyPr>
          <a:lstStyle/>
          <a:p>
            <a:pPr indent="0" lvl="0" marL="0" marR="0" rtl="0" algn="l">
              <a:lnSpc>
                <a:spcPct val="125925"/>
              </a:lnSpc>
              <a:spcBef>
                <a:spcPts val="0"/>
              </a:spcBef>
              <a:spcAft>
                <a:spcPts val="0"/>
              </a:spcAft>
              <a:buClr>
                <a:srgbClr val="0F2B5B"/>
              </a:buClr>
              <a:buSzPts val="1350"/>
              <a:buFont typeface="Arial"/>
              <a:buNone/>
            </a:pPr>
            <a:r>
              <a:rPr b="1" i="0" lang="en-US" sz="1350" u="none" cap="none" strike="noStrike">
                <a:solidFill>
                  <a:srgbClr val="0F2B5B"/>
                </a:solidFill>
                <a:latin typeface="Arial"/>
                <a:ea typeface="Arial"/>
                <a:cs typeface="Arial"/>
                <a:sym typeface="Arial"/>
              </a:rPr>
              <a:t>What’s Easy to Grade Gets Taught</a:t>
            </a:r>
            <a:endParaRPr b="0" i="0" sz="1350" u="none" cap="none" strike="noStrike">
              <a:solidFill>
                <a:schemeClr val="dk1"/>
              </a:solidFill>
              <a:latin typeface="Calibri"/>
              <a:ea typeface="Calibri"/>
              <a:cs typeface="Calibri"/>
              <a:sym typeface="Calibri"/>
            </a:endParaRPr>
          </a:p>
        </p:txBody>
      </p:sp>
      <p:sp>
        <p:nvSpPr>
          <p:cNvPr id="147" name="Google Shape;147;h473429a1d00369bc_4_0"/>
          <p:cNvSpPr txBox="1"/>
          <p:nvPr/>
        </p:nvSpPr>
        <p:spPr>
          <a:xfrm>
            <a:off x="630936" y="2578608"/>
            <a:ext cx="3264408" cy="603504"/>
          </a:xfrm>
          <a:prstGeom prst="rect">
            <a:avLst/>
          </a:prstGeom>
          <a:noFill/>
          <a:ln>
            <a:noFill/>
          </a:ln>
        </p:spPr>
        <p:txBody>
          <a:bodyPr anchorCtr="0" anchor="t" bIns="0" lIns="0" spcFirstLastPara="1" rIns="0" wrap="square" tIns="0">
            <a:noAutofit/>
          </a:bodyPr>
          <a:lstStyle/>
          <a:p>
            <a:pPr indent="0" lvl="0" marL="0" marR="0" rtl="0" algn="l">
              <a:lnSpc>
                <a:spcPct val="112000"/>
              </a:lnSpc>
              <a:spcBef>
                <a:spcPts val="0"/>
              </a:spcBef>
              <a:spcAft>
                <a:spcPts val="0"/>
              </a:spcAft>
              <a:buClr>
                <a:srgbClr val="1367E8"/>
              </a:buClr>
              <a:buSzPts val="1000"/>
              <a:buFont typeface="Calibri"/>
              <a:buNone/>
            </a:pPr>
            <a:r>
              <a:rPr b="1" i="0" lang="en-US" sz="1000" u="none" cap="none" strike="noStrike">
                <a:solidFill>
                  <a:srgbClr val="1367E8"/>
                </a:solidFill>
                <a:latin typeface="Calibri"/>
                <a:ea typeface="Calibri"/>
                <a:cs typeface="Calibri"/>
                <a:sym typeface="Calibri"/>
              </a:rPr>
              <a:t>Problem: </a:t>
            </a:r>
            <a:r>
              <a:rPr b="0" i="0" lang="en-US" sz="1000" u="none" cap="none" strike="noStrike">
                <a:solidFill>
                  <a:srgbClr val="3A4A5F"/>
                </a:solidFill>
                <a:latin typeface="Calibri"/>
                <a:ea typeface="Calibri"/>
                <a:cs typeface="Calibri"/>
                <a:sym typeface="Calibri"/>
              </a:rPr>
              <a:t>Grading capacity sets what gets assigned. When AI arrived, schools went back to handwritten exams, and under 30% of students think assessments fit an AI workplace.</a:t>
            </a:r>
            <a:endParaRPr b="0" i="0" sz="1000" u="none" cap="none" strike="noStrike">
              <a:solidFill>
                <a:schemeClr val="dk1"/>
              </a:solidFill>
              <a:latin typeface="Calibri"/>
              <a:ea typeface="Calibri"/>
              <a:cs typeface="Calibri"/>
              <a:sym typeface="Calibri"/>
            </a:endParaRPr>
          </a:p>
        </p:txBody>
      </p:sp>
      <p:sp>
        <p:nvSpPr>
          <p:cNvPr id="148" name="Google Shape;148;h473429a1d00369bc_4_0"/>
          <p:cNvSpPr txBox="1"/>
          <p:nvPr/>
        </p:nvSpPr>
        <p:spPr>
          <a:xfrm>
            <a:off x="630936" y="3218688"/>
            <a:ext cx="3264408" cy="457200"/>
          </a:xfrm>
          <a:prstGeom prst="rect">
            <a:avLst/>
          </a:prstGeom>
          <a:noFill/>
          <a:ln>
            <a:noFill/>
          </a:ln>
        </p:spPr>
        <p:txBody>
          <a:bodyPr anchorCtr="0" anchor="t" bIns="0" lIns="0" spcFirstLastPara="1" rIns="0" wrap="square" tIns="0">
            <a:noAutofit/>
          </a:bodyPr>
          <a:lstStyle/>
          <a:p>
            <a:pPr indent="0" lvl="0" marL="0" marR="0" rtl="0" algn="l">
              <a:lnSpc>
                <a:spcPct val="112000"/>
              </a:lnSpc>
              <a:spcBef>
                <a:spcPts val="0"/>
              </a:spcBef>
              <a:spcAft>
                <a:spcPts val="0"/>
              </a:spcAft>
              <a:buClr>
                <a:srgbClr val="1367E8"/>
              </a:buClr>
              <a:buSzPts val="1000"/>
              <a:buFont typeface="Calibri"/>
              <a:buNone/>
            </a:pPr>
            <a:r>
              <a:rPr b="1" i="0" lang="en-US" sz="1000" u="none" cap="none" strike="noStrike">
                <a:solidFill>
                  <a:srgbClr val="1367E8"/>
                </a:solidFill>
                <a:latin typeface="Calibri"/>
                <a:ea typeface="Calibri"/>
                <a:cs typeface="Calibri"/>
                <a:sym typeface="Calibri"/>
              </a:rPr>
              <a:t>Opportunity: </a:t>
            </a:r>
            <a:r>
              <a:rPr b="0" i="0" lang="en-US" sz="1000" u="none" cap="none" strike="noStrike">
                <a:solidFill>
                  <a:srgbClr val="3A4A5F"/>
                </a:solidFill>
                <a:latin typeface="Calibri"/>
                <a:ea typeface="Calibri"/>
                <a:cs typeface="Calibri"/>
                <a:sym typeface="Calibri"/>
              </a:rPr>
              <a:t>How might any major assess how students think and work with AI, at a scale instructors can grade?</a:t>
            </a:r>
            <a:endParaRPr b="0" i="0" sz="1000" u="none" cap="none" strike="noStrike">
              <a:solidFill>
                <a:schemeClr val="dk1"/>
              </a:solidFill>
              <a:latin typeface="Calibri"/>
              <a:ea typeface="Calibri"/>
              <a:cs typeface="Calibri"/>
              <a:sym typeface="Calibri"/>
            </a:endParaRPr>
          </a:p>
        </p:txBody>
      </p:sp>
      <p:sp>
        <p:nvSpPr>
          <p:cNvPr id="149" name="Google Shape;149;h473429a1d00369bc_4_0"/>
          <p:cNvSpPr/>
          <p:nvPr/>
        </p:nvSpPr>
        <p:spPr>
          <a:xfrm>
            <a:off x="4352544" y="1572768"/>
            <a:ext cx="3703320" cy="2176272"/>
          </a:xfrm>
          <a:prstGeom prst="roundRect">
            <a:avLst>
              <a:gd fmla="val 1633" name="adj"/>
            </a:avLst>
          </a:prstGeom>
          <a:solidFill>
            <a:srgbClr val="FFFFFF"/>
          </a:solidFill>
          <a:ln cap="flat" cmpd="sng" w="12700">
            <a:solidFill>
              <a:srgbClr val="D8E6FA"/>
            </a:solidFill>
            <a:prstDash val="solid"/>
            <a:round/>
            <a:headEnd len="sm" w="sm" type="none"/>
            <a:tailEnd len="sm" w="sm" type="none"/>
          </a:ln>
          <a:effectLst>
            <a:outerShdw blurRad="101600" rotWithShape="0" algn="bl" dir="5400000" dist="12700">
              <a:srgbClr val="BBCDE6">
                <a:alpha val="25098"/>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0" name="Google Shape;150;h473429a1d00369bc_4_0"/>
          <p:cNvSpPr/>
          <p:nvPr/>
        </p:nvSpPr>
        <p:spPr>
          <a:xfrm>
            <a:off x="4553712" y="1737360"/>
            <a:ext cx="420624" cy="420624"/>
          </a:xfrm>
          <a:prstGeom prst="ellipse">
            <a:avLst/>
          </a:prstGeom>
          <a:solidFill>
            <a:srgbClr val="E8F1FE"/>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preencoded.png" id="151" name="Google Shape;151;h473429a1d00369bc_4_0"/>
          <p:cNvPicPr preferRelativeResize="0"/>
          <p:nvPr/>
        </p:nvPicPr>
        <p:blipFill rotWithShape="1">
          <a:blip r:embed="rId4">
            <a:alphaModFix/>
          </a:blip>
          <a:srcRect b="0" l="0" r="0" t="0"/>
          <a:stretch/>
        </p:blipFill>
        <p:spPr>
          <a:xfrm>
            <a:off x="4658868" y="1842516"/>
            <a:ext cx="210312" cy="210312"/>
          </a:xfrm>
          <a:prstGeom prst="rect">
            <a:avLst/>
          </a:prstGeom>
          <a:noFill/>
          <a:ln>
            <a:noFill/>
          </a:ln>
        </p:spPr>
      </p:pic>
      <p:sp>
        <p:nvSpPr>
          <p:cNvPr id="152" name="Google Shape;152;h473429a1d00369bc_4_0"/>
          <p:cNvSpPr/>
          <p:nvPr/>
        </p:nvSpPr>
        <p:spPr>
          <a:xfrm>
            <a:off x="5084064" y="1833372"/>
            <a:ext cx="735178" cy="228600"/>
          </a:xfrm>
          <a:prstGeom prst="roundRect">
            <a:avLst>
              <a:gd fmla="val 48000" name="adj"/>
            </a:avLst>
          </a:prstGeom>
          <a:solidFill>
            <a:srgbClr val="1367E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3" name="Google Shape;153;h473429a1d00369bc_4_0"/>
          <p:cNvSpPr txBox="1"/>
          <p:nvPr/>
        </p:nvSpPr>
        <p:spPr>
          <a:xfrm>
            <a:off x="5084064" y="1833372"/>
            <a:ext cx="735178" cy="2286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850"/>
              <a:buFont typeface="Calibri"/>
              <a:buNone/>
            </a:pPr>
            <a:r>
              <a:rPr b="1" i="0" lang="en-US" sz="850" u="none" cap="none" strike="noStrike">
                <a:solidFill>
                  <a:srgbClr val="FFFFFF"/>
                </a:solidFill>
                <a:latin typeface="Calibri"/>
                <a:ea typeface="Calibri"/>
                <a:cs typeface="Calibri"/>
                <a:sym typeface="Calibri"/>
              </a:rPr>
              <a:t>ELEMENTS</a:t>
            </a:r>
            <a:endParaRPr b="0" i="0" sz="850" u="none" cap="none" strike="noStrike">
              <a:solidFill>
                <a:schemeClr val="dk1"/>
              </a:solidFill>
              <a:latin typeface="Calibri"/>
              <a:ea typeface="Calibri"/>
              <a:cs typeface="Calibri"/>
              <a:sym typeface="Calibri"/>
            </a:endParaRPr>
          </a:p>
        </p:txBody>
      </p:sp>
      <p:sp>
        <p:nvSpPr>
          <p:cNvPr id="154" name="Google Shape;154;h473429a1d00369bc_4_0"/>
          <p:cNvSpPr txBox="1"/>
          <p:nvPr/>
        </p:nvSpPr>
        <p:spPr>
          <a:xfrm>
            <a:off x="4572000" y="2249424"/>
            <a:ext cx="3264408" cy="274320"/>
          </a:xfrm>
          <a:prstGeom prst="rect">
            <a:avLst/>
          </a:prstGeom>
          <a:noFill/>
          <a:ln>
            <a:noFill/>
          </a:ln>
        </p:spPr>
        <p:txBody>
          <a:bodyPr anchorCtr="0" anchor="t" bIns="0" lIns="0" spcFirstLastPara="1" rIns="0" wrap="square" tIns="0">
            <a:noAutofit/>
          </a:bodyPr>
          <a:lstStyle/>
          <a:p>
            <a:pPr indent="0" lvl="0" marL="0" marR="0" rtl="0" algn="l">
              <a:lnSpc>
                <a:spcPct val="125925"/>
              </a:lnSpc>
              <a:spcBef>
                <a:spcPts val="0"/>
              </a:spcBef>
              <a:spcAft>
                <a:spcPts val="0"/>
              </a:spcAft>
              <a:buClr>
                <a:srgbClr val="0F2B5B"/>
              </a:buClr>
              <a:buSzPts val="1350"/>
              <a:buFont typeface="Arial"/>
              <a:buNone/>
            </a:pPr>
            <a:r>
              <a:rPr b="1" i="0" lang="en-US" sz="1350" u="none" cap="none" strike="noStrike">
                <a:solidFill>
                  <a:srgbClr val="0F2B5B"/>
                </a:solidFill>
                <a:latin typeface="Arial"/>
                <a:ea typeface="Arial"/>
                <a:cs typeface="Arial"/>
                <a:sym typeface="Arial"/>
              </a:rPr>
              <a:t>The Skills Nobody Assigns</a:t>
            </a:r>
            <a:endParaRPr b="0" i="0" sz="1350" u="none" cap="none" strike="noStrike">
              <a:solidFill>
                <a:schemeClr val="dk1"/>
              </a:solidFill>
              <a:latin typeface="Calibri"/>
              <a:ea typeface="Calibri"/>
              <a:cs typeface="Calibri"/>
              <a:sym typeface="Calibri"/>
            </a:endParaRPr>
          </a:p>
        </p:txBody>
      </p:sp>
      <p:sp>
        <p:nvSpPr>
          <p:cNvPr id="155" name="Google Shape;155;h473429a1d00369bc_4_0"/>
          <p:cNvSpPr txBox="1"/>
          <p:nvPr/>
        </p:nvSpPr>
        <p:spPr>
          <a:xfrm>
            <a:off x="4572000" y="2578608"/>
            <a:ext cx="3264408" cy="603504"/>
          </a:xfrm>
          <a:prstGeom prst="rect">
            <a:avLst/>
          </a:prstGeom>
          <a:noFill/>
          <a:ln>
            <a:noFill/>
          </a:ln>
        </p:spPr>
        <p:txBody>
          <a:bodyPr anchorCtr="0" anchor="t" bIns="0" lIns="0" spcFirstLastPara="1" rIns="0" wrap="square" tIns="0">
            <a:noAutofit/>
          </a:bodyPr>
          <a:lstStyle/>
          <a:p>
            <a:pPr indent="0" lvl="0" marL="0" marR="0" rtl="0" algn="l">
              <a:lnSpc>
                <a:spcPct val="112000"/>
              </a:lnSpc>
              <a:spcBef>
                <a:spcPts val="0"/>
              </a:spcBef>
              <a:spcAft>
                <a:spcPts val="0"/>
              </a:spcAft>
              <a:buClr>
                <a:srgbClr val="1367E8"/>
              </a:buClr>
              <a:buSzPts val="1000"/>
              <a:buFont typeface="Calibri"/>
              <a:buNone/>
            </a:pPr>
            <a:r>
              <a:rPr b="1" i="0" lang="en-US" sz="1000" u="none" cap="none" strike="noStrike">
                <a:solidFill>
                  <a:srgbClr val="1367E8"/>
                </a:solidFill>
                <a:latin typeface="Calibri"/>
                <a:ea typeface="Calibri"/>
                <a:cs typeface="Calibri"/>
                <a:sym typeface="Calibri"/>
              </a:rPr>
              <a:t>Problem: </a:t>
            </a:r>
            <a:r>
              <a:rPr b="0" i="0" lang="en-US" sz="1000" u="none" cap="none" strike="noStrike">
                <a:solidFill>
                  <a:srgbClr val="3A4A5F"/>
                </a:solidFill>
                <a:latin typeface="Calibri"/>
                <a:ea typeface="Calibri"/>
                <a:cs typeface="Calibri"/>
                <a:sym typeface="Calibri"/>
              </a:rPr>
              <a:t>Employers see 43-point gaps in communication and critical thinking. As AI takes routine work, these skills matter more, yet no course owns them.</a:t>
            </a:r>
            <a:endParaRPr b="0" i="0" sz="1000" u="none" cap="none" strike="noStrike">
              <a:solidFill>
                <a:schemeClr val="dk1"/>
              </a:solidFill>
              <a:latin typeface="Calibri"/>
              <a:ea typeface="Calibri"/>
              <a:cs typeface="Calibri"/>
              <a:sym typeface="Calibri"/>
            </a:endParaRPr>
          </a:p>
        </p:txBody>
      </p:sp>
      <p:sp>
        <p:nvSpPr>
          <p:cNvPr id="156" name="Google Shape;156;h473429a1d00369bc_4_0"/>
          <p:cNvSpPr txBox="1"/>
          <p:nvPr/>
        </p:nvSpPr>
        <p:spPr>
          <a:xfrm>
            <a:off x="4572000" y="3218688"/>
            <a:ext cx="3264408" cy="457200"/>
          </a:xfrm>
          <a:prstGeom prst="rect">
            <a:avLst/>
          </a:prstGeom>
          <a:noFill/>
          <a:ln>
            <a:noFill/>
          </a:ln>
        </p:spPr>
        <p:txBody>
          <a:bodyPr anchorCtr="0" anchor="t" bIns="0" lIns="0" spcFirstLastPara="1" rIns="0" wrap="square" tIns="0">
            <a:noAutofit/>
          </a:bodyPr>
          <a:lstStyle/>
          <a:p>
            <a:pPr indent="0" lvl="0" marL="0" marR="0" rtl="0" algn="l">
              <a:lnSpc>
                <a:spcPct val="112000"/>
              </a:lnSpc>
              <a:spcBef>
                <a:spcPts val="0"/>
              </a:spcBef>
              <a:spcAft>
                <a:spcPts val="0"/>
              </a:spcAft>
              <a:buClr>
                <a:srgbClr val="1367E8"/>
              </a:buClr>
              <a:buSzPts val="1000"/>
              <a:buFont typeface="Calibri"/>
              <a:buNone/>
            </a:pPr>
            <a:r>
              <a:rPr b="1" i="0" lang="en-US" sz="1000" u="none" cap="none" strike="noStrike">
                <a:solidFill>
                  <a:srgbClr val="1367E8"/>
                </a:solidFill>
                <a:latin typeface="Calibri"/>
                <a:ea typeface="Calibri"/>
                <a:cs typeface="Calibri"/>
                <a:sym typeface="Calibri"/>
              </a:rPr>
              <a:t>Opportunity: </a:t>
            </a:r>
            <a:r>
              <a:rPr b="0" i="0" lang="en-US" sz="1000" u="none" cap="none" strike="noStrike">
                <a:solidFill>
                  <a:srgbClr val="3A4A5F"/>
                </a:solidFill>
                <a:latin typeface="Calibri"/>
                <a:ea typeface="Calibri"/>
                <a:cs typeface="Calibri"/>
                <a:sym typeface="Calibri"/>
              </a:rPr>
              <a:t>How might judgment and communication become skills students practice and get graded on?</a:t>
            </a:r>
            <a:endParaRPr b="0" i="0" sz="1000" u="none" cap="none" strike="noStrike">
              <a:solidFill>
                <a:schemeClr val="dk1"/>
              </a:solidFill>
              <a:latin typeface="Calibri"/>
              <a:ea typeface="Calibri"/>
              <a:cs typeface="Calibri"/>
              <a:sym typeface="Calibri"/>
            </a:endParaRPr>
          </a:p>
        </p:txBody>
      </p:sp>
      <p:sp>
        <p:nvSpPr>
          <p:cNvPr id="157" name="Google Shape;157;h473429a1d00369bc_4_0"/>
          <p:cNvSpPr/>
          <p:nvPr/>
        </p:nvSpPr>
        <p:spPr>
          <a:xfrm>
            <a:off x="8293608" y="1572768"/>
            <a:ext cx="3703320" cy="2176272"/>
          </a:xfrm>
          <a:prstGeom prst="roundRect">
            <a:avLst>
              <a:gd fmla="val 1633" name="adj"/>
            </a:avLst>
          </a:prstGeom>
          <a:solidFill>
            <a:srgbClr val="FFFFFF"/>
          </a:solidFill>
          <a:ln cap="flat" cmpd="sng" w="12700">
            <a:solidFill>
              <a:srgbClr val="D8E6FA"/>
            </a:solidFill>
            <a:prstDash val="solid"/>
            <a:round/>
            <a:headEnd len="sm" w="sm" type="none"/>
            <a:tailEnd len="sm" w="sm" type="none"/>
          </a:ln>
          <a:effectLst>
            <a:outerShdw blurRad="101600" rotWithShape="0" algn="bl" dir="5400000" dist="12700">
              <a:srgbClr val="BBCDE6">
                <a:alpha val="25098"/>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8" name="Google Shape;158;h473429a1d00369bc_4_0"/>
          <p:cNvSpPr/>
          <p:nvPr/>
        </p:nvSpPr>
        <p:spPr>
          <a:xfrm>
            <a:off x="8494776" y="1737360"/>
            <a:ext cx="420624" cy="420624"/>
          </a:xfrm>
          <a:prstGeom prst="ellipse">
            <a:avLst/>
          </a:prstGeom>
          <a:solidFill>
            <a:srgbClr val="E8F1FE"/>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preencoded.png" id="159" name="Google Shape;159;h473429a1d00369bc_4_0"/>
          <p:cNvPicPr preferRelativeResize="0"/>
          <p:nvPr/>
        </p:nvPicPr>
        <p:blipFill rotWithShape="1">
          <a:blip r:embed="rId5">
            <a:alphaModFix/>
          </a:blip>
          <a:srcRect b="0" l="0" r="0" t="0"/>
          <a:stretch/>
        </p:blipFill>
        <p:spPr>
          <a:xfrm>
            <a:off x="8599932" y="1842516"/>
            <a:ext cx="210312" cy="210312"/>
          </a:xfrm>
          <a:prstGeom prst="rect">
            <a:avLst/>
          </a:prstGeom>
          <a:noFill/>
          <a:ln>
            <a:noFill/>
          </a:ln>
        </p:spPr>
      </p:pic>
      <p:sp>
        <p:nvSpPr>
          <p:cNvPr id="160" name="Google Shape;160;h473429a1d00369bc_4_0"/>
          <p:cNvSpPr/>
          <p:nvPr/>
        </p:nvSpPr>
        <p:spPr>
          <a:xfrm>
            <a:off x="9025128" y="1833372"/>
            <a:ext cx="983894" cy="228600"/>
          </a:xfrm>
          <a:prstGeom prst="roundRect">
            <a:avLst>
              <a:gd fmla="val 48000" name="adj"/>
            </a:avLst>
          </a:prstGeom>
          <a:solidFill>
            <a:srgbClr val="1367E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1" name="Google Shape;161;h473429a1d00369bc_4_0"/>
          <p:cNvSpPr txBox="1"/>
          <p:nvPr/>
        </p:nvSpPr>
        <p:spPr>
          <a:xfrm>
            <a:off x="9025128" y="1833372"/>
            <a:ext cx="983894" cy="2286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850"/>
              <a:buFont typeface="Calibri"/>
              <a:buNone/>
            </a:pPr>
            <a:r>
              <a:rPr b="1" i="0" lang="en-US" sz="850" u="none" cap="none" strike="noStrike">
                <a:solidFill>
                  <a:srgbClr val="FFFFFF"/>
                </a:solidFill>
                <a:latin typeface="Calibri"/>
                <a:ea typeface="Calibri"/>
                <a:cs typeface="Calibri"/>
                <a:sym typeface="Calibri"/>
              </a:rPr>
              <a:t>INTERACTIONS</a:t>
            </a:r>
            <a:endParaRPr b="0" i="0" sz="850" u="none" cap="none" strike="noStrike">
              <a:solidFill>
                <a:schemeClr val="dk1"/>
              </a:solidFill>
              <a:latin typeface="Calibri"/>
              <a:ea typeface="Calibri"/>
              <a:cs typeface="Calibri"/>
              <a:sym typeface="Calibri"/>
            </a:endParaRPr>
          </a:p>
        </p:txBody>
      </p:sp>
      <p:sp>
        <p:nvSpPr>
          <p:cNvPr id="162" name="Google Shape;162;h473429a1d00369bc_4_0"/>
          <p:cNvSpPr txBox="1"/>
          <p:nvPr/>
        </p:nvSpPr>
        <p:spPr>
          <a:xfrm>
            <a:off x="8513064" y="2249424"/>
            <a:ext cx="3264408" cy="274320"/>
          </a:xfrm>
          <a:prstGeom prst="rect">
            <a:avLst/>
          </a:prstGeom>
          <a:noFill/>
          <a:ln>
            <a:noFill/>
          </a:ln>
        </p:spPr>
        <p:txBody>
          <a:bodyPr anchorCtr="0" anchor="t" bIns="0" lIns="0" spcFirstLastPara="1" rIns="0" wrap="square" tIns="0">
            <a:noAutofit/>
          </a:bodyPr>
          <a:lstStyle/>
          <a:p>
            <a:pPr indent="0" lvl="0" marL="0" marR="0" rtl="0" algn="l">
              <a:lnSpc>
                <a:spcPct val="125925"/>
              </a:lnSpc>
              <a:spcBef>
                <a:spcPts val="0"/>
              </a:spcBef>
              <a:spcAft>
                <a:spcPts val="0"/>
              </a:spcAft>
              <a:buClr>
                <a:srgbClr val="0F2B5B"/>
              </a:buClr>
              <a:buSzPts val="1350"/>
              <a:buFont typeface="Arial"/>
              <a:buNone/>
            </a:pPr>
            <a:r>
              <a:rPr b="1" i="0" lang="en-US" sz="1350" u="none" cap="none" strike="noStrike">
                <a:solidFill>
                  <a:srgbClr val="0F2B5B"/>
                </a:solidFill>
                <a:latin typeface="Arial"/>
                <a:ea typeface="Arial"/>
                <a:cs typeface="Arial"/>
                <a:sym typeface="Arial"/>
              </a:rPr>
              <a:t>The Transcript Stopped Signaling</a:t>
            </a:r>
            <a:endParaRPr b="0" i="0" sz="1350" u="none" cap="none" strike="noStrike">
              <a:solidFill>
                <a:schemeClr val="dk1"/>
              </a:solidFill>
              <a:latin typeface="Calibri"/>
              <a:ea typeface="Calibri"/>
              <a:cs typeface="Calibri"/>
              <a:sym typeface="Calibri"/>
            </a:endParaRPr>
          </a:p>
        </p:txBody>
      </p:sp>
      <p:sp>
        <p:nvSpPr>
          <p:cNvPr id="163" name="Google Shape;163;h473429a1d00369bc_4_0"/>
          <p:cNvSpPr txBox="1"/>
          <p:nvPr/>
        </p:nvSpPr>
        <p:spPr>
          <a:xfrm>
            <a:off x="8513064" y="2578608"/>
            <a:ext cx="3264408" cy="603504"/>
          </a:xfrm>
          <a:prstGeom prst="rect">
            <a:avLst/>
          </a:prstGeom>
          <a:noFill/>
          <a:ln>
            <a:noFill/>
          </a:ln>
        </p:spPr>
        <p:txBody>
          <a:bodyPr anchorCtr="0" anchor="t" bIns="0" lIns="0" spcFirstLastPara="1" rIns="0" wrap="square" tIns="0">
            <a:noAutofit/>
          </a:bodyPr>
          <a:lstStyle/>
          <a:p>
            <a:pPr indent="0" lvl="0" marL="0" marR="0" rtl="0" algn="l">
              <a:lnSpc>
                <a:spcPct val="112000"/>
              </a:lnSpc>
              <a:spcBef>
                <a:spcPts val="0"/>
              </a:spcBef>
              <a:spcAft>
                <a:spcPts val="0"/>
              </a:spcAft>
              <a:buClr>
                <a:srgbClr val="1367E8"/>
              </a:buClr>
              <a:buSzPts val="1000"/>
              <a:buFont typeface="Calibri"/>
              <a:buNone/>
            </a:pPr>
            <a:r>
              <a:rPr b="1" i="0" lang="en-US" sz="1000" u="none" cap="none" strike="noStrike">
                <a:solidFill>
                  <a:srgbClr val="1367E8"/>
                </a:solidFill>
                <a:latin typeface="Calibri"/>
                <a:ea typeface="Calibri"/>
                <a:cs typeface="Calibri"/>
                <a:sym typeface="Calibri"/>
              </a:rPr>
              <a:t>Problem: </a:t>
            </a:r>
            <a:r>
              <a:rPr b="0" i="0" lang="en-US" sz="1000" u="none" cap="none" strike="noStrike">
                <a:solidFill>
                  <a:srgbClr val="3A4A5F"/>
                </a:solidFill>
                <a:latin typeface="Calibri"/>
                <a:ea typeface="Calibri"/>
                <a:cs typeface="Calibri"/>
                <a:sym typeface="Calibri"/>
              </a:rPr>
              <a:t>Over 60% of Harvard grades are now A’s, up from about 25% in 2005. Employers screening by GPA fell from 73% to 42%, and nothing has replaced it.</a:t>
            </a:r>
            <a:endParaRPr b="0" i="0" sz="1000" u="none" cap="none" strike="noStrike">
              <a:solidFill>
                <a:schemeClr val="dk1"/>
              </a:solidFill>
              <a:latin typeface="Calibri"/>
              <a:ea typeface="Calibri"/>
              <a:cs typeface="Calibri"/>
              <a:sym typeface="Calibri"/>
            </a:endParaRPr>
          </a:p>
        </p:txBody>
      </p:sp>
      <p:sp>
        <p:nvSpPr>
          <p:cNvPr id="164" name="Google Shape;164;h473429a1d00369bc_4_0"/>
          <p:cNvSpPr txBox="1"/>
          <p:nvPr/>
        </p:nvSpPr>
        <p:spPr>
          <a:xfrm>
            <a:off x="8513064" y="3218688"/>
            <a:ext cx="3264408" cy="457200"/>
          </a:xfrm>
          <a:prstGeom prst="rect">
            <a:avLst/>
          </a:prstGeom>
          <a:noFill/>
          <a:ln>
            <a:noFill/>
          </a:ln>
        </p:spPr>
        <p:txBody>
          <a:bodyPr anchorCtr="0" anchor="t" bIns="0" lIns="0" spcFirstLastPara="1" rIns="0" wrap="square" tIns="0">
            <a:noAutofit/>
          </a:bodyPr>
          <a:lstStyle/>
          <a:p>
            <a:pPr indent="0" lvl="0" marL="0" marR="0" rtl="0" algn="l">
              <a:lnSpc>
                <a:spcPct val="112000"/>
              </a:lnSpc>
              <a:spcBef>
                <a:spcPts val="0"/>
              </a:spcBef>
              <a:spcAft>
                <a:spcPts val="0"/>
              </a:spcAft>
              <a:buClr>
                <a:srgbClr val="1367E8"/>
              </a:buClr>
              <a:buSzPts val="1000"/>
              <a:buFont typeface="Calibri"/>
              <a:buNone/>
            </a:pPr>
            <a:r>
              <a:rPr b="1" i="0" lang="en-US" sz="1000" u="none" cap="none" strike="noStrike">
                <a:solidFill>
                  <a:srgbClr val="1367E8"/>
                </a:solidFill>
                <a:latin typeface="Calibri"/>
                <a:ea typeface="Calibri"/>
                <a:cs typeface="Calibri"/>
                <a:sym typeface="Calibri"/>
              </a:rPr>
              <a:t>Opportunity: </a:t>
            </a:r>
            <a:r>
              <a:rPr b="0" i="0" lang="en-US" sz="1000" u="none" cap="none" strike="noStrike">
                <a:solidFill>
                  <a:srgbClr val="3A4A5F"/>
                </a:solidFill>
                <a:latin typeface="Calibri"/>
                <a:ea typeface="Calibri"/>
                <a:cs typeface="Calibri"/>
                <a:sym typeface="Calibri"/>
              </a:rPr>
              <a:t>How might students show employers what they can actually do, beyond a GPA?</a:t>
            </a:r>
            <a:endParaRPr b="0" i="0" sz="1000" u="none" cap="none" strike="noStrike">
              <a:solidFill>
                <a:schemeClr val="dk1"/>
              </a:solidFill>
              <a:latin typeface="Calibri"/>
              <a:ea typeface="Calibri"/>
              <a:cs typeface="Calibri"/>
              <a:sym typeface="Calibri"/>
            </a:endParaRPr>
          </a:p>
        </p:txBody>
      </p:sp>
      <p:sp>
        <p:nvSpPr>
          <p:cNvPr id="165" name="Google Shape;165;h473429a1d00369bc_4_0"/>
          <p:cNvSpPr/>
          <p:nvPr/>
        </p:nvSpPr>
        <p:spPr>
          <a:xfrm>
            <a:off x="411480" y="3858768"/>
            <a:ext cx="3703320" cy="2176272"/>
          </a:xfrm>
          <a:prstGeom prst="roundRect">
            <a:avLst>
              <a:gd fmla="val 1633" name="adj"/>
            </a:avLst>
          </a:prstGeom>
          <a:solidFill>
            <a:srgbClr val="FFFFFF"/>
          </a:solidFill>
          <a:ln cap="flat" cmpd="sng" w="12700">
            <a:solidFill>
              <a:srgbClr val="D8E6FA"/>
            </a:solidFill>
            <a:prstDash val="solid"/>
            <a:round/>
            <a:headEnd len="sm" w="sm" type="none"/>
            <a:tailEnd len="sm" w="sm" type="none"/>
          </a:ln>
          <a:effectLst>
            <a:outerShdw blurRad="101600" rotWithShape="0" algn="bl" dir="5400000" dist="12700">
              <a:srgbClr val="BBCDE6">
                <a:alpha val="25098"/>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6" name="Google Shape;166;h473429a1d00369bc_4_0"/>
          <p:cNvSpPr/>
          <p:nvPr/>
        </p:nvSpPr>
        <p:spPr>
          <a:xfrm>
            <a:off x="612648" y="4023360"/>
            <a:ext cx="420624" cy="420624"/>
          </a:xfrm>
          <a:prstGeom prst="ellipse">
            <a:avLst/>
          </a:prstGeom>
          <a:solidFill>
            <a:srgbClr val="E8F1FE"/>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preencoded.png" id="167" name="Google Shape;167;h473429a1d00369bc_4_0"/>
          <p:cNvPicPr preferRelativeResize="0"/>
          <p:nvPr/>
        </p:nvPicPr>
        <p:blipFill rotWithShape="1">
          <a:blip r:embed="rId6">
            <a:alphaModFix/>
          </a:blip>
          <a:srcRect b="0" l="0" r="0" t="0"/>
          <a:stretch/>
        </p:blipFill>
        <p:spPr>
          <a:xfrm>
            <a:off x="717804" y="4128516"/>
            <a:ext cx="210312" cy="210312"/>
          </a:xfrm>
          <a:prstGeom prst="rect">
            <a:avLst/>
          </a:prstGeom>
          <a:noFill/>
          <a:ln>
            <a:noFill/>
          </a:ln>
        </p:spPr>
      </p:pic>
      <p:sp>
        <p:nvSpPr>
          <p:cNvPr id="168" name="Google Shape;168;h473429a1d00369bc_4_0"/>
          <p:cNvSpPr/>
          <p:nvPr/>
        </p:nvSpPr>
        <p:spPr>
          <a:xfrm>
            <a:off x="1143000" y="4119372"/>
            <a:ext cx="610819" cy="228600"/>
          </a:xfrm>
          <a:prstGeom prst="roundRect">
            <a:avLst>
              <a:gd fmla="val 48000" name="adj"/>
            </a:avLst>
          </a:prstGeom>
          <a:solidFill>
            <a:srgbClr val="1367E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9" name="Google Shape;169;h473429a1d00369bc_4_0"/>
          <p:cNvSpPr txBox="1"/>
          <p:nvPr/>
        </p:nvSpPr>
        <p:spPr>
          <a:xfrm>
            <a:off x="1143000" y="4119372"/>
            <a:ext cx="610819" cy="2286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850"/>
              <a:buFont typeface="Calibri"/>
              <a:buNone/>
            </a:pPr>
            <a:r>
              <a:rPr b="1" i="0" lang="en-US" sz="850" u="none" cap="none" strike="noStrike">
                <a:solidFill>
                  <a:srgbClr val="FFFFFF"/>
                </a:solidFill>
                <a:latin typeface="Calibri"/>
                <a:ea typeface="Calibri"/>
                <a:cs typeface="Calibri"/>
                <a:sym typeface="Calibri"/>
              </a:rPr>
              <a:t>SYSTEM</a:t>
            </a:r>
            <a:endParaRPr b="0" i="0" sz="850" u="none" cap="none" strike="noStrike">
              <a:solidFill>
                <a:schemeClr val="dk1"/>
              </a:solidFill>
              <a:latin typeface="Calibri"/>
              <a:ea typeface="Calibri"/>
              <a:cs typeface="Calibri"/>
              <a:sym typeface="Calibri"/>
            </a:endParaRPr>
          </a:p>
        </p:txBody>
      </p:sp>
      <p:sp>
        <p:nvSpPr>
          <p:cNvPr id="170" name="Google Shape;170;h473429a1d00369bc_4_0"/>
          <p:cNvSpPr txBox="1"/>
          <p:nvPr/>
        </p:nvSpPr>
        <p:spPr>
          <a:xfrm>
            <a:off x="630936" y="4535424"/>
            <a:ext cx="3264408" cy="274320"/>
          </a:xfrm>
          <a:prstGeom prst="rect">
            <a:avLst/>
          </a:prstGeom>
          <a:noFill/>
          <a:ln>
            <a:noFill/>
          </a:ln>
        </p:spPr>
        <p:txBody>
          <a:bodyPr anchorCtr="0" anchor="t" bIns="0" lIns="0" spcFirstLastPara="1" rIns="0" wrap="square" tIns="0">
            <a:noAutofit/>
          </a:bodyPr>
          <a:lstStyle/>
          <a:p>
            <a:pPr indent="0" lvl="0" marL="0" marR="0" rtl="0" algn="l">
              <a:lnSpc>
                <a:spcPct val="125925"/>
              </a:lnSpc>
              <a:spcBef>
                <a:spcPts val="0"/>
              </a:spcBef>
              <a:spcAft>
                <a:spcPts val="0"/>
              </a:spcAft>
              <a:buClr>
                <a:srgbClr val="0F2B5B"/>
              </a:buClr>
              <a:buSzPts val="1350"/>
              <a:buFont typeface="Arial"/>
              <a:buNone/>
            </a:pPr>
            <a:r>
              <a:rPr b="1" i="0" lang="en-US" sz="1350" u="none" cap="none" strike="noStrike">
                <a:solidFill>
                  <a:srgbClr val="0F2B5B"/>
                </a:solidFill>
                <a:latin typeface="Arial"/>
                <a:ea typeface="Arial"/>
                <a:cs typeface="Arial"/>
                <a:sym typeface="Arial"/>
              </a:rPr>
              <a:t>Theory Without Application</a:t>
            </a:r>
            <a:endParaRPr b="0" i="0" sz="1350" u="none" cap="none" strike="noStrike">
              <a:solidFill>
                <a:schemeClr val="dk1"/>
              </a:solidFill>
              <a:latin typeface="Calibri"/>
              <a:ea typeface="Calibri"/>
              <a:cs typeface="Calibri"/>
              <a:sym typeface="Calibri"/>
            </a:endParaRPr>
          </a:p>
        </p:txBody>
      </p:sp>
      <p:sp>
        <p:nvSpPr>
          <p:cNvPr id="171" name="Google Shape;171;h473429a1d00369bc_4_0"/>
          <p:cNvSpPr txBox="1"/>
          <p:nvPr/>
        </p:nvSpPr>
        <p:spPr>
          <a:xfrm>
            <a:off x="630936" y="4864608"/>
            <a:ext cx="3264408" cy="603504"/>
          </a:xfrm>
          <a:prstGeom prst="rect">
            <a:avLst/>
          </a:prstGeom>
          <a:noFill/>
          <a:ln>
            <a:noFill/>
          </a:ln>
        </p:spPr>
        <p:txBody>
          <a:bodyPr anchorCtr="0" anchor="t" bIns="0" lIns="0" spcFirstLastPara="1" rIns="0" wrap="square" tIns="0">
            <a:noAutofit/>
          </a:bodyPr>
          <a:lstStyle/>
          <a:p>
            <a:pPr indent="0" lvl="0" marL="0" marR="0" rtl="0" algn="l">
              <a:lnSpc>
                <a:spcPct val="112000"/>
              </a:lnSpc>
              <a:spcBef>
                <a:spcPts val="0"/>
              </a:spcBef>
              <a:spcAft>
                <a:spcPts val="0"/>
              </a:spcAft>
              <a:buClr>
                <a:srgbClr val="1367E8"/>
              </a:buClr>
              <a:buSzPts val="1000"/>
              <a:buFont typeface="Calibri"/>
              <a:buNone/>
            </a:pPr>
            <a:r>
              <a:rPr b="1" i="0" lang="en-US" sz="1000" u="none" cap="none" strike="noStrike">
                <a:solidFill>
                  <a:srgbClr val="1367E8"/>
                </a:solidFill>
                <a:latin typeface="Calibri"/>
                <a:ea typeface="Calibri"/>
                <a:cs typeface="Calibri"/>
                <a:sym typeface="Calibri"/>
              </a:rPr>
              <a:t>Problem: </a:t>
            </a:r>
            <a:r>
              <a:rPr b="0" i="0" lang="en-US" sz="1000" u="none" cap="none" strike="noStrike">
                <a:solidFill>
                  <a:srgbClr val="3A4A5F"/>
                </a:solidFill>
                <a:latin typeface="Calibri"/>
                <a:ea typeface="Calibri"/>
                <a:cs typeface="Calibri"/>
                <a:sym typeface="Calibri"/>
              </a:rPr>
              <a:t>Most courses spend the term on lectures and exams. 39% of core skills change by 2030, yet a curriculum change takes about two years to reach the catalog.</a:t>
            </a:r>
            <a:endParaRPr b="0" i="0" sz="1000" u="none" cap="none" strike="noStrike">
              <a:solidFill>
                <a:schemeClr val="dk1"/>
              </a:solidFill>
              <a:latin typeface="Calibri"/>
              <a:ea typeface="Calibri"/>
              <a:cs typeface="Calibri"/>
              <a:sym typeface="Calibri"/>
            </a:endParaRPr>
          </a:p>
        </p:txBody>
      </p:sp>
      <p:sp>
        <p:nvSpPr>
          <p:cNvPr id="172" name="Google Shape;172;h473429a1d00369bc_4_0"/>
          <p:cNvSpPr txBox="1"/>
          <p:nvPr/>
        </p:nvSpPr>
        <p:spPr>
          <a:xfrm>
            <a:off x="630936" y="5504688"/>
            <a:ext cx="3264408" cy="457200"/>
          </a:xfrm>
          <a:prstGeom prst="rect">
            <a:avLst/>
          </a:prstGeom>
          <a:noFill/>
          <a:ln>
            <a:noFill/>
          </a:ln>
        </p:spPr>
        <p:txBody>
          <a:bodyPr anchorCtr="0" anchor="t" bIns="0" lIns="0" spcFirstLastPara="1" rIns="0" wrap="square" tIns="0">
            <a:noAutofit/>
          </a:bodyPr>
          <a:lstStyle/>
          <a:p>
            <a:pPr indent="0" lvl="0" marL="0" marR="0" rtl="0" algn="l">
              <a:lnSpc>
                <a:spcPct val="112000"/>
              </a:lnSpc>
              <a:spcBef>
                <a:spcPts val="0"/>
              </a:spcBef>
              <a:spcAft>
                <a:spcPts val="0"/>
              </a:spcAft>
              <a:buClr>
                <a:srgbClr val="1367E8"/>
              </a:buClr>
              <a:buSzPts val="1000"/>
              <a:buFont typeface="Calibri"/>
              <a:buNone/>
            </a:pPr>
            <a:r>
              <a:rPr b="1" i="0" lang="en-US" sz="1000" u="none" cap="none" strike="noStrike">
                <a:solidFill>
                  <a:srgbClr val="1367E8"/>
                </a:solidFill>
                <a:latin typeface="Calibri"/>
                <a:ea typeface="Calibri"/>
                <a:cs typeface="Calibri"/>
                <a:sym typeface="Calibri"/>
              </a:rPr>
              <a:t>Opportunity: </a:t>
            </a:r>
            <a:r>
              <a:rPr b="0" i="0" lang="en-US" sz="1000" u="none" cap="none" strike="noStrike">
                <a:solidFill>
                  <a:srgbClr val="3A4A5F"/>
                </a:solidFill>
                <a:latin typeface="Calibri"/>
                <a:ea typeface="Calibri"/>
                <a:cs typeface="Calibri"/>
                <a:sym typeface="Calibri"/>
              </a:rPr>
              <a:t>How might a course cover essential theory in 2–3 weeks, then spend the rest applying it to real work?</a:t>
            </a:r>
            <a:endParaRPr b="0" i="0" sz="1000" u="none" cap="none" strike="noStrike">
              <a:solidFill>
                <a:schemeClr val="dk1"/>
              </a:solidFill>
              <a:latin typeface="Calibri"/>
              <a:ea typeface="Calibri"/>
              <a:cs typeface="Calibri"/>
              <a:sym typeface="Calibri"/>
            </a:endParaRPr>
          </a:p>
        </p:txBody>
      </p:sp>
      <p:sp>
        <p:nvSpPr>
          <p:cNvPr id="173" name="Google Shape;173;h473429a1d00369bc_4_0"/>
          <p:cNvSpPr/>
          <p:nvPr/>
        </p:nvSpPr>
        <p:spPr>
          <a:xfrm>
            <a:off x="4352544" y="3858768"/>
            <a:ext cx="3703320" cy="2176272"/>
          </a:xfrm>
          <a:prstGeom prst="roundRect">
            <a:avLst>
              <a:gd fmla="val 1633" name="adj"/>
            </a:avLst>
          </a:prstGeom>
          <a:solidFill>
            <a:srgbClr val="FFFFFF"/>
          </a:solidFill>
          <a:ln cap="flat" cmpd="sng" w="12700">
            <a:solidFill>
              <a:srgbClr val="D8E6FA"/>
            </a:solidFill>
            <a:prstDash val="solid"/>
            <a:round/>
            <a:headEnd len="sm" w="sm" type="none"/>
            <a:tailEnd len="sm" w="sm" type="none"/>
          </a:ln>
          <a:effectLst>
            <a:outerShdw blurRad="101600" rotWithShape="0" algn="bl" dir="5400000" dist="12700">
              <a:srgbClr val="BBCDE6">
                <a:alpha val="25098"/>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4" name="Google Shape;174;h473429a1d00369bc_4_0"/>
          <p:cNvSpPr/>
          <p:nvPr/>
        </p:nvSpPr>
        <p:spPr>
          <a:xfrm>
            <a:off x="4553712" y="4023360"/>
            <a:ext cx="420624" cy="420624"/>
          </a:xfrm>
          <a:prstGeom prst="ellipse">
            <a:avLst/>
          </a:prstGeom>
          <a:solidFill>
            <a:srgbClr val="E8F1FE"/>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preencoded.png" id="175" name="Google Shape;175;h473429a1d00369bc_4_0"/>
          <p:cNvPicPr preferRelativeResize="0"/>
          <p:nvPr/>
        </p:nvPicPr>
        <p:blipFill rotWithShape="1">
          <a:blip r:embed="rId7">
            <a:alphaModFix/>
          </a:blip>
          <a:srcRect b="0" l="0" r="0" t="0"/>
          <a:stretch/>
        </p:blipFill>
        <p:spPr>
          <a:xfrm>
            <a:off x="4658868" y="4128516"/>
            <a:ext cx="210312" cy="210312"/>
          </a:xfrm>
          <a:prstGeom prst="rect">
            <a:avLst/>
          </a:prstGeom>
          <a:noFill/>
          <a:ln>
            <a:noFill/>
          </a:ln>
        </p:spPr>
      </p:pic>
      <p:sp>
        <p:nvSpPr>
          <p:cNvPr id="176" name="Google Shape;176;h473429a1d00369bc_4_0"/>
          <p:cNvSpPr/>
          <p:nvPr/>
        </p:nvSpPr>
        <p:spPr>
          <a:xfrm>
            <a:off x="5084064" y="4119372"/>
            <a:ext cx="672998" cy="228600"/>
          </a:xfrm>
          <a:prstGeom prst="roundRect">
            <a:avLst>
              <a:gd fmla="val 48000" name="adj"/>
            </a:avLst>
          </a:prstGeom>
          <a:solidFill>
            <a:srgbClr val="1367E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7" name="Google Shape;177;h473429a1d00369bc_4_0"/>
          <p:cNvSpPr txBox="1"/>
          <p:nvPr/>
        </p:nvSpPr>
        <p:spPr>
          <a:xfrm>
            <a:off x="5084064" y="4119372"/>
            <a:ext cx="672998" cy="2286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850"/>
              <a:buFont typeface="Calibri"/>
              <a:buNone/>
            </a:pPr>
            <a:r>
              <a:rPr b="1" i="0" lang="en-US" sz="850" u="none" cap="none" strike="noStrike">
                <a:solidFill>
                  <a:srgbClr val="FFFFFF"/>
                </a:solidFill>
                <a:latin typeface="Calibri"/>
                <a:ea typeface="Calibri"/>
                <a:cs typeface="Calibri"/>
                <a:sym typeface="Calibri"/>
              </a:rPr>
              <a:t>PURPOSE</a:t>
            </a:r>
            <a:endParaRPr b="0" i="0" sz="850" u="none" cap="none" strike="noStrike">
              <a:solidFill>
                <a:schemeClr val="dk1"/>
              </a:solidFill>
              <a:latin typeface="Calibri"/>
              <a:ea typeface="Calibri"/>
              <a:cs typeface="Calibri"/>
              <a:sym typeface="Calibri"/>
            </a:endParaRPr>
          </a:p>
        </p:txBody>
      </p:sp>
      <p:sp>
        <p:nvSpPr>
          <p:cNvPr id="178" name="Google Shape;178;h473429a1d00369bc_4_0"/>
          <p:cNvSpPr txBox="1"/>
          <p:nvPr/>
        </p:nvSpPr>
        <p:spPr>
          <a:xfrm>
            <a:off x="4572000" y="4535424"/>
            <a:ext cx="3264408" cy="274320"/>
          </a:xfrm>
          <a:prstGeom prst="rect">
            <a:avLst/>
          </a:prstGeom>
          <a:noFill/>
          <a:ln>
            <a:noFill/>
          </a:ln>
        </p:spPr>
        <p:txBody>
          <a:bodyPr anchorCtr="0" anchor="t" bIns="0" lIns="0" spcFirstLastPara="1" rIns="0" wrap="square" tIns="0">
            <a:noAutofit/>
          </a:bodyPr>
          <a:lstStyle/>
          <a:p>
            <a:pPr indent="0" lvl="0" marL="0" marR="0" rtl="0" algn="l">
              <a:lnSpc>
                <a:spcPct val="125925"/>
              </a:lnSpc>
              <a:spcBef>
                <a:spcPts val="0"/>
              </a:spcBef>
              <a:spcAft>
                <a:spcPts val="0"/>
              </a:spcAft>
              <a:buClr>
                <a:srgbClr val="0F2B5B"/>
              </a:buClr>
              <a:buSzPts val="1350"/>
              <a:buFont typeface="Arial"/>
              <a:buNone/>
            </a:pPr>
            <a:r>
              <a:rPr b="1" i="0" lang="en-US" sz="1350" u="none" cap="none" strike="noStrike">
                <a:solidFill>
                  <a:srgbClr val="0F2B5B"/>
                </a:solidFill>
                <a:latin typeface="Arial"/>
                <a:ea typeface="Arial"/>
                <a:cs typeface="Arial"/>
                <a:sym typeface="Arial"/>
              </a:rPr>
              <a:t>A Degree That Stops at 22</a:t>
            </a:r>
            <a:endParaRPr b="0" i="0" sz="1350" u="none" cap="none" strike="noStrike">
              <a:solidFill>
                <a:schemeClr val="dk1"/>
              </a:solidFill>
              <a:latin typeface="Calibri"/>
              <a:ea typeface="Calibri"/>
              <a:cs typeface="Calibri"/>
              <a:sym typeface="Calibri"/>
            </a:endParaRPr>
          </a:p>
        </p:txBody>
      </p:sp>
      <p:sp>
        <p:nvSpPr>
          <p:cNvPr id="179" name="Google Shape;179;h473429a1d00369bc_4_0"/>
          <p:cNvSpPr txBox="1"/>
          <p:nvPr/>
        </p:nvSpPr>
        <p:spPr>
          <a:xfrm>
            <a:off x="4572000" y="4864608"/>
            <a:ext cx="3264408" cy="603504"/>
          </a:xfrm>
          <a:prstGeom prst="rect">
            <a:avLst/>
          </a:prstGeom>
          <a:noFill/>
          <a:ln>
            <a:noFill/>
          </a:ln>
        </p:spPr>
        <p:txBody>
          <a:bodyPr anchorCtr="0" anchor="t" bIns="0" lIns="0" spcFirstLastPara="1" rIns="0" wrap="square" tIns="0">
            <a:noAutofit/>
          </a:bodyPr>
          <a:lstStyle/>
          <a:p>
            <a:pPr indent="0" lvl="0" marL="0" marR="0" rtl="0" algn="l">
              <a:lnSpc>
                <a:spcPct val="112000"/>
              </a:lnSpc>
              <a:spcBef>
                <a:spcPts val="0"/>
              </a:spcBef>
              <a:spcAft>
                <a:spcPts val="0"/>
              </a:spcAft>
              <a:buClr>
                <a:srgbClr val="1367E8"/>
              </a:buClr>
              <a:buSzPts val="1000"/>
              <a:buFont typeface="Calibri"/>
              <a:buNone/>
            </a:pPr>
            <a:r>
              <a:rPr b="1" i="0" lang="en-US" sz="1000" u="none" cap="none" strike="noStrike">
                <a:solidFill>
                  <a:srgbClr val="1367E8"/>
                </a:solidFill>
                <a:latin typeface="Calibri"/>
                <a:ea typeface="Calibri"/>
                <a:cs typeface="Calibri"/>
                <a:sym typeface="Calibri"/>
              </a:rPr>
              <a:t>Problem: </a:t>
            </a:r>
            <a:r>
              <a:rPr b="0" i="0" lang="en-US" sz="1000" u="none" cap="none" strike="noStrike">
                <a:solidFill>
                  <a:srgbClr val="3A4A5F"/>
                </a:solidFill>
                <a:latin typeface="Calibri"/>
                <a:ea typeface="Calibri"/>
                <a:cs typeface="Calibri"/>
                <a:sym typeface="Calibri"/>
              </a:rPr>
              <a:t>College teaches everything once, between 18 and 22, then stops. AI takes over entry-level tasks first, and about 70% of employers say new grads need substantial training.</a:t>
            </a:r>
            <a:endParaRPr b="0" i="0" sz="1000" u="none" cap="none" strike="noStrike">
              <a:solidFill>
                <a:schemeClr val="dk1"/>
              </a:solidFill>
              <a:latin typeface="Calibri"/>
              <a:ea typeface="Calibri"/>
              <a:cs typeface="Calibri"/>
              <a:sym typeface="Calibri"/>
            </a:endParaRPr>
          </a:p>
        </p:txBody>
      </p:sp>
      <p:sp>
        <p:nvSpPr>
          <p:cNvPr id="180" name="Google Shape;180;h473429a1d00369bc_4_0"/>
          <p:cNvSpPr txBox="1"/>
          <p:nvPr/>
        </p:nvSpPr>
        <p:spPr>
          <a:xfrm>
            <a:off x="4572000" y="5504688"/>
            <a:ext cx="3264408" cy="457200"/>
          </a:xfrm>
          <a:prstGeom prst="rect">
            <a:avLst/>
          </a:prstGeom>
          <a:noFill/>
          <a:ln>
            <a:noFill/>
          </a:ln>
        </p:spPr>
        <p:txBody>
          <a:bodyPr anchorCtr="0" anchor="t" bIns="0" lIns="0" spcFirstLastPara="1" rIns="0" wrap="square" tIns="0">
            <a:noAutofit/>
          </a:bodyPr>
          <a:lstStyle/>
          <a:p>
            <a:pPr indent="0" lvl="0" marL="0" marR="0" rtl="0" algn="l">
              <a:lnSpc>
                <a:spcPct val="112000"/>
              </a:lnSpc>
              <a:spcBef>
                <a:spcPts val="0"/>
              </a:spcBef>
              <a:spcAft>
                <a:spcPts val="0"/>
              </a:spcAft>
              <a:buClr>
                <a:srgbClr val="1367E8"/>
              </a:buClr>
              <a:buSzPts val="1000"/>
              <a:buFont typeface="Calibri"/>
              <a:buNone/>
            </a:pPr>
            <a:r>
              <a:rPr b="1" i="0" lang="en-US" sz="1000" u="none" cap="none" strike="noStrike">
                <a:solidFill>
                  <a:srgbClr val="1367E8"/>
                </a:solidFill>
                <a:latin typeface="Calibri"/>
                <a:ea typeface="Calibri"/>
                <a:cs typeface="Calibri"/>
                <a:sym typeface="Calibri"/>
              </a:rPr>
              <a:t>Opportunity: </a:t>
            </a:r>
            <a:r>
              <a:rPr b="0" i="0" lang="en-US" sz="1000" u="none" cap="none" strike="noStrike">
                <a:solidFill>
                  <a:srgbClr val="3A4A5F"/>
                </a:solidFill>
                <a:latin typeface="Calibri"/>
                <a:ea typeface="Calibri"/>
                <a:cs typeface="Calibri"/>
                <a:sym typeface="Calibri"/>
              </a:rPr>
              <a:t>How might a degree keep graduates’ skills current over a career, instead of ending at graduation?</a:t>
            </a:r>
            <a:endParaRPr b="0" i="0" sz="1000" u="none" cap="none" strike="noStrike">
              <a:solidFill>
                <a:schemeClr val="dk1"/>
              </a:solidFill>
              <a:latin typeface="Calibri"/>
              <a:ea typeface="Calibri"/>
              <a:cs typeface="Calibri"/>
              <a:sym typeface="Calibri"/>
            </a:endParaRPr>
          </a:p>
        </p:txBody>
      </p:sp>
      <p:sp>
        <p:nvSpPr>
          <p:cNvPr id="181" name="Google Shape;181;h473429a1d00369bc_4_0"/>
          <p:cNvSpPr/>
          <p:nvPr/>
        </p:nvSpPr>
        <p:spPr>
          <a:xfrm>
            <a:off x="8293608" y="3858768"/>
            <a:ext cx="3703320" cy="2176272"/>
          </a:xfrm>
          <a:prstGeom prst="roundRect">
            <a:avLst>
              <a:gd fmla="val 1633" name="adj"/>
            </a:avLst>
          </a:prstGeom>
          <a:solidFill>
            <a:srgbClr val="FFFFFF"/>
          </a:solidFill>
          <a:ln cap="flat" cmpd="sng" w="12700">
            <a:solidFill>
              <a:srgbClr val="D8E6FA"/>
            </a:solidFill>
            <a:prstDash val="solid"/>
            <a:round/>
            <a:headEnd len="sm" w="sm" type="none"/>
            <a:tailEnd len="sm" w="sm" type="none"/>
          </a:ln>
          <a:effectLst>
            <a:outerShdw blurRad="101600" rotWithShape="0" algn="bl" dir="5400000" dist="12700">
              <a:srgbClr val="BBCDE6">
                <a:alpha val="25098"/>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2" name="Google Shape;182;h473429a1d00369bc_4_0"/>
          <p:cNvSpPr/>
          <p:nvPr/>
        </p:nvSpPr>
        <p:spPr>
          <a:xfrm>
            <a:off x="8494776" y="4023360"/>
            <a:ext cx="420624" cy="420624"/>
          </a:xfrm>
          <a:prstGeom prst="ellipse">
            <a:avLst/>
          </a:prstGeom>
          <a:solidFill>
            <a:srgbClr val="E8F1FE"/>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preencoded.png" id="183" name="Google Shape;183;h473429a1d00369bc_4_0"/>
          <p:cNvPicPr preferRelativeResize="0"/>
          <p:nvPr/>
        </p:nvPicPr>
        <p:blipFill rotWithShape="1">
          <a:blip r:embed="rId8">
            <a:alphaModFix/>
          </a:blip>
          <a:srcRect b="0" l="0" r="0" t="0"/>
          <a:stretch/>
        </p:blipFill>
        <p:spPr>
          <a:xfrm>
            <a:off x="8599932" y="4128516"/>
            <a:ext cx="210312" cy="210312"/>
          </a:xfrm>
          <a:prstGeom prst="rect">
            <a:avLst/>
          </a:prstGeom>
          <a:noFill/>
          <a:ln>
            <a:noFill/>
          </a:ln>
        </p:spPr>
      </p:pic>
      <p:sp>
        <p:nvSpPr>
          <p:cNvPr id="184" name="Google Shape;184;h473429a1d00369bc_4_0"/>
          <p:cNvSpPr/>
          <p:nvPr/>
        </p:nvSpPr>
        <p:spPr>
          <a:xfrm>
            <a:off x="9025128" y="4119372"/>
            <a:ext cx="672998" cy="228600"/>
          </a:xfrm>
          <a:prstGeom prst="roundRect">
            <a:avLst>
              <a:gd fmla="val 48000" name="adj"/>
            </a:avLst>
          </a:prstGeom>
          <a:solidFill>
            <a:srgbClr val="1367E8"/>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5" name="Google Shape;185;h473429a1d00369bc_4_0"/>
          <p:cNvSpPr txBox="1"/>
          <p:nvPr/>
        </p:nvSpPr>
        <p:spPr>
          <a:xfrm>
            <a:off x="9025128" y="4119372"/>
            <a:ext cx="672998" cy="2286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FFFFFF"/>
              </a:buClr>
              <a:buSzPts val="850"/>
              <a:buFont typeface="Calibri"/>
              <a:buNone/>
            </a:pPr>
            <a:r>
              <a:rPr b="1" i="0" lang="en-US" sz="850" u="none" cap="none" strike="noStrike">
                <a:solidFill>
                  <a:srgbClr val="FFFFFF"/>
                </a:solidFill>
                <a:latin typeface="Calibri"/>
                <a:ea typeface="Calibri"/>
                <a:cs typeface="Calibri"/>
                <a:sym typeface="Calibri"/>
              </a:rPr>
              <a:t>PURPOSE</a:t>
            </a:r>
            <a:endParaRPr b="0" i="0" sz="850" u="none" cap="none" strike="noStrike">
              <a:solidFill>
                <a:schemeClr val="dk1"/>
              </a:solidFill>
              <a:latin typeface="Calibri"/>
              <a:ea typeface="Calibri"/>
              <a:cs typeface="Calibri"/>
              <a:sym typeface="Calibri"/>
            </a:endParaRPr>
          </a:p>
        </p:txBody>
      </p:sp>
      <p:sp>
        <p:nvSpPr>
          <p:cNvPr id="186" name="Google Shape;186;h473429a1d00369bc_4_0"/>
          <p:cNvSpPr txBox="1"/>
          <p:nvPr/>
        </p:nvSpPr>
        <p:spPr>
          <a:xfrm>
            <a:off x="8513064" y="4535424"/>
            <a:ext cx="3264408" cy="274320"/>
          </a:xfrm>
          <a:prstGeom prst="rect">
            <a:avLst/>
          </a:prstGeom>
          <a:noFill/>
          <a:ln>
            <a:noFill/>
          </a:ln>
        </p:spPr>
        <p:txBody>
          <a:bodyPr anchorCtr="0" anchor="t" bIns="0" lIns="0" spcFirstLastPara="1" rIns="0" wrap="square" tIns="0">
            <a:noAutofit/>
          </a:bodyPr>
          <a:lstStyle/>
          <a:p>
            <a:pPr indent="0" lvl="0" marL="0" marR="0" rtl="0" algn="l">
              <a:lnSpc>
                <a:spcPct val="125925"/>
              </a:lnSpc>
              <a:spcBef>
                <a:spcPts val="0"/>
              </a:spcBef>
              <a:spcAft>
                <a:spcPts val="0"/>
              </a:spcAft>
              <a:buClr>
                <a:srgbClr val="0F2B5B"/>
              </a:buClr>
              <a:buSzPts val="1350"/>
              <a:buFont typeface="Arial"/>
              <a:buNone/>
            </a:pPr>
            <a:r>
              <a:rPr b="1" i="0" lang="en-US" sz="1350" u="none" cap="none" strike="noStrike">
                <a:solidFill>
                  <a:srgbClr val="0F2B5B"/>
                </a:solidFill>
                <a:latin typeface="Arial"/>
                <a:ea typeface="Arial"/>
                <a:cs typeface="Arial"/>
                <a:sym typeface="Arial"/>
              </a:rPr>
              <a:t>Why Pay for the Degree?</a:t>
            </a:r>
            <a:endParaRPr b="0" i="0" sz="1350" u="none" cap="none" strike="noStrike">
              <a:solidFill>
                <a:schemeClr val="dk1"/>
              </a:solidFill>
              <a:latin typeface="Calibri"/>
              <a:ea typeface="Calibri"/>
              <a:cs typeface="Calibri"/>
              <a:sym typeface="Calibri"/>
            </a:endParaRPr>
          </a:p>
        </p:txBody>
      </p:sp>
      <p:sp>
        <p:nvSpPr>
          <p:cNvPr id="187" name="Google Shape;187;h473429a1d00369bc_4_0"/>
          <p:cNvSpPr txBox="1"/>
          <p:nvPr/>
        </p:nvSpPr>
        <p:spPr>
          <a:xfrm>
            <a:off x="8513064" y="4864608"/>
            <a:ext cx="3264408" cy="603504"/>
          </a:xfrm>
          <a:prstGeom prst="rect">
            <a:avLst/>
          </a:prstGeom>
          <a:noFill/>
          <a:ln>
            <a:noFill/>
          </a:ln>
        </p:spPr>
        <p:txBody>
          <a:bodyPr anchorCtr="0" anchor="t" bIns="0" lIns="0" spcFirstLastPara="1" rIns="0" wrap="square" tIns="0">
            <a:noAutofit/>
          </a:bodyPr>
          <a:lstStyle/>
          <a:p>
            <a:pPr indent="0" lvl="0" marL="0" marR="0" rtl="0" algn="l">
              <a:lnSpc>
                <a:spcPct val="112000"/>
              </a:lnSpc>
              <a:spcBef>
                <a:spcPts val="0"/>
              </a:spcBef>
              <a:spcAft>
                <a:spcPts val="0"/>
              </a:spcAft>
              <a:buClr>
                <a:srgbClr val="1367E8"/>
              </a:buClr>
              <a:buSzPts val="1000"/>
              <a:buFont typeface="Calibri"/>
              <a:buNone/>
            </a:pPr>
            <a:r>
              <a:rPr b="1" i="0" lang="en-US" sz="1000" u="none" cap="none" strike="noStrike">
                <a:solidFill>
                  <a:srgbClr val="1367E8"/>
                </a:solidFill>
                <a:latin typeface="Calibri"/>
                <a:ea typeface="Calibri"/>
                <a:cs typeface="Calibri"/>
                <a:sym typeface="Calibri"/>
              </a:rPr>
              <a:t>Problem: </a:t>
            </a:r>
            <a:r>
              <a:rPr b="0" i="0" lang="en-US" sz="1000" u="none" cap="none" strike="noStrike">
                <a:solidFill>
                  <a:srgbClr val="3A4A5F"/>
                </a:solidFill>
                <a:latin typeface="Calibri"/>
                <a:ea typeface="Calibri"/>
                <a:cs typeface="Calibri"/>
                <a:sym typeface="Calibri"/>
              </a:rPr>
              <a:t>Palantir now hires straight out of high school, and 7 in 10 hiring managers weigh experience over a degree. Meanwhile, AI can teach much of the content for free.</a:t>
            </a:r>
            <a:endParaRPr b="0" i="0" sz="1000" u="none" cap="none" strike="noStrike">
              <a:solidFill>
                <a:schemeClr val="dk1"/>
              </a:solidFill>
              <a:latin typeface="Calibri"/>
              <a:ea typeface="Calibri"/>
              <a:cs typeface="Calibri"/>
              <a:sym typeface="Calibri"/>
            </a:endParaRPr>
          </a:p>
        </p:txBody>
      </p:sp>
      <p:sp>
        <p:nvSpPr>
          <p:cNvPr id="188" name="Google Shape;188;h473429a1d00369bc_4_0"/>
          <p:cNvSpPr txBox="1"/>
          <p:nvPr/>
        </p:nvSpPr>
        <p:spPr>
          <a:xfrm>
            <a:off x="8513064" y="5504688"/>
            <a:ext cx="3264408" cy="457200"/>
          </a:xfrm>
          <a:prstGeom prst="rect">
            <a:avLst/>
          </a:prstGeom>
          <a:noFill/>
          <a:ln>
            <a:noFill/>
          </a:ln>
        </p:spPr>
        <p:txBody>
          <a:bodyPr anchorCtr="0" anchor="t" bIns="0" lIns="0" spcFirstLastPara="1" rIns="0" wrap="square" tIns="0">
            <a:noAutofit/>
          </a:bodyPr>
          <a:lstStyle/>
          <a:p>
            <a:pPr indent="0" lvl="0" marL="0" marR="0" rtl="0" algn="l">
              <a:lnSpc>
                <a:spcPct val="112000"/>
              </a:lnSpc>
              <a:spcBef>
                <a:spcPts val="0"/>
              </a:spcBef>
              <a:spcAft>
                <a:spcPts val="0"/>
              </a:spcAft>
              <a:buClr>
                <a:srgbClr val="1367E8"/>
              </a:buClr>
              <a:buSzPts val="1000"/>
              <a:buFont typeface="Calibri"/>
              <a:buNone/>
            </a:pPr>
            <a:r>
              <a:rPr b="1" i="0" lang="en-US" sz="1000" u="none" cap="none" strike="noStrike">
                <a:solidFill>
                  <a:srgbClr val="1367E8"/>
                </a:solidFill>
                <a:latin typeface="Calibri"/>
                <a:ea typeface="Calibri"/>
                <a:cs typeface="Calibri"/>
                <a:sym typeface="Calibri"/>
              </a:rPr>
              <a:t>Opportunity: </a:t>
            </a:r>
            <a:r>
              <a:rPr b="0" i="0" lang="en-US" sz="1000" u="none" cap="none" strike="noStrike">
                <a:solidFill>
                  <a:srgbClr val="3A4A5F"/>
                </a:solidFill>
                <a:latin typeface="Calibri"/>
                <a:ea typeface="Calibri"/>
                <a:cs typeface="Calibri"/>
                <a:sym typeface="Calibri"/>
              </a:rPr>
              <a:t>How might college offer value students can’t get from a job, an apprenticeship or an AI tutor?</a:t>
            </a:r>
            <a:endParaRPr b="0" i="0" sz="1000" u="none" cap="none" strike="noStrike">
              <a:solidFill>
                <a:schemeClr val="dk1"/>
              </a:solidFill>
              <a:latin typeface="Calibri"/>
              <a:ea typeface="Calibri"/>
              <a:cs typeface="Calibri"/>
              <a:sym typeface="Calibri"/>
            </a:endParaRPr>
          </a:p>
        </p:txBody>
      </p:sp>
      <p:cxnSp>
        <p:nvCxnSpPr>
          <p:cNvPr id="189" name="Google Shape;189;h473429a1d00369bc_4_0"/>
          <p:cNvCxnSpPr/>
          <p:nvPr/>
        </p:nvCxnSpPr>
        <p:spPr>
          <a:xfrm>
            <a:off x="822960" y="6181344"/>
            <a:ext cx="10241280" cy="9144"/>
          </a:xfrm>
          <a:prstGeom prst="straightConnector1">
            <a:avLst/>
          </a:prstGeom>
          <a:noFill/>
          <a:ln cap="flat" cmpd="sng" w="25400">
            <a:solidFill>
              <a:srgbClr val="C3D6EF"/>
            </a:solidFill>
            <a:prstDash val="solid"/>
            <a:round/>
            <a:headEnd len="sm" w="sm" type="none"/>
            <a:tailEnd len="med" w="med" type="triangle"/>
          </a:ln>
        </p:spPr>
      </p:cxnSp>
      <p:sp>
        <p:nvSpPr>
          <p:cNvPr id="190" name="Google Shape;190;h473429a1d00369bc_4_0"/>
          <p:cNvSpPr txBox="1"/>
          <p:nvPr/>
        </p:nvSpPr>
        <p:spPr>
          <a:xfrm>
            <a:off x="411480" y="6245352"/>
            <a:ext cx="1828800" cy="201168"/>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6E7F96"/>
              </a:buClr>
              <a:buSzPts val="950"/>
              <a:buFont typeface="Arial"/>
              <a:buNone/>
            </a:pPr>
            <a:r>
              <a:rPr b="1" i="0" lang="en-US" sz="950" u="none" cap="none" strike="noStrike">
                <a:solidFill>
                  <a:srgbClr val="6E7F96"/>
                </a:solidFill>
                <a:latin typeface="Arial"/>
                <a:ea typeface="Arial"/>
                <a:cs typeface="Arial"/>
                <a:sym typeface="Arial"/>
              </a:rPr>
              <a:t>EASIER</a:t>
            </a:r>
            <a:endParaRPr b="0" i="0" sz="950" u="none" cap="none" strike="noStrike">
              <a:solidFill>
                <a:schemeClr val="dk1"/>
              </a:solidFill>
              <a:latin typeface="Calibri"/>
              <a:ea typeface="Calibri"/>
              <a:cs typeface="Calibri"/>
              <a:sym typeface="Calibri"/>
            </a:endParaRPr>
          </a:p>
        </p:txBody>
      </p:sp>
      <p:sp>
        <p:nvSpPr>
          <p:cNvPr id="191" name="Google Shape;191;h473429a1d00369bc_4_0"/>
          <p:cNvSpPr txBox="1"/>
          <p:nvPr/>
        </p:nvSpPr>
        <p:spPr>
          <a:xfrm>
            <a:off x="7863840" y="6245352"/>
            <a:ext cx="3474720" cy="201168"/>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6E7F96"/>
              </a:buClr>
              <a:buSzPts val="950"/>
              <a:buFont typeface="Arial"/>
              <a:buNone/>
            </a:pPr>
            <a:r>
              <a:rPr b="1" i="0" lang="en-US" sz="950" u="none" cap="none" strike="noStrike">
                <a:solidFill>
                  <a:srgbClr val="6E7F96"/>
                </a:solidFill>
                <a:latin typeface="Arial"/>
                <a:ea typeface="Arial"/>
                <a:cs typeface="Arial"/>
                <a:sym typeface="Arial"/>
              </a:rPr>
              <a:t>HARDER, BUT MORE VALUABLE</a:t>
            </a:r>
            <a:endParaRPr b="0" i="0" sz="950" u="none" cap="none" strike="noStrike">
              <a:solidFill>
                <a:schemeClr val="dk1"/>
              </a:solidFill>
              <a:latin typeface="Calibri"/>
              <a:ea typeface="Calibri"/>
              <a:cs typeface="Calibri"/>
              <a:sym typeface="Calibri"/>
            </a:endParaRPr>
          </a:p>
        </p:txBody>
      </p:sp>
      <p:sp>
        <p:nvSpPr>
          <p:cNvPr id="192" name="Google Shape;192;h473429a1d00369bc_4_0"/>
          <p:cNvSpPr txBox="1"/>
          <p:nvPr/>
        </p:nvSpPr>
        <p:spPr>
          <a:xfrm>
            <a:off x="411480" y="6492240"/>
            <a:ext cx="10058400" cy="2286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367E8"/>
              </a:buClr>
              <a:buSzPts val="1050"/>
              <a:buFont typeface="Calibri"/>
              <a:buNone/>
            </a:pPr>
            <a:r>
              <a:rPr b="0" i="0" lang="en-US" sz="900" u="none" cap="none" strike="noStrike">
                <a:solidFill>
                  <a:srgbClr val="6E7F96"/>
                </a:solidFill>
                <a:latin typeface="Calibri"/>
                <a:ea typeface="Calibri"/>
                <a:cs typeface="Calibri"/>
                <a:sym typeface="Calibri"/>
              </a:rPr>
              <a:t>Sources: Digital Education Council 2026; WEF Future of Jobs 2025; Harvard grade report (2025); Brynjolfsson et al., Stanford (2025); Fortune (Nov. 2025); Resume Templates hiring survey (2025).</a:t>
            </a:r>
            <a:endParaRPr b="0" i="0" sz="1050" u="none" cap="none" strike="noStrike">
              <a:solidFill>
                <a:schemeClr val="dk1"/>
              </a:solidFill>
              <a:latin typeface="Calibri"/>
              <a:ea typeface="Calibri"/>
              <a:cs typeface="Calibri"/>
              <a:sym typeface="Calibri"/>
            </a:endParaRPr>
          </a:p>
        </p:txBody>
      </p:sp>
      <p:sp>
        <p:nvSpPr>
          <p:cNvPr id="193" name="Google Shape;193;h473429a1d00369bc_4_0"/>
          <p:cNvSpPr txBox="1"/>
          <p:nvPr/>
        </p:nvSpPr>
        <p:spPr>
          <a:xfrm>
            <a:off x="11658600" y="6446520"/>
            <a:ext cx="320040" cy="27432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Clr>
                <a:srgbClr val="6E7F96"/>
              </a:buClr>
              <a:buSzPts val="1100"/>
              <a:buFont typeface="Calibri"/>
              <a:buNone/>
            </a:pPr>
            <a:r>
              <a:rPr b="0" i="0" lang="en-US" sz="1100" u="none" cap="none" strike="noStrike">
                <a:solidFill>
                  <a:srgbClr val="6E7F96"/>
                </a:solidFill>
                <a:latin typeface="Calibri"/>
                <a:ea typeface="Calibri"/>
                <a:cs typeface="Calibri"/>
                <a:sym typeface="Calibri"/>
              </a:rPr>
              <a:t>4</a:t>
            </a:r>
            <a:endParaRPr b="0" i="0" sz="1100" u="none" cap="none" strike="noStrike">
              <a:solidFill>
                <a:schemeClr val="dk1"/>
              </a:solidFill>
              <a:latin typeface="Calibri"/>
              <a:ea typeface="Calibri"/>
              <a:cs typeface="Calibri"/>
              <a:sym typeface="Calibri"/>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2026-10-04T19:17:39Z</dcterms:created>
  <dc:creator>PptxGenJS</dc:creator>
</cp:coreProperties>
</file>