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h7AqId1iyE5ltuvuoX7zx0zwJQ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1: Cover</a:t>
            </a:r>
            <a:br>
              <a:rPr lang="en-US"/>
            </a:br>
            <a:br>
              <a:rPr lang="en-US"/>
            </a:br>
            <a:r>
              <a:rPr lang="en-US"/>
              <a:t>What this slide is doing:</a:t>
            </a:r>
            <a:br>
              <a:rPr lang="en-US"/>
            </a:br>
            <a:r>
              <a:rPr lang="en-US"/>
              <a:t>- Introduces the domain: automated last-mile delivery / instant fulfillment.</a:t>
            </a:r>
            <a:br>
              <a:rPr lang="en-US"/>
            </a:br>
            <a:r>
              <a:rPr lang="en-US"/>
              <a:t>- Frames the project as a future-oriented exploration, not just a summary of today's delivery apps.</a:t>
            </a:r>
            <a:br>
              <a:rPr lang="en-US"/>
            </a:br>
            <a:r>
              <a:rPr lang="en-US"/>
              <a:t>- Signals that the analysis method is "Trending to the Absurd" — we will push a real trend into an extreme future to discover new opportunity spaces.</a:t>
            </a:r>
            <a:br>
              <a:rPr lang="en-US"/>
            </a:br>
            <a:br>
              <a:rPr lang="en-US"/>
            </a:br>
            <a:r>
              <a:rPr lang="en-US"/>
              <a:t>Core idea to understand:</a:t>
            </a:r>
            <a:br>
              <a:rPr lang="en-US"/>
            </a:br>
            <a:r>
              <a:rPr lang="en-US"/>
              <a:t>- The topic is not simply "how to deliver faster."</a:t>
            </a:r>
            <a:br>
              <a:rPr lang="en-US"/>
            </a:br>
            <a:r>
              <a:rPr lang="en-US"/>
              <a:t>- The deeper question is what happens to cities, ownership, infrastructure, and everyday behavior if near-instant physical access becomes normal.</a:t>
            </a:r>
            <a:br>
              <a:rPr lang="en-US"/>
            </a:br>
            <a:r>
              <a:rPr lang="en-US"/>
              <a:t>- In that world, delivery starts to look less like a convenience feature and more like city infrastructure.</a:t>
            </a:r>
            <a:br>
              <a:rPr lang="en-US"/>
            </a:br>
            <a:br>
              <a:rPr lang="en-US"/>
            </a:br>
            <a:r>
              <a:rPr lang="en-US"/>
              <a:t>Why this domain matters:</a:t>
            </a:r>
            <a:br>
              <a:rPr lang="en-US"/>
            </a:br>
            <a:r>
              <a:rPr lang="en-US"/>
              <a:t>- It sits at the intersection of e-commerce, smart cities, automation, logistics, and consumer behavior.</a:t>
            </a:r>
            <a:br>
              <a:rPr lang="en-US"/>
            </a:br>
            <a:r>
              <a:rPr lang="en-US"/>
              <a:t>- It is real today: companies are already investing in same-day delivery, micro-fulfillment, drones, and delivery robotics.</a:t>
            </a:r>
            <a:br>
              <a:rPr lang="en-US"/>
            </a:br>
            <a:r>
              <a:rPr lang="en-US"/>
              <a:t>- It is useful for this assignment because a strong present-day trend can be pushed into a surprising future.</a:t>
            </a:r>
            <a:br>
              <a:rPr lang="en-US"/>
            </a:br>
            <a:br>
              <a:rPr lang="en-US"/>
            </a:br>
            <a:r>
              <a:rPr lang="en-US"/>
              <a:t>Transition:</a:t>
            </a:r>
            <a:br>
              <a:rPr lang="en-US"/>
            </a:br>
            <a:r>
              <a:rPr lang="en-US"/>
              <a:t>- The next slide proves that this domain is not speculative hype by showing real background data, platform milestones, and adoption signals.</a:t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" name="Google Shape;1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2: Domain + Relevant Data</a:t>
            </a:r>
            <a:br>
              <a:rPr lang="en-US"/>
            </a:br>
            <a:br>
              <a:rPr lang="en-US"/>
            </a:br>
            <a:r>
              <a:rPr lang="en-US"/>
              <a:t>Intro to domain: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Quick commerce is the delivery of groceries, meals and convenience items in roughly 10-30 minutes.</a:t>
            </a:r>
            <a:br>
              <a:rPr lang="en-US"/>
            </a:br>
            <a:r>
              <a:rPr lang="en-US"/>
              <a:t>- it is already a real and growing domain, not just a thought experiment.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infrastructure and tools for quick </a:t>
            </a:r>
            <a:r>
              <a:rPr lang="en-US"/>
              <a:t>commerce</a:t>
            </a:r>
            <a:r>
              <a:rPr lang="en-US"/>
              <a:t> are hyperlocal inventory, micro-fulfillment, and demand </a:t>
            </a:r>
            <a:r>
              <a:rPr lang="en-US"/>
              <a:t>forecasting</a:t>
            </a:r>
            <a:r>
              <a:rPr lang="en-US"/>
              <a:t> and routing algorithms.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- the hardest problem for quick </a:t>
            </a:r>
            <a:r>
              <a:rPr lang="en-US"/>
              <a:t>commerce</a:t>
            </a:r>
            <a:r>
              <a:rPr lang="en-US"/>
              <a:t> is not the delivery, but the system: having the best inventory placement, forecasting, and routing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How to read the chart:</a:t>
            </a:r>
            <a:br>
              <a:rPr lang="en-US"/>
            </a:br>
            <a:r>
              <a:rPr lang="en-US"/>
              <a:t>- The chart shows U.S. retail e-commerce sales (adjusted, Q2) rising from about $205.3B in Q2 2020 to $340.2B in Q2 2026.</a:t>
            </a:r>
            <a:br>
              <a:rPr lang="en-US"/>
            </a:br>
            <a:r>
              <a:rPr lang="en-US"/>
              <a:t>- This does not mean every dollar is quick-commerce spending; it shows the broader digital-commerce environment that supports demand for faster fulfillment. (the process of delivering a customer’s order)</a:t>
            </a:r>
            <a:br>
              <a:rPr lang="en-US"/>
            </a:br>
            <a:r>
              <a:rPr lang="en-US"/>
              <a:t>- The main takeaway is that digital purchasing behavior is large, stable, and still growing.</a:t>
            </a:r>
            <a:br>
              <a:rPr lang="en-US"/>
            </a:br>
            <a:br>
              <a:rPr lang="en-US"/>
            </a:br>
            <a:r>
              <a:rPr lang="en-US"/>
              <a:t>Why the metric cards matter:</a:t>
            </a:r>
            <a:br>
              <a:rPr lang="en-US"/>
            </a:br>
            <a:r>
              <a:rPr lang="en-US"/>
              <a:t>- Census: retail e-commerce sales are $340.2B in Q2 2026, which is 17.1% of total retail sales. This shows the size of the online market.</a:t>
            </a:r>
            <a:br>
              <a:rPr lang="en-US"/>
            </a:br>
            <a:r>
              <a:rPr lang="en-US"/>
              <a:t>- Amazon: over 8 billion same- or next-day items in the U.S. in 2025 shows that very fast fulfillment is becoming normalized at scale.</a:t>
            </a:r>
            <a:br>
              <a:rPr lang="en-US"/>
            </a:br>
            <a:r>
              <a:rPr lang="en-US"/>
              <a:t>- Walmart: 1 million+ drone deliveries and a 23-minute average delivery time show that autonomous delivery is moving beyond pilots.</a:t>
            </a:r>
            <a:br>
              <a:rPr lang="en-US"/>
            </a:br>
            <a:r>
              <a:rPr lang="en-US"/>
              <a:t>- DoorDash: got an FAA Part 135 certification for DoorDash Air (drone delivery). This shows regulatory progress, not just technical possibility.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/>
            </a:br>
            <a:r>
              <a:rPr lang="en-US"/>
              <a:t>Interpretation:</a:t>
            </a:r>
            <a:br>
              <a:rPr lang="en-US"/>
            </a:br>
            <a:r>
              <a:rPr lang="en-US"/>
              <a:t>- Together, these data points suggest that ultra-fast delivery is evolving from a premium feature into a serious layer of urban infrastructure.</a:t>
            </a:r>
            <a:br>
              <a:rPr lang="en-US"/>
            </a:br>
            <a:r>
              <a:rPr lang="en-US"/>
              <a:t>- That is exactly the kind of trend that can be pushed "to the absurd" for opportunity discovery.</a:t>
            </a:r>
            <a:br>
              <a:rPr lang="en-US"/>
            </a:br>
            <a:br>
              <a:rPr lang="en-US"/>
            </a:br>
            <a:r>
              <a:rPr lang="en-US"/>
              <a:t>Suggested transition:</a:t>
            </a:r>
            <a:br>
              <a:rPr lang="en-US"/>
            </a:br>
            <a:r>
              <a:rPr lang="en-US"/>
              <a:t>- If these signals continue, what would the world look like when almost anything physical can reach you in 10 minutes?</a:t>
            </a:r>
            <a:endParaRPr/>
          </a:p>
        </p:txBody>
      </p:sp>
      <p:sp>
        <p:nvSpPr>
          <p:cNvPr id="20" name="Google Shape;2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3: Analysis — Trending to the Absurd</a:t>
            </a:r>
            <a:br>
              <a:rPr lang="en-US"/>
            </a:br>
            <a:br>
              <a:rPr lang="en-US"/>
            </a:br>
            <a:r>
              <a:rPr lang="en-US"/>
              <a:t>What method we are using:</a:t>
            </a:r>
            <a:br>
              <a:rPr lang="en-US"/>
            </a:br>
            <a:r>
              <a:rPr lang="en-US"/>
              <a:t>- "Trending to the Absurd" starts with a real trend, extends it far beyond today, and uses the discontinuities to expose hidden assumptions and new problems.</a:t>
            </a:r>
            <a:br>
              <a:rPr lang="en-US"/>
            </a:br>
            <a:r>
              <a:rPr lang="en-US"/>
              <a:t>- The point is not to predict exactly what will happen; the point is to generate a more interesting opportunity space.</a:t>
            </a:r>
            <a:br>
              <a:rPr lang="en-US"/>
            </a:br>
            <a:br>
              <a:rPr lang="en-US"/>
            </a:br>
            <a:r>
              <a:rPr lang="en-US"/>
              <a:t>Current signals:</a:t>
            </a:r>
            <a:br>
              <a:rPr lang="en-US"/>
            </a:br>
            <a:r>
              <a:rPr lang="en-US"/>
              <a:t>- Online spending continues to grow.</a:t>
            </a:r>
            <a:br>
              <a:rPr lang="en-US"/>
            </a:br>
            <a:r>
              <a:rPr lang="en-US"/>
              <a:t>- Consumers are increasingly trained to expect convenience, immediacy, and low friction.</a:t>
            </a:r>
            <a:br>
              <a:rPr lang="en-US"/>
            </a:br>
            <a:r>
              <a:rPr lang="en-US"/>
              <a:t>- Micro-fulfillment (small-scale local warehouse), robotics, drones, and prediction systems all reduce response time.</a:t>
            </a:r>
            <a:br>
              <a:rPr lang="en-US"/>
            </a:br>
            <a:r>
              <a:rPr lang="en-US"/>
              <a:t>- These signals justify taking the trend seriously.</a:t>
            </a:r>
            <a:br>
              <a:rPr lang="en-US"/>
            </a:br>
            <a:br>
              <a:rPr lang="en-US"/>
            </a:br>
            <a:r>
              <a:rPr lang="en-US"/>
              <a:t>What the absurd future means:</a:t>
            </a:r>
            <a:br>
              <a:rPr lang="en-US"/>
            </a:br>
            <a:r>
              <a:rPr lang="en-US"/>
              <a:t>- The central future statement is: anything physical can appear wherever you are within 10 minutes.</a:t>
            </a:r>
            <a:br>
              <a:rPr lang="en-US"/>
            </a:br>
            <a:r>
              <a:rPr lang="en-US"/>
              <a:t>- In this world, ownership may matter less than access.</a:t>
            </a:r>
            <a:br>
              <a:rPr lang="en-US"/>
            </a:br>
            <a:r>
              <a:rPr lang="en-US"/>
              <a:t>- Goods may begin moving before explicit orders are placed, because the system predicts demand.</a:t>
            </a:r>
            <a:br>
              <a:rPr lang="en-US"/>
            </a:br>
            <a:r>
              <a:rPr lang="en-US"/>
              <a:t>- Homes, curbs, rooftops, and sidewalks become part of the logistics network.</a:t>
            </a:r>
            <a:br>
              <a:rPr lang="en-US"/>
            </a:br>
            <a:r>
              <a:rPr lang="en-US"/>
              <a:t>- The neighborhood starts functioning like a distributed warehouse (spread inventory across different locations).</a:t>
            </a:r>
            <a:br>
              <a:rPr lang="en-US"/>
            </a:br>
            <a:br>
              <a:rPr lang="en-US"/>
            </a:br>
            <a:r>
              <a:rPr lang="en-US"/>
              <a:t>Why the "what breaks?" column matters:</a:t>
            </a:r>
            <a:br>
              <a:rPr lang="en-US"/>
            </a:br>
            <a:r>
              <a:rPr lang="en-US"/>
              <a:t>- Trust and safety: faster movement and delivery speed makes screening harder.</a:t>
            </a:r>
            <a:br>
              <a:rPr lang="en-US"/>
            </a:br>
            <a:r>
              <a:rPr lang="en-US"/>
              <a:t>- Public-space congestion: airspace and curb space become contested resources.</a:t>
            </a:r>
            <a:br>
              <a:rPr lang="en-US"/>
            </a:br>
            <a:r>
              <a:rPr lang="en-US"/>
              <a:t>- Waste and reverse logistics: convenience creates more packaging unless reverse flows improve.</a:t>
            </a:r>
            <a:br>
              <a:rPr lang="en-US"/>
            </a:br>
            <a:r>
              <a:rPr lang="en-US"/>
              <a:t>- Inequality: premium infrastructure may concentrate in wealthy areas.</a:t>
            </a:r>
            <a:br>
              <a:rPr lang="en-US"/>
            </a:br>
            <a:r>
              <a:rPr lang="en-US"/>
              <a:t>- Labor transition: some human delivery jobs may change or disappear.</a:t>
            </a:r>
            <a:br>
              <a:rPr lang="en-US"/>
            </a:br>
            <a:br>
              <a:rPr lang="en-US"/>
            </a:br>
            <a:r>
              <a:rPr lang="en-US"/>
              <a:t>Main insight:</a:t>
            </a:r>
            <a:br>
              <a:rPr lang="en-US"/>
            </a:br>
            <a:r>
              <a:rPr lang="en-US"/>
              <a:t>- The interesting opportunities are not only about moving packages faster.</a:t>
            </a:r>
            <a:br>
              <a:rPr lang="en-US"/>
            </a:br>
            <a:r>
              <a:rPr lang="en-US"/>
              <a:t>- They are about the new governance, infrastructure, and service layers required by this future.</a:t>
            </a:r>
            <a:endParaRPr/>
          </a:p>
        </p:txBody>
      </p:sp>
      <p:sp>
        <p:nvSpPr>
          <p:cNvPr id="26" name="Google Shape;26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" name="Google Shape;3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Slide 4: Opportunities</a:t>
            </a:r>
            <a:br>
              <a:rPr lang="en-US"/>
            </a:br>
            <a:br>
              <a:rPr lang="en-US"/>
            </a:br>
            <a:r>
              <a:rPr lang="en-US"/>
              <a:t>What this slide is doing: </a:t>
            </a:r>
            <a:br>
              <a:rPr lang="en-US"/>
            </a:br>
            <a:r>
              <a:rPr lang="en-US"/>
              <a:t>- This is not a list of final products.</a:t>
            </a:r>
            <a:br>
              <a:rPr lang="en-US"/>
            </a:br>
            <a:r>
              <a:rPr lang="en-US"/>
              <a:t>- It identifies problem spaces that become important if near-instant physical access becomes normal.</a:t>
            </a:r>
            <a:br>
              <a:rPr lang="en-US"/>
            </a:br>
            <a:r>
              <a:rPr lang="en-US"/>
              <a:t>- Each opportunity is framed to satisfy the course logic: real, important, and at least somewhat addressable.</a:t>
            </a:r>
            <a:br>
              <a:rPr lang="en-US"/>
            </a:br>
            <a:br>
              <a:rPr lang="en-US"/>
            </a:br>
            <a:r>
              <a:rPr lang="en-US"/>
              <a:t>Opportunity 1 — Logistics Real Estate Exchange:</a:t>
            </a:r>
            <a:br>
              <a:rPr lang="en-US"/>
            </a:br>
            <a:r>
              <a:rPr lang="en-US"/>
              <a:t>- If drones, lockers, and instant drop-offs become common, curb space, rooftops, skylanes, and access points become scarce urban assets.</a:t>
            </a:r>
            <a:br>
              <a:rPr lang="en-US"/>
            </a:br>
            <a:r>
              <a:rPr lang="en-US"/>
              <a:t>- A city may need systems for reserving, pricing, and governing these spaces.</a:t>
            </a:r>
            <a:br>
              <a:rPr lang="en-US"/>
            </a:br>
            <a:r>
              <a:rPr lang="en-US"/>
              <a:t>- This turns physical access into a new kind of market infrastructure.</a:t>
            </a:r>
            <a:br>
              <a:rPr lang="en-US"/>
            </a:br>
            <a:br>
              <a:rPr lang="en-US"/>
            </a:br>
            <a:r>
              <a:rPr lang="en-US"/>
              <a:t>Opportunity 2 — Trust + Verification Layer:</a:t>
            </a:r>
            <a:br>
              <a:rPr lang="en-US"/>
            </a:br>
            <a:r>
              <a:rPr lang="en-US"/>
              <a:t>- The faster goods move, the less time there is for human checking.</a:t>
            </a:r>
            <a:br>
              <a:rPr lang="en-US"/>
            </a:br>
            <a:r>
              <a:rPr lang="en-US"/>
              <a:t>- That creates demand for authentication, chain-of-custody tracking (in delivery process, record </a:t>
            </a:r>
            <a:r>
              <a:rPr lang="en-US"/>
              <a:t>each point of transfer</a:t>
            </a:r>
            <a:r>
              <a:rPr lang="en-US"/>
              <a:t> for a product), age verification, and fraud detection.</a:t>
            </a:r>
            <a:br>
              <a:rPr lang="en-US"/>
            </a:br>
            <a:r>
              <a:rPr lang="en-US"/>
              <a:t>- Trust becomes a bottleneck for scaling up rapid delivery systems.</a:t>
            </a:r>
            <a:br>
              <a:rPr lang="en-US"/>
            </a:br>
            <a:br>
              <a:rPr lang="en-US"/>
            </a:br>
            <a:r>
              <a:rPr lang="en-US"/>
              <a:t>Opportunity 3 — Reusable Packaging + Reverse Logistics:</a:t>
            </a:r>
            <a:br>
              <a:rPr lang="en-US"/>
            </a:br>
            <a:r>
              <a:rPr lang="en-US"/>
              <a:t>- Ultra-fast delivery can dramatically increase packaging waste.</a:t>
            </a:r>
            <a:br>
              <a:rPr lang="en-US"/>
            </a:br>
            <a:r>
              <a:rPr lang="en-US"/>
              <a:t>- Reusable containers, deposit systems, pickup scheduling, and cleaning networks become valuable support layers.</a:t>
            </a:r>
            <a:br>
              <a:rPr lang="en-US"/>
            </a:br>
            <a:r>
              <a:rPr lang="en-US"/>
              <a:t>- Convenience without circularity is environmentally expensive.</a:t>
            </a:r>
            <a:br>
              <a:rPr lang="en-US"/>
            </a:br>
            <a:br>
              <a:rPr lang="en-US"/>
            </a:br>
            <a:r>
              <a:rPr lang="en-US"/>
              <a:t>Opportunity 4 — Peer-to-Peer Neighborhood Fulfillment:</a:t>
            </a:r>
            <a:br>
              <a:rPr lang="en-US"/>
            </a:br>
            <a:r>
              <a:rPr lang="en-US"/>
              <a:t>- If access matters more than ownership, neighborhoods may become local exchange networks.</a:t>
            </a:r>
            <a:br>
              <a:rPr lang="en-US"/>
            </a:br>
            <a:r>
              <a:rPr lang="en-US"/>
              <a:t>- Secure handoff points and person-to-person delivery could make underused household items much easier to share, lend, or rent.</a:t>
            </a:r>
            <a:br>
              <a:rPr lang="en-US"/>
            </a:br>
            <a:r>
              <a:rPr lang="en-US"/>
              <a:t>- This could shift some fulfillment from B2C (biz to consumer) toward C2C (consumer to consumer) or community-level infrastructure.</a:t>
            </a:r>
            <a:br>
              <a:rPr lang="en-US"/>
            </a:br>
            <a:br>
              <a:rPr lang="en-US"/>
            </a:br>
            <a:r>
              <a:rPr lang="en-US"/>
              <a:t>Closing interpretation:</a:t>
            </a:r>
            <a:br>
              <a:rPr lang="en-US"/>
            </a:br>
            <a:r>
              <a:rPr lang="en-US"/>
              <a:t>- The best opportunities here are not just faster-delivery businesses.</a:t>
            </a:r>
            <a:br>
              <a:rPr lang="en-US"/>
            </a:br>
            <a:r>
              <a:rPr lang="en-US"/>
              <a:t>- They are enabling layers for the future city: governance, trust, circular logistics, and new exchange systems.</a:t>
            </a:r>
            <a:endParaRPr/>
          </a:p>
        </p:txBody>
      </p:sp>
      <p:sp>
        <p:nvSpPr>
          <p:cNvPr id="32" name="Google Shape;3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a_wide_clean_modern_presentation_slide_with_a_fu_1.png" id="16" name="Google Shape;1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clean_corporate_presentation_slide_modern_b_2_batch_1.png" id="22" name="Google Shape;2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a_clean_modern_infographic_slide_layout_with_a_wh_3_batch_2.png" id="28" name="Google Shape;28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mnt/data/ghostwriter_images/generated/wide_clean_corporate_slide_infographic._overall_4_batch_3.png" id="34" name="Google Shape;3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2026-09-20T18:05:08Z</dcterms:created>
  <dc:creator>OpenAI</dc:creator>
</cp:coreProperties>
</file>