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Inter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7E5091-F802-4F16-9F39-751687227703}">
  <a:tblStyle styleId="{777E5091-F802-4F16-9F39-7516872277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nter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6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slide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slide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slide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slide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slide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slide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slide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slide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slide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slide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intelligentcio.com/me/2025/04/20/ai-fuels-hard-to-detect-bots-that-generate-half-of-internet-traffic-says-imperva/" TargetMode="External"/><Relationship Id="rId4" Type="http://schemas.openxmlformats.org/officeDocument/2006/relationships/hyperlink" Target="https://www.gartner.com/en/newsroom/press-releases/2025-08-26-gartner-predicts-40-percent-of-enterprise-apps-will-feature-task-specific-ai-agents-by-2026-up-from-less-than-5-percent-in-2025" TargetMode="External"/><Relationship Id="rId5" Type="http://schemas.openxmlformats.org/officeDocument/2006/relationships/hyperlink" Target="https://www.anthropic.com/news/donating-the-model-context-protocol-and-establishing-of-the-agentic-ai-foundation" TargetMode="External"/><Relationship Id="rId6" Type="http://schemas.openxmlformats.org/officeDocument/2006/relationships/hyperlink" Target="https://sdtimes.com/ai/googles-agent2agent-protocol-finds-new-home-at-the-linux-foundation/" TargetMode="External"/><Relationship Id="rId7" Type="http://schemas.openxmlformats.org/officeDocument/2006/relationships/hyperlink" Target="https://www.pymnts.com/artificial-intelligence-2/2025/google-unveils-a-payment-protocol-for-ai-driven-commerce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pymnts.com/artificial-intelligence-2/2025/google-unveils-a-payment-protocol-for-ai-driven-commerce/" TargetMode="External"/><Relationship Id="rId4" Type="http://schemas.openxmlformats.org/officeDocument/2006/relationships/hyperlink" Target="https://simonwillison.net/2025/Jun/5/openai-court-order/" TargetMode="External"/><Relationship Id="rId5" Type="http://schemas.openxmlformats.org/officeDocument/2006/relationships/hyperlink" Target="https://techcrunch.com/2025/07/21/72-of-u-s-teens-have-used-ai-companions-study-finds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81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48640" y="132588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A5B4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06265" y="1325885"/>
            <a:ext cx="4755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Communication</a:t>
            </a:r>
            <a:endParaRPr b="1" sz="4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94390" y="2292230"/>
            <a:ext cx="4480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C9D1D6"/>
                </a:solidFill>
                <a:latin typeface="Inter"/>
                <a:ea typeface="Inter"/>
                <a:cs typeface="Inter"/>
                <a:sym typeface="Inter"/>
              </a:rPr>
              <a:t>When AI agents talk to other AI agents, who checks what they say?</a:t>
            </a:r>
            <a:endParaRPr sz="2000">
              <a:solidFill>
                <a:srgbClr val="C9D1D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5623560" y="1828800"/>
            <a:ext cx="1097400" cy="1097400"/>
          </a:xfrm>
          <a:prstGeom prst="ellipse">
            <a:avLst/>
          </a:prstGeom>
          <a:solidFill>
            <a:srgbClr val="1F2530"/>
          </a:solidFill>
          <a:ln cap="flat" cmpd="sng" w="19050">
            <a:solidFill>
              <a:srgbClr val="A5B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Agent A</a:t>
            </a:r>
            <a:endParaRPr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7543800" y="1828800"/>
            <a:ext cx="1097400" cy="1097400"/>
          </a:xfrm>
          <a:prstGeom prst="ellipse">
            <a:avLst/>
          </a:prstGeom>
          <a:solidFill>
            <a:srgbClr val="1F2530"/>
          </a:solidFill>
          <a:ln cap="flat" cmpd="sng" w="19050">
            <a:solidFill>
              <a:srgbClr val="A5B4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Agent B</a:t>
            </a:r>
            <a:endParaRPr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9" name="Google Shape;59;p13"/>
          <p:cNvCxnSpPr/>
          <p:nvPr/>
        </p:nvCxnSpPr>
        <p:spPr>
          <a:xfrm>
            <a:off x="6812280" y="2103120"/>
            <a:ext cx="640200" cy="0"/>
          </a:xfrm>
          <a:prstGeom prst="straightConnector1">
            <a:avLst/>
          </a:prstGeom>
          <a:noFill/>
          <a:ln cap="flat" cmpd="sng" w="25400">
            <a:solidFill>
              <a:srgbClr val="A5B4F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" name="Google Shape;60;p13"/>
          <p:cNvCxnSpPr/>
          <p:nvPr/>
        </p:nvCxnSpPr>
        <p:spPr>
          <a:xfrm>
            <a:off x="6812280" y="2377440"/>
            <a:ext cx="640200" cy="0"/>
          </a:xfrm>
          <a:prstGeom prst="straightConnector1">
            <a:avLst/>
          </a:prstGeom>
          <a:noFill/>
          <a:ln cap="flat" cmpd="sng" w="25400">
            <a:solidFill>
              <a:srgbClr val="6B728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1" name="Google Shape;61;p13"/>
          <p:cNvCxnSpPr/>
          <p:nvPr/>
        </p:nvCxnSpPr>
        <p:spPr>
          <a:xfrm>
            <a:off x="6812280" y="2651760"/>
            <a:ext cx="640200" cy="0"/>
          </a:xfrm>
          <a:prstGeom prst="straightConnector1">
            <a:avLst/>
          </a:prstGeom>
          <a:noFill/>
          <a:ln cap="flat" cmpd="sng" w="25400">
            <a:solidFill>
              <a:srgbClr val="A5B4F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" name="Google Shape;62;p13"/>
          <p:cNvSpPr txBox="1"/>
          <p:nvPr/>
        </p:nvSpPr>
        <p:spPr>
          <a:xfrm>
            <a:off x="506275" y="3807275"/>
            <a:ext cx="475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Jonathan</a:t>
            </a:r>
            <a:r>
              <a:rPr lang="en-GB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Locala, Sophia Mai, Penn Riney, Sylvia Yam</a:t>
            </a:r>
            <a:endParaRPr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/>
        </p:nvSpPr>
        <p:spPr>
          <a:xfrm>
            <a:off x="457200" y="32004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Bots now make up most web traffic, and agents just got a shared language</a:t>
            </a:r>
            <a:endParaRPr b="1" sz="3000"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457200" y="1417320"/>
            <a:ext cx="2560200" cy="1600200"/>
          </a:xfrm>
          <a:prstGeom prst="roundRect">
            <a:avLst>
              <a:gd fmla="val 16667" name="adj"/>
            </a:avLst>
          </a:prstGeom>
          <a:solidFill>
            <a:srgbClr val="E6E8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566928" y="1481328"/>
            <a:ext cx="2340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51%</a:t>
            </a:r>
            <a:endParaRPr b="1" sz="2400">
              <a:solidFill>
                <a:srgbClr val="4338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566928" y="1874519"/>
            <a:ext cx="2340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of web traffic was automated in 2024, passing human traffic for the first time in a decade¹</a:t>
            </a:r>
            <a:endParaRPr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3291840" y="1417320"/>
            <a:ext cx="2560200" cy="1600200"/>
          </a:xfrm>
          <a:prstGeom prst="roundRect">
            <a:avLst>
              <a:gd fmla="val 16667" name="adj"/>
            </a:avLst>
          </a:prstGeom>
          <a:solidFill>
            <a:srgbClr val="E6E8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3401568" y="1481328"/>
            <a:ext cx="2340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&lt;5% → 40%</a:t>
            </a:r>
            <a:endParaRPr b="1" sz="2400">
              <a:solidFill>
                <a:srgbClr val="4338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3401568" y="1874519"/>
            <a:ext cx="2340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of enterprise apps with task-specific AI agents, 2025 to end of 2026 (forecast)²</a:t>
            </a:r>
            <a:endParaRPr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6126480" y="1417320"/>
            <a:ext cx="2560200" cy="1600200"/>
          </a:xfrm>
          <a:prstGeom prst="roundRect">
            <a:avLst>
              <a:gd fmla="val 16667" name="adj"/>
            </a:avLst>
          </a:prstGeom>
          <a:solidFill>
            <a:srgbClr val="E6E8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6236208" y="1481328"/>
            <a:ext cx="2340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10,000+</a:t>
            </a:r>
            <a:endParaRPr b="1" sz="2400">
              <a:solidFill>
                <a:srgbClr val="4338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6236208" y="1874519"/>
            <a:ext cx="2340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active public MCP servers that let agents call outside tools and data³</a:t>
            </a:r>
            <a:endParaRPr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457200" y="315468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</a:rPr>
              <a:t>Open protocols for agent communication</a:t>
            </a:r>
            <a:endParaRPr b="1">
              <a:solidFill>
                <a:srgbClr val="5F6B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8" name="Google Shape;78;p14"/>
          <p:cNvCxnSpPr/>
          <p:nvPr/>
        </p:nvCxnSpPr>
        <p:spPr>
          <a:xfrm>
            <a:off x="548640" y="3675887"/>
            <a:ext cx="8046600" cy="0"/>
          </a:xfrm>
          <a:prstGeom prst="straightConnector1">
            <a:avLst/>
          </a:prstGeom>
          <a:noFill/>
          <a:ln cap="flat" cmpd="sng" w="25400">
            <a:solidFill>
              <a:srgbClr val="D5DAD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14"/>
          <p:cNvSpPr/>
          <p:nvPr/>
        </p:nvSpPr>
        <p:spPr>
          <a:xfrm>
            <a:off x="530352" y="3584448"/>
            <a:ext cx="183000" cy="1830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 txBox="1"/>
          <p:nvPr/>
        </p:nvSpPr>
        <p:spPr>
          <a:xfrm>
            <a:off x="457200" y="3794760"/>
            <a:ext cx="2011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Nov 2024  </a:t>
            </a:r>
            <a:r>
              <a:rPr b="1"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MCP</a:t>
            </a:r>
            <a:endParaRPr b="1"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Agents connect to tools and data (Anthropic)</a:t>
            </a:r>
            <a:endParaRPr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2633472" y="3584448"/>
            <a:ext cx="183000" cy="1830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2560320" y="3794760"/>
            <a:ext cx="2011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Apr 2025  </a:t>
            </a:r>
            <a:r>
              <a:rPr b="1"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A2A</a:t>
            </a:r>
            <a:endParaRPr b="1"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Agents talk to agents; 100+ partners⁴ (Google)</a:t>
            </a:r>
            <a:endParaRPr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4736592" y="3584448"/>
            <a:ext cx="183000" cy="1830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 txBox="1"/>
          <p:nvPr/>
        </p:nvSpPr>
        <p:spPr>
          <a:xfrm>
            <a:off x="4663440" y="3794760"/>
            <a:ext cx="2011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Sep 2025  </a:t>
            </a:r>
            <a:r>
              <a:rPr b="1"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AP2</a:t>
            </a:r>
            <a:endParaRPr b="1"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Agents pay on a user's behalf; 60+ partners⁵</a:t>
            </a:r>
            <a:endParaRPr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839712" y="3584448"/>
            <a:ext cx="183000" cy="1830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 txBox="1"/>
          <p:nvPr/>
        </p:nvSpPr>
        <p:spPr>
          <a:xfrm>
            <a:off x="6766559" y="3794760"/>
            <a:ext cx="2011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Dec 2025  </a:t>
            </a:r>
            <a:r>
              <a:rPr b="1"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Agentic AI Foundation</a:t>
            </a:r>
            <a:endParaRPr b="1"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MCP moves to the Linux Foundation³</a:t>
            </a:r>
            <a:endParaRPr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457200" y="46634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</a:rPr>
              <a:t>Sources: ¹ </a:t>
            </a:r>
            <a:r>
              <a:rPr lang="en-GB" sz="1000" u="sng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Imperva, Apr 2025</a:t>
            </a:r>
            <a:r>
              <a:rPr lang="en-GB" sz="1000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</a:rPr>
              <a:t>  ² </a:t>
            </a:r>
            <a:r>
              <a:rPr lang="en-GB" sz="1000" u="sng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Gartner, Aug 2025</a:t>
            </a:r>
            <a:r>
              <a:rPr lang="en-GB" sz="1000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</a:rPr>
              <a:t>  ³ </a:t>
            </a:r>
            <a:r>
              <a:rPr lang="en-GB" sz="1000" u="sng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Anthropic, Dec 2025</a:t>
            </a:r>
            <a:r>
              <a:rPr lang="en-GB" sz="1000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</a:rPr>
              <a:t>  ⁴ </a:t>
            </a:r>
            <a:r>
              <a:rPr lang="en-GB" sz="1000" u="sng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SD Times, Jun 2025</a:t>
            </a:r>
            <a:r>
              <a:rPr lang="en-GB" sz="1000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</a:rPr>
              <a:t>  ⁵ </a:t>
            </a:r>
            <a:r>
              <a:rPr lang="en-GB" sz="1000" u="sng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PYMNTS, Sep 2025</a:t>
            </a:r>
            <a:endParaRPr sz="1000">
              <a:solidFill>
                <a:srgbClr val="5F6B7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/>
        </p:nvSpPr>
        <p:spPr>
          <a:xfrm>
            <a:off x="457200" y="32004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Narrowing “communication” leads to agents that make commitments for people</a:t>
            </a:r>
            <a:endParaRPr b="1" sz="3000"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457200" y="1463040"/>
            <a:ext cx="2011800" cy="3017400"/>
          </a:xfrm>
          <a:prstGeom prst="roundRect">
            <a:avLst>
              <a:gd fmla="val 16667" name="adj"/>
            </a:avLst>
          </a:prstGeom>
          <a:solidFill>
            <a:srgbClr val="1418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DOMAIN</a:t>
            </a:r>
            <a:endParaRPr b="1">
              <a:solidFill>
                <a:srgbClr val="A5B4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-GB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How is communication being redefined?</a:t>
            </a:r>
            <a:endParaRPr b="1"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2542032" y="2816352"/>
            <a:ext cx="310800" cy="31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5DAD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2926080" y="1463040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Who is talking?</a:t>
            </a:r>
            <a:endParaRPr b="1" sz="1600"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2926080" y="1847088"/>
            <a:ext cx="1554600" cy="41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Human↔human</a:t>
            </a:r>
            <a:endParaRPr sz="1300"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4572000" y="1847088"/>
            <a:ext cx="1554600" cy="41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Human ↔ app</a:t>
            </a:r>
            <a:endParaRPr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2926080" y="2350008"/>
            <a:ext cx="1554600" cy="41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Agent ↔ tool</a:t>
            </a:r>
            <a:endParaRPr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4572000" y="2350008"/>
            <a:ext cx="1554600" cy="411600"/>
          </a:xfrm>
          <a:prstGeom prst="roundRect">
            <a:avLst>
              <a:gd fmla="val 16667" name="adj"/>
            </a:avLst>
          </a:prstGeom>
          <a:solidFill>
            <a:srgbClr val="433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Agent ↔agent</a:t>
            </a:r>
            <a:endParaRPr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2926080" y="2971800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What is exchanged?</a:t>
            </a:r>
            <a:endParaRPr b="1" sz="1600"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2926080" y="3355848"/>
            <a:ext cx="1554600" cy="41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Information</a:t>
            </a:r>
            <a:endParaRPr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4572000" y="3355848"/>
            <a:ext cx="1554600" cy="41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Tasks</a:t>
            </a:r>
            <a:endParaRPr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2926080" y="3858768"/>
            <a:ext cx="1554600" cy="41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Personal data</a:t>
            </a:r>
            <a:endParaRPr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4572000" y="3858768"/>
            <a:ext cx="1554600" cy="411600"/>
          </a:xfrm>
          <a:prstGeom prst="roundRect">
            <a:avLst>
              <a:gd fmla="val 16667" name="adj"/>
            </a:avLst>
          </a:prstGeom>
          <a:solidFill>
            <a:srgbClr val="433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Commitments</a:t>
            </a:r>
            <a:endParaRPr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2926080" y="4251960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</a:rPr>
              <a:t>Commitments: purchases, bookings, agreements</a:t>
            </a:r>
            <a:endParaRPr sz="1200">
              <a:solidFill>
                <a:srgbClr val="5F6B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6291072" y="2816352"/>
            <a:ext cx="310800" cy="31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5DAD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6675120" y="1463040"/>
            <a:ext cx="2011800" cy="3017400"/>
          </a:xfrm>
          <a:prstGeom prst="roundRect">
            <a:avLst>
              <a:gd fmla="val 16667" name="adj"/>
            </a:avLst>
          </a:prstGeom>
          <a:solidFill>
            <a:srgbClr val="433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E6E8F8"/>
                </a:solidFill>
                <a:latin typeface="Inter"/>
                <a:ea typeface="Inter"/>
                <a:cs typeface="Inter"/>
                <a:sym typeface="Inter"/>
              </a:rPr>
              <a:t>ILL-DEFINED PROBLEM</a:t>
            </a:r>
            <a:endParaRPr b="1">
              <a:solidFill>
                <a:srgbClr val="E6E8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-GB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How can people trust what their AI agents say and agree to with other agents?</a:t>
            </a:r>
            <a:endParaRPr b="1" sz="1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457200" y="32004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Each force removes a point where a person used to check the conversation</a:t>
            </a:r>
            <a:endParaRPr b="1" sz="3000"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13" name="Google Shape;113;p16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{777E5091-F802-4F16-9F39-751687227703}</a:tableStyleId>
              </a:tblPr>
              <a:tblGrid>
                <a:gridCol w="1417300"/>
                <a:gridCol w="3931900"/>
                <a:gridCol w="2880350"/>
              </a:tblGrid>
              <a:tr h="36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Force</a:t>
                      </a:r>
                      <a:endParaRPr b="1"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1F2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What is changing</a:t>
                      </a:r>
                      <a:endParaRPr b="1"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1F2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What is being destroyed</a:t>
                      </a:r>
                      <a:endParaRPr b="1"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1F2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ED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Technological</a:t>
                      </a:r>
                      <a:endParaRPr b="1"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1F2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Agents hand tasks to each other over open protocols (MCP, A2A) instead of screens</a:t>
                      </a:r>
                      <a:endParaRPr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1F2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screen where a person reads and decides</a:t>
                      </a:r>
                      <a:endParaRPr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1F2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ED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Economic</a:t>
                      </a:r>
                      <a:endParaRPr b="1"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Agents buy and book for users; AP2 adds signed “mandates” to prove approval¹</a:t>
                      </a:r>
                      <a:endParaRPr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human click on “Buy” as proof of consent</a:t>
                      </a:r>
                      <a:endParaRPr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ED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Political</a:t>
                      </a:r>
                      <a:endParaRPr b="1"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 2025 US court order made OpenAI keep all ChatGPT logs, even deleted chats²</a:t>
                      </a:r>
                      <a:endParaRPr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expectation that a conversation can be deleted</a:t>
                      </a:r>
                      <a:endParaRPr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ED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Social</a:t>
                      </a:r>
                      <a:endParaRPr b="1"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D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72% of US teens have used AI companions³</a:t>
                      </a:r>
                      <a:endParaRPr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D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Everyday practice at talking, negotiating and small talk</a:t>
                      </a:r>
                      <a:endParaRPr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D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EDF"/>
                    </a:solidFill>
                  </a:tcPr>
                </a:tc>
              </a:tr>
            </a:tbl>
          </a:graphicData>
        </a:graphic>
      </p:graphicFrame>
      <p:sp>
        <p:nvSpPr>
          <p:cNvPr id="114" name="Google Shape;114;p16"/>
          <p:cNvSpPr txBox="1"/>
          <p:nvPr/>
        </p:nvSpPr>
        <p:spPr>
          <a:xfrm>
            <a:off x="457200" y="46634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</a:rPr>
              <a:t>Sources: ¹ </a:t>
            </a:r>
            <a:r>
              <a:rPr lang="en-GB" sz="1000" u="sng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PYMNTS, Sep 2025</a:t>
            </a:r>
            <a:r>
              <a:rPr lang="en-GB" sz="1000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</a:rPr>
              <a:t>  ² </a:t>
            </a:r>
            <a:r>
              <a:rPr lang="en-GB" sz="1000" u="sng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Simon Willison on the OpenAI preservation order, Jun 2025</a:t>
            </a:r>
            <a:r>
              <a:rPr lang="en-GB" sz="1000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</a:rPr>
              <a:t>  ³ </a:t>
            </a:r>
            <a:r>
              <a:rPr lang="en-GB" sz="1000" u="sng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Common Sense Media via TechCrunch, Jul 2025</a:t>
            </a:r>
            <a:endParaRPr sz="1000">
              <a:solidFill>
                <a:srgbClr val="5F6B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457200" y="416052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Forces meet at consent: </a:t>
            </a:r>
            <a:r>
              <a:rPr lang="en-GB" sz="16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who approved what the agent did?</a:t>
            </a:r>
            <a:endParaRPr sz="1600"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457200" y="32004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Three gaps open when agents talk with no person in the loop</a:t>
            </a:r>
            <a:endParaRPr b="1" sz="3000"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21" name="Google Shape;121;p17"/>
          <p:cNvGraphicFramePr/>
          <p:nvPr/>
        </p:nvGraphicFramePr>
        <p:xfrm>
          <a:off x="45720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{777E5091-F802-4F16-9F39-751687227703}</a:tableStyleId>
              </a:tblPr>
              <a:tblGrid>
                <a:gridCol w="1371600"/>
                <a:gridCol w="2286000"/>
                <a:gridCol w="2286000"/>
                <a:gridCol w="2286000"/>
              </a:tblGrid>
              <a:tr h="36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1F2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 Who is this agent?</a:t>
                      </a:r>
                      <a:endParaRPr b="1"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1F2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2. What did my agent agree to?</a:t>
                      </a:r>
                      <a:endParaRPr b="1"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1F2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 Who still practices talking?</a:t>
                      </a:r>
                      <a:endParaRPr b="1"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1F2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problem</a:t>
                      </a:r>
                      <a:endParaRPr b="1"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1F2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Agents call yours with no proof of who sent them</a:t>
                      </a:r>
                      <a:endParaRPr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1F2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Agents agree to bookings no one reads</a:t>
                      </a:r>
                      <a:endParaRPr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1F2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Agents now do the calls people learned from</a:t>
                      </a:r>
                      <a:endParaRPr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1F2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Who has it</a:t>
                      </a:r>
                      <a:endParaRPr b="1"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Businesses and people receiving agent requests</a:t>
                      </a:r>
                      <a:endParaRPr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Consumers, and firms liable for agent errors</a:t>
                      </a:r>
                      <a:endParaRPr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Students and early-career workers</a:t>
                      </a:r>
                      <a:endParaRPr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What is destroyed</a:t>
                      </a:r>
                      <a:endParaRPr b="1"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voice or signature that proved identity</a:t>
                      </a:r>
                      <a:endParaRPr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 paper trail a person can read and dispute</a:t>
                      </a:r>
                      <a:endParaRPr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Low-stakes practice in real conversation</a:t>
                      </a:r>
                      <a:endParaRPr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Discontinuity</a:t>
                      </a:r>
                      <a:endParaRPr b="1"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D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Protocols carry messages, not authority</a:t>
                      </a:r>
                      <a:endParaRPr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D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AP2 records payments, not the terms agreed</a:t>
                      </a:r>
                      <a:endParaRPr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D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Nothing helps decide which talks to keep</a:t>
                      </a:r>
                      <a:endParaRPr>
                        <a:solidFill>
                          <a:srgbClr val="1B1F23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AFAFA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D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457200" y="32004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Well-defined problem: a readable receipt for every agent agreement</a:t>
            </a:r>
            <a:endParaRPr b="1" sz="3000"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457200" y="1371600"/>
            <a:ext cx="3931800" cy="1417200"/>
          </a:xfrm>
          <a:prstGeom prst="roundRect">
            <a:avLst>
              <a:gd fmla="val 16667" name="adj"/>
            </a:avLst>
          </a:prstGeom>
          <a:solidFill>
            <a:srgbClr val="E6E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How might we let a person check, in plain language, every commitment their AI agent makes with another agent, without slowing the agent down?</a:t>
            </a:r>
            <a:endParaRPr b="1" sz="1600">
              <a:solidFill>
                <a:srgbClr val="4338C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457200" y="297180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What we would build</a:t>
            </a:r>
            <a:endParaRPr b="1" sz="1600"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457200" y="3310128"/>
            <a:ext cx="3931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23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A signed log of every agent-to-agent message</a:t>
            </a:r>
            <a:endParaRPr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23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A model that turns the log into a short receipt</a:t>
            </a:r>
            <a:endParaRPr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23"/>
              </a:buClr>
              <a:buSzPts val="1400"/>
              <a:buFont typeface="Inter"/>
              <a:buChar char="●"/>
            </a:pPr>
            <a:r>
              <a:rPr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An alert when a commitment goes past what the person approved</a:t>
            </a:r>
            <a:endParaRPr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4754880" y="1417320"/>
            <a:ext cx="1371600" cy="54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1B1F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Your agent</a:t>
            </a:r>
            <a:endParaRPr b="1"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7315200" y="1417320"/>
            <a:ext cx="1371600" cy="54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1B1F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Hotel's agent</a:t>
            </a:r>
            <a:endParaRPr b="1"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32" name="Google Shape;132;p18"/>
          <p:cNvCxnSpPr/>
          <p:nvPr/>
        </p:nvCxnSpPr>
        <p:spPr>
          <a:xfrm>
            <a:off x="6172200" y="1691640"/>
            <a:ext cx="1097400" cy="0"/>
          </a:xfrm>
          <a:prstGeom prst="straightConnector1">
            <a:avLst/>
          </a:prstGeom>
          <a:noFill/>
          <a:ln cap="flat" cmpd="sng" w="22225">
            <a:solidFill>
              <a:srgbClr val="1B1F23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3" name="Google Shape;133;p18"/>
          <p:cNvCxnSpPr/>
          <p:nvPr/>
        </p:nvCxnSpPr>
        <p:spPr>
          <a:xfrm>
            <a:off x="6720840" y="1719072"/>
            <a:ext cx="0" cy="676800"/>
          </a:xfrm>
          <a:prstGeom prst="straightConnector1">
            <a:avLst/>
          </a:prstGeom>
          <a:noFill/>
          <a:ln cap="flat" cmpd="sng" w="22225">
            <a:solidFill>
              <a:srgbClr val="4338CA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34" name="Google Shape;134;p18"/>
          <p:cNvSpPr/>
          <p:nvPr/>
        </p:nvSpPr>
        <p:spPr>
          <a:xfrm>
            <a:off x="5806440" y="2423160"/>
            <a:ext cx="1828800" cy="548700"/>
          </a:xfrm>
          <a:prstGeom prst="roundRect">
            <a:avLst>
              <a:gd fmla="val 16667" name="adj"/>
            </a:avLst>
          </a:prstGeom>
          <a:solidFill>
            <a:srgbClr val="433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Recorder</a:t>
            </a:r>
            <a:endParaRPr b="1"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35" name="Google Shape;135;p18"/>
          <p:cNvCxnSpPr/>
          <p:nvPr/>
        </p:nvCxnSpPr>
        <p:spPr>
          <a:xfrm>
            <a:off x="6720840" y="2971800"/>
            <a:ext cx="0" cy="320100"/>
          </a:xfrm>
          <a:prstGeom prst="straightConnector1">
            <a:avLst/>
          </a:prstGeom>
          <a:noFill/>
          <a:ln cap="flat" cmpd="sng" w="22225">
            <a:solidFill>
              <a:srgbClr val="4338C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18"/>
          <p:cNvSpPr/>
          <p:nvPr/>
        </p:nvSpPr>
        <p:spPr>
          <a:xfrm>
            <a:off x="4754880" y="3310128"/>
            <a:ext cx="3931800" cy="1216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Receipt for you</a:t>
            </a:r>
            <a:endParaRPr b="1">
              <a:solidFill>
                <a:srgbClr val="4338C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Booked 2 nights in Boston, $340</a:t>
            </a:r>
            <a:endParaRPr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Free cancellation until Oct 20</a:t>
            </a:r>
            <a:endParaRPr>
              <a:solidFill>
                <a:srgbClr val="1B1F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b="1" lang="en-GB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Within your $400 limit</a:t>
            </a:r>
            <a:endParaRPr b="1">
              <a:solidFill>
                <a:srgbClr val="15803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5897880" y="1325880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</a:rPr>
              <a:t>A2A messages</a:t>
            </a:r>
            <a:endParaRPr sz="1200">
              <a:solidFill>
                <a:srgbClr val="5F6B7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