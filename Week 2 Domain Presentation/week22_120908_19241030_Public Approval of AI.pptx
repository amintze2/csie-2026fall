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Lst>
  <p:sldSz cy="5143500" cx="9144000"/>
  <p:notesSz cx="6858000" cy="9144000"/>
  <p:embeddedFontLst>
    <p:embeddedFont>
      <p:font typeface="Inter"/>
      <p:regular r:id="rId12"/>
      <p:bold r:id="rId13"/>
      <p:italic r:id="rId14"/>
      <p:boldItalic r:id="rId15"/>
    </p:embeddedFont>
    <p:embeddedFont>
      <p:font typeface="Source Serif 4"/>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Inter-bold.fntdata"/><Relationship Id="rId12" Type="http://schemas.openxmlformats.org/officeDocument/2006/relationships/font" Target="fonts/Inter-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font" Target="fonts/Inter-boldItalic.fntdata"/><Relationship Id="rId14" Type="http://schemas.openxmlformats.org/officeDocument/2006/relationships/font" Target="fonts/Inter-italic.fntdata"/><Relationship Id="rId17" Type="http://schemas.openxmlformats.org/officeDocument/2006/relationships/font" Target="fonts/SourceSerif4-bold.fntdata"/><Relationship Id="rId16" Type="http://schemas.openxmlformats.org/officeDocument/2006/relationships/font" Target="fonts/SourceSerif4-regular.fntdata"/><Relationship Id="rId5" Type="http://schemas.openxmlformats.org/officeDocument/2006/relationships/slideMaster" Target="slideMasters/slideMaster2.xml"/><Relationship Id="rId19" Type="http://schemas.openxmlformats.org/officeDocument/2006/relationships/font" Target="fonts/SourceSerif4-boldItalic.fntdata"/><Relationship Id="rId6" Type="http://schemas.openxmlformats.org/officeDocument/2006/relationships/notesMaster" Target="notesMasters/notesMaster1.xml"/><Relationship Id="rId18" Type="http://schemas.openxmlformats.org/officeDocument/2006/relationships/font" Target="fonts/SourceSerif4-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fbb60e87fa_9_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fbb60e87fa_9_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a:t>Open with the tension: AI use is spreading, but public enthusiasm is not rising with it. Concern jumped sharply after 2022 and has remained around half of Americans since 2023. Trending to the Absurd asks what happens if deployment keeps expanding without a corresponding increase in legitimacy or trust.</a:t>
            </a:r>
            <a:endParaRPr/>
          </a:p>
        </p:txBody>
      </p:sp>
      <p:sp>
        <p:nvSpPr>
          <p:cNvPr id="55" name="Google Shape;55;g3fbb60e87fa_9_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bb760b1ac_6_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g3fbb760b1ac_6_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zh-CN" sz="1100"/>
              <a:t>Define the domain, then establish the tension. Public concern is not simply stopping people from using AI: use is widespread even while concern remains high. Job loss gives us one concrete reason why adoption and approval can diverge. The chart shows the step change: concern was roughly four in ten in 2021 and 2022, jumped to 52% in 2023, and has stayed between 50% and 52% since, while excitement roughly halved.</a:t>
            </a:r>
            <a:endParaRPr/>
          </a:p>
        </p:txBody>
      </p:sp>
      <p:sp>
        <p:nvSpPr>
          <p:cNvPr id="66" name="Google Shape;66;g3fbb760b1ac_6_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bb60e87fa_9_3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g3fbb60e87fa_9_3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a:t>We’re applying the S-curve here to deployment, not claiming AI itself is near technological saturation. We see a shift from optional, standalone tools toward AI embedded in existing systems. Our dominant-design hypothesis is that AI increasingly becomes a layer people encounter through services they already use. Trending to the Absurd means pushing that structure toward saturation.</a:t>
            </a:r>
            <a:endParaRPr/>
          </a:p>
        </p:txBody>
      </p:sp>
      <p:sp>
        <p:nvSpPr>
          <p:cNvPr id="90" name="Google Shape;90;g3fbb60e87fa_9_3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fbb60e87fa_5_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g3fbb60e87fa_5_4: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a:t>We are not predicting this extreme will happen. Trending to the Absurd deliberately pushes the current trend to saturation to expose an assumption: that people will eventually accept a technology simply because they use it. The opportunities on the next slide come from asking what breaks if that assumption is wrong.</a:t>
            </a:r>
            <a:endParaRPr/>
          </a:p>
        </p:txBody>
      </p:sp>
      <p:sp>
        <p:nvSpPr>
          <p:cNvPr id="113" name="Google Shape;113;g3fbb60e87fa_5_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fbb60e87fa_26_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g3fbb60e87fa_26_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a:t>Real, important, addressable. Real: every early signal is a current measurement, not a forecast. Important: each decides whether AI keeps its social license or loses it. Addressable: all three are design, policy and measurement problems rather than capability problems. If asked which is strongest, say 03, because the cost is already itemized on a bill people open every month.</a:t>
            </a:r>
            <a:endParaRPr/>
          </a:p>
        </p:txBody>
      </p:sp>
      <p:sp>
        <p:nvSpPr>
          <p:cNvPr id="135" name="Google Shape;135;g3fbb60e87fa_26_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81C"/>
        </a:solidFill>
      </p:bgPr>
    </p:bg>
    <p:spTree>
      <p:nvGrpSpPr>
        <p:cNvPr id="56" name="Shape 56"/>
        <p:cNvGrpSpPr/>
        <p:nvPr/>
      </p:nvGrpSpPr>
      <p:grpSpPr>
        <a:xfrm>
          <a:off x="0" y="0"/>
          <a:ext cx="0" cy="0"/>
          <a:chOff x="0" y="0"/>
          <a:chExt cx="0" cy="0"/>
        </a:xfrm>
      </p:grpSpPr>
      <p:sp>
        <p:nvSpPr>
          <p:cNvPr id="57" name="Google Shape;57;p15"/>
          <p:cNvSpPr/>
          <p:nvPr/>
        </p:nvSpPr>
        <p:spPr>
          <a:xfrm>
            <a:off x="609586" y="609587"/>
            <a:ext cx="8162572" cy="19240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1603F"/>
              </a:buClr>
              <a:buSzPts val="1000"/>
              <a:buFont typeface="Inter"/>
              <a:buNone/>
            </a:pPr>
            <a:r>
              <a:rPr b="1" i="0" lang="zh-CN" sz="1000" u="none" cap="none" strike="noStrike">
                <a:solidFill>
                  <a:srgbClr val="D1603F"/>
                </a:solidFill>
                <a:latin typeface="Inter"/>
                <a:ea typeface="Inter"/>
                <a:cs typeface="Inter"/>
                <a:sym typeface="Inter"/>
              </a:rPr>
              <a:t>WEEK 2 · DOMAIN EXPLORATION</a:t>
            </a:r>
            <a:endParaRPr b="0" i="0" sz="1000" u="none" cap="none" strike="noStrike">
              <a:solidFill>
                <a:schemeClr val="dk1"/>
              </a:solidFill>
              <a:latin typeface="Calibri"/>
              <a:ea typeface="Calibri"/>
              <a:cs typeface="Calibri"/>
              <a:sym typeface="Calibri"/>
            </a:endParaRPr>
          </a:p>
        </p:txBody>
      </p:sp>
      <p:sp>
        <p:nvSpPr>
          <p:cNvPr id="58" name="Google Shape;58;p15"/>
          <p:cNvSpPr/>
          <p:nvPr/>
        </p:nvSpPr>
        <p:spPr>
          <a:xfrm>
            <a:off x="609586" y="1427634"/>
            <a:ext cx="8162572" cy="1456865"/>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7F5F0"/>
              </a:buClr>
              <a:buSzPts val="5600"/>
              <a:buFont typeface="Source Serif 4"/>
              <a:buNone/>
            </a:pPr>
            <a:r>
              <a:rPr b="0" i="0" lang="zh-CN" sz="5600" u="none" cap="none" strike="noStrike">
                <a:solidFill>
                  <a:srgbClr val="F7F5F0"/>
                </a:solidFill>
                <a:latin typeface="Source Serif 4"/>
                <a:ea typeface="Source Serif 4"/>
                <a:cs typeface="Source Serif 4"/>
                <a:sym typeface="Source Serif 4"/>
              </a:rPr>
              <a:t>Public Approval</a:t>
            </a:r>
            <a:endParaRPr b="0" i="0" sz="56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F7F5F0"/>
              </a:buClr>
              <a:buSzPts val="5600"/>
              <a:buFont typeface="Source Serif 4"/>
              <a:buNone/>
            </a:pPr>
            <a:r>
              <a:rPr b="0" i="0" lang="zh-CN" sz="5600" u="none" cap="none" strike="noStrike">
                <a:solidFill>
                  <a:srgbClr val="F7F5F0"/>
                </a:solidFill>
                <a:latin typeface="Source Serif 4"/>
                <a:ea typeface="Source Serif 4"/>
                <a:cs typeface="Source Serif 4"/>
                <a:sym typeface="Source Serif 4"/>
              </a:rPr>
              <a:t>of AI</a:t>
            </a:r>
            <a:endParaRPr b="0" i="0" sz="5600" u="none" cap="none" strike="noStrike">
              <a:solidFill>
                <a:schemeClr val="dk1"/>
              </a:solidFill>
              <a:latin typeface="Calibri"/>
              <a:ea typeface="Calibri"/>
              <a:cs typeface="Calibri"/>
              <a:sym typeface="Calibri"/>
            </a:endParaRPr>
          </a:p>
        </p:txBody>
      </p:sp>
      <p:sp>
        <p:nvSpPr>
          <p:cNvPr id="59" name="Google Shape;59;p15"/>
          <p:cNvSpPr/>
          <p:nvPr/>
        </p:nvSpPr>
        <p:spPr>
          <a:xfrm>
            <a:off x="609587" y="3036872"/>
            <a:ext cx="1047750" cy="19043"/>
          </a:xfrm>
          <a:prstGeom prst="rect">
            <a:avLst/>
          </a:prstGeom>
          <a:solidFill>
            <a:srgbClr val="D1603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 name="Google Shape;60;p15"/>
          <p:cNvSpPr/>
          <p:nvPr/>
        </p:nvSpPr>
        <p:spPr>
          <a:xfrm>
            <a:off x="609586" y="3227338"/>
            <a:ext cx="5886450" cy="50761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C6C3BB"/>
              </a:buClr>
              <a:buSzPts val="1400"/>
              <a:buFont typeface="Inter"/>
              <a:buNone/>
            </a:pPr>
            <a:r>
              <a:rPr lang="zh-CN">
                <a:solidFill>
                  <a:srgbClr val="C6C3BB"/>
                </a:solidFill>
                <a:latin typeface="Inter"/>
                <a:ea typeface="Inter"/>
                <a:cs typeface="Inter"/>
                <a:sym typeface="Inter"/>
              </a:rPr>
              <a:t>AI use is spreading while public concern is rising. What happens if those trends never converge?</a:t>
            </a:r>
            <a:endParaRPr b="0" i="0" sz="1400" u="none" cap="none" strike="noStrike">
              <a:solidFill>
                <a:schemeClr val="dk1"/>
              </a:solidFill>
              <a:latin typeface="Calibri"/>
              <a:ea typeface="Calibri"/>
              <a:cs typeface="Calibri"/>
              <a:sym typeface="Calibri"/>
            </a:endParaRPr>
          </a:p>
        </p:txBody>
      </p:sp>
      <p:sp>
        <p:nvSpPr>
          <p:cNvPr id="61" name="Google Shape;61;p15"/>
          <p:cNvSpPr/>
          <p:nvPr/>
        </p:nvSpPr>
        <p:spPr>
          <a:xfrm>
            <a:off x="609561" y="4360550"/>
            <a:ext cx="2052300" cy="192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8D87"/>
              </a:buClr>
              <a:buSzPts val="1000"/>
              <a:buFont typeface="Inter"/>
              <a:buNone/>
            </a:pPr>
            <a:r>
              <a:rPr b="0" i="0" lang="zh-CN" sz="1000" u="none" cap="none" strike="noStrike">
                <a:solidFill>
                  <a:srgbClr val="8F8D87"/>
                </a:solidFill>
                <a:latin typeface="Inter"/>
                <a:ea typeface="Inter"/>
                <a:cs typeface="Inter"/>
                <a:sym typeface="Inter"/>
              </a:rPr>
              <a:t>Team: </a:t>
            </a:r>
            <a:r>
              <a:rPr lang="zh-CN" sz="1000">
                <a:solidFill>
                  <a:srgbClr val="8F8D87"/>
                </a:solidFill>
                <a:latin typeface="Inter"/>
                <a:ea typeface="Inter"/>
                <a:cs typeface="Inter"/>
                <a:sym typeface="Inter"/>
              </a:rPr>
              <a:t>Sissi, Kerry, Penn, Evan</a:t>
            </a:r>
            <a:endParaRPr b="0" i="0" sz="1000" u="none" cap="none" strike="noStrike">
              <a:solidFill>
                <a:schemeClr val="dk1"/>
              </a:solidFill>
              <a:latin typeface="Calibri"/>
              <a:ea typeface="Calibri"/>
              <a:cs typeface="Calibri"/>
              <a:sym typeface="Calibri"/>
            </a:endParaRPr>
          </a:p>
        </p:txBody>
      </p:sp>
      <p:sp>
        <p:nvSpPr>
          <p:cNvPr id="62" name="Google Shape;62;p15"/>
          <p:cNvSpPr/>
          <p:nvPr/>
        </p:nvSpPr>
        <p:spPr>
          <a:xfrm>
            <a:off x="5717435" y="4360562"/>
            <a:ext cx="2901487" cy="19240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8D87"/>
              </a:buClr>
              <a:buSzPts val="1000"/>
              <a:buFont typeface="Inter"/>
              <a:buNone/>
            </a:pPr>
            <a:r>
              <a:rPr b="0" i="0" lang="zh-CN" sz="1000" u="none" cap="none" strike="noStrike">
                <a:solidFill>
                  <a:srgbClr val="8F8D87"/>
                </a:solidFill>
                <a:latin typeface="Inter"/>
                <a:ea typeface="Inter"/>
                <a:cs typeface="Inter"/>
                <a:sym typeface="Inter"/>
              </a:rPr>
              <a:t>Trending to the Absurd: Problems Worth Solving</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67" name="Shape 67"/>
        <p:cNvGrpSpPr/>
        <p:nvPr/>
      </p:nvGrpSpPr>
      <p:grpSpPr>
        <a:xfrm>
          <a:off x="0" y="0"/>
          <a:ext cx="0" cy="0"/>
          <a:chOff x="0" y="0"/>
          <a:chExt cx="0" cy="0"/>
        </a:xfrm>
      </p:grpSpPr>
      <p:sp>
        <p:nvSpPr>
          <p:cNvPr id="68" name="Google Shape;68;p16"/>
          <p:cNvSpPr/>
          <p:nvPr/>
        </p:nvSpPr>
        <p:spPr>
          <a:xfrm>
            <a:off x="609586" y="609586"/>
            <a:ext cx="8162572" cy="392676"/>
          </a:xfrm>
          <a:prstGeom prst="rect">
            <a:avLst/>
          </a:prstGeom>
          <a:noFill/>
          <a:ln>
            <a:noFill/>
          </a:ln>
        </p:spPr>
        <p:txBody>
          <a:bodyPr anchorCtr="0" anchor="t" bIns="0" lIns="0" spcFirstLastPara="1" rIns="0" wrap="square" tIns="0">
            <a:noAutofit/>
          </a:bodyPr>
          <a:lstStyle/>
          <a:p>
            <a:pPr indent="0" lvl="0" marL="0" marR="0" rtl="0" algn="l">
              <a:lnSpc>
                <a:spcPct val="104987"/>
              </a:lnSpc>
              <a:spcBef>
                <a:spcPts val="0"/>
              </a:spcBef>
              <a:spcAft>
                <a:spcPts val="0"/>
              </a:spcAft>
              <a:buClr>
                <a:srgbClr val="16181C"/>
              </a:buClr>
              <a:buSzPts val="2800"/>
              <a:buFont typeface="Source Serif 4"/>
              <a:buNone/>
            </a:pPr>
            <a:r>
              <a:rPr b="0" i="0" lang="zh-CN" sz="2800" u="none" cap="none" strike="noStrike">
                <a:solidFill>
                  <a:srgbClr val="16181C"/>
                </a:solidFill>
                <a:latin typeface="Source Serif 4"/>
                <a:ea typeface="Source Serif 4"/>
                <a:cs typeface="Source Serif 4"/>
                <a:sym typeface="Source Serif 4"/>
              </a:rPr>
              <a:t>The domain: public approval of AI</a:t>
            </a:r>
            <a:endParaRPr b="0" i="0" sz="2800" u="none" cap="none" strike="noStrike">
              <a:solidFill>
                <a:schemeClr val="dk1"/>
              </a:solidFill>
              <a:latin typeface="Calibri"/>
              <a:ea typeface="Calibri"/>
              <a:cs typeface="Calibri"/>
              <a:sym typeface="Calibri"/>
            </a:endParaRPr>
          </a:p>
        </p:txBody>
      </p:sp>
      <p:sp>
        <p:nvSpPr>
          <p:cNvPr id="69" name="Google Shape;69;p16"/>
          <p:cNvSpPr/>
          <p:nvPr/>
        </p:nvSpPr>
        <p:spPr>
          <a:xfrm>
            <a:off x="609586" y="1059386"/>
            <a:ext cx="7358062" cy="412328"/>
          </a:xfrm>
          <a:prstGeom prst="rect">
            <a:avLst/>
          </a:prstGeom>
          <a:noFill/>
          <a:ln>
            <a:noFill/>
          </a:ln>
        </p:spPr>
        <p:txBody>
          <a:bodyPr anchorCtr="0" anchor="t" bIns="0" lIns="0" spcFirstLastPara="1" rIns="0" wrap="square" tIns="0">
            <a:noAutofit/>
          </a:bodyPr>
          <a:lstStyle/>
          <a:p>
            <a:pPr indent="0" lvl="0" marL="0" marR="0" rtl="0" algn="l">
              <a:lnSpc>
                <a:spcPct val="139973"/>
              </a:lnSpc>
              <a:spcBef>
                <a:spcPts val="0"/>
              </a:spcBef>
              <a:spcAft>
                <a:spcPts val="0"/>
              </a:spcAft>
              <a:buClr>
                <a:srgbClr val="5A5852"/>
              </a:buClr>
              <a:buSzPts val="1100"/>
              <a:buFont typeface="Inter"/>
              <a:buNone/>
            </a:pPr>
            <a:r>
              <a:rPr b="0" i="0" lang="zh-CN" sz="1100" u="none" cap="none" strike="noStrike">
                <a:solidFill>
                  <a:srgbClr val="5A5852"/>
                </a:solidFill>
                <a:latin typeface="Inter"/>
                <a:ea typeface="Inter"/>
                <a:cs typeface="Inter"/>
                <a:sym typeface="Inter"/>
              </a:rPr>
              <a:t>How much the public trusts, accepts and consents to AI's role in daily life. AI use is expanding, but trust and enthusiasm have not risen with it.</a:t>
            </a:r>
            <a:endParaRPr b="0" i="0" sz="1100" u="none" cap="none" strike="noStrike">
              <a:solidFill>
                <a:schemeClr val="dk1"/>
              </a:solidFill>
              <a:latin typeface="Calibri"/>
              <a:ea typeface="Calibri"/>
              <a:cs typeface="Calibri"/>
              <a:sym typeface="Calibri"/>
            </a:endParaRPr>
          </a:p>
        </p:txBody>
      </p:sp>
      <p:sp>
        <p:nvSpPr>
          <p:cNvPr id="70" name="Google Shape;70;p16"/>
          <p:cNvSpPr/>
          <p:nvPr/>
        </p:nvSpPr>
        <p:spPr>
          <a:xfrm>
            <a:off x="609586" y="4532053"/>
            <a:ext cx="8162537" cy="325703"/>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8756E"/>
              </a:buClr>
              <a:buSzPts val="900"/>
              <a:buFont typeface="Inter"/>
              <a:buNone/>
            </a:pPr>
            <a:r>
              <a:rPr b="0" i="0" lang="zh-CN" sz="900" u="none" cap="none" strike="noStrike">
                <a:solidFill>
                  <a:srgbClr val="78756E"/>
                </a:solidFill>
                <a:latin typeface="Inter"/>
                <a:ea typeface="Inter"/>
                <a:cs typeface="Inter"/>
                <a:sym typeface="Inter"/>
              </a:rPr>
              <a:t>Sources: Pew Research Center, 2021–Aug. 2026 · Quinnipiac University Poll, Mar. 2026 · Pew Research Center Global Survey, Oct. 2025</a:t>
            </a:r>
            <a:endParaRPr b="0" i="0" sz="900" u="none" cap="none" strike="noStrike">
              <a:solidFill>
                <a:schemeClr val="dk1"/>
              </a:solidFill>
              <a:latin typeface="Calibri"/>
              <a:ea typeface="Calibri"/>
              <a:cs typeface="Calibri"/>
              <a:sym typeface="Calibri"/>
            </a:endParaRPr>
          </a:p>
        </p:txBody>
      </p:sp>
      <p:sp>
        <p:nvSpPr>
          <p:cNvPr id="71" name="Google Shape;71;p16"/>
          <p:cNvSpPr/>
          <p:nvPr/>
        </p:nvSpPr>
        <p:spPr>
          <a:xfrm>
            <a:off x="612648" y="1600200"/>
            <a:ext cx="4892040" cy="2788920"/>
          </a:xfrm>
          <a:prstGeom prst="roundRect">
            <a:avLst>
              <a:gd fmla="val 4247" name="adj"/>
            </a:avLst>
          </a:prstGeom>
          <a:solidFill>
            <a:srgbClr val="FFFFFF"/>
          </a:solidFill>
          <a:ln cap="flat" cmpd="sng" w="9525">
            <a:solidFill>
              <a:srgbClr val="E0DC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 name="Google Shape;72;p16"/>
          <p:cNvSpPr txBox="1"/>
          <p:nvPr/>
        </p:nvSpPr>
        <p:spPr>
          <a:xfrm>
            <a:off x="795528" y="1719072"/>
            <a:ext cx="4526279" cy="182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zh-CN" sz="1000" u="none" cap="none" strike="noStrike">
                <a:solidFill>
                  <a:srgbClr val="16181C"/>
                </a:solidFill>
                <a:latin typeface="Inter"/>
                <a:ea typeface="Inter"/>
                <a:cs typeface="Inter"/>
                <a:sym typeface="Inter"/>
              </a:rPr>
              <a:t>How increased AI use in daily life makes U.S. adults feel</a:t>
            </a:r>
            <a:endParaRPr/>
          </a:p>
        </p:txBody>
      </p:sp>
      <p:sp>
        <p:nvSpPr>
          <p:cNvPr id="73" name="Google Shape;73;p16"/>
          <p:cNvSpPr txBox="1"/>
          <p:nvPr/>
        </p:nvSpPr>
        <p:spPr>
          <a:xfrm>
            <a:off x="795528" y="1920240"/>
            <a:ext cx="4526279" cy="16459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zh-CN" sz="800" u="none" cap="none" strike="noStrike">
                <a:solidFill>
                  <a:srgbClr val="5A5852"/>
                </a:solidFill>
                <a:latin typeface="Inter"/>
                <a:ea typeface="Inter"/>
                <a:cs typeface="Inter"/>
                <a:sym typeface="Inter"/>
              </a:rPr>
              <a:t>Among adults under 30, concern reached 55% in 2026, a first majority.</a:t>
            </a:r>
            <a:endParaRPr/>
          </a:p>
        </p:txBody>
      </p:sp>
      <p:pic>
        <p:nvPicPr>
          <p:cNvPr id="74" name="Google Shape;74;p16"/>
          <p:cNvPicPr preferRelativeResize="0"/>
          <p:nvPr/>
        </p:nvPicPr>
        <p:blipFill rotWithShape="1">
          <a:blip r:embed="rId3">
            <a:alphaModFix/>
          </a:blip>
          <a:srcRect b="0" l="0" r="0" t="0"/>
          <a:stretch/>
        </p:blipFill>
        <p:spPr>
          <a:xfrm>
            <a:off x="704088" y="2130552"/>
            <a:ext cx="4709159" cy="2203703"/>
          </a:xfrm>
          <a:prstGeom prst="rect">
            <a:avLst/>
          </a:prstGeom>
          <a:noFill/>
          <a:ln>
            <a:noFill/>
          </a:ln>
        </p:spPr>
      </p:pic>
      <p:sp>
        <p:nvSpPr>
          <p:cNvPr id="75" name="Google Shape;75;p16"/>
          <p:cNvSpPr/>
          <p:nvPr/>
        </p:nvSpPr>
        <p:spPr>
          <a:xfrm>
            <a:off x="5623560" y="1600200"/>
            <a:ext cx="2907792" cy="566928"/>
          </a:xfrm>
          <a:prstGeom prst="roundRect">
            <a:avLst>
              <a:gd fmla="val 4247" name="adj"/>
            </a:avLst>
          </a:prstGeom>
          <a:solidFill>
            <a:srgbClr val="FFFFFF"/>
          </a:solidFill>
          <a:ln cap="flat" cmpd="sng" w="9525">
            <a:solidFill>
              <a:srgbClr val="E0DC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 name="Google Shape;76;p16"/>
          <p:cNvSpPr txBox="1"/>
          <p:nvPr/>
        </p:nvSpPr>
        <p:spPr>
          <a:xfrm>
            <a:off x="5760720" y="1600200"/>
            <a:ext cx="77724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zh-CN" sz="2200" u="none" cap="none" strike="noStrike">
                <a:solidFill>
                  <a:srgbClr val="C2402C"/>
                </a:solidFill>
                <a:latin typeface="Source Serif 4"/>
                <a:ea typeface="Source Serif 4"/>
                <a:cs typeface="Source Serif 4"/>
                <a:sym typeface="Source Serif 4"/>
              </a:rPr>
              <a:t>52%</a:t>
            </a:r>
            <a:endParaRPr/>
          </a:p>
        </p:txBody>
      </p:sp>
      <p:sp>
        <p:nvSpPr>
          <p:cNvPr id="77" name="Google Shape;77;p16"/>
          <p:cNvSpPr txBox="1"/>
          <p:nvPr/>
        </p:nvSpPr>
        <p:spPr>
          <a:xfrm>
            <a:off x="6537960" y="1600200"/>
            <a:ext cx="1856232" cy="566928"/>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0" i="0" lang="zh-CN" sz="850" u="none" cap="none" strike="noStrike">
                <a:solidFill>
                  <a:srgbClr val="3D3B36"/>
                </a:solidFill>
                <a:latin typeface="Inter"/>
                <a:ea typeface="Inter"/>
                <a:cs typeface="Inter"/>
                <a:sym typeface="Inter"/>
              </a:rPr>
              <a:t>more concerned than excited about AI, up from 37% in 2021</a:t>
            </a:r>
            <a:endParaRPr/>
          </a:p>
        </p:txBody>
      </p:sp>
      <p:sp>
        <p:nvSpPr>
          <p:cNvPr id="78" name="Google Shape;78;p16"/>
          <p:cNvSpPr/>
          <p:nvPr/>
        </p:nvSpPr>
        <p:spPr>
          <a:xfrm>
            <a:off x="5623560" y="2231136"/>
            <a:ext cx="2907792" cy="566928"/>
          </a:xfrm>
          <a:prstGeom prst="roundRect">
            <a:avLst>
              <a:gd fmla="val 4247" name="adj"/>
            </a:avLst>
          </a:prstGeom>
          <a:solidFill>
            <a:srgbClr val="FFFFFF"/>
          </a:solidFill>
          <a:ln cap="flat" cmpd="sng" w="9525">
            <a:solidFill>
              <a:srgbClr val="E0DC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 name="Google Shape;79;p16"/>
          <p:cNvSpPr txBox="1"/>
          <p:nvPr/>
        </p:nvSpPr>
        <p:spPr>
          <a:xfrm>
            <a:off x="5760720" y="2231136"/>
            <a:ext cx="77724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zh-CN" sz="2200" u="none" cap="none" strike="noStrike">
                <a:solidFill>
                  <a:srgbClr val="C2402C"/>
                </a:solidFill>
                <a:latin typeface="Source Serif 4"/>
                <a:ea typeface="Source Serif 4"/>
                <a:cs typeface="Source Serif 4"/>
                <a:sym typeface="Source Serif 4"/>
              </a:rPr>
              <a:t>73%</a:t>
            </a:r>
            <a:endParaRPr/>
          </a:p>
        </p:txBody>
      </p:sp>
      <p:sp>
        <p:nvSpPr>
          <p:cNvPr id="80" name="Google Shape;80;p16"/>
          <p:cNvSpPr txBox="1"/>
          <p:nvPr/>
        </p:nvSpPr>
        <p:spPr>
          <a:xfrm>
            <a:off x="6537960" y="2231136"/>
            <a:ext cx="1856232" cy="566928"/>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0" i="0" lang="zh-CN" sz="850" u="none" cap="none" strike="noStrike">
                <a:solidFill>
                  <a:srgbClr val="3D3B36"/>
                </a:solidFill>
                <a:latin typeface="Inter"/>
                <a:ea typeface="Inter"/>
                <a:cs typeface="Inter"/>
                <a:sym typeface="Inter"/>
              </a:rPr>
              <a:t>have used AI tools for at least one activity; only 27% never have</a:t>
            </a:r>
            <a:endParaRPr/>
          </a:p>
        </p:txBody>
      </p:sp>
      <p:sp>
        <p:nvSpPr>
          <p:cNvPr id="81" name="Google Shape;81;p16"/>
          <p:cNvSpPr/>
          <p:nvPr/>
        </p:nvSpPr>
        <p:spPr>
          <a:xfrm>
            <a:off x="5623560" y="2862072"/>
            <a:ext cx="2907792" cy="566928"/>
          </a:xfrm>
          <a:prstGeom prst="roundRect">
            <a:avLst>
              <a:gd fmla="val 4247" name="adj"/>
            </a:avLst>
          </a:prstGeom>
          <a:solidFill>
            <a:srgbClr val="FFFFFF"/>
          </a:solidFill>
          <a:ln cap="flat" cmpd="sng" w="9525">
            <a:solidFill>
              <a:srgbClr val="E0DC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 name="Google Shape;82;p16"/>
          <p:cNvSpPr txBox="1"/>
          <p:nvPr/>
        </p:nvSpPr>
        <p:spPr>
          <a:xfrm>
            <a:off x="5760720" y="2862072"/>
            <a:ext cx="77724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zh-CN" sz="2200" u="none" cap="none" strike="noStrike">
                <a:solidFill>
                  <a:srgbClr val="C2402C"/>
                </a:solidFill>
                <a:latin typeface="Source Serif 4"/>
                <a:ea typeface="Source Serif 4"/>
                <a:cs typeface="Source Serif 4"/>
                <a:sym typeface="Source Serif 4"/>
              </a:rPr>
              <a:t>71%</a:t>
            </a:r>
            <a:endParaRPr/>
          </a:p>
        </p:txBody>
      </p:sp>
      <p:sp>
        <p:nvSpPr>
          <p:cNvPr id="83" name="Google Shape;83;p16"/>
          <p:cNvSpPr txBox="1"/>
          <p:nvPr/>
        </p:nvSpPr>
        <p:spPr>
          <a:xfrm>
            <a:off x="6537960" y="2862072"/>
            <a:ext cx="1856232" cy="566928"/>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0" i="0" lang="zh-CN" sz="850" u="none" cap="none" strike="noStrike">
                <a:solidFill>
                  <a:srgbClr val="3D3B36"/>
                </a:solidFill>
                <a:latin typeface="Inter"/>
                <a:ea typeface="Inter"/>
                <a:cs typeface="Inter"/>
                <a:sym typeface="Inter"/>
              </a:rPr>
              <a:t>expect AI to mean fewer U.S. jobs in 20 years, up from 64% in 2024</a:t>
            </a:r>
            <a:endParaRPr/>
          </a:p>
        </p:txBody>
      </p:sp>
      <p:sp>
        <p:nvSpPr>
          <p:cNvPr id="84" name="Google Shape;84;p16"/>
          <p:cNvSpPr/>
          <p:nvPr/>
        </p:nvSpPr>
        <p:spPr>
          <a:xfrm>
            <a:off x="5623560" y="3493008"/>
            <a:ext cx="2907792" cy="896112"/>
          </a:xfrm>
          <a:prstGeom prst="roundRect">
            <a:avLst>
              <a:gd fmla="val 4247" name="adj"/>
            </a:avLst>
          </a:prstGeom>
          <a:solidFill>
            <a:srgbClr val="EBE7D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 name="Google Shape;85;p16"/>
          <p:cNvSpPr txBox="1"/>
          <p:nvPr/>
        </p:nvSpPr>
        <p:spPr>
          <a:xfrm>
            <a:off x="5760720" y="3584448"/>
            <a:ext cx="2633472" cy="16459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zh-CN" sz="1000" u="none" cap="none" strike="noStrike">
                <a:solidFill>
                  <a:srgbClr val="16181C"/>
                </a:solidFill>
                <a:latin typeface="Inter"/>
                <a:ea typeface="Inter"/>
                <a:cs typeface="Inter"/>
                <a:sym typeface="Inter"/>
              </a:rPr>
              <a:t>Not just the U.S.</a:t>
            </a:r>
            <a:endParaRPr/>
          </a:p>
        </p:txBody>
      </p:sp>
      <p:sp>
        <p:nvSpPr>
          <p:cNvPr id="86" name="Google Shape;86;p16"/>
          <p:cNvSpPr txBox="1"/>
          <p:nvPr/>
        </p:nvSpPr>
        <p:spPr>
          <a:xfrm>
            <a:off x="5760720" y="3785615"/>
            <a:ext cx="2633472" cy="5486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zh-CN" sz="850" u="none" cap="none" strike="noStrike">
                <a:solidFill>
                  <a:srgbClr val="3D3B36"/>
                </a:solidFill>
                <a:latin typeface="Inter"/>
                <a:ea typeface="Inter"/>
                <a:cs typeface="Inter"/>
                <a:sym typeface="Inter"/>
              </a:rPr>
              <a:t>Across 25 countries in 2025, a median of 34% were more concerned than excited vs. 16% more excited. No country led on excitement.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81C"/>
        </a:solidFill>
      </p:bgPr>
    </p:bg>
    <p:spTree>
      <p:nvGrpSpPr>
        <p:cNvPr id="91" name="Shape 91"/>
        <p:cNvGrpSpPr/>
        <p:nvPr/>
      </p:nvGrpSpPr>
      <p:grpSpPr>
        <a:xfrm>
          <a:off x="0" y="0"/>
          <a:ext cx="0" cy="0"/>
          <a:chOff x="0" y="0"/>
          <a:chExt cx="0" cy="0"/>
        </a:xfrm>
      </p:grpSpPr>
      <p:sp>
        <p:nvSpPr>
          <p:cNvPr id="92" name="Google Shape;92;p17"/>
          <p:cNvSpPr/>
          <p:nvPr/>
        </p:nvSpPr>
        <p:spPr>
          <a:xfrm>
            <a:off x="609586" y="609586"/>
            <a:ext cx="8162572" cy="335750"/>
          </a:xfrm>
          <a:prstGeom prst="rect">
            <a:avLst/>
          </a:prstGeom>
          <a:noFill/>
          <a:ln>
            <a:noFill/>
          </a:ln>
        </p:spPr>
        <p:txBody>
          <a:bodyPr anchorCtr="0" anchor="t" bIns="0" lIns="0" spcFirstLastPara="1" rIns="0" wrap="square" tIns="0">
            <a:noAutofit/>
          </a:bodyPr>
          <a:lstStyle/>
          <a:p>
            <a:pPr indent="0" lvl="0" marL="0" marR="0" rtl="0" algn="l">
              <a:lnSpc>
                <a:spcPct val="105001"/>
              </a:lnSpc>
              <a:spcBef>
                <a:spcPts val="0"/>
              </a:spcBef>
              <a:spcAft>
                <a:spcPts val="0"/>
              </a:spcAft>
              <a:buClr>
                <a:srgbClr val="F7F5F0"/>
              </a:buClr>
              <a:buSzPts val="2400"/>
              <a:buFont typeface="Source Serif 4"/>
              <a:buNone/>
            </a:pPr>
            <a:r>
              <a:rPr lang="zh-CN" sz="2400">
                <a:solidFill>
                  <a:srgbClr val="F7F5F0"/>
                </a:solidFill>
                <a:latin typeface="Source Serif 4"/>
                <a:ea typeface="Source Serif 4"/>
                <a:cs typeface="Source Serif 4"/>
                <a:sym typeface="Source Serif 4"/>
              </a:rPr>
              <a:t>Where are we on the S-curve?</a:t>
            </a:r>
            <a:endParaRPr b="0" i="0" sz="2400" u="none" cap="none" strike="noStrike">
              <a:solidFill>
                <a:schemeClr val="dk1"/>
              </a:solidFill>
              <a:latin typeface="Calibri"/>
              <a:ea typeface="Calibri"/>
              <a:cs typeface="Calibri"/>
              <a:sym typeface="Calibri"/>
            </a:endParaRPr>
          </a:p>
        </p:txBody>
      </p:sp>
      <p:sp>
        <p:nvSpPr>
          <p:cNvPr id="93" name="Google Shape;93;p17"/>
          <p:cNvSpPr/>
          <p:nvPr/>
        </p:nvSpPr>
        <p:spPr>
          <a:xfrm>
            <a:off x="609586" y="1002458"/>
            <a:ext cx="7358062" cy="34129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8A59E"/>
              </a:buClr>
              <a:buSzPts val="1100"/>
              <a:buFont typeface="Inter"/>
              <a:buNone/>
            </a:pPr>
            <a:r>
              <a:rPr lang="zh-CN" sz="1100">
                <a:solidFill>
                  <a:srgbClr val="A8A59E"/>
                </a:solidFill>
                <a:latin typeface="Inter"/>
                <a:ea typeface="Inter"/>
                <a:cs typeface="Inter"/>
                <a:sym typeface="Inter"/>
              </a:rPr>
              <a:t>From optional tool to embedded infrastructure</a:t>
            </a:r>
            <a:endParaRPr b="0" i="0" sz="1100" u="none" cap="none" strike="noStrike">
              <a:solidFill>
                <a:schemeClr val="dk1"/>
              </a:solidFill>
              <a:latin typeface="Calibri"/>
              <a:ea typeface="Calibri"/>
              <a:cs typeface="Calibri"/>
              <a:sym typeface="Calibri"/>
            </a:endParaRPr>
          </a:p>
        </p:txBody>
      </p:sp>
      <p:sp>
        <p:nvSpPr>
          <p:cNvPr id="94" name="Google Shape;94;p17"/>
          <p:cNvSpPr/>
          <p:nvPr/>
        </p:nvSpPr>
        <p:spPr>
          <a:xfrm>
            <a:off x="609587" y="1515205"/>
            <a:ext cx="2552707" cy="1889272"/>
          </a:xfrm>
          <a:prstGeom prst="roundRect">
            <a:avLst>
              <a:gd fmla="val 3529" name="adj"/>
            </a:avLst>
          </a:prstGeom>
          <a:solidFill>
            <a:srgbClr val="20242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5" name="Google Shape;95;p17"/>
          <p:cNvSpPr/>
          <p:nvPr/>
        </p:nvSpPr>
        <p:spPr>
          <a:xfrm>
            <a:off x="781010" y="1686628"/>
            <a:ext cx="2276156" cy="17237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1603F"/>
              </a:buClr>
              <a:buSzPts val="900"/>
              <a:buFont typeface="Inter"/>
              <a:buNone/>
            </a:pPr>
            <a:r>
              <a:rPr b="1" lang="zh-CN" sz="900">
                <a:solidFill>
                  <a:srgbClr val="D1603F"/>
                </a:solidFill>
                <a:latin typeface="Inter"/>
                <a:ea typeface="Inter"/>
                <a:cs typeface="Inter"/>
                <a:sym typeface="Inter"/>
              </a:rPr>
              <a:t>EARLY CURVE</a:t>
            </a:r>
            <a:endParaRPr b="0" i="0" sz="900" u="none" cap="none" strike="noStrike">
              <a:solidFill>
                <a:schemeClr val="dk1"/>
              </a:solidFill>
              <a:latin typeface="Calibri"/>
              <a:ea typeface="Calibri"/>
              <a:cs typeface="Calibri"/>
              <a:sym typeface="Calibri"/>
            </a:endParaRPr>
          </a:p>
        </p:txBody>
      </p:sp>
      <p:sp>
        <p:nvSpPr>
          <p:cNvPr id="96" name="Google Shape;96;p17"/>
          <p:cNvSpPr/>
          <p:nvPr/>
        </p:nvSpPr>
        <p:spPr>
          <a:xfrm>
            <a:off x="781010" y="1916129"/>
            <a:ext cx="2276156" cy="22477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7F5F0"/>
              </a:buClr>
              <a:buSzPts val="1400"/>
              <a:buFont typeface="Source Serif 4"/>
              <a:buNone/>
            </a:pPr>
            <a:r>
              <a:rPr lang="zh-CN">
                <a:solidFill>
                  <a:srgbClr val="F7F5F0"/>
                </a:solidFill>
                <a:latin typeface="Source Serif 4"/>
                <a:ea typeface="Source Serif 4"/>
                <a:cs typeface="Source Serif 4"/>
                <a:sym typeface="Source Serif 4"/>
              </a:rPr>
              <a:t>Experimentation</a:t>
            </a:r>
            <a:endParaRPr b="0" i="0" sz="1400" u="none" cap="none" strike="noStrike">
              <a:solidFill>
                <a:schemeClr val="dk1"/>
              </a:solidFill>
              <a:latin typeface="Calibri"/>
              <a:ea typeface="Calibri"/>
              <a:cs typeface="Calibri"/>
              <a:sym typeface="Calibri"/>
            </a:endParaRPr>
          </a:p>
        </p:txBody>
      </p:sp>
      <p:sp>
        <p:nvSpPr>
          <p:cNvPr id="97" name="Google Shape;97;p17"/>
          <p:cNvSpPr/>
          <p:nvPr/>
        </p:nvSpPr>
        <p:spPr>
          <a:xfrm>
            <a:off x="781010" y="2198022"/>
            <a:ext cx="2276156" cy="882254"/>
          </a:xfrm>
          <a:prstGeom prst="rect">
            <a:avLst/>
          </a:prstGeom>
          <a:noFill/>
          <a:ln>
            <a:noFill/>
          </a:ln>
        </p:spPr>
        <p:txBody>
          <a:bodyPr anchorCtr="0" anchor="t" bIns="0" lIns="0" spcFirstLastPara="1" rIns="0" wrap="square" tIns="0">
            <a:noAutofit/>
          </a:bodyPr>
          <a:lstStyle/>
          <a:p>
            <a:pPr indent="0" lvl="0" marL="0" marR="0" rtl="0" algn="l">
              <a:lnSpc>
                <a:spcPct val="145040"/>
              </a:lnSpc>
              <a:spcBef>
                <a:spcPts val="0"/>
              </a:spcBef>
              <a:spcAft>
                <a:spcPts val="0"/>
              </a:spcAft>
              <a:buClr>
                <a:srgbClr val="C6C3BB"/>
              </a:buClr>
              <a:buSzPts val="900"/>
              <a:buFont typeface="Inter"/>
              <a:buNone/>
            </a:pPr>
            <a:r>
              <a:rPr lang="zh-CN" sz="900">
                <a:solidFill>
                  <a:srgbClr val="C6C3BB"/>
                </a:solidFill>
                <a:latin typeface="Inter"/>
                <a:ea typeface="Inter"/>
                <a:cs typeface="Inter"/>
                <a:sym typeface="Inter"/>
              </a:rPr>
              <a:t>AI is something users deliberately seek out: chatbots, image generators and coding assistants.</a:t>
            </a:r>
            <a:endParaRPr b="0" i="0" sz="900" u="none" cap="none" strike="noStrike">
              <a:solidFill>
                <a:schemeClr val="dk1"/>
              </a:solidFill>
              <a:latin typeface="Calibri"/>
              <a:ea typeface="Calibri"/>
              <a:cs typeface="Calibri"/>
              <a:sym typeface="Calibri"/>
            </a:endParaRPr>
          </a:p>
        </p:txBody>
      </p:sp>
      <p:sp>
        <p:nvSpPr>
          <p:cNvPr id="98" name="Google Shape;98;p17"/>
          <p:cNvSpPr/>
          <p:nvPr/>
        </p:nvSpPr>
        <p:spPr>
          <a:xfrm>
            <a:off x="3295630" y="1515205"/>
            <a:ext cx="2552741" cy="1889272"/>
          </a:xfrm>
          <a:prstGeom prst="roundRect">
            <a:avLst>
              <a:gd fmla="val 3529" name="adj"/>
            </a:avLst>
          </a:prstGeom>
          <a:solidFill>
            <a:srgbClr val="20242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9" name="Google Shape;99;p17"/>
          <p:cNvSpPr/>
          <p:nvPr/>
        </p:nvSpPr>
        <p:spPr>
          <a:xfrm>
            <a:off x="3467053" y="1686629"/>
            <a:ext cx="2276192" cy="16872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1603F"/>
              </a:buClr>
              <a:buSzPts val="800"/>
              <a:buFont typeface="Inter"/>
              <a:buNone/>
            </a:pPr>
            <a:r>
              <a:rPr b="1" lang="zh-CN" sz="800">
                <a:solidFill>
                  <a:srgbClr val="D1603F"/>
                </a:solidFill>
                <a:latin typeface="Inter"/>
                <a:ea typeface="Inter"/>
                <a:cs typeface="Inter"/>
                <a:sym typeface="Inter"/>
              </a:rPr>
              <a:t>RISING CURVE (TODAY)</a:t>
            </a:r>
            <a:endParaRPr b="0" i="0" sz="800" u="none" cap="none" strike="noStrike">
              <a:solidFill>
                <a:schemeClr val="dk1"/>
              </a:solidFill>
              <a:latin typeface="Calibri"/>
              <a:ea typeface="Calibri"/>
              <a:cs typeface="Calibri"/>
              <a:sym typeface="Calibri"/>
            </a:endParaRPr>
          </a:p>
        </p:txBody>
      </p:sp>
      <p:sp>
        <p:nvSpPr>
          <p:cNvPr id="100" name="Google Shape;100;p17"/>
          <p:cNvSpPr/>
          <p:nvPr/>
        </p:nvSpPr>
        <p:spPr>
          <a:xfrm>
            <a:off x="3467053" y="1912475"/>
            <a:ext cx="2276192" cy="42071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7F5F0"/>
              </a:buClr>
              <a:buSzPts val="1300"/>
              <a:buFont typeface="Source Serif 4"/>
              <a:buNone/>
            </a:pPr>
            <a:r>
              <a:rPr lang="zh-CN" sz="1300">
                <a:solidFill>
                  <a:srgbClr val="F7F5F0"/>
                </a:solidFill>
                <a:latin typeface="Source Serif 4"/>
                <a:ea typeface="Source Serif 4"/>
                <a:cs typeface="Source Serif 4"/>
                <a:sym typeface="Source Serif 4"/>
              </a:rPr>
              <a:t>Rapid embedding</a:t>
            </a:r>
            <a:endParaRPr b="0" i="0" sz="1300" u="none" cap="none" strike="noStrike">
              <a:solidFill>
                <a:schemeClr val="dk1"/>
              </a:solidFill>
              <a:latin typeface="Calibri"/>
              <a:ea typeface="Calibri"/>
              <a:cs typeface="Calibri"/>
              <a:sym typeface="Calibri"/>
            </a:endParaRPr>
          </a:p>
        </p:txBody>
      </p:sp>
      <p:sp>
        <p:nvSpPr>
          <p:cNvPr id="101" name="Google Shape;101;p17"/>
          <p:cNvSpPr/>
          <p:nvPr/>
        </p:nvSpPr>
        <p:spPr>
          <a:xfrm>
            <a:off x="3467053" y="2390315"/>
            <a:ext cx="2276192" cy="861789"/>
          </a:xfrm>
          <a:prstGeom prst="rect">
            <a:avLst/>
          </a:prstGeom>
          <a:noFill/>
          <a:ln>
            <a:noFill/>
          </a:ln>
        </p:spPr>
        <p:txBody>
          <a:bodyPr anchorCtr="0" anchor="t" bIns="0" lIns="0" spcFirstLastPara="1" rIns="0" wrap="square" tIns="0">
            <a:noAutofit/>
          </a:bodyPr>
          <a:lstStyle/>
          <a:p>
            <a:pPr indent="0" lvl="0" marL="0" marR="0" rtl="0" algn="l">
              <a:lnSpc>
                <a:spcPct val="144971"/>
              </a:lnSpc>
              <a:spcBef>
                <a:spcPts val="0"/>
              </a:spcBef>
              <a:spcAft>
                <a:spcPts val="0"/>
              </a:spcAft>
              <a:buClr>
                <a:srgbClr val="C6C3BB"/>
              </a:buClr>
              <a:buSzPts val="900"/>
              <a:buFont typeface="Inter"/>
              <a:buNone/>
            </a:pPr>
            <a:r>
              <a:rPr lang="zh-CN" sz="900">
                <a:solidFill>
                  <a:srgbClr val="C6C3BB"/>
                </a:solidFill>
                <a:latin typeface="Inter"/>
                <a:ea typeface="Inter"/>
                <a:cs typeface="Inter"/>
                <a:sym typeface="Inter"/>
              </a:rPr>
              <a:t>AI increasingly appears inside workplaces, </a:t>
            </a:r>
            <a:r>
              <a:rPr lang="zh-CN" sz="900">
                <a:solidFill>
                  <a:srgbClr val="C6C3BB"/>
                </a:solidFill>
                <a:latin typeface="Inter"/>
                <a:ea typeface="Inter"/>
                <a:cs typeface="Inter"/>
                <a:sym typeface="Inter"/>
              </a:rPr>
              <a:t>schools</a:t>
            </a:r>
            <a:r>
              <a:rPr lang="zh-CN" sz="900">
                <a:solidFill>
                  <a:srgbClr val="C6C3BB"/>
                </a:solidFill>
                <a:latin typeface="Inter"/>
                <a:ea typeface="Inter"/>
                <a:cs typeface="Inter"/>
                <a:sym typeface="Inter"/>
              </a:rPr>
              <a:t>, platforms and services rather than only as a standalone tool.</a:t>
            </a:r>
            <a:endParaRPr b="0" i="0" sz="900" u="none" cap="none" strike="noStrike">
              <a:solidFill>
                <a:schemeClr val="dk1"/>
              </a:solidFill>
              <a:latin typeface="Calibri"/>
              <a:ea typeface="Calibri"/>
              <a:cs typeface="Calibri"/>
              <a:sym typeface="Calibri"/>
            </a:endParaRPr>
          </a:p>
        </p:txBody>
      </p:sp>
      <p:sp>
        <p:nvSpPr>
          <p:cNvPr id="102" name="Google Shape;102;p17"/>
          <p:cNvSpPr/>
          <p:nvPr/>
        </p:nvSpPr>
        <p:spPr>
          <a:xfrm>
            <a:off x="5981707" y="1515205"/>
            <a:ext cx="2552707" cy="1889272"/>
          </a:xfrm>
          <a:prstGeom prst="roundRect">
            <a:avLst>
              <a:gd fmla="val 3529" name="adj"/>
            </a:avLst>
          </a:prstGeom>
          <a:solidFill>
            <a:srgbClr val="20242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3" name="Google Shape;103;p17"/>
          <p:cNvSpPr/>
          <p:nvPr/>
        </p:nvSpPr>
        <p:spPr>
          <a:xfrm>
            <a:off x="6153130" y="1686628"/>
            <a:ext cx="2276156" cy="14251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1603F"/>
              </a:buClr>
              <a:buSzPts val="700"/>
              <a:buFont typeface="Inter"/>
              <a:buNone/>
            </a:pPr>
            <a:r>
              <a:rPr b="1" lang="zh-CN" sz="700">
                <a:solidFill>
                  <a:srgbClr val="D1603F"/>
                </a:solidFill>
                <a:latin typeface="Inter"/>
                <a:ea typeface="Inter"/>
                <a:cs typeface="Inter"/>
                <a:sym typeface="Inter"/>
              </a:rPr>
              <a:t>TOP OF THE S-CURVE</a:t>
            </a:r>
            <a:endParaRPr b="0" i="0" sz="700" u="none" cap="none" strike="noStrike">
              <a:solidFill>
                <a:schemeClr val="dk1"/>
              </a:solidFill>
              <a:latin typeface="Calibri"/>
              <a:ea typeface="Calibri"/>
              <a:cs typeface="Calibri"/>
              <a:sym typeface="Calibri"/>
            </a:endParaRPr>
          </a:p>
        </p:txBody>
      </p:sp>
      <p:sp>
        <p:nvSpPr>
          <p:cNvPr id="104" name="Google Shape;104;p17"/>
          <p:cNvSpPr/>
          <p:nvPr/>
        </p:nvSpPr>
        <p:spPr>
          <a:xfrm>
            <a:off x="6153130" y="1886261"/>
            <a:ext cx="2276156" cy="350260"/>
          </a:xfrm>
          <a:prstGeom prst="rect">
            <a:avLst/>
          </a:prstGeom>
          <a:noFill/>
          <a:ln>
            <a:noFill/>
          </a:ln>
        </p:spPr>
        <p:txBody>
          <a:bodyPr anchorCtr="0" anchor="t" bIns="0" lIns="0" spcFirstLastPara="1" rIns="0" wrap="square" tIns="0">
            <a:noAutofit/>
          </a:bodyPr>
          <a:lstStyle/>
          <a:p>
            <a:pPr indent="0" lvl="0" marL="0" marR="0" rtl="0" algn="l">
              <a:lnSpc>
                <a:spcPct val="120023"/>
              </a:lnSpc>
              <a:spcBef>
                <a:spcPts val="0"/>
              </a:spcBef>
              <a:spcAft>
                <a:spcPts val="0"/>
              </a:spcAft>
              <a:buClr>
                <a:srgbClr val="F7F5F0"/>
              </a:buClr>
              <a:buSzPts val="1300"/>
              <a:buFont typeface="Source Serif 4"/>
              <a:buNone/>
            </a:pPr>
            <a:r>
              <a:rPr lang="zh-CN" sz="1300">
                <a:solidFill>
                  <a:srgbClr val="F7F5F0"/>
                </a:solidFill>
                <a:latin typeface="Source Serif 4"/>
                <a:ea typeface="Source Serif 4"/>
                <a:cs typeface="Source Serif 4"/>
                <a:sym typeface="Source Serif 4"/>
              </a:rPr>
              <a:t>AI as infrastructure</a:t>
            </a:r>
            <a:endParaRPr b="0" i="0" sz="1300" u="none" cap="none" strike="noStrike">
              <a:solidFill>
                <a:schemeClr val="dk1"/>
              </a:solidFill>
              <a:latin typeface="Calibri"/>
              <a:ea typeface="Calibri"/>
              <a:cs typeface="Calibri"/>
              <a:sym typeface="Calibri"/>
            </a:endParaRPr>
          </a:p>
        </p:txBody>
      </p:sp>
      <p:sp>
        <p:nvSpPr>
          <p:cNvPr id="105" name="Google Shape;105;p17"/>
          <p:cNvSpPr/>
          <p:nvPr/>
        </p:nvSpPr>
        <p:spPr>
          <a:xfrm>
            <a:off x="6286480" y="2293644"/>
            <a:ext cx="2138806" cy="958460"/>
          </a:xfrm>
          <a:prstGeom prst="rect">
            <a:avLst/>
          </a:prstGeom>
          <a:noFill/>
          <a:ln>
            <a:noFill/>
          </a:ln>
        </p:spPr>
        <p:txBody>
          <a:bodyPr anchorCtr="0" anchor="t" bIns="0" lIns="0" spcFirstLastPara="1" rIns="0" wrap="square" tIns="0">
            <a:noAutofit/>
          </a:bodyPr>
          <a:lstStyle/>
          <a:p>
            <a:pPr indent="0" lvl="0" marL="0" marR="0" rtl="0" algn="l">
              <a:lnSpc>
                <a:spcPct val="140037"/>
              </a:lnSpc>
              <a:spcBef>
                <a:spcPts val="0"/>
              </a:spcBef>
              <a:spcAft>
                <a:spcPts val="0"/>
              </a:spcAft>
              <a:buNone/>
            </a:pPr>
            <a:r>
              <a:rPr lang="zh-CN" sz="800">
                <a:solidFill>
                  <a:srgbClr val="C6C3BB"/>
                </a:solidFill>
                <a:latin typeface="Inter"/>
                <a:ea typeface="Inter"/>
                <a:cs typeface="Inter"/>
                <a:sym typeface="Inter"/>
              </a:rPr>
              <a:t>At saturation, interacting with AI may become less of an explicit choice because it is built into the systems people already depend on.</a:t>
            </a:r>
            <a:endParaRPr b="0" i="0" sz="800" u="none" cap="none" strike="noStrike">
              <a:solidFill>
                <a:schemeClr val="dk1"/>
              </a:solidFill>
              <a:latin typeface="Calibri"/>
              <a:ea typeface="Calibri"/>
              <a:cs typeface="Calibri"/>
              <a:sym typeface="Calibri"/>
            </a:endParaRPr>
          </a:p>
        </p:txBody>
      </p:sp>
      <p:sp>
        <p:nvSpPr>
          <p:cNvPr id="106" name="Google Shape;106;p17"/>
          <p:cNvSpPr/>
          <p:nvPr/>
        </p:nvSpPr>
        <p:spPr>
          <a:xfrm>
            <a:off x="612000" y="3603790"/>
            <a:ext cx="7920000" cy="541200"/>
          </a:xfrm>
          <a:prstGeom prst="roundRect">
            <a:avLst>
              <a:gd fmla="val 8224" name="adj"/>
            </a:avLst>
          </a:prstGeom>
          <a:solidFill>
            <a:srgbClr val="2B2018"/>
          </a:solidFill>
          <a:ln cap="flat" cmpd="sng" w="9525">
            <a:solidFill>
              <a:srgbClr val="4A372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7" name="Google Shape;107;p17"/>
          <p:cNvSpPr/>
          <p:nvPr/>
        </p:nvSpPr>
        <p:spPr>
          <a:xfrm>
            <a:off x="759300" y="3657390"/>
            <a:ext cx="7691700" cy="486300"/>
          </a:xfrm>
          <a:prstGeom prst="rect">
            <a:avLst/>
          </a:prstGeom>
          <a:noFill/>
          <a:ln>
            <a:noFill/>
          </a:ln>
        </p:spPr>
        <p:txBody>
          <a:bodyPr anchorCtr="0" anchor="t" bIns="0" lIns="0" spcFirstLastPara="1" rIns="0" wrap="square" tIns="0">
            <a:noAutofit/>
          </a:bodyPr>
          <a:lstStyle/>
          <a:p>
            <a:pPr indent="0" lvl="0" marL="0" marR="0" rtl="0" algn="l">
              <a:lnSpc>
                <a:spcPct val="139985"/>
              </a:lnSpc>
              <a:spcBef>
                <a:spcPts val="0"/>
              </a:spcBef>
              <a:spcAft>
                <a:spcPts val="0"/>
              </a:spcAft>
              <a:buClr>
                <a:srgbClr val="F0C7A8"/>
              </a:buClr>
              <a:buSzPts val="1100"/>
              <a:buFont typeface="Inter"/>
              <a:buNone/>
            </a:pPr>
            <a:r>
              <a:rPr b="1" lang="zh-CN" sz="1100">
                <a:solidFill>
                  <a:srgbClr val="F0C7A8"/>
                </a:solidFill>
                <a:latin typeface="Inter"/>
                <a:ea typeface="Inter"/>
                <a:cs typeface="Inter"/>
                <a:sym typeface="Inter"/>
              </a:rPr>
              <a:t>Emerging dominant design (hypothesis): AI becomes an embedded layer inside existing products and institutions rather than a separate product people consciously choose each time.</a:t>
            </a:r>
            <a:endParaRPr b="0" i="0" sz="1100" u="none" cap="none" strike="noStrike">
              <a:solidFill>
                <a:schemeClr val="dk1"/>
              </a:solidFill>
              <a:latin typeface="Calibri"/>
              <a:ea typeface="Calibri"/>
              <a:cs typeface="Calibri"/>
              <a:sym typeface="Calibri"/>
            </a:endParaRPr>
          </a:p>
        </p:txBody>
      </p:sp>
      <p:sp>
        <p:nvSpPr>
          <p:cNvPr id="108" name="Google Shape;108;p17"/>
          <p:cNvSpPr/>
          <p:nvPr/>
        </p:nvSpPr>
        <p:spPr>
          <a:xfrm>
            <a:off x="612000" y="4344298"/>
            <a:ext cx="7920000" cy="420600"/>
          </a:xfrm>
          <a:prstGeom prst="roundRect">
            <a:avLst>
              <a:gd fmla="val 8224" name="adj"/>
            </a:avLst>
          </a:prstGeom>
          <a:solidFill>
            <a:srgbClr val="20242A"/>
          </a:solidFill>
          <a:ln cap="flat" cmpd="sng" w="9525">
            <a:solidFill>
              <a:schemeClr val="accent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9" name="Google Shape;109;p17"/>
          <p:cNvSpPr/>
          <p:nvPr/>
        </p:nvSpPr>
        <p:spPr>
          <a:xfrm>
            <a:off x="759300" y="4459655"/>
            <a:ext cx="7691700" cy="224700"/>
          </a:xfrm>
          <a:prstGeom prst="rect">
            <a:avLst/>
          </a:prstGeom>
          <a:noFill/>
          <a:ln>
            <a:noFill/>
          </a:ln>
        </p:spPr>
        <p:txBody>
          <a:bodyPr anchorCtr="0" anchor="t" bIns="0" lIns="0" spcFirstLastPara="1" rIns="0" wrap="square" tIns="0">
            <a:noAutofit/>
          </a:bodyPr>
          <a:lstStyle/>
          <a:p>
            <a:pPr indent="0" lvl="0" marL="0" marR="0" rtl="0" algn="l">
              <a:lnSpc>
                <a:spcPct val="139986"/>
              </a:lnSpc>
              <a:spcBef>
                <a:spcPts val="0"/>
              </a:spcBef>
              <a:spcAft>
                <a:spcPts val="0"/>
              </a:spcAft>
              <a:buClr>
                <a:srgbClr val="F0C7A8"/>
              </a:buClr>
              <a:buSzPts val="1100"/>
              <a:buFont typeface="Inter"/>
              <a:buNone/>
            </a:pPr>
            <a:r>
              <a:rPr b="1" lang="zh-CN" sz="1100">
                <a:solidFill>
                  <a:schemeClr val="accent6"/>
                </a:solidFill>
                <a:latin typeface="Inter"/>
                <a:ea typeface="Inter"/>
                <a:cs typeface="Inter"/>
                <a:sym typeface="Inter"/>
              </a:rPr>
              <a:t>Key question: What happens if this design reaches saturation before public legitimacy catches up?</a:t>
            </a:r>
            <a:endParaRPr b="0" i="0" sz="1100" u="none" cap="none" strike="noStrike">
              <a:solidFill>
                <a:schemeClr val="accent6"/>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81C"/>
        </a:solidFill>
      </p:bgPr>
    </p:bg>
    <p:spTree>
      <p:nvGrpSpPr>
        <p:cNvPr id="114" name="Shape 114"/>
        <p:cNvGrpSpPr/>
        <p:nvPr/>
      </p:nvGrpSpPr>
      <p:grpSpPr>
        <a:xfrm>
          <a:off x="0" y="0"/>
          <a:ext cx="0" cy="0"/>
          <a:chOff x="0" y="0"/>
          <a:chExt cx="0" cy="0"/>
        </a:xfrm>
      </p:grpSpPr>
      <p:sp>
        <p:nvSpPr>
          <p:cNvPr id="115" name="Google Shape;115;p18"/>
          <p:cNvSpPr/>
          <p:nvPr/>
        </p:nvSpPr>
        <p:spPr>
          <a:xfrm>
            <a:off x="609586" y="609586"/>
            <a:ext cx="8162700" cy="335700"/>
          </a:xfrm>
          <a:prstGeom prst="rect">
            <a:avLst/>
          </a:prstGeom>
          <a:noFill/>
          <a:ln>
            <a:noFill/>
          </a:ln>
        </p:spPr>
        <p:txBody>
          <a:bodyPr anchorCtr="0" anchor="t" bIns="0" lIns="0" spcFirstLastPara="1" rIns="0" wrap="square" tIns="0">
            <a:noAutofit/>
          </a:bodyPr>
          <a:lstStyle/>
          <a:p>
            <a:pPr indent="0" lvl="0" marL="0" marR="0" rtl="0" algn="l">
              <a:lnSpc>
                <a:spcPct val="105001"/>
              </a:lnSpc>
              <a:spcBef>
                <a:spcPts val="0"/>
              </a:spcBef>
              <a:spcAft>
                <a:spcPts val="0"/>
              </a:spcAft>
              <a:buClr>
                <a:srgbClr val="F7F5F0"/>
              </a:buClr>
              <a:buSzPts val="2400"/>
              <a:buFont typeface="Source Serif 4"/>
              <a:buNone/>
            </a:pPr>
            <a:r>
              <a:rPr b="0" i="0" lang="zh-CN" sz="2400" u="none" cap="none" strike="noStrike">
                <a:solidFill>
                  <a:srgbClr val="F7F5F0"/>
                </a:solidFill>
                <a:latin typeface="Source Serif 4"/>
                <a:ea typeface="Source Serif 4"/>
                <a:cs typeface="Source Serif 4"/>
                <a:sym typeface="Source Serif 4"/>
              </a:rPr>
              <a:t>Trending to the absurd</a:t>
            </a:r>
            <a:endParaRPr b="0" i="0" sz="2400" u="none" cap="none" strike="noStrike">
              <a:solidFill>
                <a:schemeClr val="dk1"/>
              </a:solidFill>
              <a:latin typeface="Calibri"/>
              <a:ea typeface="Calibri"/>
              <a:cs typeface="Calibri"/>
              <a:sym typeface="Calibri"/>
            </a:endParaRPr>
          </a:p>
        </p:txBody>
      </p:sp>
      <p:sp>
        <p:nvSpPr>
          <p:cNvPr id="116" name="Google Shape;116;p18"/>
          <p:cNvSpPr/>
          <p:nvPr/>
        </p:nvSpPr>
        <p:spPr>
          <a:xfrm>
            <a:off x="609586" y="1002458"/>
            <a:ext cx="7358100" cy="341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8A59E"/>
              </a:buClr>
              <a:buSzPts val="1100"/>
              <a:buFont typeface="Inter"/>
              <a:buNone/>
            </a:pPr>
            <a:r>
              <a:t/>
            </a:r>
            <a:endParaRPr b="0" i="0" sz="1100" u="none" cap="none" strike="noStrike">
              <a:solidFill>
                <a:schemeClr val="dk1"/>
              </a:solidFill>
              <a:latin typeface="Calibri"/>
              <a:ea typeface="Calibri"/>
              <a:cs typeface="Calibri"/>
              <a:sym typeface="Calibri"/>
            </a:endParaRPr>
          </a:p>
        </p:txBody>
      </p:sp>
      <p:sp>
        <p:nvSpPr>
          <p:cNvPr id="117" name="Google Shape;117;p18"/>
          <p:cNvSpPr/>
          <p:nvPr/>
        </p:nvSpPr>
        <p:spPr>
          <a:xfrm>
            <a:off x="609586" y="1515206"/>
            <a:ext cx="2552700" cy="1889400"/>
          </a:xfrm>
          <a:prstGeom prst="roundRect">
            <a:avLst>
              <a:gd fmla="val 3529" name="adj"/>
            </a:avLst>
          </a:prstGeom>
          <a:solidFill>
            <a:srgbClr val="20242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8" name="Google Shape;118;p18"/>
          <p:cNvSpPr/>
          <p:nvPr/>
        </p:nvSpPr>
        <p:spPr>
          <a:xfrm>
            <a:off x="781010" y="1686629"/>
            <a:ext cx="2276100" cy="172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1603F"/>
              </a:buClr>
              <a:buSzPts val="900"/>
              <a:buFont typeface="Inter"/>
              <a:buNone/>
            </a:pPr>
            <a:r>
              <a:rPr b="1" i="0" lang="zh-CN" sz="900" u="none" cap="none" strike="noStrike">
                <a:solidFill>
                  <a:srgbClr val="D1603F"/>
                </a:solidFill>
                <a:latin typeface="Inter"/>
                <a:ea typeface="Inter"/>
                <a:cs typeface="Inter"/>
                <a:sym typeface="Inter"/>
              </a:rPr>
              <a:t>THE TREND</a:t>
            </a:r>
            <a:endParaRPr b="0" i="0" sz="900" u="none" cap="none" strike="noStrike">
              <a:solidFill>
                <a:schemeClr val="dk1"/>
              </a:solidFill>
              <a:latin typeface="Calibri"/>
              <a:ea typeface="Calibri"/>
              <a:cs typeface="Calibri"/>
              <a:sym typeface="Calibri"/>
            </a:endParaRPr>
          </a:p>
        </p:txBody>
      </p:sp>
      <p:sp>
        <p:nvSpPr>
          <p:cNvPr id="119" name="Google Shape;119;p18"/>
          <p:cNvSpPr/>
          <p:nvPr/>
        </p:nvSpPr>
        <p:spPr>
          <a:xfrm>
            <a:off x="781010" y="1916129"/>
            <a:ext cx="2276100" cy="224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7F5F0"/>
              </a:buClr>
              <a:buSzPts val="1400"/>
              <a:buFont typeface="Source Serif 4"/>
              <a:buNone/>
            </a:pPr>
            <a:r>
              <a:rPr lang="zh-CN">
                <a:solidFill>
                  <a:srgbClr val="F7F5F0"/>
                </a:solidFill>
                <a:latin typeface="Source Serif 4"/>
                <a:ea typeface="Source Serif 4"/>
                <a:cs typeface="Source Serif 4"/>
                <a:sym typeface="Source Serif 4"/>
              </a:rPr>
              <a:t>Use spreads, legitimacy lags</a:t>
            </a:r>
            <a:endParaRPr b="0" i="0" sz="1400" u="none" cap="none" strike="noStrike">
              <a:solidFill>
                <a:schemeClr val="dk1"/>
              </a:solidFill>
              <a:latin typeface="Calibri"/>
              <a:ea typeface="Calibri"/>
              <a:cs typeface="Calibri"/>
              <a:sym typeface="Calibri"/>
            </a:endParaRPr>
          </a:p>
        </p:txBody>
      </p:sp>
      <p:sp>
        <p:nvSpPr>
          <p:cNvPr id="120" name="Google Shape;120;p18"/>
          <p:cNvSpPr/>
          <p:nvPr/>
        </p:nvSpPr>
        <p:spPr>
          <a:xfrm>
            <a:off x="781010" y="2500360"/>
            <a:ext cx="2276100" cy="882300"/>
          </a:xfrm>
          <a:prstGeom prst="rect">
            <a:avLst/>
          </a:prstGeom>
          <a:noFill/>
          <a:ln>
            <a:noFill/>
          </a:ln>
        </p:spPr>
        <p:txBody>
          <a:bodyPr anchorCtr="0" anchor="t" bIns="0" lIns="0" spcFirstLastPara="1" rIns="0" wrap="square" tIns="0">
            <a:noAutofit/>
          </a:bodyPr>
          <a:lstStyle/>
          <a:p>
            <a:pPr indent="0" lvl="0" marL="0" marR="0" rtl="0" algn="l">
              <a:lnSpc>
                <a:spcPct val="145040"/>
              </a:lnSpc>
              <a:spcBef>
                <a:spcPts val="0"/>
              </a:spcBef>
              <a:spcAft>
                <a:spcPts val="0"/>
              </a:spcAft>
              <a:buClr>
                <a:srgbClr val="C6C3BB"/>
              </a:buClr>
              <a:buSzPts val="900"/>
              <a:buFont typeface="Inter"/>
              <a:buNone/>
            </a:pPr>
            <a:r>
              <a:rPr lang="zh-CN" sz="900">
                <a:solidFill>
                  <a:srgbClr val="C6C3BB"/>
                </a:solidFill>
                <a:latin typeface="Inter"/>
                <a:ea typeface="Inter"/>
                <a:cs typeface="Inter"/>
                <a:sym typeface="Inter"/>
              </a:rPr>
              <a:t>AI use continues to expand, while concern has remained around half of Americans since 2023 and excitement has fallen to 9%</a:t>
            </a:r>
            <a:endParaRPr b="0" i="0" sz="900" u="none" cap="none" strike="noStrike">
              <a:solidFill>
                <a:schemeClr val="dk1"/>
              </a:solidFill>
              <a:latin typeface="Calibri"/>
              <a:ea typeface="Calibri"/>
              <a:cs typeface="Calibri"/>
              <a:sym typeface="Calibri"/>
            </a:endParaRPr>
          </a:p>
        </p:txBody>
      </p:sp>
      <p:sp>
        <p:nvSpPr>
          <p:cNvPr id="121" name="Google Shape;121;p18"/>
          <p:cNvSpPr/>
          <p:nvPr/>
        </p:nvSpPr>
        <p:spPr>
          <a:xfrm>
            <a:off x="3295630" y="1515206"/>
            <a:ext cx="2552700" cy="1889400"/>
          </a:xfrm>
          <a:prstGeom prst="roundRect">
            <a:avLst>
              <a:gd fmla="val 3529" name="adj"/>
            </a:avLst>
          </a:prstGeom>
          <a:solidFill>
            <a:srgbClr val="20242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2" name="Google Shape;122;p18"/>
          <p:cNvSpPr/>
          <p:nvPr/>
        </p:nvSpPr>
        <p:spPr>
          <a:xfrm>
            <a:off x="3467053" y="1686629"/>
            <a:ext cx="2276100" cy="168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1603F"/>
              </a:buClr>
              <a:buSzPts val="800"/>
              <a:buFont typeface="Inter"/>
              <a:buNone/>
            </a:pPr>
            <a:r>
              <a:rPr b="1" i="0" lang="zh-CN" sz="800" u="none" cap="none" strike="noStrike">
                <a:solidFill>
                  <a:srgbClr val="D1603F"/>
                </a:solidFill>
                <a:latin typeface="Inter"/>
                <a:ea typeface="Inter"/>
                <a:cs typeface="Inter"/>
                <a:sym typeface="Inter"/>
              </a:rPr>
              <a:t>THE ABSURD EXTREME</a:t>
            </a:r>
            <a:endParaRPr b="0" i="0" sz="800" u="none" cap="none" strike="noStrike">
              <a:solidFill>
                <a:schemeClr val="dk1"/>
              </a:solidFill>
              <a:latin typeface="Calibri"/>
              <a:ea typeface="Calibri"/>
              <a:cs typeface="Calibri"/>
              <a:sym typeface="Calibri"/>
            </a:endParaRPr>
          </a:p>
        </p:txBody>
      </p:sp>
      <p:sp>
        <p:nvSpPr>
          <p:cNvPr id="123" name="Google Shape;123;p18"/>
          <p:cNvSpPr/>
          <p:nvPr/>
        </p:nvSpPr>
        <p:spPr>
          <a:xfrm>
            <a:off x="3467053" y="1912475"/>
            <a:ext cx="2276100" cy="42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7F5F0"/>
              </a:buClr>
              <a:buSzPts val="1300"/>
              <a:buFont typeface="Source Serif 4"/>
              <a:buNone/>
            </a:pPr>
            <a:r>
              <a:rPr lang="zh-CN" sz="1300">
                <a:solidFill>
                  <a:srgbClr val="F7F5F0"/>
                </a:solidFill>
                <a:latin typeface="Source Serif 4"/>
                <a:ea typeface="Source Serif 4"/>
                <a:cs typeface="Source Serif 4"/>
                <a:sym typeface="Source Serif 4"/>
              </a:rPr>
              <a:t>Essential infrastructure, contested legitimacy</a:t>
            </a:r>
            <a:endParaRPr b="0" i="0" sz="1300" u="none" cap="none" strike="noStrike">
              <a:solidFill>
                <a:schemeClr val="dk1"/>
              </a:solidFill>
              <a:latin typeface="Calibri"/>
              <a:ea typeface="Calibri"/>
              <a:cs typeface="Calibri"/>
              <a:sym typeface="Calibri"/>
            </a:endParaRPr>
          </a:p>
        </p:txBody>
      </p:sp>
      <p:sp>
        <p:nvSpPr>
          <p:cNvPr id="124" name="Google Shape;124;p18"/>
          <p:cNvSpPr/>
          <p:nvPr/>
        </p:nvSpPr>
        <p:spPr>
          <a:xfrm>
            <a:off x="3467053" y="2390315"/>
            <a:ext cx="2276100" cy="861900"/>
          </a:xfrm>
          <a:prstGeom prst="rect">
            <a:avLst/>
          </a:prstGeom>
          <a:noFill/>
          <a:ln>
            <a:noFill/>
          </a:ln>
        </p:spPr>
        <p:txBody>
          <a:bodyPr anchorCtr="0" anchor="t" bIns="0" lIns="0" spcFirstLastPara="1" rIns="0" wrap="square" tIns="0">
            <a:noAutofit/>
          </a:bodyPr>
          <a:lstStyle/>
          <a:p>
            <a:pPr indent="0" lvl="0" marL="0" marR="0" rtl="0" algn="l">
              <a:lnSpc>
                <a:spcPct val="144971"/>
              </a:lnSpc>
              <a:spcBef>
                <a:spcPts val="0"/>
              </a:spcBef>
              <a:spcAft>
                <a:spcPts val="0"/>
              </a:spcAft>
              <a:buClr>
                <a:srgbClr val="C6C3BB"/>
              </a:buClr>
              <a:buSzPts val="900"/>
              <a:buFont typeface="Inter"/>
              <a:buNone/>
            </a:pPr>
            <a:r>
              <a:rPr lang="zh-CN" sz="900">
                <a:solidFill>
                  <a:srgbClr val="C6C3BB"/>
                </a:solidFill>
                <a:latin typeface="Inter"/>
                <a:ea typeface="Inter"/>
                <a:cs typeface="Inter"/>
                <a:sym typeface="Inter"/>
              </a:rPr>
              <a:t>AI becomes embedded in hiring, education, healthcare, work and public services. Avoiding AI increasingly means avoiding the </a:t>
            </a:r>
            <a:r>
              <a:rPr lang="zh-CN" sz="900">
                <a:solidFill>
                  <a:srgbClr val="C6C3BB"/>
                </a:solidFill>
                <a:latin typeface="Inter"/>
                <a:ea typeface="Inter"/>
                <a:cs typeface="Inter"/>
                <a:sym typeface="Inter"/>
              </a:rPr>
              <a:t>institution</a:t>
            </a:r>
            <a:r>
              <a:rPr lang="zh-CN" sz="900">
                <a:solidFill>
                  <a:srgbClr val="C6C3BB"/>
                </a:solidFill>
                <a:latin typeface="Inter"/>
                <a:ea typeface="Inter"/>
                <a:cs typeface="Inter"/>
                <a:sym typeface="Inter"/>
              </a:rPr>
              <a:t> or service using it.</a:t>
            </a:r>
            <a:endParaRPr b="0" i="0" sz="900" u="none" cap="none" strike="noStrike">
              <a:solidFill>
                <a:schemeClr val="dk1"/>
              </a:solidFill>
              <a:latin typeface="Calibri"/>
              <a:ea typeface="Calibri"/>
              <a:cs typeface="Calibri"/>
              <a:sym typeface="Calibri"/>
            </a:endParaRPr>
          </a:p>
        </p:txBody>
      </p:sp>
      <p:sp>
        <p:nvSpPr>
          <p:cNvPr id="125" name="Google Shape;125;p18"/>
          <p:cNvSpPr/>
          <p:nvPr/>
        </p:nvSpPr>
        <p:spPr>
          <a:xfrm>
            <a:off x="5981707" y="1515206"/>
            <a:ext cx="2552700" cy="1889400"/>
          </a:xfrm>
          <a:prstGeom prst="roundRect">
            <a:avLst>
              <a:gd fmla="val 3529" name="adj"/>
            </a:avLst>
          </a:prstGeom>
          <a:solidFill>
            <a:srgbClr val="20242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6" name="Google Shape;126;p18"/>
          <p:cNvSpPr/>
          <p:nvPr/>
        </p:nvSpPr>
        <p:spPr>
          <a:xfrm>
            <a:off x="6153130" y="1686629"/>
            <a:ext cx="2276100" cy="142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1603F"/>
              </a:buClr>
              <a:buSzPts val="700"/>
              <a:buFont typeface="Inter"/>
              <a:buNone/>
            </a:pPr>
            <a:r>
              <a:rPr b="1" i="0" lang="zh-CN" sz="700" u="none" cap="none" strike="noStrike">
                <a:solidFill>
                  <a:srgbClr val="D1603F"/>
                </a:solidFill>
                <a:latin typeface="Inter"/>
                <a:ea typeface="Inter"/>
                <a:cs typeface="Inter"/>
                <a:sym typeface="Inter"/>
              </a:rPr>
              <a:t>EARLY SIGNALS TODAY</a:t>
            </a:r>
            <a:endParaRPr b="0" i="0" sz="700" u="none" cap="none" strike="noStrike">
              <a:solidFill>
                <a:schemeClr val="dk1"/>
              </a:solidFill>
              <a:latin typeface="Calibri"/>
              <a:ea typeface="Calibri"/>
              <a:cs typeface="Calibri"/>
              <a:sym typeface="Calibri"/>
            </a:endParaRPr>
          </a:p>
        </p:txBody>
      </p:sp>
      <p:sp>
        <p:nvSpPr>
          <p:cNvPr id="127" name="Google Shape;127;p18"/>
          <p:cNvSpPr/>
          <p:nvPr/>
        </p:nvSpPr>
        <p:spPr>
          <a:xfrm>
            <a:off x="6153130" y="1886261"/>
            <a:ext cx="2276100" cy="350400"/>
          </a:xfrm>
          <a:prstGeom prst="rect">
            <a:avLst/>
          </a:prstGeom>
          <a:noFill/>
          <a:ln>
            <a:noFill/>
          </a:ln>
        </p:spPr>
        <p:txBody>
          <a:bodyPr anchorCtr="0" anchor="t" bIns="0" lIns="0" spcFirstLastPara="1" rIns="0" wrap="square" tIns="0">
            <a:noAutofit/>
          </a:bodyPr>
          <a:lstStyle/>
          <a:p>
            <a:pPr indent="0" lvl="0" marL="0" marR="0" rtl="0" algn="l">
              <a:lnSpc>
                <a:spcPct val="120023"/>
              </a:lnSpc>
              <a:spcBef>
                <a:spcPts val="0"/>
              </a:spcBef>
              <a:spcAft>
                <a:spcPts val="0"/>
              </a:spcAft>
              <a:buClr>
                <a:srgbClr val="F7F5F0"/>
              </a:buClr>
              <a:buSzPts val="1300"/>
              <a:buFont typeface="Source Serif 4"/>
              <a:buNone/>
            </a:pPr>
            <a:r>
              <a:rPr lang="zh-CN" sz="1300">
                <a:solidFill>
                  <a:srgbClr val="F7F5F0"/>
                </a:solidFill>
                <a:latin typeface="Source Serif 4"/>
                <a:ea typeface="Source Serif 4"/>
                <a:cs typeface="Source Serif 4"/>
                <a:sym typeface="Source Serif 4"/>
              </a:rPr>
              <a:t>Concern is becoming concrete</a:t>
            </a:r>
            <a:endParaRPr b="0" i="0" sz="1300" u="none" cap="none" strike="noStrike">
              <a:solidFill>
                <a:schemeClr val="dk1"/>
              </a:solidFill>
              <a:latin typeface="Calibri"/>
              <a:ea typeface="Calibri"/>
              <a:cs typeface="Calibri"/>
              <a:sym typeface="Calibri"/>
            </a:endParaRPr>
          </a:p>
        </p:txBody>
      </p:sp>
      <p:sp>
        <p:nvSpPr>
          <p:cNvPr id="128" name="Google Shape;128;p18"/>
          <p:cNvSpPr/>
          <p:nvPr/>
        </p:nvSpPr>
        <p:spPr>
          <a:xfrm>
            <a:off x="6188705" y="2352491"/>
            <a:ext cx="2138700" cy="958500"/>
          </a:xfrm>
          <a:prstGeom prst="rect">
            <a:avLst/>
          </a:prstGeom>
          <a:noFill/>
          <a:ln>
            <a:noFill/>
          </a:ln>
        </p:spPr>
        <p:txBody>
          <a:bodyPr anchorCtr="0" anchor="t" bIns="0" lIns="0" spcFirstLastPara="1" rIns="0" wrap="square" tIns="0">
            <a:noAutofit/>
          </a:bodyPr>
          <a:lstStyle/>
          <a:p>
            <a:pPr indent="-254000" lvl="0" marL="254000" marR="0" rtl="0" algn="l">
              <a:lnSpc>
                <a:spcPct val="140037"/>
              </a:lnSpc>
              <a:spcBef>
                <a:spcPts val="0"/>
              </a:spcBef>
              <a:spcAft>
                <a:spcPts val="0"/>
              </a:spcAft>
              <a:buClr>
                <a:srgbClr val="C6C3BB"/>
              </a:buClr>
              <a:buSzPts val="800"/>
              <a:buFont typeface="Inter"/>
              <a:buChar char="•"/>
            </a:pPr>
            <a:r>
              <a:rPr lang="zh-CN" sz="800">
                <a:solidFill>
                  <a:srgbClr val="C6C3BB"/>
                </a:solidFill>
                <a:latin typeface="Inter"/>
                <a:ea typeface="Inter"/>
                <a:cs typeface="Inter"/>
                <a:sym typeface="Inter"/>
              </a:rPr>
              <a:t>61% oppose construction of new data centers in their area</a:t>
            </a:r>
            <a:endParaRPr sz="800">
              <a:solidFill>
                <a:srgbClr val="C6C3BB"/>
              </a:solidFill>
              <a:latin typeface="Inter"/>
              <a:ea typeface="Inter"/>
              <a:cs typeface="Inter"/>
              <a:sym typeface="Inter"/>
            </a:endParaRPr>
          </a:p>
          <a:p>
            <a:pPr indent="-254000" lvl="0" marL="254000" marR="0" rtl="0" algn="l">
              <a:lnSpc>
                <a:spcPct val="140037"/>
              </a:lnSpc>
              <a:spcBef>
                <a:spcPts val="0"/>
              </a:spcBef>
              <a:spcAft>
                <a:spcPts val="0"/>
              </a:spcAft>
              <a:buClr>
                <a:srgbClr val="C6C3BB"/>
              </a:buClr>
              <a:buSzPts val="800"/>
              <a:buFont typeface="Inter"/>
              <a:buChar char="•"/>
            </a:pPr>
            <a:r>
              <a:rPr lang="zh-CN" sz="800">
                <a:solidFill>
                  <a:srgbClr val="C6C3BB"/>
                </a:solidFill>
                <a:latin typeface="Inter"/>
                <a:ea typeface="Inter"/>
                <a:cs typeface="Inter"/>
                <a:sym typeface="Inter"/>
              </a:rPr>
              <a:t>68% say government has done too little to regulate AI</a:t>
            </a:r>
            <a:endParaRPr sz="800">
              <a:solidFill>
                <a:srgbClr val="C6C3BB"/>
              </a:solidFill>
              <a:latin typeface="Inter"/>
              <a:ea typeface="Inter"/>
              <a:cs typeface="Inter"/>
              <a:sym typeface="Inter"/>
            </a:endParaRPr>
          </a:p>
          <a:p>
            <a:pPr indent="-254000" lvl="0" marL="254000" marR="0" rtl="0" algn="l">
              <a:lnSpc>
                <a:spcPct val="140037"/>
              </a:lnSpc>
              <a:spcBef>
                <a:spcPts val="0"/>
              </a:spcBef>
              <a:spcAft>
                <a:spcPts val="0"/>
              </a:spcAft>
              <a:buClr>
                <a:srgbClr val="C6C3BB"/>
              </a:buClr>
              <a:buSzPts val="800"/>
              <a:buFont typeface="Inter"/>
              <a:buChar char="•"/>
            </a:pPr>
            <a:r>
              <a:rPr lang="zh-CN" sz="800">
                <a:solidFill>
                  <a:srgbClr val="C6C3BB"/>
                </a:solidFill>
                <a:latin typeface="Inter"/>
                <a:ea typeface="Inter"/>
                <a:cs typeface="Inter"/>
                <a:sym typeface="Inter"/>
              </a:rPr>
              <a:t>71% think AI will lead to fewer U.S. jobs over the next 20 years</a:t>
            </a:r>
            <a:endParaRPr sz="800">
              <a:solidFill>
                <a:srgbClr val="C6C3BB"/>
              </a:solidFill>
              <a:latin typeface="Inter"/>
              <a:ea typeface="Inter"/>
              <a:cs typeface="Inter"/>
              <a:sym typeface="Inter"/>
            </a:endParaRPr>
          </a:p>
        </p:txBody>
      </p:sp>
      <p:sp>
        <p:nvSpPr>
          <p:cNvPr id="129" name="Google Shape;129;p18"/>
          <p:cNvSpPr/>
          <p:nvPr/>
        </p:nvSpPr>
        <p:spPr>
          <a:xfrm>
            <a:off x="611975" y="3597350"/>
            <a:ext cx="7920000" cy="906900"/>
          </a:xfrm>
          <a:prstGeom prst="roundRect">
            <a:avLst>
              <a:gd fmla="val 8224" name="adj"/>
            </a:avLst>
          </a:prstGeom>
          <a:solidFill>
            <a:srgbClr val="2B2018"/>
          </a:solidFill>
          <a:ln cap="flat" cmpd="sng" w="9525">
            <a:solidFill>
              <a:srgbClr val="4A372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0" name="Google Shape;130;p18"/>
          <p:cNvSpPr/>
          <p:nvPr/>
        </p:nvSpPr>
        <p:spPr>
          <a:xfrm>
            <a:off x="785339" y="3742181"/>
            <a:ext cx="7800600" cy="511200"/>
          </a:xfrm>
          <a:prstGeom prst="rect">
            <a:avLst/>
          </a:prstGeom>
          <a:noFill/>
          <a:ln>
            <a:noFill/>
          </a:ln>
        </p:spPr>
        <p:txBody>
          <a:bodyPr anchorCtr="0" anchor="t" bIns="0" lIns="0" spcFirstLastPara="1" rIns="0" wrap="square" tIns="0">
            <a:noAutofit/>
          </a:bodyPr>
          <a:lstStyle/>
          <a:p>
            <a:pPr indent="0" lvl="0" marL="0" marR="0" rtl="0" algn="l">
              <a:lnSpc>
                <a:spcPct val="139986"/>
              </a:lnSpc>
              <a:spcBef>
                <a:spcPts val="0"/>
              </a:spcBef>
              <a:spcAft>
                <a:spcPts val="0"/>
              </a:spcAft>
              <a:buClr>
                <a:srgbClr val="F0C7A8"/>
              </a:buClr>
              <a:buSzPts val="1100"/>
              <a:buFont typeface="Inter"/>
              <a:buNone/>
            </a:pPr>
            <a:r>
              <a:rPr b="1" lang="zh-CN" sz="1100">
                <a:solidFill>
                  <a:srgbClr val="F0C7A8"/>
                </a:solidFill>
                <a:latin typeface="Inter"/>
                <a:ea typeface="Inter"/>
                <a:cs typeface="Inter"/>
                <a:sym typeface="Inter"/>
              </a:rPr>
              <a:t>The hidden assumption the absurd exposes: that widespread adoption eventually produces acceptance. But use and approval do not have to move together. If AI becomes infrastructure before legitimacy catches up, new problems emerge around consent, accountability and who bears its costs.</a:t>
            </a:r>
            <a:endParaRPr b="0" i="0" sz="1100" u="none" cap="none" strike="noStrike">
              <a:solidFill>
                <a:schemeClr val="dk1"/>
              </a:solidFill>
              <a:latin typeface="Calibri"/>
              <a:ea typeface="Calibri"/>
              <a:cs typeface="Calibri"/>
              <a:sym typeface="Calibri"/>
            </a:endParaRPr>
          </a:p>
        </p:txBody>
      </p:sp>
      <p:sp>
        <p:nvSpPr>
          <p:cNvPr id="131" name="Google Shape;131;p18"/>
          <p:cNvSpPr/>
          <p:nvPr/>
        </p:nvSpPr>
        <p:spPr>
          <a:xfrm>
            <a:off x="609586" y="4685379"/>
            <a:ext cx="8162400" cy="172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8756E"/>
              </a:buClr>
              <a:buSzPts val="900"/>
              <a:buFont typeface="Inter"/>
              <a:buNone/>
            </a:pPr>
            <a:r>
              <a:rPr lang="zh-CN" sz="900">
                <a:solidFill>
                  <a:srgbClr val="78756E"/>
                </a:solidFill>
                <a:latin typeface="Inter"/>
                <a:ea typeface="Inter"/>
                <a:cs typeface="Inter"/>
                <a:sym typeface="Inter"/>
              </a:rPr>
              <a:t>Sources: Annenberg Public Policy Center, Aug. 2026 · Pew Research Center, Aug. 2026 · Quinnipiac University Poll, Mar. 2026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136" name="Shape 136"/>
        <p:cNvGrpSpPr/>
        <p:nvPr/>
      </p:nvGrpSpPr>
      <p:grpSpPr>
        <a:xfrm>
          <a:off x="0" y="0"/>
          <a:ext cx="0" cy="0"/>
          <a:chOff x="0" y="0"/>
          <a:chExt cx="0" cy="0"/>
        </a:xfrm>
      </p:grpSpPr>
      <p:sp>
        <p:nvSpPr>
          <p:cNvPr id="137" name="Google Shape;137;p19"/>
          <p:cNvSpPr/>
          <p:nvPr/>
        </p:nvSpPr>
        <p:spPr>
          <a:xfrm>
            <a:off x="609586" y="609586"/>
            <a:ext cx="8162572" cy="297156"/>
          </a:xfrm>
          <a:prstGeom prst="rect">
            <a:avLst/>
          </a:prstGeom>
          <a:noFill/>
          <a:ln>
            <a:noFill/>
          </a:ln>
        </p:spPr>
        <p:txBody>
          <a:bodyPr anchorCtr="0" anchor="t" bIns="0" lIns="0" spcFirstLastPara="1" rIns="0" wrap="square" tIns="0">
            <a:noAutofit/>
          </a:bodyPr>
          <a:lstStyle/>
          <a:p>
            <a:pPr indent="0" lvl="0" marL="0" marR="0" rtl="0" algn="l">
              <a:lnSpc>
                <a:spcPct val="105001"/>
              </a:lnSpc>
              <a:spcBef>
                <a:spcPts val="0"/>
              </a:spcBef>
              <a:spcAft>
                <a:spcPts val="0"/>
              </a:spcAft>
              <a:buClr>
                <a:srgbClr val="16181C"/>
              </a:buClr>
              <a:buSzPts val="2100"/>
              <a:buFont typeface="Source Serif 4"/>
              <a:buNone/>
            </a:pPr>
            <a:r>
              <a:rPr b="0" i="0" lang="zh-CN" sz="2100" u="none" cap="none" strike="noStrike">
                <a:solidFill>
                  <a:srgbClr val="16181C"/>
                </a:solidFill>
                <a:latin typeface="Source Serif 4"/>
                <a:ea typeface="Source Serif 4"/>
                <a:cs typeface="Source Serif 4"/>
                <a:sym typeface="Source Serif 4"/>
              </a:rPr>
              <a:t>Three opportunities</a:t>
            </a:r>
            <a:endParaRPr b="0" i="0" sz="2100" u="none" cap="none" strike="noStrike">
              <a:solidFill>
                <a:schemeClr val="dk1"/>
              </a:solidFill>
              <a:latin typeface="Calibri"/>
              <a:ea typeface="Calibri"/>
              <a:cs typeface="Calibri"/>
              <a:sym typeface="Calibri"/>
            </a:endParaRPr>
          </a:p>
        </p:txBody>
      </p:sp>
      <p:sp>
        <p:nvSpPr>
          <p:cNvPr id="138" name="Google Shape;138;p19"/>
          <p:cNvSpPr/>
          <p:nvPr/>
        </p:nvSpPr>
        <p:spPr>
          <a:xfrm>
            <a:off x="609586" y="954359"/>
            <a:ext cx="7358062" cy="302060"/>
          </a:xfrm>
          <a:prstGeom prst="rect">
            <a:avLst/>
          </a:prstGeom>
          <a:noFill/>
          <a:ln>
            <a:noFill/>
          </a:ln>
        </p:spPr>
        <p:txBody>
          <a:bodyPr anchorCtr="0" anchor="t" bIns="0" lIns="0" spcFirstLastPara="1" rIns="0" wrap="square" tIns="0">
            <a:noAutofit/>
          </a:bodyPr>
          <a:lstStyle/>
          <a:p>
            <a:pPr indent="0" lvl="0" marL="0" marR="0" rtl="0" algn="l">
              <a:lnSpc>
                <a:spcPct val="139970"/>
              </a:lnSpc>
              <a:spcBef>
                <a:spcPts val="0"/>
              </a:spcBef>
              <a:spcAft>
                <a:spcPts val="0"/>
              </a:spcAft>
              <a:buClr>
                <a:srgbClr val="5A5852"/>
              </a:buClr>
              <a:buSzPts val="1000"/>
              <a:buFont typeface="Inter"/>
              <a:buNone/>
            </a:pPr>
            <a:r>
              <a:rPr b="0" i="0" lang="zh-CN" sz="1000" u="none" cap="none" strike="noStrike">
                <a:solidFill>
                  <a:srgbClr val="5A5852"/>
                </a:solidFill>
                <a:latin typeface="Inter"/>
                <a:ea typeface="Inter"/>
                <a:cs typeface="Inter"/>
                <a:sym typeface="Inter"/>
              </a:rPr>
              <a:t>Problems, not solutions. Each is already visible in small form today and grows as AI's footprint outruns public consent.</a:t>
            </a:r>
            <a:endParaRPr b="0" i="0" sz="1000" u="none" cap="none" strike="noStrike">
              <a:solidFill>
                <a:schemeClr val="dk1"/>
              </a:solidFill>
              <a:latin typeface="Calibri"/>
              <a:ea typeface="Calibri"/>
              <a:cs typeface="Calibri"/>
              <a:sym typeface="Calibri"/>
            </a:endParaRPr>
          </a:p>
        </p:txBody>
      </p:sp>
      <p:sp>
        <p:nvSpPr>
          <p:cNvPr id="139" name="Google Shape;139;p19"/>
          <p:cNvSpPr/>
          <p:nvPr/>
        </p:nvSpPr>
        <p:spPr>
          <a:xfrm>
            <a:off x="611968" y="1430251"/>
            <a:ext cx="2554303" cy="2948867"/>
          </a:xfrm>
          <a:prstGeom prst="roundRect">
            <a:avLst>
              <a:gd fmla="val 2517" name="adj"/>
            </a:avLst>
          </a:prstGeom>
          <a:solidFill>
            <a:srgbClr val="FFFFFF"/>
          </a:solidFill>
          <a:ln cap="flat" cmpd="sng" w="9525">
            <a:solidFill>
              <a:srgbClr val="E0DCD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0" name="Google Shape;140;p19"/>
          <p:cNvSpPr/>
          <p:nvPr/>
        </p:nvSpPr>
        <p:spPr>
          <a:xfrm>
            <a:off x="785339" y="1603622"/>
            <a:ext cx="2273788" cy="233768"/>
          </a:xfrm>
          <a:prstGeom prst="rect">
            <a:avLst/>
          </a:prstGeom>
          <a:noFill/>
          <a:ln>
            <a:noFill/>
          </a:ln>
        </p:spPr>
        <p:txBody>
          <a:bodyPr anchorCtr="0" anchor="t" bIns="0" lIns="0" spcFirstLastPara="1" rIns="0" wrap="square" tIns="0">
            <a:noAutofit/>
          </a:bodyPr>
          <a:lstStyle/>
          <a:p>
            <a:pPr indent="0" lvl="0" marL="0" marR="0" rtl="0" algn="l">
              <a:lnSpc>
                <a:spcPct val="140053"/>
              </a:lnSpc>
              <a:spcBef>
                <a:spcPts val="0"/>
              </a:spcBef>
              <a:spcAft>
                <a:spcPts val="0"/>
              </a:spcAft>
              <a:buClr>
                <a:srgbClr val="C2402C"/>
              </a:buClr>
              <a:buSzPts val="800"/>
              <a:buFont typeface="Inter"/>
              <a:buNone/>
            </a:pPr>
            <a:r>
              <a:rPr b="1" i="0" lang="zh-CN" sz="800" u="none" cap="none" strike="noStrike">
                <a:solidFill>
                  <a:srgbClr val="C2402C"/>
                </a:solidFill>
                <a:latin typeface="Inter"/>
                <a:ea typeface="Inter"/>
                <a:cs typeface="Inter"/>
                <a:sym typeface="Inter"/>
              </a:rPr>
              <a:t>01 · JUNIOR TO SENIOR TRANSITION</a:t>
            </a:r>
            <a:endParaRPr b="0" i="0" sz="800" u="none" cap="none" strike="noStrike">
              <a:solidFill>
                <a:schemeClr val="dk1"/>
              </a:solidFill>
              <a:latin typeface="Calibri"/>
              <a:ea typeface="Calibri"/>
              <a:cs typeface="Calibri"/>
              <a:sym typeface="Calibri"/>
            </a:endParaRPr>
          </a:p>
        </p:txBody>
      </p:sp>
      <p:sp>
        <p:nvSpPr>
          <p:cNvPr id="141" name="Google Shape;141;p19"/>
          <p:cNvSpPr/>
          <p:nvPr/>
        </p:nvSpPr>
        <p:spPr>
          <a:xfrm>
            <a:off x="785339" y="1824465"/>
            <a:ext cx="2273700" cy="719400"/>
          </a:xfrm>
          <a:prstGeom prst="rect">
            <a:avLst/>
          </a:prstGeom>
          <a:noFill/>
          <a:ln>
            <a:noFill/>
          </a:ln>
        </p:spPr>
        <p:txBody>
          <a:bodyPr anchorCtr="0" anchor="t" bIns="0" lIns="0" spcFirstLastPara="1" rIns="0" wrap="square" tIns="0">
            <a:noAutofit/>
          </a:bodyPr>
          <a:lstStyle/>
          <a:p>
            <a:pPr indent="0" lvl="0" marL="0" marR="0" rtl="0" algn="l">
              <a:lnSpc>
                <a:spcPct val="120052"/>
              </a:lnSpc>
              <a:spcBef>
                <a:spcPts val="0"/>
              </a:spcBef>
              <a:spcAft>
                <a:spcPts val="0"/>
              </a:spcAft>
              <a:buClr>
                <a:srgbClr val="16181C"/>
              </a:buClr>
              <a:buSzPts val="1100"/>
              <a:buFont typeface="Source Serif 4"/>
              <a:buNone/>
            </a:pPr>
            <a:r>
              <a:rPr b="0" i="0" lang="zh-CN" sz="1100" u="none" cap="none" strike="noStrike">
                <a:solidFill>
                  <a:srgbClr val="16181C"/>
                </a:solidFill>
                <a:latin typeface="Source Serif 4"/>
                <a:ea typeface="Source Serif 4"/>
                <a:cs typeface="Source Serif 4"/>
                <a:sym typeface="Source Serif 4"/>
              </a:rPr>
              <a:t>There will be a need for a way to produce senior engineers once the junior work they learned from is gone.</a:t>
            </a:r>
            <a:endParaRPr b="0" i="0" sz="1100" u="none" cap="none" strike="noStrike">
              <a:solidFill>
                <a:schemeClr val="dk1"/>
              </a:solidFill>
              <a:latin typeface="Calibri"/>
              <a:ea typeface="Calibri"/>
              <a:cs typeface="Calibri"/>
              <a:sym typeface="Calibri"/>
            </a:endParaRPr>
          </a:p>
        </p:txBody>
      </p:sp>
      <p:sp>
        <p:nvSpPr>
          <p:cNvPr id="142" name="Google Shape;142;p19"/>
          <p:cNvSpPr/>
          <p:nvPr/>
        </p:nvSpPr>
        <p:spPr>
          <a:xfrm>
            <a:off x="785339" y="2690000"/>
            <a:ext cx="2273788" cy="355131"/>
          </a:xfrm>
          <a:prstGeom prst="rect">
            <a:avLst/>
          </a:prstGeom>
          <a:noFill/>
          <a:ln>
            <a:noFill/>
          </a:ln>
        </p:spPr>
        <p:txBody>
          <a:bodyPr anchorCtr="0" anchor="t" bIns="0" lIns="0" spcFirstLastPara="1" rIns="0" wrap="square" tIns="0">
            <a:noAutofit/>
          </a:bodyPr>
          <a:lstStyle/>
          <a:p>
            <a:pPr indent="0" lvl="0" marL="0" marR="0" rtl="0" algn="l">
              <a:lnSpc>
                <a:spcPct val="139939"/>
              </a:lnSpc>
              <a:spcBef>
                <a:spcPts val="0"/>
              </a:spcBef>
              <a:spcAft>
                <a:spcPts val="0"/>
              </a:spcAft>
              <a:buClr>
                <a:srgbClr val="3D3B36"/>
              </a:buClr>
              <a:buSzPts val="700"/>
              <a:buFont typeface="Inter"/>
              <a:buNone/>
            </a:pPr>
            <a:r>
              <a:rPr b="1" i="0" lang="zh-CN" sz="700" u="none" cap="none" strike="noStrike">
                <a:solidFill>
                  <a:srgbClr val="3D3B36"/>
                </a:solidFill>
                <a:latin typeface="Inter"/>
                <a:ea typeface="Inter"/>
                <a:cs typeface="Inter"/>
                <a:sym typeface="Inter"/>
              </a:rPr>
              <a:t>Who:</a:t>
            </a:r>
            <a:r>
              <a:rPr b="0" i="0" lang="zh-CN" sz="700" u="none" cap="none" strike="noStrike">
                <a:solidFill>
                  <a:srgbClr val="3D3B36"/>
                </a:solidFill>
                <a:latin typeface="Inter"/>
                <a:ea typeface="Inter"/>
                <a:cs typeface="Inter"/>
                <a:sym typeface="Inter"/>
              </a:rPr>
              <a:t> new graduates, engineering managers with no bench, firms that will need seniors in 2032</a:t>
            </a:r>
            <a:endParaRPr b="0" i="0" sz="700" u="none" cap="none" strike="noStrike">
              <a:solidFill>
                <a:schemeClr val="dk1"/>
              </a:solidFill>
              <a:latin typeface="Calibri"/>
              <a:ea typeface="Calibri"/>
              <a:cs typeface="Calibri"/>
              <a:sym typeface="Calibri"/>
            </a:endParaRPr>
          </a:p>
        </p:txBody>
      </p:sp>
      <p:sp>
        <p:nvSpPr>
          <p:cNvPr id="143" name="Google Shape;143;p19"/>
          <p:cNvSpPr/>
          <p:nvPr/>
        </p:nvSpPr>
        <p:spPr>
          <a:xfrm>
            <a:off x="785339" y="3111793"/>
            <a:ext cx="2273788" cy="467158"/>
          </a:xfrm>
          <a:prstGeom prst="rect">
            <a:avLst/>
          </a:prstGeom>
          <a:noFill/>
          <a:ln>
            <a:noFill/>
          </a:ln>
        </p:spPr>
        <p:txBody>
          <a:bodyPr anchorCtr="0" anchor="t" bIns="0" lIns="0" spcFirstLastPara="1" rIns="0" wrap="square" tIns="0">
            <a:noAutofit/>
          </a:bodyPr>
          <a:lstStyle/>
          <a:p>
            <a:pPr indent="0" lvl="0" marL="0" marR="0" rtl="0" algn="l">
              <a:lnSpc>
                <a:spcPct val="139934"/>
              </a:lnSpc>
              <a:spcBef>
                <a:spcPts val="0"/>
              </a:spcBef>
              <a:spcAft>
                <a:spcPts val="0"/>
              </a:spcAft>
              <a:buClr>
                <a:srgbClr val="3D3B36"/>
              </a:buClr>
              <a:buSzPts val="700"/>
              <a:buFont typeface="Inter"/>
              <a:buNone/>
            </a:pPr>
            <a:r>
              <a:rPr b="1" i="0" lang="zh-CN" sz="700" u="none" cap="none" strike="noStrike">
                <a:solidFill>
                  <a:srgbClr val="3D3B36"/>
                </a:solidFill>
                <a:latin typeface="Inter"/>
                <a:ea typeface="Inter"/>
                <a:cs typeface="Inter"/>
                <a:sym typeface="Inter"/>
              </a:rPr>
              <a:t>Why it matters:</a:t>
            </a:r>
            <a:r>
              <a:rPr b="0" i="0" lang="zh-CN" sz="700" u="none" cap="none" strike="noStrike">
                <a:solidFill>
                  <a:srgbClr val="3D3B36"/>
                </a:solidFill>
                <a:latin typeface="Inter"/>
                <a:ea typeface="Inter"/>
                <a:cs typeface="Inter"/>
                <a:sym typeface="Inter"/>
              </a:rPr>
              <a:t> nobody becomes senior without supervised low-stakes work, and the shortage shows up five to eight years after the on-ramp closes</a:t>
            </a:r>
            <a:endParaRPr b="0" i="0" sz="700" u="none" cap="none" strike="noStrike">
              <a:solidFill>
                <a:schemeClr val="dk1"/>
              </a:solidFill>
              <a:latin typeface="Calibri"/>
              <a:ea typeface="Calibri"/>
              <a:cs typeface="Calibri"/>
              <a:sym typeface="Calibri"/>
            </a:endParaRPr>
          </a:p>
        </p:txBody>
      </p:sp>
      <p:sp>
        <p:nvSpPr>
          <p:cNvPr id="144" name="Google Shape;144;p19"/>
          <p:cNvSpPr/>
          <p:nvPr/>
        </p:nvSpPr>
        <p:spPr>
          <a:xfrm>
            <a:off x="785339" y="3645612"/>
            <a:ext cx="2273788" cy="579185"/>
          </a:xfrm>
          <a:prstGeom prst="rect">
            <a:avLst/>
          </a:prstGeom>
          <a:noFill/>
          <a:ln>
            <a:noFill/>
          </a:ln>
        </p:spPr>
        <p:txBody>
          <a:bodyPr anchorCtr="0" anchor="t" bIns="0" lIns="0" spcFirstLastPara="1" rIns="0" wrap="square" tIns="0">
            <a:noAutofit/>
          </a:bodyPr>
          <a:lstStyle/>
          <a:p>
            <a:pPr indent="0" lvl="0" marL="0" marR="0" rtl="0" algn="l">
              <a:lnSpc>
                <a:spcPct val="139886"/>
              </a:lnSpc>
              <a:spcBef>
                <a:spcPts val="0"/>
              </a:spcBef>
              <a:spcAft>
                <a:spcPts val="0"/>
              </a:spcAft>
              <a:buClr>
                <a:srgbClr val="3D3B36"/>
              </a:buClr>
              <a:buSzPts val="800"/>
              <a:buFont typeface="Inter"/>
              <a:buNone/>
            </a:pPr>
            <a:r>
              <a:rPr b="1" i="0" lang="zh-CN" sz="800" u="none" cap="none" strike="noStrike">
                <a:solidFill>
                  <a:srgbClr val="3D3B36"/>
                </a:solidFill>
                <a:latin typeface="Inter"/>
                <a:ea typeface="Inter"/>
                <a:cs typeface="Inter"/>
                <a:sym typeface="Inter"/>
              </a:rPr>
              <a:t>Early signal:</a:t>
            </a:r>
            <a:r>
              <a:rPr b="0" i="0" lang="zh-CN" sz="800" u="none" cap="none" strike="noStrike">
                <a:solidFill>
                  <a:srgbClr val="3D3B36"/>
                </a:solidFill>
                <a:latin typeface="Inter"/>
                <a:ea typeface="Inter"/>
                <a:cs typeface="Inter"/>
                <a:sym typeface="Inter"/>
              </a:rPr>
              <a:t> entry-level hiring at the largest tech firms is down 65% since 2019; employment for programmers aged 22 to 25 has fallen about 20% since 2022</a:t>
            </a:r>
            <a:endParaRPr b="0" i="0" sz="800" u="none" cap="none" strike="noStrike">
              <a:solidFill>
                <a:schemeClr val="dk1"/>
              </a:solidFill>
              <a:latin typeface="Calibri"/>
              <a:ea typeface="Calibri"/>
              <a:cs typeface="Calibri"/>
              <a:sym typeface="Calibri"/>
            </a:endParaRPr>
          </a:p>
        </p:txBody>
      </p:sp>
      <p:sp>
        <p:nvSpPr>
          <p:cNvPr id="145" name="Google Shape;145;p19"/>
          <p:cNvSpPr/>
          <p:nvPr/>
        </p:nvSpPr>
        <p:spPr>
          <a:xfrm>
            <a:off x="3294832" y="1430251"/>
            <a:ext cx="2554337" cy="2948867"/>
          </a:xfrm>
          <a:prstGeom prst="roundRect">
            <a:avLst>
              <a:gd fmla="val 2517" name="adj"/>
            </a:avLst>
          </a:prstGeom>
          <a:solidFill>
            <a:srgbClr val="FFFFFF"/>
          </a:solidFill>
          <a:ln cap="flat" cmpd="sng" w="9525">
            <a:solidFill>
              <a:srgbClr val="E0DCD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6" name="Google Shape;146;p19"/>
          <p:cNvSpPr/>
          <p:nvPr/>
        </p:nvSpPr>
        <p:spPr>
          <a:xfrm>
            <a:off x="3468202" y="1603622"/>
            <a:ext cx="2273822" cy="137943"/>
          </a:xfrm>
          <a:prstGeom prst="rect">
            <a:avLst/>
          </a:prstGeom>
          <a:noFill/>
          <a:ln>
            <a:noFill/>
          </a:ln>
        </p:spPr>
        <p:txBody>
          <a:bodyPr anchorCtr="0" anchor="t" bIns="0" lIns="0" spcFirstLastPara="1" rIns="0" wrap="square" tIns="0">
            <a:noAutofit/>
          </a:bodyPr>
          <a:lstStyle/>
          <a:p>
            <a:pPr indent="0" lvl="0" marL="0" marR="0" rtl="0" algn="l">
              <a:lnSpc>
                <a:spcPct val="140044"/>
              </a:lnSpc>
              <a:spcBef>
                <a:spcPts val="0"/>
              </a:spcBef>
              <a:spcAft>
                <a:spcPts val="0"/>
              </a:spcAft>
              <a:buClr>
                <a:srgbClr val="C2402C"/>
              </a:buClr>
              <a:buSzPts val="700"/>
              <a:buFont typeface="Inter"/>
              <a:buNone/>
            </a:pPr>
            <a:r>
              <a:rPr b="1" i="0" lang="zh-CN" sz="700" u="none" cap="none" strike="noStrike">
                <a:solidFill>
                  <a:srgbClr val="C2402C"/>
                </a:solidFill>
                <a:latin typeface="Inter"/>
                <a:ea typeface="Inter"/>
                <a:cs typeface="Inter"/>
                <a:sym typeface="Inter"/>
              </a:rPr>
              <a:t>02 · AI TRACKER</a:t>
            </a:r>
            <a:endParaRPr b="0" i="0" sz="700" u="none" cap="none" strike="noStrike">
              <a:solidFill>
                <a:schemeClr val="dk1"/>
              </a:solidFill>
              <a:latin typeface="Calibri"/>
              <a:ea typeface="Calibri"/>
              <a:cs typeface="Calibri"/>
              <a:sym typeface="Calibri"/>
            </a:endParaRPr>
          </a:p>
        </p:txBody>
      </p:sp>
      <p:sp>
        <p:nvSpPr>
          <p:cNvPr id="147" name="Google Shape;147;p19"/>
          <p:cNvSpPr/>
          <p:nvPr/>
        </p:nvSpPr>
        <p:spPr>
          <a:xfrm>
            <a:off x="3468203" y="1741577"/>
            <a:ext cx="2273700" cy="794700"/>
          </a:xfrm>
          <a:prstGeom prst="rect">
            <a:avLst/>
          </a:prstGeom>
          <a:noFill/>
          <a:ln>
            <a:noFill/>
          </a:ln>
        </p:spPr>
        <p:txBody>
          <a:bodyPr anchorCtr="0" anchor="t" bIns="0" lIns="0" spcFirstLastPara="1" rIns="0" wrap="square" tIns="0">
            <a:noAutofit/>
          </a:bodyPr>
          <a:lstStyle/>
          <a:p>
            <a:pPr indent="0" lvl="0" marL="0" marR="0" rtl="0" algn="l">
              <a:lnSpc>
                <a:spcPct val="119975"/>
              </a:lnSpc>
              <a:spcBef>
                <a:spcPts val="0"/>
              </a:spcBef>
              <a:spcAft>
                <a:spcPts val="0"/>
              </a:spcAft>
              <a:buClr>
                <a:srgbClr val="16181C"/>
              </a:buClr>
              <a:buSzPts val="1200"/>
              <a:buFont typeface="Source Serif 4"/>
              <a:buNone/>
            </a:pPr>
            <a:r>
              <a:rPr b="0" i="0" lang="zh-CN" sz="1200" u="none" cap="none" strike="noStrike">
                <a:solidFill>
                  <a:srgbClr val="16181C"/>
                </a:solidFill>
                <a:latin typeface="Source Serif 4"/>
                <a:ea typeface="Source Serif 4"/>
                <a:cs typeface="Source Serif 4"/>
                <a:sym typeface="Source Serif 4"/>
              </a:rPr>
              <a:t>People will face the challenge of finding someone accountable when an AI-built system causes harm.</a:t>
            </a:r>
            <a:endParaRPr b="0" i="0" sz="1200" u="none" cap="none" strike="noStrike">
              <a:solidFill>
                <a:schemeClr val="dk1"/>
              </a:solidFill>
              <a:latin typeface="Calibri"/>
              <a:ea typeface="Calibri"/>
              <a:cs typeface="Calibri"/>
              <a:sym typeface="Calibri"/>
            </a:endParaRPr>
          </a:p>
        </p:txBody>
      </p:sp>
      <p:sp>
        <p:nvSpPr>
          <p:cNvPr id="148" name="Google Shape;148;p19"/>
          <p:cNvSpPr/>
          <p:nvPr/>
        </p:nvSpPr>
        <p:spPr>
          <a:xfrm>
            <a:off x="3468203" y="2698615"/>
            <a:ext cx="2273700" cy="391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D3B36"/>
              </a:buClr>
              <a:buSzPts val="700"/>
              <a:buFont typeface="Inter"/>
              <a:buNone/>
            </a:pPr>
            <a:r>
              <a:rPr b="1" i="0" lang="zh-CN" sz="700" u="none" cap="none" strike="noStrike">
                <a:solidFill>
                  <a:srgbClr val="3D3B36"/>
                </a:solidFill>
                <a:latin typeface="Inter"/>
                <a:ea typeface="Inter"/>
                <a:cs typeface="Inter"/>
                <a:sym typeface="Inter"/>
              </a:rPr>
              <a:t>Who:</a:t>
            </a:r>
            <a:r>
              <a:rPr b="0" i="0" lang="zh-CN" sz="700" u="none" cap="none" strike="noStrike">
                <a:solidFill>
                  <a:srgbClr val="3D3B36"/>
                </a:solidFill>
                <a:latin typeface="Inter"/>
                <a:ea typeface="Inter"/>
                <a:cs typeface="Inter"/>
                <a:sym typeface="Inter"/>
              </a:rPr>
              <a:t> regulated firms and their insurers, courts, and anyone harmed by a system nobody can explain</a:t>
            </a:r>
            <a:endParaRPr b="0" i="0" sz="700" u="none" cap="none" strike="noStrike">
              <a:solidFill>
                <a:schemeClr val="dk1"/>
              </a:solidFill>
              <a:latin typeface="Calibri"/>
              <a:ea typeface="Calibri"/>
              <a:cs typeface="Calibri"/>
              <a:sym typeface="Calibri"/>
            </a:endParaRPr>
          </a:p>
        </p:txBody>
      </p:sp>
      <p:sp>
        <p:nvSpPr>
          <p:cNvPr id="149" name="Google Shape;149;p19"/>
          <p:cNvSpPr/>
          <p:nvPr/>
        </p:nvSpPr>
        <p:spPr>
          <a:xfrm>
            <a:off x="3468202" y="3127420"/>
            <a:ext cx="2273822" cy="515358"/>
          </a:xfrm>
          <a:prstGeom prst="rect">
            <a:avLst/>
          </a:prstGeom>
          <a:noFill/>
          <a:ln>
            <a:noFill/>
          </a:ln>
        </p:spPr>
        <p:txBody>
          <a:bodyPr anchorCtr="0" anchor="t" bIns="0" lIns="0" spcFirstLastPara="1" rIns="0" wrap="square" tIns="0">
            <a:noAutofit/>
          </a:bodyPr>
          <a:lstStyle/>
          <a:p>
            <a:pPr indent="0" lvl="0" marL="0" marR="0" rtl="0" algn="l">
              <a:lnSpc>
                <a:spcPct val="139943"/>
              </a:lnSpc>
              <a:spcBef>
                <a:spcPts val="0"/>
              </a:spcBef>
              <a:spcAft>
                <a:spcPts val="0"/>
              </a:spcAft>
              <a:buClr>
                <a:srgbClr val="3D3B36"/>
              </a:buClr>
              <a:buSzPts val="800"/>
              <a:buFont typeface="Inter"/>
              <a:buNone/>
            </a:pPr>
            <a:r>
              <a:rPr b="1" i="0" lang="zh-CN" sz="800" u="none" cap="none" strike="noStrike">
                <a:solidFill>
                  <a:srgbClr val="3D3B36"/>
                </a:solidFill>
                <a:latin typeface="Inter"/>
                <a:ea typeface="Inter"/>
                <a:cs typeface="Inter"/>
                <a:sym typeface="Inter"/>
              </a:rPr>
              <a:t>Why it matters:</a:t>
            </a:r>
            <a:r>
              <a:rPr b="0" i="0" lang="zh-CN" sz="800" u="none" cap="none" strike="noStrike">
                <a:solidFill>
                  <a:srgbClr val="3D3B36"/>
                </a:solidFill>
                <a:latin typeface="Inter"/>
                <a:ea typeface="Inter"/>
                <a:cs typeface="Inter"/>
                <a:sym typeface="Inter"/>
              </a:rPr>
              <a:t> responsibility falls into the gap between the model vendor, the deploying company and the person who approved it</a:t>
            </a:r>
            <a:endParaRPr b="0" i="0" sz="800" u="none" cap="none" strike="noStrike">
              <a:solidFill>
                <a:schemeClr val="dk1"/>
              </a:solidFill>
              <a:latin typeface="Calibri"/>
              <a:ea typeface="Calibri"/>
              <a:cs typeface="Calibri"/>
              <a:sym typeface="Calibri"/>
            </a:endParaRPr>
          </a:p>
        </p:txBody>
      </p:sp>
      <p:sp>
        <p:nvSpPr>
          <p:cNvPr id="150" name="Google Shape;150;p19"/>
          <p:cNvSpPr/>
          <p:nvPr/>
        </p:nvSpPr>
        <p:spPr>
          <a:xfrm>
            <a:off x="3468202" y="3709439"/>
            <a:ext cx="2273822" cy="515358"/>
          </a:xfrm>
          <a:prstGeom prst="rect">
            <a:avLst/>
          </a:prstGeom>
          <a:noFill/>
          <a:ln>
            <a:noFill/>
          </a:ln>
        </p:spPr>
        <p:txBody>
          <a:bodyPr anchorCtr="0" anchor="t" bIns="0" lIns="0" spcFirstLastPara="1" rIns="0" wrap="square" tIns="0">
            <a:noAutofit/>
          </a:bodyPr>
          <a:lstStyle/>
          <a:p>
            <a:pPr indent="0" lvl="0" marL="0" marR="0" rtl="0" algn="l">
              <a:lnSpc>
                <a:spcPct val="140057"/>
              </a:lnSpc>
              <a:spcBef>
                <a:spcPts val="0"/>
              </a:spcBef>
              <a:spcAft>
                <a:spcPts val="0"/>
              </a:spcAft>
              <a:buClr>
                <a:srgbClr val="3D3B36"/>
              </a:buClr>
              <a:buSzPts val="800"/>
              <a:buFont typeface="Inter"/>
              <a:buNone/>
            </a:pPr>
            <a:r>
              <a:rPr b="1" i="0" lang="zh-CN" sz="800" u="none" cap="none" strike="noStrike">
                <a:solidFill>
                  <a:srgbClr val="3D3B36"/>
                </a:solidFill>
                <a:latin typeface="Inter"/>
                <a:ea typeface="Inter"/>
                <a:cs typeface="Inter"/>
                <a:sym typeface="Inter"/>
              </a:rPr>
              <a:t>Early signal:</a:t>
            </a:r>
            <a:r>
              <a:rPr b="0" i="0" lang="zh-CN" sz="800" u="none" cap="none" strike="noStrike">
                <a:solidFill>
                  <a:srgbClr val="3D3B36"/>
                </a:solidFill>
                <a:latin typeface="Inter"/>
                <a:ea typeface="Inter"/>
                <a:cs typeface="Inter"/>
                <a:sym typeface="Inter"/>
              </a:rPr>
              <a:t> 68% say government has done too little to regulate AI; the EU Product Liability Directive extends to software from 9 Dec 2026</a:t>
            </a:r>
            <a:endParaRPr b="0" i="0" sz="800" u="none" cap="none" strike="noStrike">
              <a:solidFill>
                <a:schemeClr val="dk1"/>
              </a:solidFill>
              <a:latin typeface="Calibri"/>
              <a:ea typeface="Calibri"/>
              <a:cs typeface="Calibri"/>
              <a:sym typeface="Calibri"/>
            </a:endParaRPr>
          </a:p>
        </p:txBody>
      </p:sp>
      <p:sp>
        <p:nvSpPr>
          <p:cNvPr id="151" name="Google Shape;151;p19"/>
          <p:cNvSpPr/>
          <p:nvPr/>
        </p:nvSpPr>
        <p:spPr>
          <a:xfrm>
            <a:off x="5977729" y="1430251"/>
            <a:ext cx="2554303" cy="2948867"/>
          </a:xfrm>
          <a:prstGeom prst="roundRect">
            <a:avLst>
              <a:gd fmla="val 2517" name="adj"/>
            </a:avLst>
          </a:prstGeom>
          <a:solidFill>
            <a:srgbClr val="FFFFFF"/>
          </a:solidFill>
          <a:ln cap="flat" cmpd="sng" w="9525">
            <a:solidFill>
              <a:srgbClr val="E0DCD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2" name="Google Shape;152;p19"/>
          <p:cNvSpPr/>
          <p:nvPr/>
        </p:nvSpPr>
        <p:spPr>
          <a:xfrm>
            <a:off x="6151100" y="1603622"/>
            <a:ext cx="2273788" cy="137943"/>
          </a:xfrm>
          <a:prstGeom prst="rect">
            <a:avLst/>
          </a:prstGeom>
          <a:noFill/>
          <a:ln>
            <a:noFill/>
          </a:ln>
        </p:spPr>
        <p:txBody>
          <a:bodyPr anchorCtr="0" anchor="t" bIns="0" lIns="0" spcFirstLastPara="1" rIns="0" wrap="square" tIns="0">
            <a:noAutofit/>
          </a:bodyPr>
          <a:lstStyle/>
          <a:p>
            <a:pPr indent="0" lvl="0" marL="0" marR="0" rtl="0" algn="l">
              <a:lnSpc>
                <a:spcPct val="140044"/>
              </a:lnSpc>
              <a:spcBef>
                <a:spcPts val="0"/>
              </a:spcBef>
              <a:spcAft>
                <a:spcPts val="0"/>
              </a:spcAft>
              <a:buClr>
                <a:srgbClr val="C2402C"/>
              </a:buClr>
              <a:buSzPts val="700"/>
              <a:buFont typeface="Inter"/>
              <a:buNone/>
            </a:pPr>
            <a:r>
              <a:rPr b="1" i="0" lang="zh-CN" sz="700" u="none" cap="none" strike="noStrike">
                <a:solidFill>
                  <a:srgbClr val="C2402C"/>
                </a:solidFill>
                <a:latin typeface="Inter"/>
                <a:ea typeface="Inter"/>
                <a:cs typeface="Inter"/>
                <a:sym typeface="Inter"/>
              </a:rPr>
              <a:t>03 · WHO PAYS FOR THE POWER</a:t>
            </a:r>
            <a:endParaRPr b="0" i="0" sz="700" u="none" cap="none" strike="noStrike">
              <a:solidFill>
                <a:schemeClr val="dk1"/>
              </a:solidFill>
              <a:latin typeface="Calibri"/>
              <a:ea typeface="Calibri"/>
              <a:cs typeface="Calibri"/>
              <a:sym typeface="Calibri"/>
            </a:endParaRPr>
          </a:p>
        </p:txBody>
      </p:sp>
      <p:sp>
        <p:nvSpPr>
          <p:cNvPr id="153" name="Google Shape;153;p19"/>
          <p:cNvSpPr/>
          <p:nvPr/>
        </p:nvSpPr>
        <p:spPr>
          <a:xfrm>
            <a:off x="6150975" y="1741614"/>
            <a:ext cx="2273700" cy="794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181C"/>
              </a:buClr>
              <a:buSzPts val="1200"/>
              <a:buFont typeface="Source Serif 4"/>
              <a:buNone/>
            </a:pPr>
            <a:r>
              <a:rPr b="0" i="0" lang="zh-CN" sz="1200" u="none" cap="none" strike="noStrike">
                <a:solidFill>
                  <a:srgbClr val="16181C"/>
                </a:solidFill>
                <a:latin typeface="Source Serif 4"/>
                <a:ea typeface="Source Serif 4"/>
                <a:cs typeface="Source Serif 4"/>
                <a:sym typeface="Source Serif 4"/>
              </a:rPr>
              <a:t>Communities will face the challenge of paying for grid capacity built for data centers that serve someone else.</a:t>
            </a:r>
            <a:endParaRPr b="0" i="0" sz="1200" u="none" cap="none" strike="noStrike">
              <a:solidFill>
                <a:schemeClr val="dk1"/>
              </a:solidFill>
              <a:latin typeface="Calibri"/>
              <a:ea typeface="Calibri"/>
              <a:cs typeface="Calibri"/>
              <a:sym typeface="Calibri"/>
            </a:endParaRPr>
          </a:p>
        </p:txBody>
      </p:sp>
      <p:sp>
        <p:nvSpPr>
          <p:cNvPr id="154" name="Google Shape;154;p19"/>
          <p:cNvSpPr/>
          <p:nvPr/>
        </p:nvSpPr>
        <p:spPr>
          <a:xfrm>
            <a:off x="6151100" y="2669502"/>
            <a:ext cx="2273788" cy="391256"/>
          </a:xfrm>
          <a:prstGeom prst="rect">
            <a:avLst/>
          </a:prstGeom>
          <a:noFill/>
          <a:ln>
            <a:noFill/>
          </a:ln>
        </p:spPr>
        <p:txBody>
          <a:bodyPr anchorCtr="0" anchor="t" bIns="0" lIns="0" spcFirstLastPara="1" rIns="0" wrap="square" tIns="0">
            <a:noAutofit/>
          </a:bodyPr>
          <a:lstStyle/>
          <a:p>
            <a:pPr indent="0" lvl="0" marL="0" marR="0" rtl="0" algn="l">
              <a:lnSpc>
                <a:spcPct val="140056"/>
              </a:lnSpc>
              <a:spcBef>
                <a:spcPts val="0"/>
              </a:spcBef>
              <a:spcAft>
                <a:spcPts val="0"/>
              </a:spcAft>
              <a:buClr>
                <a:srgbClr val="3D3B36"/>
              </a:buClr>
              <a:buSzPts val="800"/>
              <a:buFont typeface="Inter"/>
              <a:buNone/>
            </a:pPr>
            <a:r>
              <a:rPr b="1" i="0" lang="zh-CN" sz="800" u="none" cap="none" strike="noStrike">
                <a:solidFill>
                  <a:srgbClr val="3D3B36"/>
                </a:solidFill>
                <a:latin typeface="Inter"/>
                <a:ea typeface="Inter"/>
                <a:cs typeface="Inter"/>
                <a:sym typeface="Inter"/>
              </a:rPr>
              <a:t>Who:</a:t>
            </a:r>
            <a:r>
              <a:rPr b="0" i="0" lang="zh-CN" sz="800" u="none" cap="none" strike="noStrike">
                <a:solidFill>
                  <a:srgbClr val="3D3B36"/>
                </a:solidFill>
                <a:latin typeface="Inter"/>
                <a:ea typeface="Inter"/>
                <a:cs typeface="Inter"/>
                <a:sym typeface="Inter"/>
              </a:rPr>
              <a:t> households in host regions, state utility regulators, legislators writing large-load tariffs</a:t>
            </a:r>
            <a:endParaRPr b="0" i="0" sz="800" u="none" cap="none" strike="noStrike">
              <a:solidFill>
                <a:schemeClr val="dk1"/>
              </a:solidFill>
              <a:latin typeface="Calibri"/>
              <a:ea typeface="Calibri"/>
              <a:cs typeface="Calibri"/>
              <a:sym typeface="Calibri"/>
            </a:endParaRPr>
          </a:p>
        </p:txBody>
      </p:sp>
      <p:sp>
        <p:nvSpPr>
          <p:cNvPr id="155" name="Google Shape;155;p19"/>
          <p:cNvSpPr/>
          <p:nvPr/>
        </p:nvSpPr>
        <p:spPr>
          <a:xfrm>
            <a:off x="6151100" y="3127420"/>
            <a:ext cx="2273788" cy="515358"/>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D3B36"/>
              </a:buClr>
              <a:buSzPts val="700"/>
              <a:buFont typeface="Inter"/>
              <a:buNone/>
            </a:pPr>
            <a:r>
              <a:rPr b="1" i="0" lang="zh-CN" sz="700" u="none" cap="none" strike="noStrike">
                <a:solidFill>
                  <a:srgbClr val="3D3B36"/>
                </a:solidFill>
                <a:latin typeface="Inter"/>
                <a:ea typeface="Inter"/>
                <a:cs typeface="Inter"/>
                <a:sym typeface="Inter"/>
              </a:rPr>
              <a:t>Why it matters:</a:t>
            </a:r>
            <a:r>
              <a:rPr b="0" i="0" lang="zh-CN" sz="700" u="none" cap="none" strike="noStrike">
                <a:solidFill>
                  <a:srgbClr val="3D3B36"/>
                </a:solidFill>
                <a:latin typeface="Inter"/>
                <a:ea typeface="Inter"/>
                <a:cs typeface="Inter"/>
                <a:sym typeface="Inter"/>
              </a:rPr>
              <a:t> substations and lines built for one facility are socialized across every ratepayer, so the cost is local and the benefit is remote</a:t>
            </a:r>
            <a:endParaRPr b="0" i="0" sz="700" u="none" cap="none" strike="noStrike">
              <a:solidFill>
                <a:schemeClr val="dk1"/>
              </a:solidFill>
              <a:latin typeface="Calibri"/>
              <a:ea typeface="Calibri"/>
              <a:cs typeface="Calibri"/>
              <a:sym typeface="Calibri"/>
            </a:endParaRPr>
          </a:p>
        </p:txBody>
      </p:sp>
      <p:sp>
        <p:nvSpPr>
          <p:cNvPr id="156" name="Google Shape;156;p19"/>
          <p:cNvSpPr/>
          <p:nvPr/>
        </p:nvSpPr>
        <p:spPr>
          <a:xfrm>
            <a:off x="6151100" y="3709439"/>
            <a:ext cx="2273788" cy="515358"/>
          </a:xfrm>
          <a:prstGeom prst="rect">
            <a:avLst/>
          </a:prstGeom>
          <a:noFill/>
          <a:ln>
            <a:noFill/>
          </a:ln>
        </p:spPr>
        <p:txBody>
          <a:bodyPr anchorCtr="0" anchor="t" bIns="0" lIns="0" spcFirstLastPara="1" rIns="0" wrap="square" tIns="0">
            <a:noAutofit/>
          </a:bodyPr>
          <a:lstStyle/>
          <a:p>
            <a:pPr indent="0" lvl="0" marL="0" marR="0" rtl="0" algn="l">
              <a:lnSpc>
                <a:spcPct val="139940"/>
              </a:lnSpc>
              <a:spcBef>
                <a:spcPts val="0"/>
              </a:spcBef>
              <a:spcAft>
                <a:spcPts val="0"/>
              </a:spcAft>
              <a:buClr>
                <a:srgbClr val="3D3B36"/>
              </a:buClr>
              <a:buSzPts val="800"/>
              <a:buFont typeface="Inter"/>
              <a:buNone/>
            </a:pPr>
            <a:r>
              <a:rPr b="1" i="0" lang="zh-CN" sz="800" u="none" cap="none" strike="noStrike">
                <a:solidFill>
                  <a:srgbClr val="3D3B36"/>
                </a:solidFill>
                <a:latin typeface="Inter"/>
                <a:ea typeface="Inter"/>
                <a:cs typeface="Inter"/>
                <a:sym typeface="Inter"/>
              </a:rPr>
              <a:t>Early signal:</a:t>
            </a:r>
            <a:r>
              <a:rPr b="0" i="0" lang="zh-CN" sz="800" u="none" cap="none" strike="noStrike">
                <a:solidFill>
                  <a:srgbClr val="3D3B36"/>
                </a:solidFill>
                <a:latin typeface="Inter"/>
                <a:ea typeface="Inter"/>
                <a:cs typeface="Inter"/>
                <a:sym typeface="Inter"/>
              </a:rPr>
              <a:t> utilities sought $18.6B in rate increases in H1 2026; residential rates rose 7.3% in a year; 30+ states filed 300+ data-center bills</a:t>
            </a:r>
            <a:endParaRPr b="0" i="0" sz="800" u="none" cap="none" strike="noStrike">
              <a:solidFill>
                <a:schemeClr val="dk1"/>
              </a:solidFill>
              <a:latin typeface="Calibri"/>
              <a:ea typeface="Calibri"/>
              <a:cs typeface="Calibri"/>
              <a:sym typeface="Calibri"/>
            </a:endParaRPr>
          </a:p>
        </p:txBody>
      </p:sp>
      <p:sp>
        <p:nvSpPr>
          <p:cNvPr id="157" name="Google Shape;157;p19"/>
          <p:cNvSpPr/>
          <p:nvPr/>
        </p:nvSpPr>
        <p:spPr>
          <a:xfrm>
            <a:off x="609586" y="4532054"/>
            <a:ext cx="8162537" cy="325703"/>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8756E"/>
              </a:buClr>
              <a:buSzPts val="900"/>
              <a:buFont typeface="Inter"/>
              <a:buNone/>
            </a:pPr>
            <a:r>
              <a:rPr b="0" i="0" lang="zh-CN" sz="900" u="none" cap="none" strike="noStrike">
                <a:solidFill>
                  <a:srgbClr val="78756E"/>
                </a:solidFill>
                <a:latin typeface="Inter"/>
                <a:ea typeface="Inter"/>
                <a:cs typeface="Inter"/>
                <a:sym typeface="Inter"/>
              </a:rPr>
              <a:t>Sources: SignalFire 2026 State of Talent · Stanford Digital Economy Lab with ADP · Annenberg Public Policy Center, 2026 · EU Product Liability Directive · Consumer Reports and NEADA, 2026 · MultiState, 2026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