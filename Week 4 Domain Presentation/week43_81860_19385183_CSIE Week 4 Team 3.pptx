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Inter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94EE9D4-17C0-444C-803B-F634D9A1F533}">
  <a:tblStyle styleId="{994EE9D4-17C0-444C-803B-F634D9A1F53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6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yr_slide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yr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ferc.gov/news-events/news/final-report-february-2021-freeze-underscores-winterization-recommendations" TargetMode="External"/><Relationship Id="rId4" Type="http://schemas.openxmlformats.org/officeDocument/2006/relationships/hyperlink" Target="https://www.ercot.com/files/docs/2025/05/12/ERCOT-Grid-Insights-Electricity-Connection-and-Transfer.pdf" TargetMode="External"/><Relationship Id="rId5" Type="http://schemas.openxmlformats.org/officeDocument/2006/relationships/hyperlink" Target="https://www.eia.gov/todayinenergy/detail.php?id=27152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renewableenergyworld.com/news/vpp-adoption-is-growing-in-the-us-but-not-nearly-fast-enough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81B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/>
        </p:nvSpPr>
        <p:spPr>
          <a:xfrm>
            <a:off x="548650" y="3522425"/>
            <a:ext cx="4937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5FD1C8"/>
                </a:solidFill>
                <a:latin typeface="Inter"/>
                <a:ea typeface="Inter"/>
                <a:cs typeface="Inter"/>
                <a:sym typeface="Inter"/>
              </a:rPr>
              <a:t>Sylvia Yam, Kendall Frederick, Penn Riney, Sichen Deng</a:t>
            </a:r>
            <a:endParaRPr/>
          </a:p>
        </p:txBody>
      </p:sp>
      <p:sp>
        <p:nvSpPr>
          <p:cNvPr id="12" name="Google Shape;12;p3"/>
          <p:cNvSpPr txBox="1"/>
          <p:nvPr/>
        </p:nvSpPr>
        <p:spPr>
          <a:xfrm>
            <a:off x="548615" y="1874530"/>
            <a:ext cx="4937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Grid Modernization</a:t>
            </a:r>
            <a:endParaRPr sz="500"/>
          </a:p>
        </p:txBody>
      </p:sp>
      <p:sp>
        <p:nvSpPr>
          <p:cNvPr id="13" name="Google Shape;13;p3"/>
          <p:cNvSpPr txBox="1"/>
          <p:nvPr/>
        </p:nvSpPr>
        <p:spPr>
          <a:xfrm>
            <a:off x="548640" y="2743200"/>
            <a:ext cx="4480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9D1D6"/>
                </a:solidFill>
                <a:latin typeface="Inter"/>
                <a:ea typeface="Inter"/>
                <a:cs typeface="Inter"/>
                <a:sym typeface="Inter"/>
              </a:rPr>
              <a:t>Where software can make the electricity grid more resilient</a:t>
            </a:r>
            <a:endParaRPr/>
          </a:p>
        </p:txBody>
      </p:sp>
      <p:sp>
        <p:nvSpPr>
          <p:cNvPr id="14" name="Google Shape;14;p3"/>
          <p:cNvSpPr/>
          <p:nvPr/>
        </p:nvSpPr>
        <p:spPr>
          <a:xfrm>
            <a:off x="5806440" y="868680"/>
            <a:ext cx="2743200" cy="3383280"/>
          </a:xfrm>
          <a:prstGeom prst="roundRect">
            <a:avLst>
              <a:gd fmla="val 4666" name="adj"/>
            </a:avLst>
          </a:prstGeom>
          <a:solidFill>
            <a:srgbClr val="14181B"/>
          </a:solidFill>
          <a:ln cap="flat" cmpd="sng" w="15875">
            <a:solidFill>
              <a:srgbClr val="4652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6080759" y="1143000"/>
            <a:ext cx="2194560" cy="2834640"/>
          </a:xfrm>
          <a:prstGeom prst="roundRect">
            <a:avLst>
              <a:gd fmla="val 5833" name="adj"/>
            </a:avLst>
          </a:prstGeom>
          <a:solidFill>
            <a:srgbClr val="14181B"/>
          </a:solidFill>
          <a:ln cap="flat" cmpd="sng" w="15875">
            <a:solidFill>
              <a:srgbClr val="4652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6355079" y="1417319"/>
            <a:ext cx="1645920" cy="2286000"/>
          </a:xfrm>
          <a:prstGeom prst="roundRect">
            <a:avLst>
              <a:gd fmla="val 7777" name="adj"/>
            </a:avLst>
          </a:prstGeom>
          <a:solidFill>
            <a:srgbClr val="14181B"/>
          </a:solidFill>
          <a:ln cap="flat" cmpd="sng" w="15875">
            <a:solidFill>
              <a:srgbClr val="4652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629400" y="1691639"/>
            <a:ext cx="1097280" cy="1737360"/>
          </a:xfrm>
          <a:prstGeom prst="roundRect">
            <a:avLst>
              <a:gd fmla="val 11666" name="adj"/>
            </a:avLst>
          </a:prstGeom>
          <a:solidFill>
            <a:srgbClr val="0B7A75"/>
          </a:solidFill>
          <a:ln cap="flat" cmpd="sng" w="15875">
            <a:solidFill>
              <a:srgbClr val="5FD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903720" y="1965960"/>
            <a:ext cx="548640" cy="1188720"/>
          </a:xfrm>
          <a:prstGeom prst="roundRect">
            <a:avLst>
              <a:gd fmla="val 23333" name="adj"/>
            </a:avLst>
          </a:prstGeom>
          <a:solidFill>
            <a:srgbClr val="14181B"/>
          </a:solidFill>
          <a:ln cap="flat" cmpd="sng" w="15875">
            <a:solidFill>
              <a:srgbClr val="4652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/>
        </p:nvSpPr>
        <p:spPr>
          <a:xfrm>
            <a:off x="457200" y="347472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Texas 2021: an isolated grid had almost no power to import</a:t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457200" y="1463040"/>
            <a:ext cx="2624328" cy="1234440"/>
          </a:xfrm>
          <a:prstGeom prst="roundRect">
            <a:avLst>
              <a:gd fmla="val 5925" name="adj"/>
            </a:avLst>
          </a:prstGeom>
          <a:solidFill>
            <a:srgbClr val="FFFFFF"/>
          </a:solidFill>
          <a:ln cap="flat" cmpd="sng" w="12700">
            <a:solidFill>
              <a:srgbClr val="D5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 txBox="1"/>
          <p:nvPr/>
        </p:nvSpPr>
        <p:spPr>
          <a:xfrm>
            <a:off x="621792" y="1554480"/>
            <a:ext cx="22951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4.5M+</a:t>
            </a:r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621792" y="2048256"/>
            <a:ext cx="229514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people lost power, some for up to 4 days¹</a:t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3259836" y="1463040"/>
            <a:ext cx="2624328" cy="1234440"/>
          </a:xfrm>
          <a:prstGeom prst="roundRect">
            <a:avLst>
              <a:gd fmla="val 5925" name="adj"/>
            </a:avLst>
          </a:prstGeom>
          <a:solidFill>
            <a:srgbClr val="FFFFFF"/>
          </a:solidFill>
          <a:ln cap="flat" cmpd="sng" w="12700">
            <a:solidFill>
              <a:srgbClr val="D5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3424428" y="1554480"/>
            <a:ext cx="22951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20,000 MW</a:t>
            </a:r>
            <a:endParaRPr/>
          </a:p>
        </p:txBody>
      </p:sp>
      <p:sp>
        <p:nvSpPr>
          <p:cNvPr id="29" name="Google Shape;29;p4"/>
          <p:cNvSpPr txBox="1"/>
          <p:nvPr/>
        </p:nvSpPr>
        <p:spPr>
          <a:xfrm>
            <a:off x="3424428" y="2048256"/>
            <a:ext cx="229514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of rolling blackouts, the largest in US history¹</a:t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6062472" y="1463040"/>
            <a:ext cx="2624328" cy="1234440"/>
          </a:xfrm>
          <a:prstGeom prst="roundRect">
            <a:avLst>
              <a:gd fmla="val 5925" name="adj"/>
            </a:avLst>
          </a:prstGeom>
          <a:solidFill>
            <a:srgbClr val="FFFFFF"/>
          </a:solidFill>
          <a:ln cap="flat" cmpd="sng" w="12700">
            <a:solidFill>
              <a:srgbClr val="D5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 txBox="1"/>
          <p:nvPr/>
        </p:nvSpPr>
        <p:spPr>
          <a:xfrm>
            <a:off x="6227064" y="1554480"/>
            <a:ext cx="22951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820 MW</a:t>
            </a:r>
            <a:endParaRPr/>
          </a:p>
        </p:txBody>
      </p:sp>
      <p:sp>
        <p:nvSpPr>
          <p:cNvPr id="32" name="Google Shape;32;p4"/>
          <p:cNvSpPr txBox="1"/>
          <p:nvPr/>
        </p:nvSpPr>
        <p:spPr>
          <a:xfrm>
            <a:off x="6227064" y="2048256"/>
            <a:ext cx="229514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of links to the rest of the US grid²</a:t>
            </a:r>
            <a:endParaRPr/>
          </a:p>
        </p:txBody>
      </p:sp>
      <p:sp>
        <p:nvSpPr>
          <p:cNvPr id="33" name="Google Shape;33;p4"/>
          <p:cNvSpPr txBox="1"/>
          <p:nvPr/>
        </p:nvSpPr>
        <p:spPr>
          <a:xfrm>
            <a:off x="457200" y="28803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Those links could cover about 4% of the blackout</a:t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457200" y="3218688"/>
            <a:ext cx="8229600" cy="274320"/>
          </a:xfrm>
          <a:prstGeom prst="rect">
            <a:avLst/>
          </a:prstGeom>
          <a:solidFill>
            <a:srgbClr val="F8DC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57200" y="3218688"/>
            <a:ext cx="338328" cy="274320"/>
          </a:xfrm>
          <a:prstGeom prst="rect">
            <a:avLst/>
          </a:prstGeom>
          <a:solidFill>
            <a:srgbClr val="1B1F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 txBox="1"/>
          <p:nvPr/>
        </p:nvSpPr>
        <p:spPr>
          <a:xfrm>
            <a:off x="457200" y="352958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F6B76"/>
                </a:solidFill>
                <a:latin typeface="Inter"/>
                <a:ea typeface="Inter"/>
                <a:cs typeface="Inter"/>
                <a:sym typeface="Inter"/>
              </a:rPr>
              <a:t>820 MW of links</a:t>
            </a:r>
            <a:endParaRPr/>
          </a:p>
        </p:txBody>
      </p:sp>
      <p:sp>
        <p:nvSpPr>
          <p:cNvPr id="37" name="Google Shape;37;p4"/>
          <p:cNvSpPr txBox="1"/>
          <p:nvPr/>
        </p:nvSpPr>
        <p:spPr>
          <a:xfrm>
            <a:off x="5029200" y="352958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F6B76"/>
                </a:solidFill>
                <a:latin typeface="Inter"/>
                <a:ea typeface="Inter"/>
                <a:cs typeface="Inter"/>
                <a:sym typeface="Inter"/>
              </a:rPr>
              <a:t>20,000 MW of blackouts</a:t>
            </a:r>
            <a:endParaRPr/>
          </a:p>
        </p:txBody>
      </p:sp>
      <p:sp>
        <p:nvSpPr>
          <p:cNvPr id="38" name="Google Shape;38;p4"/>
          <p:cNvSpPr txBox="1"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What failed: </a:t>
            </a:r>
            <a:r>
              <a:rPr lang="en-US" sz="14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frozen plants and gas supply caused 76% of unplanned outages.¹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Why nothing filled the gap: </a:t>
            </a:r>
            <a:r>
              <a:rPr lang="en-US" sz="14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Texas runs its own interconnection, one of three in the US.³</a:t>
            </a:r>
            <a:endParaRPr/>
          </a:p>
        </p:txBody>
      </p:sp>
      <p:sp>
        <p:nvSpPr>
          <p:cNvPr id="39" name="Google Shape;39;p4"/>
          <p:cNvSpPr txBox="1"/>
          <p:nvPr/>
        </p:nvSpPr>
        <p:spPr>
          <a:xfrm>
            <a:off x="457200" y="4645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F6B76"/>
                </a:solidFill>
                <a:latin typeface="Inter"/>
                <a:ea typeface="Inter"/>
                <a:cs typeface="Inter"/>
                <a:sym typeface="Inter"/>
              </a:rPr>
              <a:t>Sources: 1. </a:t>
            </a:r>
            <a:r>
              <a:rPr lang="en-US" sz="10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FERC, NERC and regional entity staff report on the February 2021 freeze (Nov 2021)</a:t>
            </a:r>
            <a:r>
              <a:rPr lang="en-US" sz="1000">
                <a:solidFill>
                  <a:srgbClr val="5F6B76"/>
                </a:solidFill>
                <a:latin typeface="Inter"/>
                <a:ea typeface="Inter"/>
                <a:cs typeface="Inter"/>
                <a:sym typeface="Inter"/>
              </a:rPr>
              <a:t>. 2. </a:t>
            </a:r>
            <a:r>
              <a:rPr lang="en-US" sz="10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ERCOT Grid Insights: Electricity Connection and Transfer (May 2025)</a:t>
            </a:r>
            <a:r>
              <a:rPr lang="en-US" sz="1000">
                <a:solidFill>
                  <a:srgbClr val="5F6B76"/>
                </a:solidFill>
                <a:latin typeface="Inter"/>
                <a:ea typeface="Inter"/>
                <a:cs typeface="Inter"/>
                <a:sym typeface="Inter"/>
              </a:rPr>
              <a:t>. 3. </a:t>
            </a:r>
            <a:r>
              <a:rPr lang="en-US" sz="10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US EIA, Today in Energy (Jul 2016)</a:t>
            </a:r>
            <a:r>
              <a:rPr lang="en-US" sz="1000">
                <a:solidFill>
                  <a:srgbClr val="5F6B76"/>
                </a:solidFill>
                <a:latin typeface="Inter"/>
                <a:ea typeface="Inter"/>
                <a:cs typeface="Inter"/>
                <a:sym typeface="Inter"/>
              </a:rPr>
              <a:t>. 4% = 820 ÷ 20,000.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 txBox="1"/>
          <p:nvPr/>
        </p:nvSpPr>
        <p:spPr>
          <a:xfrm>
            <a:off x="457200" y="347472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The grid was built one-way, but power now starts at the edge</a:t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457200" y="1463040"/>
            <a:ext cx="1645920" cy="731520"/>
          </a:xfrm>
          <a:prstGeom prst="roundRect">
            <a:avLst>
              <a:gd fmla="val 10000" name="adj"/>
            </a:avLst>
          </a:prstGeom>
          <a:solidFill>
            <a:srgbClr val="E6EAED"/>
          </a:solidFill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Power plants</a:t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2194560" y="1691640"/>
            <a:ext cx="36576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AA5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2651760" y="1463040"/>
            <a:ext cx="1645920" cy="731520"/>
          </a:xfrm>
          <a:prstGeom prst="roundRect">
            <a:avLst>
              <a:gd fmla="val 10000" name="adj"/>
            </a:avLst>
          </a:prstGeom>
          <a:solidFill>
            <a:srgbClr val="E6EAED"/>
          </a:solidFill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Transmission</a:t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4389120" y="1691640"/>
            <a:ext cx="36576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AA5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4846320" y="1463040"/>
            <a:ext cx="1645920" cy="731520"/>
          </a:xfrm>
          <a:prstGeom prst="roundRect">
            <a:avLst>
              <a:gd fmla="val 10000" name="adj"/>
            </a:avLst>
          </a:prstGeom>
          <a:solidFill>
            <a:srgbClr val="0B7A75"/>
          </a:solidFill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Local distribution</a:t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6583679" y="1691640"/>
            <a:ext cx="36576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AA5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7040879" y="1463040"/>
            <a:ext cx="1645920" cy="731520"/>
          </a:xfrm>
          <a:prstGeom prst="roundRect">
            <a:avLst>
              <a:gd fmla="val 10000" name="adj"/>
            </a:avLst>
          </a:prstGeom>
          <a:solidFill>
            <a:srgbClr val="E6EAED"/>
          </a:solidFill>
          <a:ln>
            <a:noFill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Homes and businesses</a:t>
            </a:r>
            <a:endParaRPr/>
          </a:p>
        </p:txBody>
      </p:sp>
      <p:sp>
        <p:nvSpPr>
          <p:cNvPr id="52" name="Google Shape;52;p5"/>
          <p:cNvSpPr txBox="1"/>
          <p:nvPr/>
        </p:nvSpPr>
        <p:spPr>
          <a:xfrm>
            <a:off x="457200" y="233172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F6B76"/>
                </a:solidFill>
                <a:latin typeface="Inter"/>
                <a:ea typeface="Inter"/>
                <a:cs typeface="Inter"/>
                <a:sym typeface="Inter"/>
              </a:rPr>
              <a:t>Built for one direction: from big plants to passive users</a:t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4846320" y="2331720"/>
            <a:ext cx="3840480" cy="256032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0B7A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 txBox="1"/>
          <p:nvPr/>
        </p:nvSpPr>
        <p:spPr>
          <a:xfrm>
            <a:off x="4846320" y="2633472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7A75"/>
                </a:solidFill>
                <a:latin typeface="Inter"/>
                <a:ea typeface="Inter"/>
                <a:cs typeface="Inter"/>
                <a:sym typeface="Inter"/>
              </a:rPr>
              <a:t>Now: solar, batteries and EVs send power back</a:t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457200" y="3246120"/>
            <a:ext cx="2624328" cy="1234440"/>
          </a:xfrm>
          <a:prstGeom prst="roundRect">
            <a:avLst>
              <a:gd fmla="val 5925" name="adj"/>
            </a:avLst>
          </a:prstGeom>
          <a:solidFill>
            <a:srgbClr val="FFFFFF"/>
          </a:solidFill>
          <a:ln cap="flat" cmpd="sng" w="12700">
            <a:solidFill>
              <a:srgbClr val="D5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 txBox="1"/>
          <p:nvPr/>
        </p:nvSpPr>
        <p:spPr>
          <a:xfrm>
            <a:off x="621792" y="3337560"/>
            <a:ext cx="22951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B7A75"/>
                </a:solidFill>
                <a:latin typeface="Inter"/>
                <a:ea typeface="Inter"/>
                <a:cs typeface="Inter"/>
                <a:sym typeface="Inter"/>
              </a:rPr>
              <a:t>33 GW</a:t>
            </a:r>
            <a:endParaRPr/>
          </a:p>
        </p:txBody>
      </p:sp>
      <p:sp>
        <p:nvSpPr>
          <p:cNvPr id="57" name="Google Shape;57;p5"/>
          <p:cNvSpPr txBox="1"/>
          <p:nvPr/>
        </p:nvSpPr>
        <p:spPr>
          <a:xfrm>
            <a:off x="621792" y="3831336"/>
            <a:ext cx="229514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of virtual power plants in the US today¹</a:t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259836" y="3246120"/>
            <a:ext cx="2624328" cy="1234440"/>
          </a:xfrm>
          <a:prstGeom prst="roundRect">
            <a:avLst>
              <a:gd fmla="val 5925" name="adj"/>
            </a:avLst>
          </a:prstGeom>
          <a:solidFill>
            <a:srgbClr val="FFFFFF"/>
          </a:solidFill>
          <a:ln cap="flat" cmpd="sng" w="12700">
            <a:solidFill>
              <a:srgbClr val="D5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 txBox="1"/>
          <p:nvPr/>
        </p:nvSpPr>
        <p:spPr>
          <a:xfrm>
            <a:off x="3424428" y="3337560"/>
            <a:ext cx="22951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B7A75"/>
                </a:solidFill>
                <a:latin typeface="Inter"/>
                <a:ea typeface="Inter"/>
                <a:cs typeface="Inter"/>
                <a:sym typeface="Inter"/>
              </a:rPr>
              <a:t>80–160 GW</a:t>
            </a:r>
            <a:endParaRPr/>
          </a:p>
        </p:txBody>
      </p:sp>
      <p:sp>
        <p:nvSpPr>
          <p:cNvPr id="60" name="Google Shape;60;p5"/>
          <p:cNvSpPr txBox="1"/>
          <p:nvPr/>
        </p:nvSpPr>
        <p:spPr>
          <a:xfrm>
            <a:off x="3424428" y="3831336"/>
            <a:ext cx="229514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DOE target for 2030, or 10–20% of peak¹</a:t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6062472" y="3246120"/>
            <a:ext cx="2624328" cy="1234440"/>
          </a:xfrm>
          <a:prstGeom prst="roundRect">
            <a:avLst>
              <a:gd fmla="val 5925" name="adj"/>
            </a:avLst>
          </a:prstGeom>
          <a:solidFill>
            <a:srgbClr val="FFFFFF"/>
          </a:solidFill>
          <a:ln cap="flat" cmpd="sng" w="12700">
            <a:solidFill>
              <a:srgbClr val="D5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 txBox="1"/>
          <p:nvPr/>
        </p:nvSpPr>
        <p:spPr>
          <a:xfrm>
            <a:off x="6227064" y="3337560"/>
            <a:ext cx="22951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B7A75"/>
                </a:solidFill>
                <a:latin typeface="Inter"/>
                <a:ea typeface="Inter"/>
                <a:cs typeface="Inter"/>
                <a:sym typeface="Inter"/>
              </a:rPr>
              <a:t>Microgrids</a:t>
            </a:r>
            <a:endParaRPr/>
          </a:p>
        </p:txBody>
      </p:sp>
      <p:sp>
        <p:nvSpPr>
          <p:cNvPr id="63" name="Google Shape;63;p5"/>
          <p:cNvSpPr txBox="1"/>
          <p:nvPr/>
        </p:nvSpPr>
        <p:spPr>
          <a:xfrm>
            <a:off x="6227064" y="3831336"/>
            <a:ext cx="229514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cells that keep running if the main grid fails</a:t>
            </a:r>
            <a:endParaRPr/>
          </a:p>
        </p:txBody>
      </p:sp>
      <p:sp>
        <p:nvSpPr>
          <p:cNvPr id="64" name="Google Shape;64;p5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F6B76"/>
                </a:solidFill>
                <a:latin typeface="Inter"/>
                <a:ea typeface="Inter"/>
                <a:cs typeface="Inter"/>
                <a:sym typeface="Inter"/>
              </a:rPr>
              <a:t>Source: 1. </a:t>
            </a:r>
            <a:r>
              <a:rPr lang="en-US" sz="10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US DOE, Virtual Power Plants Liftoff 2025 Update (Jan 2025), via Renewable Energy World</a:t>
            </a:r>
            <a:r>
              <a:rPr lang="en-US" sz="1000">
                <a:solidFill>
                  <a:srgbClr val="5F6B76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6" title="nested-hierarchy-pyrami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 txBox="1"/>
          <p:nvPr/>
        </p:nvSpPr>
        <p:spPr>
          <a:xfrm>
            <a:off x="457200" y="347472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Level 2 is where the grid is stuck, and where it changes fastest</a:t>
            </a: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457200" y="1463040"/>
            <a:ext cx="2624328" cy="1874519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D5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/>
          <p:cNvSpPr txBox="1"/>
          <p:nvPr/>
        </p:nvSpPr>
        <p:spPr>
          <a:xfrm>
            <a:off x="621792" y="1572768"/>
            <a:ext cx="22951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Constraints</a:t>
            </a:r>
            <a:endParaRPr/>
          </a:p>
        </p:txBody>
      </p:sp>
      <p:sp>
        <p:nvSpPr>
          <p:cNvPr id="77" name="Google Shape;77;p7"/>
          <p:cNvSpPr txBox="1"/>
          <p:nvPr/>
        </p:nvSpPr>
        <p:spPr>
          <a:xfrm>
            <a:off x="621792" y="1938528"/>
            <a:ext cx="2295144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Resilience: an upstream failure darkens every neighborhood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Last mile untracked: no view past the meter</a:t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3259836" y="1463040"/>
            <a:ext cx="2624328" cy="1874519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D5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"/>
          <p:cNvSpPr txBox="1"/>
          <p:nvPr/>
        </p:nvSpPr>
        <p:spPr>
          <a:xfrm>
            <a:off x="3424428" y="1572768"/>
            <a:ext cx="22951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B7A75"/>
                </a:solidFill>
                <a:latin typeface="Inter"/>
                <a:ea typeface="Inter"/>
                <a:cs typeface="Inter"/>
                <a:sym typeface="Inter"/>
              </a:rPr>
              <a:t>What is changing</a:t>
            </a:r>
            <a:endParaRPr/>
          </a:p>
        </p:txBody>
      </p:sp>
      <p:sp>
        <p:nvSpPr>
          <p:cNvPr id="80" name="Google Shape;80;p7"/>
          <p:cNvSpPr txBox="1"/>
          <p:nvPr/>
        </p:nvSpPr>
        <p:spPr>
          <a:xfrm>
            <a:off x="3424428" y="1938528"/>
            <a:ext cx="2295144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Microgrids: local cells that can run on their own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Virtual power plants pool home devices</a:t>
            </a: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6062472" y="1463040"/>
            <a:ext cx="2624328" cy="1874519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D5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/>
          <p:cNvSpPr txBox="1"/>
          <p:nvPr/>
        </p:nvSpPr>
        <p:spPr>
          <a:xfrm>
            <a:off x="6227064" y="1572768"/>
            <a:ext cx="22951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What is stuck</a:t>
            </a:r>
            <a:endParaRPr/>
          </a:p>
        </p:txBody>
      </p:sp>
      <p:sp>
        <p:nvSpPr>
          <p:cNvPr id="83" name="Google Shape;83;p7"/>
          <p:cNvSpPr txBox="1"/>
          <p:nvPr/>
        </p:nvSpPr>
        <p:spPr>
          <a:xfrm>
            <a:off x="6227064" y="1938528"/>
            <a:ext cx="2295144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Institutional inertia: replacing infrastructure takes years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Renewables arrive faster than the grid adapts</a:t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457200" y="3520440"/>
            <a:ext cx="8229600" cy="1143000"/>
          </a:xfrm>
          <a:prstGeom prst="roundRect">
            <a:avLst>
              <a:gd fmla="val 6400" name="adj"/>
            </a:avLst>
          </a:prstGeom>
          <a:solidFill>
            <a:srgbClr val="0B7A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/>
          <p:cNvSpPr txBox="1"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if we change one element?</a:t>
            </a:r>
            <a:endParaRPr/>
          </a:p>
        </p:txBody>
      </p:sp>
      <p:sp>
        <p:nvSpPr>
          <p:cNvPr id="86" name="Google Shape;86;p7"/>
          <p:cNvSpPr txBox="1"/>
          <p:nvPr/>
        </p:nvSpPr>
        <p:spPr>
          <a:xfrm>
            <a:off x="640080" y="3950208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Make each neighborhood a cell that can island itself and share with its neighbors. Utilities then coordinate cells, and devices get a grid that can use them.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/>
        </p:nvSpPr>
        <p:spPr>
          <a:xfrm>
            <a:off x="457200" y="347472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A grid of grids: local cells that share power and can island</a:t>
            </a:r>
            <a:endParaRPr/>
          </a:p>
        </p:txBody>
      </p:sp>
      <p:sp>
        <p:nvSpPr>
          <p:cNvPr id="92" name="Google Shape;92;p8"/>
          <p:cNvSpPr/>
          <p:nvPr/>
        </p:nvSpPr>
        <p:spPr>
          <a:xfrm>
            <a:off x="457200" y="1463040"/>
            <a:ext cx="5029200" cy="548640"/>
          </a:xfrm>
          <a:prstGeom prst="roundRect">
            <a:avLst>
              <a:gd fmla="val 13333" name="adj"/>
            </a:avLst>
          </a:prstGeom>
          <a:solidFill>
            <a:srgbClr val="1B1F23"/>
          </a:solidFill>
          <a:ln>
            <a:noFill/>
          </a:ln>
        </p:spPr>
        <p:txBody>
          <a:bodyPr anchorCtr="0" anchor="ctr" bIns="73150" lIns="109725" spcFirstLastPara="1" rIns="109725" wrap="square" tIns="73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Coordination software: the CS layer</a:t>
            </a:r>
            <a:endParaRPr/>
          </a:p>
        </p:txBody>
      </p:sp>
      <p:cxnSp>
        <p:nvCxnSpPr>
          <p:cNvPr id="93" name="Google Shape;93;p8"/>
          <p:cNvCxnSpPr/>
          <p:nvPr/>
        </p:nvCxnSpPr>
        <p:spPr>
          <a:xfrm>
            <a:off x="1828800" y="2834640"/>
            <a:ext cx="457200" cy="0"/>
          </a:xfrm>
          <a:prstGeom prst="straightConnector1">
            <a:avLst/>
          </a:prstGeom>
          <a:noFill/>
          <a:ln cap="flat" cmpd="sng" w="28575">
            <a:solidFill>
              <a:srgbClr val="0B7A7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p8"/>
          <p:cNvCxnSpPr/>
          <p:nvPr/>
        </p:nvCxnSpPr>
        <p:spPr>
          <a:xfrm>
            <a:off x="3657600" y="2834640"/>
            <a:ext cx="457200" cy="0"/>
          </a:xfrm>
          <a:prstGeom prst="straightConnector1">
            <a:avLst/>
          </a:prstGeom>
          <a:noFill/>
          <a:ln cap="flat" cmpd="sng" w="28575">
            <a:solidFill>
              <a:srgbClr val="0B7A7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8"/>
          <p:cNvCxnSpPr/>
          <p:nvPr/>
        </p:nvCxnSpPr>
        <p:spPr>
          <a:xfrm>
            <a:off x="1828800" y="4069080"/>
            <a:ext cx="457200" cy="0"/>
          </a:xfrm>
          <a:prstGeom prst="straightConnector1">
            <a:avLst/>
          </a:prstGeom>
          <a:noFill/>
          <a:ln cap="flat" cmpd="sng" w="28575">
            <a:solidFill>
              <a:srgbClr val="9AA5AD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6" name="Google Shape;96;p8"/>
          <p:cNvCxnSpPr/>
          <p:nvPr/>
        </p:nvCxnSpPr>
        <p:spPr>
          <a:xfrm>
            <a:off x="3657600" y="4069080"/>
            <a:ext cx="457200" cy="0"/>
          </a:xfrm>
          <a:prstGeom prst="straightConnector1">
            <a:avLst/>
          </a:prstGeom>
          <a:noFill/>
          <a:ln cap="flat" cmpd="sng" w="28575">
            <a:solidFill>
              <a:srgbClr val="9AA5AD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7" name="Google Shape;97;p8"/>
          <p:cNvCxnSpPr/>
          <p:nvPr/>
        </p:nvCxnSpPr>
        <p:spPr>
          <a:xfrm>
            <a:off x="1143000" y="3246120"/>
            <a:ext cx="0" cy="411480"/>
          </a:xfrm>
          <a:prstGeom prst="straightConnector1">
            <a:avLst/>
          </a:prstGeom>
          <a:noFill/>
          <a:ln cap="flat" cmpd="sng" w="28575">
            <a:solidFill>
              <a:srgbClr val="0B7A7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8"/>
          <p:cNvCxnSpPr/>
          <p:nvPr/>
        </p:nvCxnSpPr>
        <p:spPr>
          <a:xfrm>
            <a:off x="1143000" y="2011680"/>
            <a:ext cx="0" cy="411480"/>
          </a:xfrm>
          <a:prstGeom prst="straightConnector1">
            <a:avLst/>
          </a:prstGeom>
          <a:noFill/>
          <a:ln cap="flat" cmpd="sng" w="12700">
            <a:solidFill>
              <a:srgbClr val="9AA5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8"/>
          <p:cNvCxnSpPr/>
          <p:nvPr/>
        </p:nvCxnSpPr>
        <p:spPr>
          <a:xfrm>
            <a:off x="2971800" y="3246120"/>
            <a:ext cx="0" cy="411480"/>
          </a:xfrm>
          <a:prstGeom prst="straightConnector1">
            <a:avLst/>
          </a:prstGeom>
          <a:noFill/>
          <a:ln cap="flat" cmpd="sng" w="28575">
            <a:solidFill>
              <a:srgbClr val="9AA5AD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0" name="Google Shape;100;p8"/>
          <p:cNvCxnSpPr/>
          <p:nvPr/>
        </p:nvCxnSpPr>
        <p:spPr>
          <a:xfrm>
            <a:off x="2971800" y="2011680"/>
            <a:ext cx="0" cy="411480"/>
          </a:xfrm>
          <a:prstGeom prst="straightConnector1">
            <a:avLst/>
          </a:prstGeom>
          <a:noFill/>
          <a:ln cap="flat" cmpd="sng" w="12700">
            <a:solidFill>
              <a:srgbClr val="9AA5A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8"/>
          <p:cNvCxnSpPr/>
          <p:nvPr/>
        </p:nvCxnSpPr>
        <p:spPr>
          <a:xfrm>
            <a:off x="4800600" y="3246120"/>
            <a:ext cx="0" cy="411480"/>
          </a:xfrm>
          <a:prstGeom prst="straightConnector1">
            <a:avLst/>
          </a:prstGeom>
          <a:noFill/>
          <a:ln cap="flat" cmpd="sng" w="28575">
            <a:solidFill>
              <a:srgbClr val="0B7A7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8"/>
          <p:cNvCxnSpPr/>
          <p:nvPr/>
        </p:nvCxnSpPr>
        <p:spPr>
          <a:xfrm>
            <a:off x="4800600" y="2011680"/>
            <a:ext cx="0" cy="411480"/>
          </a:xfrm>
          <a:prstGeom prst="straightConnector1">
            <a:avLst/>
          </a:prstGeom>
          <a:noFill/>
          <a:ln cap="flat" cmpd="sng" w="12700">
            <a:solidFill>
              <a:srgbClr val="9AA5A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8"/>
          <p:cNvSpPr/>
          <p:nvPr/>
        </p:nvSpPr>
        <p:spPr>
          <a:xfrm>
            <a:off x="457200" y="2423160"/>
            <a:ext cx="1371600" cy="822960"/>
          </a:xfrm>
          <a:prstGeom prst="roundRect">
            <a:avLst>
              <a:gd fmla="val 8888" name="adj"/>
            </a:avLst>
          </a:prstGeom>
          <a:solidFill>
            <a:srgbClr val="D9EFED"/>
          </a:solidFill>
          <a:ln cap="flat" cmpd="sng" w="15875">
            <a:solidFill>
              <a:srgbClr val="0B7A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Homes</a:t>
            </a: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2286000" y="2423160"/>
            <a:ext cx="1371600" cy="822960"/>
          </a:xfrm>
          <a:prstGeom prst="roundRect">
            <a:avLst>
              <a:gd fmla="val 8888" name="adj"/>
            </a:avLst>
          </a:prstGeom>
          <a:solidFill>
            <a:srgbClr val="D9EFED"/>
          </a:solidFill>
          <a:ln cap="flat" cmpd="sng" w="15875">
            <a:solidFill>
              <a:srgbClr val="0B7A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Hospital</a:t>
            </a:r>
            <a:endParaRPr/>
          </a:p>
        </p:txBody>
      </p:sp>
      <p:sp>
        <p:nvSpPr>
          <p:cNvPr id="105" name="Google Shape;105;p8"/>
          <p:cNvSpPr/>
          <p:nvPr/>
        </p:nvSpPr>
        <p:spPr>
          <a:xfrm>
            <a:off x="4114800" y="2423160"/>
            <a:ext cx="1371600" cy="822960"/>
          </a:xfrm>
          <a:prstGeom prst="roundRect">
            <a:avLst>
              <a:gd fmla="val 8888" name="adj"/>
            </a:avLst>
          </a:prstGeom>
          <a:solidFill>
            <a:srgbClr val="D9EFED"/>
          </a:solidFill>
          <a:ln cap="flat" cmpd="sng" w="15875">
            <a:solidFill>
              <a:srgbClr val="0B7A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Campus</a:t>
            </a: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457200" y="3657600"/>
            <a:ext cx="1371600" cy="822960"/>
          </a:xfrm>
          <a:prstGeom prst="roundRect">
            <a:avLst>
              <a:gd fmla="val 8888" name="adj"/>
            </a:avLst>
          </a:prstGeom>
          <a:solidFill>
            <a:srgbClr val="D9EFED"/>
          </a:solidFill>
          <a:ln cap="flat" cmpd="sng" w="15875">
            <a:solidFill>
              <a:srgbClr val="0B7A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Shops</a:t>
            </a:r>
            <a:endParaRPr/>
          </a:p>
        </p:txBody>
      </p:sp>
      <p:sp>
        <p:nvSpPr>
          <p:cNvPr id="107" name="Google Shape;107;p8"/>
          <p:cNvSpPr/>
          <p:nvPr/>
        </p:nvSpPr>
        <p:spPr>
          <a:xfrm>
            <a:off x="2286000" y="3657600"/>
            <a:ext cx="1371600" cy="822960"/>
          </a:xfrm>
          <a:prstGeom prst="roundRect">
            <a:avLst>
              <a:gd fmla="val 8888" name="adj"/>
            </a:avLst>
          </a:prstGeom>
          <a:solidFill>
            <a:srgbClr val="F8DCCB"/>
          </a:solidFill>
          <a:ln cap="flat" cmpd="sng" w="15875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Outage here: cell islands</a:t>
            </a:r>
            <a:endParaRPr/>
          </a:p>
        </p:txBody>
      </p:sp>
      <p:sp>
        <p:nvSpPr>
          <p:cNvPr id="108" name="Google Shape;108;p8"/>
          <p:cNvSpPr/>
          <p:nvPr/>
        </p:nvSpPr>
        <p:spPr>
          <a:xfrm>
            <a:off x="4114800" y="3657600"/>
            <a:ext cx="1371600" cy="822960"/>
          </a:xfrm>
          <a:prstGeom prst="roundRect">
            <a:avLst>
              <a:gd fmla="val 8888" name="adj"/>
            </a:avLst>
          </a:prstGeom>
          <a:solidFill>
            <a:srgbClr val="D9EFED"/>
          </a:solidFill>
          <a:ln cap="flat" cmpd="sng" w="15875">
            <a:solidFill>
              <a:srgbClr val="0B7A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Factory</a:t>
            </a:r>
            <a:endParaRPr/>
          </a:p>
        </p:txBody>
      </p:sp>
      <p:sp>
        <p:nvSpPr>
          <p:cNvPr id="109" name="Google Shape;109;p8"/>
          <p:cNvSpPr txBox="1"/>
          <p:nvPr/>
        </p:nvSpPr>
        <p:spPr>
          <a:xfrm>
            <a:off x="5852160" y="1463040"/>
            <a:ext cx="28346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Each cell </a:t>
            </a:r>
            <a:r>
              <a:rPr lang="en-US" sz="14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balances its own solar, batteries and EVs.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7A75"/>
                </a:solidFill>
                <a:latin typeface="Inter"/>
                <a:ea typeface="Inter"/>
                <a:cs typeface="Inter"/>
                <a:sym typeface="Inter"/>
              </a:rPr>
              <a:t>DC links </a:t>
            </a:r>
            <a:r>
              <a:rPr lang="en-US" sz="14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between cells are controllable, so software decides who shares with whom.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A fault stays local: </a:t>
            </a:r>
            <a:r>
              <a:rPr lang="en-US" sz="14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that cell islands and its neighbors keep running.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Opportunities:</a:t>
            </a:r>
            <a:r>
              <a:rPr b="1" lang="en-US" sz="29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 Level 2 problems for software</a:t>
            </a:r>
            <a:endParaRPr sz="1300"/>
          </a:p>
        </p:txBody>
      </p:sp>
      <p:graphicFrame>
        <p:nvGraphicFramePr>
          <p:cNvPr id="115" name="Google Shape;115;p9"/>
          <p:cNvGraphicFramePr/>
          <p:nvPr/>
        </p:nvGraphicFramePr>
        <p:xfrm>
          <a:off x="457200" y="1051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{994EE9D4-17C0-444C-803B-F634D9A1F533}</a:tableStyleId>
              </a:tblPr>
              <a:tblGrid>
                <a:gridCol w="2651750"/>
                <a:gridCol w="2560325"/>
                <a:gridCol w="3017525"/>
              </a:tblGrid>
              <a:tr h="38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Opportunity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1F2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 problem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1F2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What cascades</a:t>
                      </a:r>
                      <a:endParaRPr/>
                    </a:p>
                  </a:txBody>
                  <a:tcPr marT="73150" marB="731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B1F2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Last-mile visibility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0B7A7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Better interactions</a:t>
                      </a:r>
                      <a:endParaRPr/>
                    </a:p>
                  </a:txBody>
                  <a:tcPr marT="73150" marB="7315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1F2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AD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Utilities cannot see the solar, batteries and EVs behind the meter</a:t>
                      </a:r>
                      <a:endParaRPr/>
                    </a:p>
                  </a:txBody>
                  <a:tcPr marT="73150" marB="7315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1F2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AD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Utilities plan around real local supply. The other two ideas depend on this data.</a:t>
                      </a:r>
                      <a:endParaRPr/>
                    </a:p>
                  </a:txBody>
                  <a:tcPr marT="73150" marB="7315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B1F23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AD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Virtual power plant orchestration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0B7A7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New purpose</a:t>
                      </a:r>
                      <a:endParaRPr/>
                    </a:p>
                  </a:txBody>
                  <a:tcPr marT="73150" marB="7315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AD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AD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Peaks are met by building plants while home batteries and EVs sit idle</a:t>
                      </a:r>
                      <a:endParaRPr/>
                    </a:p>
                  </a:txBody>
                  <a:tcPr marT="73150" marB="7315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AD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AD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Homes become suppliers, and the grid needs fewer peaker plants.</a:t>
                      </a:r>
                      <a:endParaRPr/>
                    </a:p>
                  </a:txBody>
                  <a:tcPr marT="73150" marB="7315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AD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AD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Routing protocol for power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0B7A7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Removes a constraint</a:t>
                      </a:r>
                      <a:endParaRPr/>
                    </a:p>
                  </a:txBody>
                  <a:tcPr marT="73150" marB="7315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AD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A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Nothing decides when a local cell should island, import or export</a:t>
                      </a:r>
                      <a:endParaRPr/>
                    </a:p>
                  </a:txBody>
                  <a:tcPr marT="73150" marB="7315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AD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A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B1F2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 failure stays in one cell. Utilities shift from delivering power to coordinating cells.</a:t>
                      </a:r>
                      <a:endParaRPr/>
                    </a:p>
                  </a:txBody>
                  <a:tcPr marT="73150" marB="7315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AD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A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6" name="Google Shape;116;p9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Open risk: </a:t>
            </a:r>
            <a:r>
              <a:rPr lang="en-US" sz="1400">
                <a:solidFill>
                  <a:srgbClr val="1B1F23"/>
                </a:solidFill>
                <a:latin typeface="Inter"/>
                <a:ea typeface="Inter"/>
                <a:cs typeface="Inter"/>
                <a:sym typeface="Inter"/>
              </a:rPr>
              <a:t>more software on the grid means a larger attack surface.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F6B76"/>
      </a:hlink>
      <a:folHlink>
        <a:srgbClr val="5F6B7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