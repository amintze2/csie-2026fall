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0" roundtripDataSignature="AMtx7miNIJpf1O0Lti/zXb9svXTCRKGa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0" Type="http://customschemas.google.com/relationships/presentationmetadata" Target="metadata"/><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 name="Shape 14"/>
        <p:cNvGrpSpPr/>
        <p:nvPr/>
      </p:nvGrpSpPr>
      <p:grpSpPr>
        <a:xfrm>
          <a:off x="0" y="0"/>
          <a:ext cx="0" cy="0"/>
          <a:chOff x="0" y="0"/>
          <a:chExt cx="0" cy="0"/>
        </a:xfrm>
      </p:grpSpPr>
      <p:sp>
        <p:nvSpPr>
          <p:cNvPr id="15" name="Google Shape;15;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 name="Google Shape;16;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Arial"/>
                <a:ea typeface="Arial"/>
                <a:cs typeface="Arial"/>
                <a:sym typeface="Arial"/>
              </a:rPr>
              <a:t>Our domain is education technology. We looked at three jobs teachers and students are trying to get done, chose one, mapped how it gets done today, and found where the current tools fall short.</a:t>
            </a:r>
            <a:endParaRPr/>
          </a:p>
        </p:txBody>
      </p:sp>
      <p:sp>
        <p:nvSpPr>
          <p:cNvPr id="17" name="Google Shape;17;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h4f3ca251365416fc_0_3: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25" name="Google Shape;25;h4f3ca251365416fc_0_3: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 name="Google Shape;4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These are the three jobs from our worksheet, each separated from today’s tools. We chose Job 2, assigning work and then giving feedback and grades, because it touches every course and every student.</a:t>
            </a:r>
            <a:endParaRPr/>
          </a:p>
        </p:txBody>
      </p:sp>
      <p:sp>
        <p:nvSpPr>
          <p:cNvPr id="46" name="Google Shape;4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h4f3ca251365416fc_0_70:notes"/>
          <p:cNvSpPr/>
          <p:nvPr>
            <p:ph idx="2" type="sldImg"/>
          </p:nvPr>
        </p:nvSpPr>
        <p:spPr>
          <a:xfrm>
            <a:off x="381300" y="914400"/>
            <a:ext cx="6096000" cy="4572000"/>
          </a:xfrm>
          <a:custGeom>
            <a:rect b="b" l="l" r="r" t="t"/>
            <a:pathLst>
              <a:path extrusionOk="0" h="120000" w="120000">
                <a:moveTo>
                  <a:pt x="0" y="0"/>
                </a:moveTo>
                <a:lnTo>
                  <a:pt x="120000" y="0"/>
                </a:lnTo>
                <a:lnTo>
                  <a:pt x="120000" y="120000"/>
                </a:lnTo>
                <a:lnTo>
                  <a:pt x="0" y="120000"/>
                </a:lnTo>
                <a:close/>
              </a:path>
            </a:pathLst>
          </a:custGeom>
        </p:spPr>
      </p:sp>
      <p:sp>
        <p:nvSpPr>
          <p:cNvPr id="67" name="Google Shape;67;h4f3ca251365416fc_0_7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Each card names the underserved step, gives today’s pain in one line, then the opportunity and what it could look like. All three come from steps rated high importance and low satisfaction. The grading opportunity ties directly to our desired outcome: students can easily see how they’re doing in the class.</a:t>
            </a:r>
            <a:endParaRPr/>
          </a:p>
        </p:txBody>
      </p:sp>
      <p:sp>
        <p:nvSpPr>
          <p:cNvPr id="92" name="Google Shape;9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7F5EF"/>
        </a:solidFill>
      </p:bgPr>
    </p:bg>
    <p:spTree>
      <p:nvGrpSpPr>
        <p:cNvPr id="8" name="Shape 8"/>
        <p:cNvGrpSpPr/>
        <p:nvPr/>
      </p:nvGrpSpPr>
      <p:grpSpPr>
        <a:xfrm>
          <a:off x="0" y="0"/>
          <a:ext cx="0" cy="0"/>
          <a:chOff x="0" y="0"/>
          <a:chExt cx="0" cy="0"/>
        </a:xfrm>
      </p:grpSpPr>
      <p:sp>
        <p:nvSpPr>
          <p:cNvPr id="9" name="Google Shape;9;p6"/>
          <p:cNvSpPr txBox="1"/>
          <p:nvPr>
            <p:ph type="title"/>
          </p:nvPr>
        </p:nvSpPr>
        <p:spPr>
          <a:xfrm>
            <a:off x="812800" y="1127720"/>
            <a:ext cx="10566400" cy="44703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F2A44"/>
              </a:buClr>
              <a:buSzPts val="3200"/>
              <a:buFont typeface="Georgia"/>
              <a:buNone/>
              <a:defRPr sz="3200">
                <a:solidFill>
                  <a:srgbClr val="1F2A44"/>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 name="Google Shape;10;p6"/>
          <p:cNvSpPr txBox="1"/>
          <p:nvPr>
            <p:ph idx="1" type="body"/>
          </p:nvPr>
        </p:nvSpPr>
        <p:spPr>
          <a:xfrm>
            <a:off x="812800" y="1879550"/>
            <a:ext cx="10566400" cy="416565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F2A44"/>
              </a:buClr>
              <a:buSzPts val="1600"/>
              <a:buNone/>
              <a:defRPr sz="1600">
                <a:solidFill>
                  <a:srgbClr val="1F2A44"/>
                </a:solidFill>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 name="Shape 12"/>
        <p:cNvGrpSpPr/>
        <p:nvPr/>
      </p:nvGrpSpPr>
      <p:grpSpPr>
        <a:xfrm>
          <a:off x="0" y="0"/>
          <a:ext cx="0" cy="0"/>
          <a:chOff x="0" y="0"/>
          <a:chExt cx="0" cy="0"/>
        </a:xfrm>
      </p:grpSpPr>
      <p:sp>
        <p:nvSpPr>
          <p:cNvPr id="13" name="Google Shape;13;h4f3ca251365416fc_0_6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5" name="Shape 5"/>
        <p:cNvGrpSpPr/>
        <p:nvPr/>
      </p:nvGrpSpPr>
      <p:grpSpPr>
        <a:xfrm>
          <a:off x="0" y="0"/>
          <a:ext cx="0" cy="0"/>
          <a:chOff x="0" y="0"/>
          <a:chExt cx="0" cy="0"/>
        </a:xfrm>
      </p:grpSpPr>
      <p:sp>
        <p:nvSpPr>
          <p:cNvPr id="6" name="Google Shape;6;p5"/>
          <p:cNvSpPr txBox="1"/>
          <p:nvPr>
            <p:ph type="title"/>
          </p:nvPr>
        </p:nvSpPr>
        <p:spPr>
          <a:xfrm>
            <a:off x="812800" y="1127720"/>
            <a:ext cx="10566400" cy="44703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F2A44"/>
              </a:buClr>
              <a:buSzPts val="3200"/>
              <a:buFont typeface="Georgia"/>
              <a:buNone/>
              <a:defRPr b="0" i="0" sz="3200" u="none" cap="none" strike="noStrike">
                <a:solidFill>
                  <a:srgbClr val="1F2A44"/>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
          <p:cNvSpPr txBox="1"/>
          <p:nvPr>
            <p:ph idx="1" type="body"/>
          </p:nvPr>
        </p:nvSpPr>
        <p:spPr>
          <a:xfrm>
            <a:off x="812800" y="1879550"/>
            <a:ext cx="10566400" cy="4165650"/>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F2A44"/>
              </a:buClr>
              <a:buSzPts val="1600"/>
              <a:buFont typeface="Arial"/>
              <a:buNone/>
              <a:defRPr b="0" i="0" sz="1600" u="none" cap="none" strike="noStrike">
                <a:solidFill>
                  <a:srgbClr val="1F2A44"/>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edweek.org/teaching-learning/how-teachers-spend-their-time-a-breakdown/2022/04" TargetMode="External"/><Relationship Id="rId4" Type="http://schemas.openxmlformats.org/officeDocument/2006/relationships/hyperlink" Target="https://www.businesswire.com/news/home/20250326730498/en/A-Third-of-US-Teachers-Considered-Leaving-Education-Due-to-Grading-Workload-Says-New-Research-by-Learnosity" TargetMode="External"/><Relationship Id="rId5" Type="http://schemas.openxmlformats.org/officeDocument/2006/relationships/hyperlink" Target="https://the74million.org/article/survey-60-of-teachers-used-ai-this-year-and-saved-up-to-6-hours-of-work-a-week/"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2A44"/>
        </a:solidFill>
      </p:bgPr>
    </p:bg>
    <p:spTree>
      <p:nvGrpSpPr>
        <p:cNvPr id="18" name="Shape 18"/>
        <p:cNvGrpSpPr/>
        <p:nvPr/>
      </p:nvGrpSpPr>
      <p:grpSpPr>
        <a:xfrm>
          <a:off x="0" y="0"/>
          <a:ext cx="0" cy="0"/>
          <a:chOff x="0" y="0"/>
          <a:chExt cx="0" cy="0"/>
        </a:xfrm>
      </p:grpSpPr>
      <p:sp>
        <p:nvSpPr>
          <p:cNvPr id="19" name="Google Shape;19;p1"/>
          <p:cNvSpPr/>
          <p:nvPr/>
        </p:nvSpPr>
        <p:spPr>
          <a:xfrm>
            <a:off x="0" y="0"/>
            <a:ext cx="152400" cy="6858000"/>
          </a:xfrm>
          <a:prstGeom prst="rect">
            <a:avLst/>
          </a:prstGeom>
          <a:solidFill>
            <a:srgbClr val="E8945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 name="Google Shape;20;p1"/>
          <p:cNvSpPr/>
          <p:nvPr/>
        </p:nvSpPr>
        <p:spPr>
          <a:xfrm>
            <a:off x="812800" y="1872010"/>
            <a:ext cx="10883392"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8945A"/>
              </a:buClr>
              <a:buSzPts val="1400"/>
              <a:buFont typeface="Arial"/>
              <a:buNone/>
            </a:pPr>
            <a:r>
              <a:rPr b="1" i="0" lang="en-US" sz="1400" u="none" cap="none" strike="noStrike">
                <a:solidFill>
                  <a:srgbClr val="E8945A"/>
                </a:solidFill>
                <a:latin typeface="Arial"/>
                <a:ea typeface="Arial"/>
                <a:cs typeface="Arial"/>
                <a:sym typeface="Arial"/>
              </a:rPr>
              <a:t>JOBS TO BE DONE</a:t>
            </a:r>
            <a:endParaRPr b="0" i="0" sz="1400" u="none" cap="none" strike="noStrike">
              <a:solidFill>
                <a:schemeClr val="dk1"/>
              </a:solidFill>
              <a:latin typeface="Arial"/>
              <a:ea typeface="Arial"/>
              <a:cs typeface="Arial"/>
              <a:sym typeface="Arial"/>
            </a:endParaRPr>
          </a:p>
        </p:txBody>
      </p:sp>
      <p:sp>
        <p:nvSpPr>
          <p:cNvPr id="21" name="Google Shape;21;p1"/>
          <p:cNvSpPr txBox="1"/>
          <p:nvPr>
            <p:ph type="title"/>
          </p:nvPr>
        </p:nvSpPr>
        <p:spPr>
          <a:xfrm>
            <a:off x="812800" y="2374900"/>
            <a:ext cx="9810750" cy="1671241"/>
          </a:xfrm>
          <a:prstGeom prst="rect">
            <a:avLst/>
          </a:prstGeom>
          <a:noFill/>
          <a:ln>
            <a:noFill/>
          </a:ln>
        </p:spPr>
        <p:txBody>
          <a:bodyPr anchorCtr="0" anchor="t" bIns="0" lIns="0" spcFirstLastPara="1" rIns="0" wrap="square" tIns="0">
            <a:normAutofit/>
          </a:bodyPr>
          <a:lstStyle/>
          <a:p>
            <a:pPr indent="0" lvl="0" marL="0" rtl="0" algn="l">
              <a:lnSpc>
                <a:spcPct val="108000"/>
              </a:lnSpc>
              <a:spcBef>
                <a:spcPts val="0"/>
              </a:spcBef>
              <a:spcAft>
                <a:spcPts val="0"/>
              </a:spcAft>
              <a:buClr>
                <a:srgbClr val="F7F5EF"/>
              </a:buClr>
              <a:buSzPts val="6000"/>
              <a:buFont typeface="Georgia"/>
              <a:buNone/>
            </a:pPr>
            <a:r>
              <a:rPr b="1" i="0" lang="en-US" sz="6000">
                <a:solidFill>
                  <a:srgbClr val="F7F5EF"/>
                </a:solidFill>
                <a:latin typeface="Georgia"/>
                <a:ea typeface="Georgia"/>
                <a:cs typeface="Georgia"/>
                <a:sym typeface="Georgia"/>
              </a:rPr>
              <a:t>Opportunities in Education Technology</a:t>
            </a:r>
            <a:endParaRPr sz="6000"/>
          </a:p>
        </p:txBody>
      </p:sp>
      <p:sp>
        <p:nvSpPr>
          <p:cNvPr id="22" name="Google Shape;22;p1"/>
          <p:cNvSpPr/>
          <p:nvPr/>
        </p:nvSpPr>
        <p:spPr>
          <a:xfrm>
            <a:off x="812800" y="4430616"/>
            <a:ext cx="8502600" cy="736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2E3"/>
              </a:buClr>
              <a:buSzPts val="2000"/>
              <a:buFont typeface="Arial"/>
              <a:buNone/>
            </a:pPr>
            <a:r>
              <a:rPr b="0" i="0" lang="en-US" sz="2000" u="none" cap="none" strike="noStrike">
                <a:solidFill>
                  <a:srgbClr val="C9D2E3"/>
                </a:solidFill>
                <a:latin typeface="Arial"/>
                <a:ea typeface="Arial"/>
                <a:cs typeface="Arial"/>
                <a:sym typeface="Arial"/>
              </a:rPr>
              <a:t>Flora, Steven, Sylvia, Penn, Yash</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26" name="Shape 26"/>
        <p:cNvGrpSpPr/>
        <p:nvPr/>
      </p:nvGrpSpPr>
      <p:grpSpPr>
        <a:xfrm>
          <a:off x="0" y="0"/>
          <a:ext cx="0" cy="0"/>
          <a:chOff x="0" y="0"/>
          <a:chExt cx="0" cy="0"/>
        </a:xfrm>
      </p:grpSpPr>
      <p:sp>
        <p:nvSpPr>
          <p:cNvPr id="27" name="Google Shape;27;h4f3ca251365416fc_0_3"/>
          <p:cNvSpPr/>
          <p:nvPr/>
        </p:nvSpPr>
        <p:spPr>
          <a:xfrm>
            <a:off x="609600" y="1727525"/>
            <a:ext cx="3413700" cy="1950900"/>
          </a:xfrm>
          <a:prstGeom prst="roundRect">
            <a:avLst>
              <a:gd fmla="val 16667" name="adj"/>
            </a:avLst>
          </a:prstGeom>
          <a:solidFill>
            <a:srgbClr val="E6E8F8"/>
          </a:solidFill>
          <a:ln>
            <a:noFill/>
          </a:ln>
        </p:spPr>
        <p:txBody>
          <a:bodyPr anchorCtr="0" anchor="t" bIns="121900" lIns="121900" spcFirstLastPara="1" rIns="121900" wrap="square" tIns="121900">
            <a:noAutofit/>
          </a:bodyPr>
          <a:lstStyle/>
          <a:p>
            <a:pPr indent="0" lvl="0" marL="0" rtl="0" algn="ctr">
              <a:spcBef>
                <a:spcPts val="0"/>
              </a:spcBef>
              <a:spcAft>
                <a:spcPts val="0"/>
              </a:spcAft>
              <a:buNone/>
            </a:pPr>
            <a:r>
              <a:t/>
            </a:r>
            <a:endParaRPr sz="1900">
              <a:latin typeface="Georgia"/>
              <a:ea typeface="Georgia"/>
              <a:cs typeface="Georgia"/>
              <a:sym typeface="Georgia"/>
            </a:endParaRPr>
          </a:p>
        </p:txBody>
      </p:sp>
      <p:sp>
        <p:nvSpPr>
          <p:cNvPr id="28" name="Google Shape;28;h4f3ca251365416fc_0_3"/>
          <p:cNvSpPr txBox="1"/>
          <p:nvPr/>
        </p:nvSpPr>
        <p:spPr>
          <a:xfrm>
            <a:off x="755904" y="1812869"/>
            <a:ext cx="3121200" cy="6705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None/>
            </a:pPr>
            <a:r>
              <a:rPr b="1" lang="en-US" sz="3700">
                <a:solidFill>
                  <a:srgbClr val="4338CA"/>
                </a:solidFill>
                <a:latin typeface="Times New Roman"/>
                <a:ea typeface="Times New Roman"/>
                <a:cs typeface="Times New Roman"/>
                <a:sym typeface="Times New Roman"/>
              </a:rPr>
              <a:t>5 hrs</a:t>
            </a:r>
            <a:endParaRPr b="1" sz="3700">
              <a:solidFill>
                <a:srgbClr val="4338CA"/>
              </a:solidFill>
              <a:latin typeface="Times New Roman"/>
              <a:ea typeface="Times New Roman"/>
              <a:cs typeface="Times New Roman"/>
              <a:sym typeface="Times New Roman"/>
            </a:endParaRPr>
          </a:p>
        </p:txBody>
      </p:sp>
      <p:sp>
        <p:nvSpPr>
          <p:cNvPr id="29" name="Google Shape;29;h4f3ca251365416fc_0_3"/>
          <p:cNvSpPr txBox="1"/>
          <p:nvPr/>
        </p:nvSpPr>
        <p:spPr>
          <a:xfrm>
            <a:off x="755904" y="2483429"/>
            <a:ext cx="3121200" cy="11583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None/>
            </a:pPr>
            <a:r>
              <a:rPr lang="en-US" sz="1800">
                <a:solidFill>
                  <a:srgbClr val="1B1F23"/>
                </a:solidFill>
                <a:latin typeface="Georgia"/>
                <a:ea typeface="Georgia"/>
                <a:cs typeface="Georgia"/>
                <a:sym typeface="Georgia"/>
              </a:rPr>
              <a:t>of a 54-hour teaching week go to grading and feedback (median)¹</a:t>
            </a:r>
            <a:endParaRPr sz="1800">
              <a:solidFill>
                <a:srgbClr val="1B1F23"/>
              </a:solidFill>
              <a:latin typeface="Georgia"/>
              <a:ea typeface="Georgia"/>
              <a:cs typeface="Georgia"/>
              <a:sym typeface="Georgia"/>
            </a:endParaRPr>
          </a:p>
        </p:txBody>
      </p:sp>
      <p:sp>
        <p:nvSpPr>
          <p:cNvPr id="30" name="Google Shape;30;h4f3ca251365416fc_0_3"/>
          <p:cNvSpPr/>
          <p:nvPr/>
        </p:nvSpPr>
        <p:spPr>
          <a:xfrm>
            <a:off x="4389120" y="1727525"/>
            <a:ext cx="3413700" cy="1950900"/>
          </a:xfrm>
          <a:prstGeom prst="roundRect">
            <a:avLst>
              <a:gd fmla="val 16667" name="adj"/>
            </a:avLst>
          </a:prstGeom>
          <a:solidFill>
            <a:srgbClr val="E6E8F8"/>
          </a:solidFill>
          <a:ln>
            <a:noFill/>
          </a:ln>
        </p:spPr>
        <p:txBody>
          <a:bodyPr anchorCtr="0" anchor="t" bIns="121900" lIns="121900" spcFirstLastPara="1" rIns="121900" wrap="square" tIns="121900">
            <a:noAutofit/>
          </a:bodyPr>
          <a:lstStyle/>
          <a:p>
            <a:pPr indent="0" lvl="0" marL="0" rtl="0" algn="ctr">
              <a:spcBef>
                <a:spcPts val="0"/>
              </a:spcBef>
              <a:spcAft>
                <a:spcPts val="0"/>
              </a:spcAft>
              <a:buNone/>
            </a:pPr>
            <a:r>
              <a:t/>
            </a:r>
            <a:endParaRPr sz="1900">
              <a:latin typeface="Georgia"/>
              <a:ea typeface="Georgia"/>
              <a:cs typeface="Georgia"/>
              <a:sym typeface="Georgia"/>
            </a:endParaRPr>
          </a:p>
        </p:txBody>
      </p:sp>
      <p:sp>
        <p:nvSpPr>
          <p:cNvPr id="31" name="Google Shape;31;h4f3ca251365416fc_0_3"/>
          <p:cNvSpPr txBox="1"/>
          <p:nvPr/>
        </p:nvSpPr>
        <p:spPr>
          <a:xfrm>
            <a:off x="4535424" y="1812869"/>
            <a:ext cx="3121200" cy="6705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None/>
            </a:pPr>
            <a:r>
              <a:rPr b="1" lang="en-US" sz="3700">
                <a:solidFill>
                  <a:srgbClr val="4338CA"/>
                </a:solidFill>
                <a:latin typeface="Times New Roman"/>
                <a:ea typeface="Times New Roman"/>
                <a:cs typeface="Times New Roman"/>
                <a:sym typeface="Times New Roman"/>
              </a:rPr>
              <a:t>62%</a:t>
            </a:r>
            <a:endParaRPr b="1" sz="3700">
              <a:solidFill>
                <a:srgbClr val="4338CA"/>
              </a:solidFill>
              <a:latin typeface="Times New Roman"/>
              <a:ea typeface="Times New Roman"/>
              <a:cs typeface="Times New Roman"/>
              <a:sym typeface="Times New Roman"/>
            </a:endParaRPr>
          </a:p>
        </p:txBody>
      </p:sp>
      <p:sp>
        <p:nvSpPr>
          <p:cNvPr id="32" name="Google Shape;32;h4f3ca251365416fc_0_3"/>
          <p:cNvSpPr txBox="1"/>
          <p:nvPr/>
        </p:nvSpPr>
        <p:spPr>
          <a:xfrm>
            <a:off x="4535424" y="2483429"/>
            <a:ext cx="3121200" cy="11583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None/>
            </a:pPr>
            <a:r>
              <a:rPr lang="en-US" sz="1800">
                <a:solidFill>
                  <a:srgbClr val="1B1F23"/>
                </a:solidFill>
                <a:latin typeface="Georgia"/>
                <a:ea typeface="Georgia"/>
                <a:cs typeface="Georgia"/>
                <a:sym typeface="Georgia"/>
              </a:rPr>
              <a:t>of teachers call grading one of the worst parts of the job; 95% take it home²</a:t>
            </a:r>
            <a:endParaRPr sz="1800">
              <a:solidFill>
                <a:srgbClr val="1B1F23"/>
              </a:solidFill>
              <a:latin typeface="Georgia"/>
              <a:ea typeface="Georgia"/>
              <a:cs typeface="Georgia"/>
              <a:sym typeface="Georgia"/>
            </a:endParaRPr>
          </a:p>
        </p:txBody>
      </p:sp>
      <p:sp>
        <p:nvSpPr>
          <p:cNvPr id="33" name="Google Shape;33;h4f3ca251365416fc_0_3"/>
          <p:cNvSpPr/>
          <p:nvPr/>
        </p:nvSpPr>
        <p:spPr>
          <a:xfrm>
            <a:off x="8168640" y="1727525"/>
            <a:ext cx="3413700" cy="1950900"/>
          </a:xfrm>
          <a:prstGeom prst="roundRect">
            <a:avLst>
              <a:gd fmla="val 16667" name="adj"/>
            </a:avLst>
          </a:prstGeom>
          <a:solidFill>
            <a:srgbClr val="E6E8F8"/>
          </a:solidFill>
          <a:ln>
            <a:noFill/>
          </a:ln>
        </p:spPr>
        <p:txBody>
          <a:bodyPr anchorCtr="0" anchor="t" bIns="121900" lIns="121900" spcFirstLastPara="1" rIns="121900" wrap="square" tIns="121900">
            <a:noAutofit/>
          </a:bodyPr>
          <a:lstStyle/>
          <a:p>
            <a:pPr indent="0" lvl="0" marL="0" rtl="0" algn="ctr">
              <a:spcBef>
                <a:spcPts val="0"/>
              </a:spcBef>
              <a:spcAft>
                <a:spcPts val="0"/>
              </a:spcAft>
              <a:buNone/>
            </a:pPr>
            <a:r>
              <a:t/>
            </a:r>
            <a:endParaRPr sz="1900">
              <a:latin typeface="Georgia"/>
              <a:ea typeface="Georgia"/>
              <a:cs typeface="Georgia"/>
              <a:sym typeface="Georgia"/>
            </a:endParaRPr>
          </a:p>
        </p:txBody>
      </p:sp>
      <p:sp>
        <p:nvSpPr>
          <p:cNvPr id="34" name="Google Shape;34;h4f3ca251365416fc_0_3"/>
          <p:cNvSpPr txBox="1"/>
          <p:nvPr/>
        </p:nvSpPr>
        <p:spPr>
          <a:xfrm>
            <a:off x="8314944" y="1812869"/>
            <a:ext cx="3121200" cy="6705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None/>
            </a:pPr>
            <a:r>
              <a:rPr b="1" lang="en-US" sz="3700">
                <a:solidFill>
                  <a:srgbClr val="4338CA"/>
                </a:solidFill>
                <a:latin typeface="Times New Roman"/>
                <a:ea typeface="Times New Roman"/>
                <a:cs typeface="Times New Roman"/>
                <a:sym typeface="Times New Roman"/>
              </a:rPr>
              <a:t>~ 6 hrs</a:t>
            </a:r>
            <a:endParaRPr b="1" sz="3700">
              <a:solidFill>
                <a:srgbClr val="4338CA"/>
              </a:solidFill>
              <a:latin typeface="Times New Roman"/>
              <a:ea typeface="Times New Roman"/>
              <a:cs typeface="Times New Roman"/>
              <a:sym typeface="Times New Roman"/>
            </a:endParaRPr>
          </a:p>
        </p:txBody>
      </p:sp>
      <p:sp>
        <p:nvSpPr>
          <p:cNvPr id="35" name="Google Shape;35;h4f3ca251365416fc_0_3"/>
          <p:cNvSpPr txBox="1"/>
          <p:nvPr/>
        </p:nvSpPr>
        <p:spPr>
          <a:xfrm>
            <a:off x="8314944" y="2483429"/>
            <a:ext cx="3121200" cy="11583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None/>
            </a:pPr>
            <a:r>
              <a:rPr lang="en-US" sz="1800">
                <a:solidFill>
                  <a:srgbClr val="1B1F23"/>
                </a:solidFill>
                <a:latin typeface="Georgia"/>
                <a:ea typeface="Georgia"/>
                <a:cs typeface="Georgia"/>
                <a:sym typeface="Georgia"/>
              </a:rPr>
              <a:t>saved per week by teachers who use AI tools weekly³</a:t>
            </a:r>
            <a:endParaRPr sz="1800">
              <a:solidFill>
                <a:srgbClr val="1B1F23"/>
              </a:solidFill>
              <a:latin typeface="Georgia"/>
              <a:ea typeface="Georgia"/>
              <a:cs typeface="Georgia"/>
              <a:sym typeface="Georgia"/>
            </a:endParaRPr>
          </a:p>
        </p:txBody>
      </p:sp>
      <p:sp>
        <p:nvSpPr>
          <p:cNvPr id="36" name="Google Shape;36;h4f3ca251365416fc_0_3"/>
          <p:cNvSpPr txBox="1"/>
          <p:nvPr/>
        </p:nvSpPr>
        <p:spPr>
          <a:xfrm>
            <a:off x="609600" y="3881298"/>
            <a:ext cx="10972800" cy="4269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None/>
            </a:pPr>
            <a:r>
              <a:rPr b="1" lang="en-US" sz="1900">
                <a:solidFill>
                  <a:srgbClr val="5F6B76"/>
                </a:solidFill>
                <a:latin typeface="Georgia"/>
                <a:ea typeface="Georgia"/>
                <a:cs typeface="Georgia"/>
                <a:sym typeface="Georgia"/>
              </a:rPr>
              <a:t>The job is stable but the tools are split across it</a:t>
            </a:r>
            <a:endParaRPr b="1" sz="1900">
              <a:solidFill>
                <a:srgbClr val="5F6B76"/>
              </a:solidFill>
              <a:latin typeface="Georgia"/>
              <a:ea typeface="Georgia"/>
              <a:cs typeface="Georgia"/>
              <a:sym typeface="Georgia"/>
            </a:endParaRPr>
          </a:p>
        </p:txBody>
      </p:sp>
      <p:sp>
        <p:nvSpPr>
          <p:cNvPr id="37" name="Google Shape;37;h4f3ca251365416fc_0_3"/>
          <p:cNvSpPr/>
          <p:nvPr/>
        </p:nvSpPr>
        <p:spPr>
          <a:xfrm>
            <a:off x="609600" y="4511040"/>
            <a:ext cx="3413700" cy="1401900"/>
          </a:xfrm>
          <a:prstGeom prst="roundRect">
            <a:avLst>
              <a:gd fmla="val 16667" name="adj"/>
            </a:avLst>
          </a:prstGeom>
          <a:solidFill>
            <a:srgbClr val="FFFFFF"/>
          </a:solidFill>
          <a:ln cap="flat" cmpd="sng" w="16925">
            <a:solidFill>
              <a:srgbClr val="D5DAD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lnSpc>
                <a:spcPct val="100000"/>
              </a:lnSpc>
              <a:spcBef>
                <a:spcPts val="0"/>
              </a:spcBef>
              <a:spcAft>
                <a:spcPts val="0"/>
              </a:spcAft>
              <a:buNone/>
            </a:pPr>
            <a:r>
              <a:rPr b="1" lang="en-US" sz="1900">
                <a:solidFill>
                  <a:srgbClr val="1B1F23"/>
                </a:solidFill>
                <a:latin typeface="Georgia"/>
                <a:ea typeface="Georgia"/>
                <a:cs typeface="Georgia"/>
                <a:sym typeface="Georgia"/>
              </a:rPr>
              <a:t>Canvas</a:t>
            </a:r>
            <a:endParaRPr b="1" sz="1900">
              <a:solidFill>
                <a:srgbClr val="1B1F23"/>
              </a:solidFill>
              <a:latin typeface="Georgia"/>
              <a:ea typeface="Georgia"/>
              <a:cs typeface="Georgia"/>
              <a:sym typeface="Georgia"/>
            </a:endParaRPr>
          </a:p>
          <a:p>
            <a:pPr indent="0" lvl="0" marL="0" rtl="0" algn="l">
              <a:lnSpc>
                <a:spcPct val="100000"/>
              </a:lnSpc>
              <a:spcBef>
                <a:spcPts val="500"/>
              </a:spcBef>
              <a:spcAft>
                <a:spcPts val="500"/>
              </a:spcAft>
              <a:buNone/>
            </a:pPr>
            <a:r>
              <a:rPr lang="en-US" sz="1800">
                <a:solidFill>
                  <a:srgbClr val="1B1F23"/>
                </a:solidFill>
                <a:latin typeface="Georgia"/>
                <a:ea typeface="Georgia"/>
                <a:cs typeface="Georgia"/>
                <a:sym typeface="Georgia"/>
              </a:rPr>
              <a:t>Post the assignment, collect it, hold the gradebook</a:t>
            </a:r>
            <a:endParaRPr sz="1800">
              <a:solidFill>
                <a:srgbClr val="1B1F23"/>
              </a:solidFill>
              <a:latin typeface="Georgia"/>
              <a:ea typeface="Georgia"/>
              <a:cs typeface="Georgia"/>
              <a:sym typeface="Georgia"/>
            </a:endParaRPr>
          </a:p>
        </p:txBody>
      </p:sp>
      <p:sp>
        <p:nvSpPr>
          <p:cNvPr id="38" name="Google Shape;38;h4f3ca251365416fc_0_3"/>
          <p:cNvSpPr/>
          <p:nvPr/>
        </p:nvSpPr>
        <p:spPr>
          <a:xfrm>
            <a:off x="4389120" y="4511040"/>
            <a:ext cx="3413700" cy="1401900"/>
          </a:xfrm>
          <a:prstGeom prst="roundRect">
            <a:avLst>
              <a:gd fmla="val 16667" name="adj"/>
            </a:avLst>
          </a:prstGeom>
          <a:solidFill>
            <a:srgbClr val="FFFFFF"/>
          </a:solidFill>
          <a:ln cap="flat" cmpd="sng" w="16925">
            <a:solidFill>
              <a:srgbClr val="D5DAD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lnSpc>
                <a:spcPct val="100000"/>
              </a:lnSpc>
              <a:spcBef>
                <a:spcPts val="0"/>
              </a:spcBef>
              <a:spcAft>
                <a:spcPts val="0"/>
              </a:spcAft>
              <a:buNone/>
            </a:pPr>
            <a:r>
              <a:rPr b="1" lang="en-US" sz="1900">
                <a:solidFill>
                  <a:srgbClr val="1B1F23"/>
                </a:solidFill>
                <a:latin typeface="Georgia"/>
                <a:ea typeface="Georgia"/>
                <a:cs typeface="Georgia"/>
                <a:sym typeface="Georgia"/>
              </a:rPr>
              <a:t>Gradescope</a:t>
            </a:r>
            <a:endParaRPr b="1" sz="1900">
              <a:solidFill>
                <a:srgbClr val="1B1F23"/>
              </a:solidFill>
              <a:latin typeface="Georgia"/>
              <a:ea typeface="Georgia"/>
              <a:cs typeface="Georgia"/>
              <a:sym typeface="Georgia"/>
            </a:endParaRPr>
          </a:p>
          <a:p>
            <a:pPr indent="0" lvl="0" marL="0" rtl="0" algn="l">
              <a:lnSpc>
                <a:spcPct val="100000"/>
              </a:lnSpc>
              <a:spcBef>
                <a:spcPts val="500"/>
              </a:spcBef>
              <a:spcAft>
                <a:spcPts val="500"/>
              </a:spcAft>
              <a:buNone/>
            </a:pPr>
            <a:r>
              <a:rPr lang="en-US" sz="1800">
                <a:solidFill>
                  <a:srgbClr val="1B1F23"/>
                </a:solidFill>
                <a:latin typeface="Georgia"/>
                <a:ea typeface="Georgia"/>
                <a:cs typeface="Georgia"/>
                <a:sym typeface="Georgia"/>
              </a:rPr>
              <a:t>Grade with a rubric, handle regrade requests</a:t>
            </a:r>
            <a:endParaRPr sz="1800">
              <a:solidFill>
                <a:srgbClr val="1B1F23"/>
              </a:solidFill>
              <a:latin typeface="Georgia"/>
              <a:ea typeface="Georgia"/>
              <a:cs typeface="Georgia"/>
              <a:sym typeface="Georgia"/>
            </a:endParaRPr>
          </a:p>
        </p:txBody>
      </p:sp>
      <p:sp>
        <p:nvSpPr>
          <p:cNvPr id="39" name="Google Shape;39;h4f3ca251365416fc_0_3"/>
          <p:cNvSpPr/>
          <p:nvPr/>
        </p:nvSpPr>
        <p:spPr>
          <a:xfrm>
            <a:off x="8168640" y="4511040"/>
            <a:ext cx="3413700" cy="1401900"/>
          </a:xfrm>
          <a:prstGeom prst="roundRect">
            <a:avLst>
              <a:gd fmla="val 16667" name="adj"/>
            </a:avLst>
          </a:prstGeom>
          <a:solidFill>
            <a:srgbClr val="FFFFFF"/>
          </a:solidFill>
          <a:ln cap="flat" cmpd="sng" w="16925">
            <a:solidFill>
              <a:srgbClr val="D5DAD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lnSpc>
                <a:spcPct val="100000"/>
              </a:lnSpc>
              <a:spcBef>
                <a:spcPts val="0"/>
              </a:spcBef>
              <a:spcAft>
                <a:spcPts val="0"/>
              </a:spcAft>
              <a:buNone/>
            </a:pPr>
            <a:r>
              <a:rPr b="1" lang="en-US" sz="1900">
                <a:solidFill>
                  <a:srgbClr val="1B1F23"/>
                </a:solidFill>
                <a:latin typeface="Georgia"/>
                <a:ea typeface="Georgia"/>
                <a:cs typeface="Georgia"/>
                <a:sym typeface="Georgia"/>
              </a:rPr>
              <a:t>Piazza, Slack</a:t>
            </a:r>
            <a:endParaRPr b="1" sz="1900">
              <a:solidFill>
                <a:srgbClr val="1B1F23"/>
              </a:solidFill>
              <a:latin typeface="Georgia"/>
              <a:ea typeface="Georgia"/>
              <a:cs typeface="Georgia"/>
              <a:sym typeface="Georgia"/>
            </a:endParaRPr>
          </a:p>
          <a:p>
            <a:pPr indent="0" lvl="0" marL="0" rtl="0" algn="l">
              <a:lnSpc>
                <a:spcPct val="100000"/>
              </a:lnSpc>
              <a:spcBef>
                <a:spcPts val="500"/>
              </a:spcBef>
              <a:spcAft>
                <a:spcPts val="500"/>
              </a:spcAft>
              <a:buNone/>
            </a:pPr>
            <a:r>
              <a:rPr lang="en-US" sz="1800">
                <a:solidFill>
                  <a:srgbClr val="1B1F23"/>
                </a:solidFill>
                <a:latin typeface="Georgia"/>
                <a:ea typeface="Georgia"/>
                <a:cs typeface="Georgia"/>
                <a:sym typeface="Georgia"/>
              </a:rPr>
              <a:t>Answer questions while students work</a:t>
            </a:r>
            <a:endParaRPr sz="1800">
              <a:solidFill>
                <a:srgbClr val="1B1F23"/>
              </a:solidFill>
              <a:latin typeface="Georgia"/>
              <a:ea typeface="Georgia"/>
              <a:cs typeface="Georgia"/>
              <a:sym typeface="Georgia"/>
            </a:endParaRPr>
          </a:p>
        </p:txBody>
      </p:sp>
      <p:sp>
        <p:nvSpPr>
          <p:cNvPr id="40" name="Google Shape;40;h4f3ca251365416fc_0_3"/>
          <p:cNvSpPr txBox="1"/>
          <p:nvPr/>
        </p:nvSpPr>
        <p:spPr>
          <a:xfrm>
            <a:off x="609600" y="6156960"/>
            <a:ext cx="10972800" cy="4875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None/>
            </a:pPr>
            <a:r>
              <a:rPr lang="en-US" sz="1300">
                <a:solidFill>
                  <a:srgbClr val="5F6B76"/>
                </a:solidFill>
                <a:latin typeface="Georgia"/>
                <a:ea typeface="Georgia"/>
                <a:cs typeface="Georgia"/>
                <a:sym typeface="Georgia"/>
              </a:rPr>
              <a:t>Sources: ¹ </a:t>
            </a:r>
            <a:r>
              <a:rPr lang="en-US" sz="1300" u="sng">
                <a:solidFill>
                  <a:srgbClr val="5F6B76"/>
                </a:solidFill>
                <a:latin typeface="Georgia"/>
                <a:ea typeface="Georgia"/>
                <a:cs typeface="Georgia"/>
                <a:sym typeface="Georgia"/>
                <a:hlinkClick r:id="rId3">
                  <a:extLst>
                    <a:ext uri="{A12FA001-AC4F-418D-AE19-62706E023703}">
                      <ahyp:hlinkClr val="tx"/>
                    </a:ext>
                  </a:extLst>
                </a:hlinkClick>
              </a:rPr>
              <a:t>EdWeek Research Center, Apr 2022</a:t>
            </a:r>
            <a:r>
              <a:rPr lang="en-US" sz="1300">
                <a:solidFill>
                  <a:srgbClr val="5F6B76"/>
                </a:solidFill>
                <a:latin typeface="Georgia"/>
                <a:ea typeface="Georgia"/>
                <a:cs typeface="Georgia"/>
                <a:sym typeface="Georgia"/>
              </a:rPr>
              <a:t>  ² </a:t>
            </a:r>
            <a:r>
              <a:rPr lang="en-US" sz="1300" u="sng">
                <a:solidFill>
                  <a:srgbClr val="5F6B76"/>
                </a:solidFill>
                <a:latin typeface="Georgia"/>
                <a:ea typeface="Georgia"/>
                <a:cs typeface="Georgia"/>
                <a:sym typeface="Georgia"/>
                <a:hlinkClick r:id="rId4">
                  <a:extLst>
                    <a:ext uri="{A12FA001-AC4F-418D-AE19-62706E023703}">
                      <ahyp:hlinkClr val="tx"/>
                    </a:ext>
                  </a:extLst>
                </a:hlinkClick>
              </a:rPr>
              <a:t>Learnosity survey of 258 US teachers, Mar 2025</a:t>
            </a:r>
            <a:r>
              <a:rPr lang="en-US" sz="1300">
                <a:solidFill>
                  <a:srgbClr val="5F6B76"/>
                </a:solidFill>
                <a:latin typeface="Georgia"/>
                <a:ea typeface="Georgia"/>
                <a:cs typeface="Georgia"/>
                <a:sym typeface="Georgia"/>
              </a:rPr>
              <a:t>  ³ </a:t>
            </a:r>
            <a:r>
              <a:rPr lang="en-US" sz="1300" u="sng">
                <a:solidFill>
                  <a:srgbClr val="5F6B76"/>
                </a:solidFill>
                <a:latin typeface="Georgia"/>
                <a:ea typeface="Georgia"/>
                <a:cs typeface="Georgia"/>
                <a:sym typeface="Georgia"/>
                <a:hlinkClick r:id="rId5">
                  <a:extLst>
                    <a:ext uri="{A12FA001-AC4F-418D-AE19-62706E023703}">
                      <ahyp:hlinkClr val="tx"/>
                    </a:ext>
                  </a:extLst>
                </a:hlinkClick>
              </a:rPr>
              <a:t>Gallup and Walton Family Foundation via The 74, Jul 2025</a:t>
            </a:r>
            <a:endParaRPr sz="1300">
              <a:solidFill>
                <a:srgbClr val="5F6B76"/>
              </a:solidFill>
              <a:latin typeface="Georgia"/>
              <a:ea typeface="Georgia"/>
              <a:cs typeface="Georgia"/>
              <a:sym typeface="Georgia"/>
            </a:endParaRPr>
          </a:p>
        </p:txBody>
      </p:sp>
      <p:sp>
        <p:nvSpPr>
          <p:cNvPr id="41" name="Google Shape;41;h4f3ca251365416fc_0_3"/>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84E1C"/>
              </a:buClr>
              <a:buSzPts val="1200"/>
              <a:buFont typeface="Arial"/>
              <a:buNone/>
            </a:pPr>
            <a:r>
              <a:rPr b="1" i="0" lang="en-US" sz="1200" u="none" cap="none" strike="noStrike">
                <a:solidFill>
                  <a:srgbClr val="A84E1C"/>
                </a:solidFill>
                <a:latin typeface="Georgia"/>
                <a:ea typeface="Georgia"/>
                <a:cs typeface="Georgia"/>
                <a:sym typeface="Georgia"/>
              </a:rPr>
              <a:t>JOBS TO BE DONE</a:t>
            </a:r>
            <a:endParaRPr i="0" sz="1200" u="none" cap="none" strike="noStrike">
              <a:solidFill>
                <a:schemeClr val="dk1"/>
              </a:solidFill>
              <a:latin typeface="Georgia"/>
              <a:ea typeface="Georgia"/>
              <a:cs typeface="Georgia"/>
              <a:sym typeface="Georgia"/>
            </a:endParaRPr>
          </a:p>
        </p:txBody>
      </p:sp>
      <p:sp>
        <p:nvSpPr>
          <p:cNvPr id="42" name="Google Shape;42;h4f3ca251365416fc_0_3"/>
          <p:cNvSpPr txBox="1"/>
          <p:nvPr>
            <p:ph idx="4294967295" type="title"/>
          </p:nvPr>
        </p:nvSpPr>
        <p:spPr>
          <a:xfrm>
            <a:off x="812800" y="1127720"/>
            <a:ext cx="10883400" cy="4725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2A44"/>
              </a:buClr>
              <a:buSzPct val="100000"/>
              <a:buFont typeface="Georgia"/>
              <a:buNone/>
            </a:pPr>
            <a:r>
              <a:rPr b="1" lang="en-US"/>
              <a:t>Background on grading</a:t>
            </a:r>
            <a:endParaRPr sz="3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47" name="Shape 47"/>
        <p:cNvGrpSpPr/>
        <p:nvPr/>
      </p:nvGrpSpPr>
      <p:grpSpPr>
        <a:xfrm>
          <a:off x="0" y="0"/>
          <a:ext cx="0" cy="0"/>
          <a:chOff x="0" y="0"/>
          <a:chExt cx="0" cy="0"/>
        </a:xfrm>
      </p:grpSpPr>
      <p:sp>
        <p:nvSpPr>
          <p:cNvPr id="48" name="Google Shape;48;p2"/>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84E1C"/>
              </a:buClr>
              <a:buSzPts val="1200"/>
              <a:buFont typeface="Arial"/>
              <a:buNone/>
            </a:pPr>
            <a:r>
              <a:rPr b="1" i="0" lang="en-US" sz="1200" u="none" cap="none" strike="noStrike">
                <a:solidFill>
                  <a:srgbClr val="A84E1C"/>
                </a:solidFill>
                <a:latin typeface="Arial"/>
                <a:ea typeface="Arial"/>
                <a:cs typeface="Arial"/>
                <a:sym typeface="Arial"/>
              </a:rPr>
              <a:t>JOBS TO BE DONE</a:t>
            </a:r>
            <a:endParaRPr b="0" i="0" sz="1200" u="none" cap="none" strike="noStrike">
              <a:solidFill>
                <a:schemeClr val="dk1"/>
              </a:solidFill>
              <a:latin typeface="Arial"/>
              <a:ea typeface="Arial"/>
              <a:cs typeface="Arial"/>
              <a:sym typeface="Arial"/>
            </a:endParaRPr>
          </a:p>
        </p:txBody>
      </p:sp>
      <p:sp>
        <p:nvSpPr>
          <p:cNvPr id="49" name="Google Shape;49;p2"/>
          <p:cNvSpPr txBox="1"/>
          <p:nvPr>
            <p:ph type="title"/>
          </p:nvPr>
        </p:nvSpPr>
        <p:spPr>
          <a:xfrm>
            <a:off x="812800" y="11277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44"/>
              </a:buClr>
              <a:buSzPts val="3200"/>
              <a:buFont typeface="Georgia"/>
              <a:buNone/>
            </a:pPr>
            <a:r>
              <a:rPr b="1" i="0" lang="en-US" sz="3200">
                <a:solidFill>
                  <a:srgbClr val="1F2A44"/>
                </a:solidFill>
                <a:latin typeface="Georgia"/>
                <a:ea typeface="Georgia"/>
                <a:cs typeface="Georgia"/>
                <a:sym typeface="Georgia"/>
              </a:rPr>
              <a:t>Three jobs in education technology</a:t>
            </a:r>
            <a:endParaRPr sz="3200"/>
          </a:p>
        </p:txBody>
      </p:sp>
      <p:sp>
        <p:nvSpPr>
          <p:cNvPr id="50" name="Google Shape;50;p2"/>
          <p:cNvSpPr/>
          <p:nvPr/>
        </p:nvSpPr>
        <p:spPr>
          <a:xfrm>
            <a:off x="819150" y="1936700"/>
            <a:ext cx="3365500" cy="4102150"/>
          </a:xfrm>
          <a:prstGeom prst="roundRect">
            <a:avLst>
              <a:gd fmla="val 3585" name="adj"/>
            </a:avLst>
          </a:prstGeom>
          <a:solidFill>
            <a:srgbClr val="FFFDF8"/>
          </a:solidFill>
          <a:ln cap="flat" cmpd="sng" w="12700">
            <a:solidFill>
              <a:srgbClr val="DCD6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 name="Google Shape;51;p2"/>
          <p:cNvSpPr/>
          <p:nvPr/>
        </p:nvSpPr>
        <p:spPr>
          <a:xfrm>
            <a:off x="1079500" y="2197050"/>
            <a:ext cx="293014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478"/>
              </a:buClr>
              <a:buSzPts val="1200"/>
              <a:buFont typeface="Arial"/>
              <a:buNone/>
            </a:pPr>
            <a:r>
              <a:rPr b="1" i="0" lang="en-US" sz="1200" u="none" cap="none" strike="noStrike">
                <a:solidFill>
                  <a:srgbClr val="5A6478"/>
                </a:solidFill>
                <a:latin typeface="Arial"/>
                <a:ea typeface="Arial"/>
                <a:cs typeface="Arial"/>
                <a:sym typeface="Arial"/>
              </a:rPr>
              <a:t>JOB 1</a:t>
            </a:r>
            <a:endParaRPr b="0" i="0" sz="1200" u="none" cap="none" strike="noStrike">
              <a:solidFill>
                <a:schemeClr val="dk1"/>
              </a:solidFill>
              <a:latin typeface="Arial"/>
              <a:ea typeface="Arial"/>
              <a:cs typeface="Arial"/>
              <a:sym typeface="Arial"/>
            </a:endParaRPr>
          </a:p>
        </p:txBody>
      </p:sp>
      <p:sp>
        <p:nvSpPr>
          <p:cNvPr id="52" name="Google Shape;52;p2"/>
          <p:cNvSpPr/>
          <p:nvPr/>
        </p:nvSpPr>
        <p:spPr>
          <a:xfrm>
            <a:off x="1079500" y="2537371"/>
            <a:ext cx="2930144" cy="8826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1F2A44"/>
              </a:buClr>
              <a:buSzPts val="1800"/>
              <a:buFont typeface="Georgia"/>
              <a:buNone/>
            </a:pPr>
            <a:r>
              <a:rPr b="1" i="0" lang="en-US" sz="1800" u="none" cap="none" strike="noStrike">
                <a:solidFill>
                  <a:srgbClr val="1F2A44"/>
                </a:solidFill>
                <a:latin typeface="Georgia"/>
                <a:ea typeface="Georgia"/>
                <a:cs typeface="Georgia"/>
                <a:sym typeface="Georgia"/>
              </a:rPr>
              <a:t>Communication between teachers and students</a:t>
            </a:r>
            <a:endParaRPr b="0" i="0" sz="1800" u="none" cap="none" strike="noStrike">
              <a:solidFill>
                <a:schemeClr val="dk1"/>
              </a:solidFill>
              <a:latin typeface="Arial"/>
              <a:ea typeface="Arial"/>
              <a:cs typeface="Arial"/>
              <a:sym typeface="Arial"/>
            </a:endParaRPr>
          </a:p>
        </p:txBody>
      </p:sp>
      <p:sp>
        <p:nvSpPr>
          <p:cNvPr id="53" name="Google Shape;53;p2"/>
          <p:cNvSpPr/>
          <p:nvPr/>
        </p:nvSpPr>
        <p:spPr>
          <a:xfrm>
            <a:off x="1079500" y="3581296"/>
            <a:ext cx="2930100" cy="949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300"/>
              <a:buFont typeface="Arial"/>
              <a:buNone/>
            </a:pPr>
            <a:r>
              <a:rPr b="1" i="0" lang="en-US" sz="1300" u="none" cap="none" strike="noStrike">
                <a:solidFill>
                  <a:srgbClr val="4A5568"/>
                </a:solidFill>
                <a:latin typeface="Arial"/>
                <a:ea typeface="Arial"/>
                <a:cs typeface="Arial"/>
                <a:sym typeface="Arial"/>
              </a:rPr>
              <a:t>Desired outcome:</a:t>
            </a:r>
            <a:r>
              <a:rPr b="0" i="0" lang="en-US" sz="1300" u="none" cap="none" strike="noStrike">
                <a:solidFill>
                  <a:srgbClr val="4A5568"/>
                </a:solidFill>
                <a:latin typeface="Arial"/>
                <a:ea typeface="Arial"/>
                <a:cs typeface="Arial"/>
                <a:sym typeface="Arial"/>
              </a:rPr>
              <a:t> Students receive all the information they need; teachers can see student questions and concerns.</a:t>
            </a:r>
            <a:endParaRPr b="0" i="0" sz="1300" u="none" cap="none" strike="noStrike">
              <a:solidFill>
                <a:schemeClr val="dk1"/>
              </a:solidFill>
              <a:latin typeface="Arial"/>
              <a:ea typeface="Arial"/>
              <a:cs typeface="Arial"/>
              <a:sym typeface="Arial"/>
            </a:endParaRPr>
          </a:p>
        </p:txBody>
      </p:sp>
      <p:sp>
        <p:nvSpPr>
          <p:cNvPr id="54" name="Google Shape;54;p2"/>
          <p:cNvSpPr/>
          <p:nvPr/>
        </p:nvSpPr>
        <p:spPr>
          <a:xfrm>
            <a:off x="1079500" y="5565180"/>
            <a:ext cx="293014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200"/>
              <a:buFont typeface="Arial"/>
              <a:buNone/>
            </a:pPr>
            <a:r>
              <a:rPr b="1" i="0" lang="en-US" sz="1200" u="none" cap="none" strike="noStrike">
                <a:solidFill>
                  <a:srgbClr val="4A5568"/>
                </a:solidFill>
                <a:latin typeface="Arial"/>
                <a:ea typeface="Arial"/>
                <a:cs typeface="Arial"/>
                <a:sym typeface="Arial"/>
              </a:rPr>
              <a:t>Today:</a:t>
            </a:r>
            <a:r>
              <a:rPr b="0" i="0" lang="en-US" sz="1200" u="none" cap="none" strike="noStrike">
                <a:solidFill>
                  <a:srgbClr val="4A5568"/>
                </a:solidFill>
                <a:latin typeface="Arial"/>
                <a:ea typeface="Arial"/>
                <a:cs typeface="Arial"/>
                <a:sym typeface="Arial"/>
              </a:rPr>
              <a:t> Canvas, email, course forums</a:t>
            </a:r>
            <a:endParaRPr b="0" i="0" sz="1200" u="none" cap="none" strike="noStrike">
              <a:solidFill>
                <a:schemeClr val="dk1"/>
              </a:solidFill>
              <a:latin typeface="Arial"/>
              <a:ea typeface="Arial"/>
              <a:cs typeface="Arial"/>
              <a:sym typeface="Arial"/>
            </a:endParaRPr>
          </a:p>
        </p:txBody>
      </p:sp>
      <p:sp>
        <p:nvSpPr>
          <p:cNvPr id="55" name="Google Shape;55;p2"/>
          <p:cNvSpPr/>
          <p:nvPr/>
        </p:nvSpPr>
        <p:spPr>
          <a:xfrm>
            <a:off x="4406900" y="1943050"/>
            <a:ext cx="3378200" cy="4089450"/>
          </a:xfrm>
          <a:prstGeom prst="roundRect">
            <a:avLst>
              <a:gd fmla="val 3383" name="adj"/>
            </a:avLst>
          </a:prstGeom>
          <a:solidFill>
            <a:srgbClr val="1F2A44"/>
          </a:solidFill>
          <a:ln cap="flat" cmpd="sng" w="25400">
            <a:solidFill>
              <a:srgbClr val="E8945A"/>
            </a:solidFill>
            <a:prstDash val="solid"/>
            <a:round/>
            <a:headEnd len="sm" w="sm" type="none"/>
            <a:tailEnd len="sm" w="sm" type="none"/>
          </a:ln>
          <a:effectLst>
            <a:outerShdw blurRad="254000" rotWithShape="0" algn="bl" dir="5400000" dist="101600">
              <a:srgbClr val="1F2A44">
                <a:alpha val="25098"/>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 name="Google Shape;56;p2"/>
          <p:cNvSpPr/>
          <p:nvPr/>
        </p:nvSpPr>
        <p:spPr>
          <a:xfrm>
            <a:off x="4673600" y="2209750"/>
            <a:ext cx="2193230" cy="289520"/>
          </a:xfrm>
          <a:custGeom>
            <a:rect b="b" l="l" r="r" t="t"/>
            <a:pathLst>
              <a:path extrusionOk="0" h="289520" w="2193230">
                <a:moveTo>
                  <a:pt x="144760" y="0"/>
                </a:moveTo>
                <a:lnTo>
                  <a:pt x="2048470" y="0"/>
                </a:lnTo>
                <a:cubicBezTo>
                  <a:pt x="2086863" y="0"/>
                  <a:pt x="2123683" y="15251"/>
                  <a:pt x="2150831" y="42399"/>
                </a:cubicBezTo>
                <a:cubicBezTo>
                  <a:pt x="2177979" y="69547"/>
                  <a:pt x="2193230" y="106367"/>
                  <a:pt x="2193230" y="144760"/>
                </a:cubicBezTo>
                <a:lnTo>
                  <a:pt x="2193230" y="144760"/>
                </a:lnTo>
                <a:cubicBezTo>
                  <a:pt x="2193230" y="224709"/>
                  <a:pt x="2128419" y="289520"/>
                  <a:pt x="2048470" y="289520"/>
                </a:cubicBezTo>
                <a:lnTo>
                  <a:pt x="144760" y="289520"/>
                </a:lnTo>
                <a:cubicBezTo>
                  <a:pt x="64811" y="289520"/>
                  <a:pt x="0" y="224709"/>
                  <a:pt x="0" y="144760"/>
                </a:cubicBezTo>
                <a:lnTo>
                  <a:pt x="0" y="144760"/>
                </a:lnTo>
                <a:cubicBezTo>
                  <a:pt x="0" y="64811"/>
                  <a:pt x="64811" y="0"/>
                  <a:pt x="144760" y="0"/>
                </a:cubicBezTo>
                <a:close/>
              </a:path>
            </a:pathLst>
          </a:custGeom>
          <a:solidFill>
            <a:srgbClr val="E8945A"/>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F2A44"/>
              </a:buClr>
              <a:buSzPts val="1200"/>
              <a:buFont typeface="Arial"/>
              <a:buNone/>
            </a:pPr>
            <a:r>
              <a:rPr b="1" i="0" lang="en-US" sz="1200" u="none" cap="none" strike="noStrike">
                <a:solidFill>
                  <a:srgbClr val="1F2A44"/>
                </a:solidFill>
                <a:latin typeface="Arial"/>
                <a:ea typeface="Arial"/>
                <a:cs typeface="Arial"/>
                <a:sym typeface="Arial"/>
              </a:rPr>
              <a:t>JOB 2 · OUR CHOSEN JOB</a:t>
            </a:r>
            <a:endParaRPr b="0" i="0" sz="1200" u="none" cap="none" strike="noStrike">
              <a:solidFill>
                <a:schemeClr val="dk1"/>
              </a:solidFill>
              <a:latin typeface="Arial"/>
              <a:ea typeface="Arial"/>
              <a:cs typeface="Arial"/>
              <a:sym typeface="Arial"/>
            </a:endParaRPr>
          </a:p>
        </p:txBody>
      </p:sp>
      <p:sp>
        <p:nvSpPr>
          <p:cNvPr id="57" name="Google Shape;57;p2"/>
          <p:cNvSpPr/>
          <p:nvPr/>
        </p:nvSpPr>
        <p:spPr>
          <a:xfrm>
            <a:off x="4673600" y="2626271"/>
            <a:ext cx="2930144" cy="116840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F7F5EF"/>
              </a:buClr>
              <a:buSzPts val="1800"/>
              <a:buFont typeface="Georgia"/>
              <a:buNone/>
            </a:pPr>
            <a:r>
              <a:rPr b="1" i="0" lang="en-US" sz="1800" u="none" cap="none" strike="noStrike">
                <a:solidFill>
                  <a:srgbClr val="F7F5EF"/>
                </a:solidFill>
                <a:latin typeface="Georgia"/>
                <a:ea typeface="Georgia"/>
                <a:cs typeface="Georgia"/>
                <a:sym typeface="Georgia"/>
              </a:rPr>
              <a:t>Teachers need to assign work to students, then provide feedback and grades</a:t>
            </a:r>
            <a:endParaRPr b="0" i="0" sz="1800" u="none" cap="none" strike="noStrike">
              <a:solidFill>
                <a:schemeClr val="dk1"/>
              </a:solidFill>
              <a:latin typeface="Arial"/>
              <a:ea typeface="Arial"/>
              <a:cs typeface="Arial"/>
              <a:sym typeface="Arial"/>
            </a:endParaRPr>
          </a:p>
        </p:txBody>
      </p:sp>
      <p:sp>
        <p:nvSpPr>
          <p:cNvPr id="58" name="Google Shape;58;p2"/>
          <p:cNvSpPr/>
          <p:nvPr/>
        </p:nvSpPr>
        <p:spPr>
          <a:xfrm>
            <a:off x="4673600" y="4038596"/>
            <a:ext cx="2930100" cy="71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2E3"/>
              </a:buClr>
              <a:buSzPts val="1300"/>
              <a:buFont typeface="Arial"/>
              <a:buNone/>
            </a:pPr>
            <a:r>
              <a:rPr b="1" i="0" lang="en-US" sz="1300" u="none" cap="none" strike="noStrike">
                <a:solidFill>
                  <a:srgbClr val="C9D2E3"/>
                </a:solidFill>
                <a:latin typeface="Arial"/>
                <a:ea typeface="Arial"/>
                <a:cs typeface="Arial"/>
                <a:sym typeface="Arial"/>
              </a:rPr>
              <a:t>Desired outcome:</a:t>
            </a:r>
            <a:r>
              <a:rPr b="0" i="0" lang="en-US" sz="1300" u="none" cap="none" strike="noStrike">
                <a:solidFill>
                  <a:srgbClr val="C9D2E3"/>
                </a:solidFill>
                <a:latin typeface="Arial"/>
                <a:ea typeface="Arial"/>
                <a:cs typeface="Arial"/>
                <a:sym typeface="Arial"/>
              </a:rPr>
              <a:t> Students can easily see how they’re doing in the class.</a:t>
            </a:r>
            <a:endParaRPr b="0" i="0" sz="1300" u="none" cap="none" strike="noStrike">
              <a:solidFill>
                <a:schemeClr val="dk1"/>
              </a:solidFill>
              <a:latin typeface="Arial"/>
              <a:ea typeface="Arial"/>
              <a:cs typeface="Arial"/>
              <a:sym typeface="Arial"/>
            </a:endParaRPr>
          </a:p>
        </p:txBody>
      </p:sp>
      <p:sp>
        <p:nvSpPr>
          <p:cNvPr id="59" name="Google Shape;59;p2"/>
          <p:cNvSpPr/>
          <p:nvPr/>
        </p:nvSpPr>
        <p:spPr>
          <a:xfrm>
            <a:off x="4673600" y="5552480"/>
            <a:ext cx="293014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2E3"/>
              </a:buClr>
              <a:buSzPts val="1200"/>
              <a:buFont typeface="Arial"/>
              <a:buNone/>
            </a:pPr>
            <a:r>
              <a:rPr b="1" i="0" lang="en-US" sz="1200" u="none" cap="none" strike="noStrike">
                <a:solidFill>
                  <a:srgbClr val="C9D2E3"/>
                </a:solidFill>
                <a:latin typeface="Arial"/>
                <a:ea typeface="Arial"/>
                <a:cs typeface="Arial"/>
                <a:sym typeface="Arial"/>
              </a:rPr>
              <a:t>Today:</a:t>
            </a:r>
            <a:r>
              <a:rPr b="0" i="0" lang="en-US" sz="1200" u="none" cap="none" strike="noStrike">
                <a:solidFill>
                  <a:srgbClr val="C9D2E3"/>
                </a:solidFill>
                <a:latin typeface="Arial"/>
                <a:ea typeface="Arial"/>
                <a:cs typeface="Arial"/>
                <a:sym typeface="Arial"/>
              </a:rPr>
              <a:t> Gradescope, Canvas</a:t>
            </a:r>
            <a:endParaRPr b="0" i="0" sz="1200" u="none" cap="none" strike="noStrike">
              <a:solidFill>
                <a:schemeClr val="dk1"/>
              </a:solidFill>
              <a:latin typeface="Arial"/>
              <a:ea typeface="Arial"/>
              <a:cs typeface="Arial"/>
              <a:sym typeface="Arial"/>
            </a:endParaRPr>
          </a:p>
        </p:txBody>
      </p:sp>
      <p:sp>
        <p:nvSpPr>
          <p:cNvPr id="60" name="Google Shape;60;p2"/>
          <p:cNvSpPr/>
          <p:nvPr/>
        </p:nvSpPr>
        <p:spPr>
          <a:xfrm>
            <a:off x="8007350" y="1936700"/>
            <a:ext cx="3365500" cy="4102150"/>
          </a:xfrm>
          <a:prstGeom prst="roundRect">
            <a:avLst>
              <a:gd fmla="val 3585" name="adj"/>
            </a:avLst>
          </a:prstGeom>
          <a:solidFill>
            <a:srgbClr val="FFFDF8"/>
          </a:solidFill>
          <a:ln cap="flat" cmpd="sng" w="12700">
            <a:solidFill>
              <a:srgbClr val="DCD6C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 name="Google Shape;61;p2"/>
          <p:cNvSpPr/>
          <p:nvPr/>
        </p:nvSpPr>
        <p:spPr>
          <a:xfrm>
            <a:off x="8267700" y="2197050"/>
            <a:ext cx="293014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6478"/>
              </a:buClr>
              <a:buSzPts val="1200"/>
              <a:buFont typeface="Arial"/>
              <a:buNone/>
            </a:pPr>
            <a:r>
              <a:rPr b="1" i="0" lang="en-US" sz="1200" u="none" cap="none" strike="noStrike">
                <a:solidFill>
                  <a:srgbClr val="5A6478"/>
                </a:solidFill>
                <a:latin typeface="Arial"/>
                <a:ea typeface="Arial"/>
                <a:cs typeface="Arial"/>
                <a:sym typeface="Arial"/>
              </a:rPr>
              <a:t>JOB 3</a:t>
            </a:r>
            <a:endParaRPr b="0" i="0" sz="1200" u="none" cap="none" strike="noStrike">
              <a:solidFill>
                <a:schemeClr val="dk1"/>
              </a:solidFill>
              <a:latin typeface="Arial"/>
              <a:ea typeface="Arial"/>
              <a:cs typeface="Arial"/>
              <a:sym typeface="Arial"/>
            </a:endParaRPr>
          </a:p>
        </p:txBody>
      </p:sp>
      <p:sp>
        <p:nvSpPr>
          <p:cNvPr id="62" name="Google Shape;62;p2"/>
          <p:cNvSpPr/>
          <p:nvPr/>
        </p:nvSpPr>
        <p:spPr>
          <a:xfrm>
            <a:off x="8267700" y="2537371"/>
            <a:ext cx="2930144" cy="8826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1F2A44"/>
              </a:buClr>
              <a:buSzPts val="1800"/>
              <a:buFont typeface="Georgia"/>
              <a:buNone/>
            </a:pPr>
            <a:r>
              <a:rPr b="1" i="0" lang="en-US" sz="1800" u="none" cap="none" strike="noStrike">
                <a:solidFill>
                  <a:srgbClr val="1F2A44"/>
                </a:solidFill>
                <a:latin typeface="Georgia"/>
                <a:ea typeface="Georgia"/>
                <a:cs typeface="Georgia"/>
                <a:sym typeface="Georgia"/>
              </a:rPr>
              <a:t>A way for multiple students to collaborate with each other</a:t>
            </a:r>
            <a:endParaRPr b="0" i="0" sz="1800" u="none" cap="none" strike="noStrike">
              <a:solidFill>
                <a:schemeClr val="dk1"/>
              </a:solidFill>
              <a:latin typeface="Arial"/>
              <a:ea typeface="Arial"/>
              <a:cs typeface="Arial"/>
              <a:sym typeface="Arial"/>
            </a:endParaRPr>
          </a:p>
        </p:txBody>
      </p:sp>
      <p:sp>
        <p:nvSpPr>
          <p:cNvPr id="63" name="Google Shape;63;p2"/>
          <p:cNvSpPr/>
          <p:nvPr/>
        </p:nvSpPr>
        <p:spPr>
          <a:xfrm>
            <a:off x="8267700" y="3641084"/>
            <a:ext cx="2930100" cy="7188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300"/>
              <a:buFont typeface="Arial"/>
              <a:buNone/>
            </a:pPr>
            <a:r>
              <a:rPr b="1" i="0" lang="en-US" sz="1300" u="none" cap="none" strike="noStrike">
                <a:solidFill>
                  <a:srgbClr val="4A5568"/>
                </a:solidFill>
                <a:latin typeface="Arial"/>
                <a:ea typeface="Arial"/>
                <a:cs typeface="Arial"/>
                <a:sym typeface="Arial"/>
              </a:rPr>
              <a:t>Desired outcome:</a:t>
            </a:r>
            <a:r>
              <a:rPr b="0" i="0" lang="en-US" sz="1300" u="none" cap="none" strike="noStrike">
                <a:solidFill>
                  <a:srgbClr val="4A5568"/>
                </a:solidFill>
                <a:latin typeface="Arial"/>
                <a:ea typeface="Arial"/>
                <a:cs typeface="Arial"/>
                <a:sym typeface="Arial"/>
              </a:rPr>
              <a:t> A space for students to share work, ask each other questions and build course community.</a:t>
            </a:r>
            <a:endParaRPr b="0" i="0" sz="1300" u="none" cap="none" strike="noStrike">
              <a:solidFill>
                <a:schemeClr val="dk1"/>
              </a:solidFill>
              <a:latin typeface="Arial"/>
              <a:ea typeface="Arial"/>
              <a:cs typeface="Arial"/>
              <a:sym typeface="Arial"/>
            </a:endParaRPr>
          </a:p>
        </p:txBody>
      </p:sp>
      <p:sp>
        <p:nvSpPr>
          <p:cNvPr id="64" name="Google Shape;64;p2"/>
          <p:cNvSpPr/>
          <p:nvPr/>
        </p:nvSpPr>
        <p:spPr>
          <a:xfrm>
            <a:off x="8267700" y="5565180"/>
            <a:ext cx="293014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200"/>
              <a:buFont typeface="Arial"/>
              <a:buNone/>
            </a:pPr>
            <a:r>
              <a:rPr b="1" i="0" lang="en-US" sz="1200" u="none" cap="none" strike="noStrike">
                <a:solidFill>
                  <a:srgbClr val="4A5568"/>
                </a:solidFill>
                <a:latin typeface="Arial"/>
                <a:ea typeface="Arial"/>
                <a:cs typeface="Arial"/>
                <a:sym typeface="Arial"/>
              </a:rPr>
              <a:t>Today:</a:t>
            </a:r>
            <a:r>
              <a:rPr b="0" i="0" lang="en-US" sz="1200" u="none" cap="none" strike="noStrike">
                <a:solidFill>
                  <a:srgbClr val="4A5568"/>
                </a:solidFill>
                <a:latin typeface="Arial"/>
                <a:ea typeface="Arial"/>
                <a:cs typeface="Arial"/>
                <a:sym typeface="Arial"/>
              </a:rPr>
              <a:t> Piazza, Slack</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EF"/>
        </a:solidFill>
      </p:bgPr>
    </p:bg>
    <p:spTree>
      <p:nvGrpSpPr>
        <p:cNvPr id="68" name="Shape 68"/>
        <p:cNvGrpSpPr/>
        <p:nvPr/>
      </p:nvGrpSpPr>
      <p:grpSpPr>
        <a:xfrm>
          <a:off x="0" y="0"/>
          <a:ext cx="0" cy="0"/>
          <a:chOff x="0" y="0"/>
          <a:chExt cx="0" cy="0"/>
        </a:xfrm>
      </p:grpSpPr>
      <p:sp>
        <p:nvSpPr>
          <p:cNvPr id="69" name="Google Shape;69;h4f3ca251365416fc_0_70"/>
          <p:cNvSpPr txBox="1"/>
          <p:nvPr/>
        </p:nvSpPr>
        <p:spPr>
          <a:xfrm>
            <a:off x="609600" y="426720"/>
            <a:ext cx="10972800" cy="13413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None/>
            </a:pPr>
            <a:r>
              <a:rPr b="1" lang="en-US" sz="4000">
                <a:solidFill>
                  <a:srgbClr val="1B1F23"/>
                </a:solidFill>
                <a:latin typeface="Georgia"/>
                <a:ea typeface="Georgia"/>
                <a:cs typeface="Georgia"/>
                <a:sym typeface="Georgia"/>
              </a:rPr>
              <a:t>Mapping the job, step by step</a:t>
            </a:r>
            <a:endParaRPr b="1" sz="4000">
              <a:solidFill>
                <a:srgbClr val="1B1F23"/>
              </a:solidFill>
              <a:latin typeface="Georgia"/>
              <a:ea typeface="Georgia"/>
              <a:cs typeface="Georgia"/>
              <a:sym typeface="Georgia"/>
            </a:endParaRPr>
          </a:p>
        </p:txBody>
      </p:sp>
      <p:sp>
        <p:nvSpPr>
          <p:cNvPr id="70" name="Google Shape;70;h4f3ca251365416fc_0_70"/>
          <p:cNvSpPr txBox="1"/>
          <p:nvPr/>
        </p:nvSpPr>
        <p:spPr>
          <a:xfrm>
            <a:off x="609600" y="1280160"/>
            <a:ext cx="10972800" cy="4875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None/>
            </a:pPr>
            <a:r>
              <a:rPr b="1" lang="en-US" sz="1900">
                <a:solidFill>
                  <a:srgbClr val="4338CA"/>
                </a:solidFill>
                <a:latin typeface="Georgia"/>
                <a:ea typeface="Georgia"/>
                <a:cs typeface="Georgia"/>
                <a:sym typeface="Georgia"/>
              </a:rPr>
              <a:t>Job: </a:t>
            </a:r>
            <a:r>
              <a:rPr lang="en-US" sz="1900">
                <a:solidFill>
                  <a:srgbClr val="1B1F23"/>
                </a:solidFill>
                <a:latin typeface="Georgia"/>
                <a:ea typeface="Georgia"/>
                <a:cs typeface="Georgia"/>
                <a:sym typeface="Georgia"/>
              </a:rPr>
              <a:t>Teachers assign work to students, then give feedback and grades</a:t>
            </a:r>
            <a:endParaRPr sz="1900">
              <a:solidFill>
                <a:srgbClr val="1B1F23"/>
              </a:solidFill>
              <a:latin typeface="Georgia"/>
              <a:ea typeface="Georgia"/>
              <a:cs typeface="Georgia"/>
              <a:sym typeface="Georgia"/>
            </a:endParaRPr>
          </a:p>
        </p:txBody>
      </p:sp>
      <p:sp>
        <p:nvSpPr>
          <p:cNvPr id="71" name="Google Shape;71;h4f3ca251365416fc_0_70"/>
          <p:cNvSpPr/>
          <p:nvPr/>
        </p:nvSpPr>
        <p:spPr>
          <a:xfrm>
            <a:off x="609600" y="2011680"/>
            <a:ext cx="2438400" cy="1646100"/>
          </a:xfrm>
          <a:prstGeom prst="roundRect">
            <a:avLst>
              <a:gd fmla="val 16667" name="adj"/>
            </a:avLst>
          </a:prstGeom>
          <a:solidFill>
            <a:srgbClr val="FFFFFF"/>
          </a:solidFill>
          <a:ln cap="flat" cmpd="sng" w="16925">
            <a:solidFill>
              <a:srgbClr val="D5DAD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lnSpc>
                <a:spcPct val="100000"/>
              </a:lnSpc>
              <a:spcBef>
                <a:spcPts val="0"/>
              </a:spcBef>
              <a:spcAft>
                <a:spcPts val="0"/>
              </a:spcAft>
              <a:buNone/>
            </a:pPr>
            <a:r>
              <a:rPr b="1" lang="en-US" sz="1500">
                <a:solidFill>
                  <a:srgbClr val="5F6B76"/>
                </a:solidFill>
                <a:latin typeface="Georgia"/>
                <a:ea typeface="Georgia"/>
                <a:cs typeface="Georgia"/>
                <a:sym typeface="Georgia"/>
              </a:rPr>
              <a:t>1  INSTRUCTOR</a:t>
            </a:r>
            <a:endParaRPr b="1" sz="1500">
              <a:solidFill>
                <a:srgbClr val="5F6B76"/>
              </a:solidFill>
              <a:latin typeface="Georgia"/>
              <a:ea typeface="Georgia"/>
              <a:cs typeface="Georgia"/>
              <a:sym typeface="Georgia"/>
            </a:endParaRPr>
          </a:p>
          <a:p>
            <a:pPr indent="0" lvl="0" marL="0" rtl="0" algn="l">
              <a:lnSpc>
                <a:spcPct val="100000"/>
              </a:lnSpc>
              <a:spcBef>
                <a:spcPts val="400"/>
              </a:spcBef>
              <a:spcAft>
                <a:spcPts val="0"/>
              </a:spcAft>
              <a:buNone/>
            </a:pPr>
            <a:r>
              <a:rPr b="1" lang="en-US" sz="1900">
                <a:solidFill>
                  <a:srgbClr val="1B1F23"/>
                </a:solidFill>
                <a:latin typeface="Georgia"/>
                <a:ea typeface="Georgia"/>
                <a:cs typeface="Georgia"/>
                <a:sym typeface="Georgia"/>
              </a:rPr>
              <a:t>Conceive the assignment</a:t>
            </a:r>
            <a:endParaRPr b="1" sz="1900">
              <a:solidFill>
                <a:srgbClr val="1B1F23"/>
              </a:solidFill>
              <a:latin typeface="Georgia"/>
              <a:ea typeface="Georgia"/>
              <a:cs typeface="Georgia"/>
              <a:sym typeface="Georgia"/>
            </a:endParaRPr>
          </a:p>
          <a:p>
            <a:pPr indent="0" lvl="0" marL="0" rtl="0" algn="l">
              <a:lnSpc>
                <a:spcPct val="100000"/>
              </a:lnSpc>
              <a:spcBef>
                <a:spcPts val="400"/>
              </a:spcBef>
              <a:spcAft>
                <a:spcPts val="0"/>
              </a:spcAft>
              <a:buNone/>
            </a:pPr>
            <a:r>
              <a:rPr lang="en-US" sz="1500">
                <a:solidFill>
                  <a:srgbClr val="5F6B76"/>
                </a:solidFill>
                <a:latin typeface="Georgia"/>
                <a:ea typeface="Georgia"/>
                <a:cs typeface="Georgia"/>
                <a:sym typeface="Georgia"/>
              </a:rPr>
              <a:t>Importance 4</a:t>
            </a:r>
            <a:endParaRPr sz="1500">
              <a:solidFill>
                <a:srgbClr val="5F6B76"/>
              </a:solidFill>
              <a:latin typeface="Georgia"/>
              <a:ea typeface="Georgia"/>
              <a:cs typeface="Georgia"/>
              <a:sym typeface="Georgia"/>
            </a:endParaRPr>
          </a:p>
          <a:p>
            <a:pPr indent="0" lvl="0" marL="0" rtl="0" algn="l">
              <a:lnSpc>
                <a:spcPct val="100000"/>
              </a:lnSpc>
              <a:spcBef>
                <a:spcPts val="400"/>
              </a:spcBef>
              <a:spcAft>
                <a:spcPts val="400"/>
              </a:spcAft>
              <a:buNone/>
            </a:pPr>
            <a:r>
              <a:rPr lang="en-US" sz="1500">
                <a:solidFill>
                  <a:srgbClr val="5F6B76"/>
                </a:solidFill>
                <a:latin typeface="Georgia"/>
                <a:ea typeface="Georgia"/>
                <a:cs typeface="Georgia"/>
                <a:sym typeface="Georgia"/>
              </a:rPr>
              <a:t>Satisfaction 4</a:t>
            </a:r>
            <a:endParaRPr sz="1500">
              <a:solidFill>
                <a:srgbClr val="5F6B76"/>
              </a:solidFill>
              <a:latin typeface="Georgia"/>
              <a:ea typeface="Georgia"/>
              <a:cs typeface="Georgia"/>
              <a:sym typeface="Georgia"/>
            </a:endParaRPr>
          </a:p>
        </p:txBody>
      </p:sp>
      <p:cxnSp>
        <p:nvCxnSpPr>
          <p:cNvPr id="72" name="Google Shape;72;h4f3ca251365416fc_0_70"/>
          <p:cNvCxnSpPr/>
          <p:nvPr/>
        </p:nvCxnSpPr>
        <p:spPr>
          <a:xfrm>
            <a:off x="3096768" y="2834640"/>
            <a:ext cx="329100" cy="0"/>
          </a:xfrm>
          <a:prstGeom prst="straightConnector1">
            <a:avLst/>
          </a:prstGeom>
          <a:noFill/>
          <a:ln cap="flat" cmpd="sng" w="25400">
            <a:solidFill>
              <a:srgbClr val="5F6B76"/>
            </a:solidFill>
            <a:prstDash val="solid"/>
            <a:round/>
            <a:headEnd len="med" w="med" type="none"/>
            <a:tailEnd len="med" w="med" type="triangle"/>
          </a:ln>
        </p:spPr>
      </p:cxnSp>
      <p:sp>
        <p:nvSpPr>
          <p:cNvPr id="73" name="Google Shape;73;h4f3ca251365416fc_0_70"/>
          <p:cNvSpPr/>
          <p:nvPr/>
        </p:nvSpPr>
        <p:spPr>
          <a:xfrm>
            <a:off x="3474720" y="2011680"/>
            <a:ext cx="2438400" cy="1646100"/>
          </a:xfrm>
          <a:prstGeom prst="roundRect">
            <a:avLst>
              <a:gd fmla="val 16667" name="adj"/>
            </a:avLst>
          </a:prstGeom>
          <a:solidFill>
            <a:srgbClr val="FFFFFF"/>
          </a:solidFill>
          <a:ln cap="flat" cmpd="sng" w="16925">
            <a:solidFill>
              <a:srgbClr val="D5DAD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lnSpc>
                <a:spcPct val="100000"/>
              </a:lnSpc>
              <a:spcBef>
                <a:spcPts val="0"/>
              </a:spcBef>
              <a:spcAft>
                <a:spcPts val="0"/>
              </a:spcAft>
              <a:buNone/>
            </a:pPr>
            <a:r>
              <a:rPr b="1" lang="en-US" sz="1500">
                <a:solidFill>
                  <a:srgbClr val="5F6B76"/>
                </a:solidFill>
                <a:latin typeface="Georgia"/>
                <a:ea typeface="Georgia"/>
                <a:cs typeface="Georgia"/>
                <a:sym typeface="Georgia"/>
              </a:rPr>
              <a:t>2  INSTRUCTOR</a:t>
            </a:r>
            <a:endParaRPr b="1" sz="1500">
              <a:solidFill>
                <a:srgbClr val="5F6B76"/>
              </a:solidFill>
              <a:latin typeface="Georgia"/>
              <a:ea typeface="Georgia"/>
              <a:cs typeface="Georgia"/>
              <a:sym typeface="Georgia"/>
            </a:endParaRPr>
          </a:p>
          <a:p>
            <a:pPr indent="0" lvl="0" marL="0" rtl="0" algn="l">
              <a:lnSpc>
                <a:spcPct val="100000"/>
              </a:lnSpc>
              <a:spcBef>
                <a:spcPts val="400"/>
              </a:spcBef>
              <a:spcAft>
                <a:spcPts val="0"/>
              </a:spcAft>
              <a:buNone/>
            </a:pPr>
            <a:r>
              <a:rPr b="1" lang="en-US" sz="1900">
                <a:solidFill>
                  <a:srgbClr val="1B1F23"/>
                </a:solidFill>
                <a:latin typeface="Georgia"/>
                <a:ea typeface="Georgia"/>
                <a:cs typeface="Georgia"/>
                <a:sym typeface="Georgia"/>
              </a:rPr>
              <a:t>Write up and post it</a:t>
            </a:r>
            <a:endParaRPr b="1" sz="1900">
              <a:solidFill>
                <a:srgbClr val="1B1F23"/>
              </a:solidFill>
              <a:latin typeface="Georgia"/>
              <a:ea typeface="Georgia"/>
              <a:cs typeface="Georgia"/>
              <a:sym typeface="Georgia"/>
            </a:endParaRPr>
          </a:p>
          <a:p>
            <a:pPr indent="0" lvl="0" marL="0" rtl="0" algn="l">
              <a:lnSpc>
                <a:spcPct val="100000"/>
              </a:lnSpc>
              <a:spcBef>
                <a:spcPts val="400"/>
              </a:spcBef>
              <a:spcAft>
                <a:spcPts val="0"/>
              </a:spcAft>
              <a:buNone/>
            </a:pPr>
            <a:r>
              <a:rPr lang="en-US" sz="1500">
                <a:solidFill>
                  <a:srgbClr val="5F6B76"/>
                </a:solidFill>
                <a:latin typeface="Georgia"/>
                <a:ea typeface="Georgia"/>
                <a:cs typeface="Georgia"/>
                <a:sym typeface="Georgia"/>
              </a:rPr>
              <a:t>Importance 3</a:t>
            </a:r>
            <a:endParaRPr sz="1500">
              <a:solidFill>
                <a:srgbClr val="5F6B76"/>
              </a:solidFill>
              <a:latin typeface="Georgia"/>
              <a:ea typeface="Georgia"/>
              <a:cs typeface="Georgia"/>
              <a:sym typeface="Georgia"/>
            </a:endParaRPr>
          </a:p>
          <a:p>
            <a:pPr indent="0" lvl="0" marL="0" rtl="0" algn="l">
              <a:lnSpc>
                <a:spcPct val="100000"/>
              </a:lnSpc>
              <a:spcBef>
                <a:spcPts val="400"/>
              </a:spcBef>
              <a:spcAft>
                <a:spcPts val="400"/>
              </a:spcAft>
              <a:buNone/>
            </a:pPr>
            <a:r>
              <a:rPr lang="en-US" sz="1500">
                <a:solidFill>
                  <a:srgbClr val="5F6B76"/>
                </a:solidFill>
                <a:latin typeface="Georgia"/>
                <a:ea typeface="Georgia"/>
                <a:cs typeface="Georgia"/>
                <a:sym typeface="Georgia"/>
              </a:rPr>
              <a:t>Satisfaction 4</a:t>
            </a:r>
            <a:endParaRPr sz="1500">
              <a:solidFill>
                <a:srgbClr val="5F6B76"/>
              </a:solidFill>
              <a:latin typeface="Georgia"/>
              <a:ea typeface="Georgia"/>
              <a:cs typeface="Georgia"/>
              <a:sym typeface="Georgia"/>
            </a:endParaRPr>
          </a:p>
        </p:txBody>
      </p:sp>
      <p:cxnSp>
        <p:nvCxnSpPr>
          <p:cNvPr id="74" name="Google Shape;74;h4f3ca251365416fc_0_70"/>
          <p:cNvCxnSpPr/>
          <p:nvPr/>
        </p:nvCxnSpPr>
        <p:spPr>
          <a:xfrm>
            <a:off x="5961888" y="2834640"/>
            <a:ext cx="329100" cy="0"/>
          </a:xfrm>
          <a:prstGeom prst="straightConnector1">
            <a:avLst/>
          </a:prstGeom>
          <a:noFill/>
          <a:ln cap="flat" cmpd="sng" w="25400">
            <a:solidFill>
              <a:srgbClr val="5F6B76"/>
            </a:solidFill>
            <a:prstDash val="solid"/>
            <a:round/>
            <a:headEnd len="med" w="med" type="none"/>
            <a:tailEnd len="med" w="med" type="triangle"/>
          </a:ln>
        </p:spPr>
      </p:cxnSp>
      <p:sp>
        <p:nvSpPr>
          <p:cNvPr id="75" name="Google Shape;75;h4f3ca251365416fc_0_70"/>
          <p:cNvSpPr/>
          <p:nvPr/>
        </p:nvSpPr>
        <p:spPr>
          <a:xfrm>
            <a:off x="6339840" y="2011680"/>
            <a:ext cx="2438400" cy="1646100"/>
          </a:xfrm>
          <a:prstGeom prst="roundRect">
            <a:avLst>
              <a:gd fmla="val 16667" name="adj"/>
            </a:avLst>
          </a:prstGeom>
          <a:solidFill>
            <a:srgbClr val="FBEEDF"/>
          </a:solidFill>
          <a:ln cap="flat" cmpd="sng" w="25400">
            <a:solidFill>
              <a:srgbClr val="B45309"/>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lnSpc>
                <a:spcPct val="100000"/>
              </a:lnSpc>
              <a:spcBef>
                <a:spcPts val="0"/>
              </a:spcBef>
              <a:spcAft>
                <a:spcPts val="0"/>
              </a:spcAft>
              <a:buNone/>
            </a:pPr>
            <a:r>
              <a:rPr b="1" lang="en-US" sz="1500">
                <a:solidFill>
                  <a:srgbClr val="B45309"/>
                </a:solidFill>
                <a:latin typeface="Georgia"/>
                <a:ea typeface="Georgia"/>
                <a:cs typeface="Georgia"/>
                <a:sym typeface="Georgia"/>
              </a:rPr>
              <a:t>3  STUDENT</a:t>
            </a:r>
            <a:endParaRPr b="1" sz="1500">
              <a:solidFill>
                <a:srgbClr val="B45309"/>
              </a:solidFill>
              <a:latin typeface="Georgia"/>
              <a:ea typeface="Georgia"/>
              <a:cs typeface="Georgia"/>
              <a:sym typeface="Georgia"/>
            </a:endParaRPr>
          </a:p>
          <a:p>
            <a:pPr indent="0" lvl="0" marL="0" rtl="0" algn="l">
              <a:lnSpc>
                <a:spcPct val="100000"/>
              </a:lnSpc>
              <a:spcBef>
                <a:spcPts val="400"/>
              </a:spcBef>
              <a:spcAft>
                <a:spcPts val="0"/>
              </a:spcAft>
              <a:buNone/>
            </a:pPr>
            <a:r>
              <a:rPr b="1" lang="en-US" sz="1900">
                <a:solidFill>
                  <a:srgbClr val="1B1F23"/>
                </a:solidFill>
                <a:latin typeface="Georgia"/>
                <a:ea typeface="Georgia"/>
                <a:cs typeface="Georgia"/>
                <a:sym typeface="Georgia"/>
              </a:rPr>
              <a:t>Understand the assignment</a:t>
            </a:r>
            <a:endParaRPr b="1" sz="1900">
              <a:solidFill>
                <a:srgbClr val="1B1F23"/>
              </a:solidFill>
              <a:latin typeface="Georgia"/>
              <a:ea typeface="Georgia"/>
              <a:cs typeface="Georgia"/>
              <a:sym typeface="Georgia"/>
            </a:endParaRPr>
          </a:p>
          <a:p>
            <a:pPr indent="0" lvl="0" marL="0" rtl="0" algn="l">
              <a:lnSpc>
                <a:spcPct val="100000"/>
              </a:lnSpc>
              <a:spcBef>
                <a:spcPts val="400"/>
              </a:spcBef>
              <a:spcAft>
                <a:spcPts val="0"/>
              </a:spcAft>
              <a:buNone/>
            </a:pPr>
            <a:r>
              <a:rPr lang="en-US" sz="1500">
                <a:solidFill>
                  <a:srgbClr val="5F6B76"/>
                </a:solidFill>
                <a:latin typeface="Georgia"/>
                <a:ea typeface="Georgia"/>
                <a:cs typeface="Georgia"/>
                <a:sym typeface="Georgia"/>
              </a:rPr>
              <a:t>Importance 5</a:t>
            </a:r>
            <a:endParaRPr sz="1500">
              <a:solidFill>
                <a:srgbClr val="5F6B76"/>
              </a:solidFill>
              <a:latin typeface="Georgia"/>
              <a:ea typeface="Georgia"/>
              <a:cs typeface="Georgia"/>
              <a:sym typeface="Georgia"/>
            </a:endParaRPr>
          </a:p>
          <a:p>
            <a:pPr indent="0" lvl="0" marL="0" rtl="0" algn="l">
              <a:lnSpc>
                <a:spcPct val="100000"/>
              </a:lnSpc>
              <a:spcBef>
                <a:spcPts val="400"/>
              </a:spcBef>
              <a:spcAft>
                <a:spcPts val="400"/>
              </a:spcAft>
              <a:buNone/>
            </a:pPr>
            <a:r>
              <a:rPr lang="en-US" sz="1500">
                <a:solidFill>
                  <a:srgbClr val="5F6B76"/>
                </a:solidFill>
                <a:latin typeface="Georgia"/>
                <a:ea typeface="Georgia"/>
                <a:cs typeface="Georgia"/>
                <a:sym typeface="Georgia"/>
              </a:rPr>
              <a:t>Satisfaction 2</a:t>
            </a:r>
            <a:endParaRPr sz="1500">
              <a:solidFill>
                <a:srgbClr val="5F6B76"/>
              </a:solidFill>
              <a:latin typeface="Georgia"/>
              <a:ea typeface="Georgia"/>
              <a:cs typeface="Georgia"/>
              <a:sym typeface="Georgia"/>
            </a:endParaRPr>
          </a:p>
        </p:txBody>
      </p:sp>
      <p:cxnSp>
        <p:nvCxnSpPr>
          <p:cNvPr id="76" name="Google Shape;76;h4f3ca251365416fc_0_70"/>
          <p:cNvCxnSpPr/>
          <p:nvPr/>
        </p:nvCxnSpPr>
        <p:spPr>
          <a:xfrm>
            <a:off x="8827008" y="2834640"/>
            <a:ext cx="329100" cy="0"/>
          </a:xfrm>
          <a:prstGeom prst="straightConnector1">
            <a:avLst/>
          </a:prstGeom>
          <a:noFill/>
          <a:ln cap="flat" cmpd="sng" w="25400">
            <a:solidFill>
              <a:srgbClr val="5F6B76"/>
            </a:solidFill>
            <a:prstDash val="solid"/>
            <a:round/>
            <a:headEnd len="med" w="med" type="none"/>
            <a:tailEnd len="med" w="med" type="triangle"/>
          </a:ln>
        </p:spPr>
      </p:cxnSp>
      <p:sp>
        <p:nvSpPr>
          <p:cNvPr id="77" name="Google Shape;77;h4f3ca251365416fc_0_70"/>
          <p:cNvSpPr/>
          <p:nvPr/>
        </p:nvSpPr>
        <p:spPr>
          <a:xfrm>
            <a:off x="9204960" y="2011680"/>
            <a:ext cx="2438400" cy="1646100"/>
          </a:xfrm>
          <a:prstGeom prst="roundRect">
            <a:avLst>
              <a:gd fmla="val 16667" name="adj"/>
            </a:avLst>
          </a:prstGeom>
          <a:solidFill>
            <a:srgbClr val="FFFFFF"/>
          </a:solidFill>
          <a:ln cap="flat" cmpd="sng" w="16925">
            <a:solidFill>
              <a:srgbClr val="D5DAD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lnSpc>
                <a:spcPct val="100000"/>
              </a:lnSpc>
              <a:spcBef>
                <a:spcPts val="0"/>
              </a:spcBef>
              <a:spcAft>
                <a:spcPts val="0"/>
              </a:spcAft>
              <a:buNone/>
            </a:pPr>
            <a:r>
              <a:rPr b="1" lang="en-US" sz="1500">
                <a:solidFill>
                  <a:srgbClr val="5F6B76"/>
                </a:solidFill>
                <a:latin typeface="Georgia"/>
                <a:ea typeface="Georgia"/>
                <a:cs typeface="Georgia"/>
                <a:sym typeface="Georgia"/>
              </a:rPr>
              <a:t>4  STUDENT</a:t>
            </a:r>
            <a:endParaRPr b="1" sz="1500">
              <a:solidFill>
                <a:srgbClr val="5F6B76"/>
              </a:solidFill>
              <a:latin typeface="Georgia"/>
              <a:ea typeface="Georgia"/>
              <a:cs typeface="Georgia"/>
              <a:sym typeface="Georgia"/>
            </a:endParaRPr>
          </a:p>
          <a:p>
            <a:pPr indent="0" lvl="0" marL="0" rtl="0" algn="l">
              <a:lnSpc>
                <a:spcPct val="100000"/>
              </a:lnSpc>
              <a:spcBef>
                <a:spcPts val="400"/>
              </a:spcBef>
              <a:spcAft>
                <a:spcPts val="0"/>
              </a:spcAft>
              <a:buNone/>
            </a:pPr>
            <a:r>
              <a:rPr b="1" lang="en-US" sz="1900">
                <a:solidFill>
                  <a:srgbClr val="1B1F23"/>
                </a:solidFill>
                <a:latin typeface="Georgia"/>
                <a:ea typeface="Georgia"/>
                <a:cs typeface="Georgia"/>
                <a:sym typeface="Georgia"/>
              </a:rPr>
              <a:t>Do it, ask questions</a:t>
            </a:r>
            <a:endParaRPr b="1" sz="1900">
              <a:solidFill>
                <a:srgbClr val="1B1F23"/>
              </a:solidFill>
              <a:latin typeface="Georgia"/>
              <a:ea typeface="Georgia"/>
              <a:cs typeface="Georgia"/>
              <a:sym typeface="Georgia"/>
            </a:endParaRPr>
          </a:p>
          <a:p>
            <a:pPr indent="0" lvl="0" marL="0" rtl="0" algn="l">
              <a:lnSpc>
                <a:spcPct val="100000"/>
              </a:lnSpc>
              <a:spcBef>
                <a:spcPts val="400"/>
              </a:spcBef>
              <a:spcAft>
                <a:spcPts val="0"/>
              </a:spcAft>
              <a:buNone/>
            </a:pPr>
            <a:r>
              <a:rPr lang="en-US" sz="1500">
                <a:solidFill>
                  <a:srgbClr val="5F6B76"/>
                </a:solidFill>
                <a:latin typeface="Georgia"/>
                <a:ea typeface="Georgia"/>
                <a:cs typeface="Georgia"/>
                <a:sym typeface="Georgia"/>
              </a:rPr>
              <a:t>Importance 4</a:t>
            </a:r>
            <a:endParaRPr sz="1500">
              <a:solidFill>
                <a:srgbClr val="5F6B76"/>
              </a:solidFill>
              <a:latin typeface="Georgia"/>
              <a:ea typeface="Georgia"/>
              <a:cs typeface="Georgia"/>
              <a:sym typeface="Georgia"/>
            </a:endParaRPr>
          </a:p>
          <a:p>
            <a:pPr indent="0" lvl="0" marL="0" rtl="0" algn="l">
              <a:lnSpc>
                <a:spcPct val="100000"/>
              </a:lnSpc>
              <a:spcBef>
                <a:spcPts val="400"/>
              </a:spcBef>
              <a:spcAft>
                <a:spcPts val="400"/>
              </a:spcAft>
              <a:buNone/>
            </a:pPr>
            <a:r>
              <a:rPr lang="en-US" sz="1500">
                <a:solidFill>
                  <a:srgbClr val="5F6B76"/>
                </a:solidFill>
                <a:latin typeface="Georgia"/>
                <a:ea typeface="Georgia"/>
                <a:cs typeface="Georgia"/>
                <a:sym typeface="Georgia"/>
              </a:rPr>
              <a:t>Satisfaction 3</a:t>
            </a:r>
            <a:endParaRPr sz="1500">
              <a:solidFill>
                <a:srgbClr val="5F6B76"/>
              </a:solidFill>
              <a:latin typeface="Georgia"/>
              <a:ea typeface="Georgia"/>
              <a:cs typeface="Georgia"/>
              <a:sym typeface="Georgia"/>
            </a:endParaRPr>
          </a:p>
        </p:txBody>
      </p:sp>
      <p:sp>
        <p:nvSpPr>
          <p:cNvPr id="78" name="Google Shape;78;h4f3ca251365416fc_0_70"/>
          <p:cNvSpPr/>
          <p:nvPr/>
        </p:nvSpPr>
        <p:spPr>
          <a:xfrm>
            <a:off x="609600" y="4145280"/>
            <a:ext cx="2438400" cy="1646100"/>
          </a:xfrm>
          <a:prstGeom prst="roundRect">
            <a:avLst>
              <a:gd fmla="val 16667" name="adj"/>
            </a:avLst>
          </a:prstGeom>
          <a:solidFill>
            <a:srgbClr val="FFFFFF"/>
          </a:solidFill>
          <a:ln cap="flat" cmpd="sng" w="16925">
            <a:solidFill>
              <a:srgbClr val="D5DAD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lnSpc>
                <a:spcPct val="100000"/>
              </a:lnSpc>
              <a:spcBef>
                <a:spcPts val="0"/>
              </a:spcBef>
              <a:spcAft>
                <a:spcPts val="0"/>
              </a:spcAft>
              <a:buNone/>
            </a:pPr>
            <a:r>
              <a:rPr b="1" lang="en-US" sz="1500">
                <a:solidFill>
                  <a:srgbClr val="5F6B76"/>
                </a:solidFill>
                <a:latin typeface="Georgia"/>
                <a:ea typeface="Georgia"/>
                <a:cs typeface="Georgia"/>
                <a:sym typeface="Georgia"/>
              </a:rPr>
              <a:t>5  STUDENT</a:t>
            </a:r>
            <a:endParaRPr b="1" sz="1500">
              <a:solidFill>
                <a:srgbClr val="5F6B76"/>
              </a:solidFill>
              <a:latin typeface="Georgia"/>
              <a:ea typeface="Georgia"/>
              <a:cs typeface="Georgia"/>
              <a:sym typeface="Georgia"/>
            </a:endParaRPr>
          </a:p>
          <a:p>
            <a:pPr indent="0" lvl="0" marL="0" rtl="0" algn="l">
              <a:lnSpc>
                <a:spcPct val="100000"/>
              </a:lnSpc>
              <a:spcBef>
                <a:spcPts val="400"/>
              </a:spcBef>
              <a:spcAft>
                <a:spcPts val="0"/>
              </a:spcAft>
              <a:buNone/>
            </a:pPr>
            <a:r>
              <a:rPr b="1" lang="en-US" sz="1900">
                <a:solidFill>
                  <a:srgbClr val="1B1F23"/>
                </a:solidFill>
                <a:latin typeface="Georgia"/>
                <a:ea typeface="Georgia"/>
                <a:cs typeface="Georgia"/>
                <a:sym typeface="Georgia"/>
              </a:rPr>
              <a:t>Turn it in</a:t>
            </a:r>
            <a:endParaRPr b="1" sz="1900">
              <a:solidFill>
                <a:srgbClr val="1B1F23"/>
              </a:solidFill>
              <a:latin typeface="Georgia"/>
              <a:ea typeface="Georgia"/>
              <a:cs typeface="Georgia"/>
              <a:sym typeface="Georgia"/>
            </a:endParaRPr>
          </a:p>
          <a:p>
            <a:pPr indent="0" lvl="0" marL="0" rtl="0" algn="l">
              <a:lnSpc>
                <a:spcPct val="100000"/>
              </a:lnSpc>
              <a:spcBef>
                <a:spcPts val="400"/>
              </a:spcBef>
              <a:spcAft>
                <a:spcPts val="0"/>
              </a:spcAft>
              <a:buNone/>
            </a:pPr>
            <a:r>
              <a:rPr lang="en-US" sz="1500">
                <a:solidFill>
                  <a:srgbClr val="5F6B76"/>
                </a:solidFill>
                <a:latin typeface="Georgia"/>
                <a:ea typeface="Georgia"/>
                <a:cs typeface="Georgia"/>
                <a:sym typeface="Georgia"/>
              </a:rPr>
              <a:t>Importance 3</a:t>
            </a:r>
            <a:endParaRPr sz="1500">
              <a:solidFill>
                <a:srgbClr val="5F6B76"/>
              </a:solidFill>
              <a:latin typeface="Georgia"/>
              <a:ea typeface="Georgia"/>
              <a:cs typeface="Georgia"/>
              <a:sym typeface="Georgia"/>
            </a:endParaRPr>
          </a:p>
          <a:p>
            <a:pPr indent="0" lvl="0" marL="0" rtl="0" algn="l">
              <a:lnSpc>
                <a:spcPct val="100000"/>
              </a:lnSpc>
              <a:spcBef>
                <a:spcPts val="400"/>
              </a:spcBef>
              <a:spcAft>
                <a:spcPts val="400"/>
              </a:spcAft>
              <a:buNone/>
            </a:pPr>
            <a:r>
              <a:rPr lang="en-US" sz="1500">
                <a:solidFill>
                  <a:srgbClr val="5F6B76"/>
                </a:solidFill>
                <a:latin typeface="Georgia"/>
                <a:ea typeface="Georgia"/>
                <a:cs typeface="Georgia"/>
                <a:sym typeface="Georgia"/>
              </a:rPr>
              <a:t>Satisfaction 4</a:t>
            </a:r>
            <a:endParaRPr sz="1500">
              <a:solidFill>
                <a:srgbClr val="5F6B76"/>
              </a:solidFill>
              <a:latin typeface="Georgia"/>
              <a:ea typeface="Georgia"/>
              <a:cs typeface="Georgia"/>
              <a:sym typeface="Georgia"/>
            </a:endParaRPr>
          </a:p>
        </p:txBody>
      </p:sp>
      <p:cxnSp>
        <p:nvCxnSpPr>
          <p:cNvPr id="79" name="Google Shape;79;h4f3ca251365416fc_0_70"/>
          <p:cNvCxnSpPr/>
          <p:nvPr/>
        </p:nvCxnSpPr>
        <p:spPr>
          <a:xfrm>
            <a:off x="3096768" y="4968240"/>
            <a:ext cx="329100" cy="0"/>
          </a:xfrm>
          <a:prstGeom prst="straightConnector1">
            <a:avLst/>
          </a:prstGeom>
          <a:noFill/>
          <a:ln cap="flat" cmpd="sng" w="25400">
            <a:solidFill>
              <a:srgbClr val="5F6B76"/>
            </a:solidFill>
            <a:prstDash val="solid"/>
            <a:round/>
            <a:headEnd len="med" w="med" type="none"/>
            <a:tailEnd len="med" w="med" type="triangle"/>
          </a:ln>
        </p:spPr>
      </p:cxnSp>
      <p:sp>
        <p:nvSpPr>
          <p:cNvPr id="80" name="Google Shape;80;h4f3ca251365416fc_0_70"/>
          <p:cNvSpPr/>
          <p:nvPr/>
        </p:nvSpPr>
        <p:spPr>
          <a:xfrm>
            <a:off x="3474720" y="4145280"/>
            <a:ext cx="2438400" cy="1646100"/>
          </a:xfrm>
          <a:prstGeom prst="roundRect">
            <a:avLst>
              <a:gd fmla="val 16667" name="adj"/>
            </a:avLst>
          </a:prstGeom>
          <a:solidFill>
            <a:srgbClr val="FFFFFF"/>
          </a:solidFill>
          <a:ln cap="flat" cmpd="sng" w="25400">
            <a:solidFill>
              <a:srgbClr val="D5DAD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lnSpc>
                <a:spcPct val="100000"/>
              </a:lnSpc>
              <a:spcBef>
                <a:spcPts val="0"/>
              </a:spcBef>
              <a:spcAft>
                <a:spcPts val="0"/>
              </a:spcAft>
              <a:buNone/>
            </a:pPr>
            <a:r>
              <a:rPr b="1" lang="en-US" sz="1500">
                <a:solidFill>
                  <a:srgbClr val="5F6B76"/>
                </a:solidFill>
                <a:latin typeface="Georgia"/>
                <a:ea typeface="Georgia"/>
                <a:cs typeface="Georgia"/>
                <a:sym typeface="Georgia"/>
              </a:rPr>
              <a:t>6  INSTRUCTOR</a:t>
            </a:r>
            <a:endParaRPr b="1" sz="1500">
              <a:solidFill>
                <a:srgbClr val="5F6B76"/>
              </a:solidFill>
              <a:latin typeface="Georgia"/>
              <a:ea typeface="Georgia"/>
              <a:cs typeface="Georgia"/>
              <a:sym typeface="Georgia"/>
            </a:endParaRPr>
          </a:p>
          <a:p>
            <a:pPr indent="0" lvl="0" marL="0" rtl="0" algn="l">
              <a:lnSpc>
                <a:spcPct val="100000"/>
              </a:lnSpc>
              <a:spcBef>
                <a:spcPts val="400"/>
              </a:spcBef>
              <a:spcAft>
                <a:spcPts val="0"/>
              </a:spcAft>
              <a:buNone/>
            </a:pPr>
            <a:r>
              <a:rPr b="1" lang="en-US" sz="1900">
                <a:solidFill>
                  <a:srgbClr val="1B1F23"/>
                </a:solidFill>
                <a:latin typeface="Georgia"/>
                <a:ea typeface="Georgia"/>
                <a:cs typeface="Georgia"/>
                <a:sym typeface="Georgia"/>
              </a:rPr>
              <a:t>Decide how to grade</a:t>
            </a:r>
            <a:endParaRPr b="1" sz="1900">
              <a:solidFill>
                <a:srgbClr val="1B1F23"/>
              </a:solidFill>
              <a:latin typeface="Georgia"/>
              <a:ea typeface="Georgia"/>
              <a:cs typeface="Georgia"/>
              <a:sym typeface="Georgia"/>
            </a:endParaRPr>
          </a:p>
          <a:p>
            <a:pPr indent="0" lvl="0" marL="0" rtl="0" algn="l">
              <a:lnSpc>
                <a:spcPct val="100000"/>
              </a:lnSpc>
              <a:spcBef>
                <a:spcPts val="400"/>
              </a:spcBef>
              <a:spcAft>
                <a:spcPts val="0"/>
              </a:spcAft>
              <a:buNone/>
            </a:pPr>
            <a:r>
              <a:rPr lang="en-US" sz="1500">
                <a:solidFill>
                  <a:srgbClr val="5F6B76"/>
                </a:solidFill>
                <a:latin typeface="Georgia"/>
                <a:ea typeface="Georgia"/>
                <a:cs typeface="Georgia"/>
                <a:sym typeface="Georgia"/>
              </a:rPr>
              <a:t>Importance 4</a:t>
            </a:r>
            <a:endParaRPr sz="1500">
              <a:solidFill>
                <a:srgbClr val="5F6B76"/>
              </a:solidFill>
              <a:latin typeface="Georgia"/>
              <a:ea typeface="Georgia"/>
              <a:cs typeface="Georgia"/>
              <a:sym typeface="Georgia"/>
            </a:endParaRPr>
          </a:p>
          <a:p>
            <a:pPr indent="0" lvl="0" marL="0" rtl="0" algn="l">
              <a:lnSpc>
                <a:spcPct val="100000"/>
              </a:lnSpc>
              <a:spcBef>
                <a:spcPts val="400"/>
              </a:spcBef>
              <a:spcAft>
                <a:spcPts val="400"/>
              </a:spcAft>
              <a:buNone/>
            </a:pPr>
            <a:r>
              <a:rPr lang="en-US" sz="1500">
                <a:solidFill>
                  <a:srgbClr val="5F6B76"/>
                </a:solidFill>
                <a:latin typeface="Georgia"/>
                <a:ea typeface="Georgia"/>
                <a:cs typeface="Georgia"/>
                <a:sym typeface="Georgia"/>
              </a:rPr>
              <a:t>Satisfaction 2</a:t>
            </a:r>
            <a:endParaRPr sz="1500">
              <a:solidFill>
                <a:srgbClr val="5F6B76"/>
              </a:solidFill>
              <a:latin typeface="Georgia"/>
              <a:ea typeface="Georgia"/>
              <a:cs typeface="Georgia"/>
              <a:sym typeface="Georgia"/>
            </a:endParaRPr>
          </a:p>
        </p:txBody>
      </p:sp>
      <p:cxnSp>
        <p:nvCxnSpPr>
          <p:cNvPr id="81" name="Google Shape;81;h4f3ca251365416fc_0_70"/>
          <p:cNvCxnSpPr/>
          <p:nvPr/>
        </p:nvCxnSpPr>
        <p:spPr>
          <a:xfrm>
            <a:off x="5961888" y="4968240"/>
            <a:ext cx="329100" cy="0"/>
          </a:xfrm>
          <a:prstGeom prst="straightConnector1">
            <a:avLst/>
          </a:prstGeom>
          <a:noFill/>
          <a:ln cap="flat" cmpd="sng" w="25400">
            <a:solidFill>
              <a:srgbClr val="5F6B76"/>
            </a:solidFill>
            <a:prstDash val="solid"/>
            <a:round/>
            <a:headEnd len="med" w="med" type="none"/>
            <a:tailEnd len="med" w="med" type="triangle"/>
          </a:ln>
        </p:spPr>
      </p:cxnSp>
      <p:sp>
        <p:nvSpPr>
          <p:cNvPr id="82" name="Google Shape;82;h4f3ca251365416fc_0_70"/>
          <p:cNvSpPr/>
          <p:nvPr/>
        </p:nvSpPr>
        <p:spPr>
          <a:xfrm>
            <a:off x="6339840" y="4145280"/>
            <a:ext cx="2438400" cy="1646100"/>
          </a:xfrm>
          <a:prstGeom prst="roundRect">
            <a:avLst>
              <a:gd fmla="val 16667" name="adj"/>
            </a:avLst>
          </a:prstGeom>
          <a:solidFill>
            <a:srgbClr val="FBEEDF"/>
          </a:solidFill>
          <a:ln cap="flat" cmpd="sng" w="25400">
            <a:solidFill>
              <a:srgbClr val="B45309"/>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lnSpc>
                <a:spcPct val="100000"/>
              </a:lnSpc>
              <a:spcBef>
                <a:spcPts val="0"/>
              </a:spcBef>
              <a:spcAft>
                <a:spcPts val="0"/>
              </a:spcAft>
              <a:buNone/>
            </a:pPr>
            <a:r>
              <a:rPr b="1" lang="en-US" sz="1500">
                <a:solidFill>
                  <a:srgbClr val="B45309"/>
                </a:solidFill>
                <a:latin typeface="Georgia"/>
                <a:ea typeface="Georgia"/>
                <a:cs typeface="Georgia"/>
                <a:sym typeface="Georgia"/>
              </a:rPr>
              <a:t>7  INSTRUCTOR</a:t>
            </a:r>
            <a:endParaRPr b="1" sz="1500">
              <a:solidFill>
                <a:srgbClr val="B45309"/>
              </a:solidFill>
              <a:latin typeface="Georgia"/>
              <a:ea typeface="Georgia"/>
              <a:cs typeface="Georgia"/>
              <a:sym typeface="Georgia"/>
            </a:endParaRPr>
          </a:p>
          <a:p>
            <a:pPr indent="0" lvl="0" marL="0" rtl="0" algn="l">
              <a:lnSpc>
                <a:spcPct val="100000"/>
              </a:lnSpc>
              <a:spcBef>
                <a:spcPts val="400"/>
              </a:spcBef>
              <a:spcAft>
                <a:spcPts val="0"/>
              </a:spcAft>
              <a:buNone/>
            </a:pPr>
            <a:r>
              <a:rPr b="1" lang="en-US" sz="1900">
                <a:solidFill>
                  <a:srgbClr val="1B1F23"/>
                </a:solidFill>
                <a:latin typeface="Georgia"/>
                <a:ea typeface="Georgia"/>
                <a:cs typeface="Georgia"/>
                <a:sym typeface="Georgia"/>
              </a:rPr>
              <a:t>Grade</a:t>
            </a:r>
            <a:endParaRPr b="1" sz="1900">
              <a:solidFill>
                <a:srgbClr val="1B1F23"/>
              </a:solidFill>
              <a:latin typeface="Georgia"/>
              <a:ea typeface="Georgia"/>
              <a:cs typeface="Georgia"/>
              <a:sym typeface="Georgia"/>
            </a:endParaRPr>
          </a:p>
          <a:p>
            <a:pPr indent="0" lvl="0" marL="0" rtl="0" algn="l">
              <a:lnSpc>
                <a:spcPct val="100000"/>
              </a:lnSpc>
              <a:spcBef>
                <a:spcPts val="400"/>
              </a:spcBef>
              <a:spcAft>
                <a:spcPts val="0"/>
              </a:spcAft>
              <a:buNone/>
            </a:pPr>
            <a:r>
              <a:rPr lang="en-US" sz="1500">
                <a:solidFill>
                  <a:srgbClr val="5F6B76"/>
                </a:solidFill>
                <a:latin typeface="Georgia"/>
                <a:ea typeface="Georgia"/>
                <a:cs typeface="Georgia"/>
                <a:sym typeface="Georgia"/>
              </a:rPr>
              <a:t>Importance 5</a:t>
            </a:r>
            <a:endParaRPr sz="1500">
              <a:solidFill>
                <a:srgbClr val="5F6B76"/>
              </a:solidFill>
              <a:latin typeface="Georgia"/>
              <a:ea typeface="Georgia"/>
              <a:cs typeface="Georgia"/>
              <a:sym typeface="Georgia"/>
            </a:endParaRPr>
          </a:p>
          <a:p>
            <a:pPr indent="0" lvl="0" marL="0" rtl="0" algn="l">
              <a:lnSpc>
                <a:spcPct val="100000"/>
              </a:lnSpc>
              <a:spcBef>
                <a:spcPts val="400"/>
              </a:spcBef>
              <a:spcAft>
                <a:spcPts val="400"/>
              </a:spcAft>
              <a:buNone/>
            </a:pPr>
            <a:r>
              <a:rPr lang="en-US" sz="1500">
                <a:solidFill>
                  <a:srgbClr val="5F6B76"/>
                </a:solidFill>
                <a:latin typeface="Georgia"/>
                <a:ea typeface="Georgia"/>
                <a:cs typeface="Georgia"/>
                <a:sym typeface="Georgia"/>
              </a:rPr>
              <a:t>Satisfaction 2</a:t>
            </a:r>
            <a:endParaRPr sz="1500">
              <a:solidFill>
                <a:srgbClr val="5F6B76"/>
              </a:solidFill>
              <a:latin typeface="Georgia"/>
              <a:ea typeface="Georgia"/>
              <a:cs typeface="Georgia"/>
              <a:sym typeface="Georgia"/>
            </a:endParaRPr>
          </a:p>
        </p:txBody>
      </p:sp>
      <p:cxnSp>
        <p:nvCxnSpPr>
          <p:cNvPr id="83" name="Google Shape;83;h4f3ca251365416fc_0_70"/>
          <p:cNvCxnSpPr/>
          <p:nvPr/>
        </p:nvCxnSpPr>
        <p:spPr>
          <a:xfrm>
            <a:off x="8827008" y="4968240"/>
            <a:ext cx="329100" cy="0"/>
          </a:xfrm>
          <a:prstGeom prst="straightConnector1">
            <a:avLst/>
          </a:prstGeom>
          <a:noFill/>
          <a:ln cap="flat" cmpd="sng" w="25400">
            <a:solidFill>
              <a:srgbClr val="5F6B76"/>
            </a:solidFill>
            <a:prstDash val="solid"/>
            <a:round/>
            <a:headEnd len="med" w="med" type="none"/>
            <a:tailEnd len="med" w="med" type="triangle"/>
          </a:ln>
        </p:spPr>
      </p:cxnSp>
      <p:sp>
        <p:nvSpPr>
          <p:cNvPr id="84" name="Google Shape;84;h4f3ca251365416fc_0_70"/>
          <p:cNvSpPr/>
          <p:nvPr/>
        </p:nvSpPr>
        <p:spPr>
          <a:xfrm>
            <a:off x="9204960" y="4145280"/>
            <a:ext cx="2438400" cy="1646100"/>
          </a:xfrm>
          <a:prstGeom prst="roundRect">
            <a:avLst>
              <a:gd fmla="val 16667" name="adj"/>
            </a:avLst>
          </a:prstGeom>
          <a:solidFill>
            <a:srgbClr val="FFFFFF"/>
          </a:solidFill>
          <a:ln cap="flat" cmpd="sng" w="16925">
            <a:solidFill>
              <a:srgbClr val="D5DAD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lnSpc>
                <a:spcPct val="100000"/>
              </a:lnSpc>
              <a:spcBef>
                <a:spcPts val="0"/>
              </a:spcBef>
              <a:spcAft>
                <a:spcPts val="0"/>
              </a:spcAft>
              <a:buNone/>
            </a:pPr>
            <a:r>
              <a:rPr b="1" lang="en-US" sz="1500">
                <a:solidFill>
                  <a:srgbClr val="5F6B76"/>
                </a:solidFill>
                <a:latin typeface="Georgia"/>
                <a:ea typeface="Georgia"/>
                <a:cs typeface="Georgia"/>
                <a:sym typeface="Georgia"/>
              </a:rPr>
              <a:t>8  BOTH</a:t>
            </a:r>
            <a:endParaRPr b="1" sz="1500">
              <a:solidFill>
                <a:srgbClr val="5F6B76"/>
              </a:solidFill>
              <a:latin typeface="Georgia"/>
              <a:ea typeface="Georgia"/>
              <a:cs typeface="Georgia"/>
              <a:sym typeface="Georgia"/>
            </a:endParaRPr>
          </a:p>
          <a:p>
            <a:pPr indent="0" lvl="0" marL="0" rtl="0" algn="l">
              <a:lnSpc>
                <a:spcPct val="100000"/>
              </a:lnSpc>
              <a:spcBef>
                <a:spcPts val="400"/>
              </a:spcBef>
              <a:spcAft>
                <a:spcPts val="0"/>
              </a:spcAft>
              <a:buNone/>
            </a:pPr>
            <a:r>
              <a:rPr b="1" lang="en-US" sz="1900">
                <a:solidFill>
                  <a:srgbClr val="1B1F23"/>
                </a:solidFill>
                <a:latin typeface="Georgia"/>
                <a:ea typeface="Georgia"/>
                <a:cs typeface="Georgia"/>
                <a:sym typeface="Georgia"/>
              </a:rPr>
              <a:t>Handle regrade requests</a:t>
            </a:r>
            <a:endParaRPr b="1" sz="1900">
              <a:solidFill>
                <a:srgbClr val="1B1F23"/>
              </a:solidFill>
              <a:latin typeface="Georgia"/>
              <a:ea typeface="Georgia"/>
              <a:cs typeface="Georgia"/>
              <a:sym typeface="Georgia"/>
            </a:endParaRPr>
          </a:p>
          <a:p>
            <a:pPr indent="0" lvl="0" marL="0" rtl="0" algn="l">
              <a:lnSpc>
                <a:spcPct val="100000"/>
              </a:lnSpc>
              <a:spcBef>
                <a:spcPts val="400"/>
              </a:spcBef>
              <a:spcAft>
                <a:spcPts val="0"/>
              </a:spcAft>
              <a:buNone/>
            </a:pPr>
            <a:r>
              <a:rPr lang="en-US" sz="1500">
                <a:solidFill>
                  <a:srgbClr val="5F6B76"/>
                </a:solidFill>
                <a:latin typeface="Georgia"/>
                <a:ea typeface="Georgia"/>
                <a:cs typeface="Georgia"/>
                <a:sym typeface="Georgia"/>
              </a:rPr>
              <a:t>Importance 3</a:t>
            </a:r>
            <a:endParaRPr sz="1500">
              <a:solidFill>
                <a:srgbClr val="5F6B76"/>
              </a:solidFill>
              <a:latin typeface="Georgia"/>
              <a:ea typeface="Georgia"/>
              <a:cs typeface="Georgia"/>
              <a:sym typeface="Georgia"/>
            </a:endParaRPr>
          </a:p>
          <a:p>
            <a:pPr indent="0" lvl="0" marL="0" rtl="0" algn="l">
              <a:lnSpc>
                <a:spcPct val="100000"/>
              </a:lnSpc>
              <a:spcBef>
                <a:spcPts val="400"/>
              </a:spcBef>
              <a:spcAft>
                <a:spcPts val="400"/>
              </a:spcAft>
              <a:buNone/>
            </a:pPr>
            <a:r>
              <a:rPr lang="en-US" sz="1500">
                <a:solidFill>
                  <a:srgbClr val="5F6B76"/>
                </a:solidFill>
                <a:latin typeface="Georgia"/>
                <a:ea typeface="Georgia"/>
                <a:cs typeface="Georgia"/>
                <a:sym typeface="Georgia"/>
              </a:rPr>
              <a:t>Satisfaction 2</a:t>
            </a:r>
            <a:endParaRPr sz="1500">
              <a:solidFill>
                <a:srgbClr val="5F6B76"/>
              </a:solidFill>
              <a:latin typeface="Georgia"/>
              <a:ea typeface="Georgia"/>
              <a:cs typeface="Georgia"/>
              <a:sym typeface="Georgia"/>
            </a:endParaRPr>
          </a:p>
        </p:txBody>
      </p:sp>
      <p:cxnSp>
        <p:nvCxnSpPr>
          <p:cNvPr id="85" name="Google Shape;85;h4f3ca251365416fc_0_70"/>
          <p:cNvCxnSpPr/>
          <p:nvPr/>
        </p:nvCxnSpPr>
        <p:spPr>
          <a:xfrm>
            <a:off x="10424160" y="3694176"/>
            <a:ext cx="0" cy="207300"/>
          </a:xfrm>
          <a:prstGeom prst="straightConnector1">
            <a:avLst/>
          </a:prstGeom>
          <a:noFill/>
          <a:ln cap="flat" cmpd="sng" w="25400">
            <a:solidFill>
              <a:srgbClr val="5F6B76"/>
            </a:solidFill>
            <a:prstDash val="solid"/>
            <a:round/>
            <a:headEnd len="med" w="med" type="none"/>
            <a:tailEnd len="med" w="med" type="none"/>
          </a:ln>
        </p:spPr>
      </p:cxnSp>
      <p:cxnSp>
        <p:nvCxnSpPr>
          <p:cNvPr id="86" name="Google Shape;86;h4f3ca251365416fc_0_70"/>
          <p:cNvCxnSpPr/>
          <p:nvPr/>
        </p:nvCxnSpPr>
        <p:spPr>
          <a:xfrm>
            <a:off x="1828800" y="3901440"/>
            <a:ext cx="8595300" cy="0"/>
          </a:xfrm>
          <a:prstGeom prst="straightConnector1">
            <a:avLst/>
          </a:prstGeom>
          <a:noFill/>
          <a:ln cap="flat" cmpd="sng" w="25400">
            <a:solidFill>
              <a:srgbClr val="5F6B76"/>
            </a:solidFill>
            <a:prstDash val="solid"/>
            <a:round/>
            <a:headEnd len="med" w="med" type="none"/>
            <a:tailEnd len="med" w="med" type="none"/>
          </a:ln>
        </p:spPr>
      </p:cxnSp>
      <p:cxnSp>
        <p:nvCxnSpPr>
          <p:cNvPr id="87" name="Google Shape;87;h4f3ca251365416fc_0_70"/>
          <p:cNvCxnSpPr/>
          <p:nvPr/>
        </p:nvCxnSpPr>
        <p:spPr>
          <a:xfrm>
            <a:off x="1828800" y="3901440"/>
            <a:ext cx="0" cy="219600"/>
          </a:xfrm>
          <a:prstGeom prst="straightConnector1">
            <a:avLst/>
          </a:prstGeom>
          <a:noFill/>
          <a:ln cap="flat" cmpd="sng" w="25400">
            <a:solidFill>
              <a:srgbClr val="5F6B76"/>
            </a:solidFill>
            <a:prstDash val="solid"/>
            <a:round/>
            <a:headEnd len="med" w="med" type="none"/>
            <a:tailEnd len="med" w="med" type="triangle"/>
          </a:ln>
        </p:spPr>
      </p:cxnSp>
      <p:sp>
        <p:nvSpPr>
          <p:cNvPr id="88" name="Google Shape;88;h4f3ca251365416fc_0_70"/>
          <p:cNvSpPr txBox="1"/>
          <p:nvPr/>
        </p:nvSpPr>
        <p:spPr>
          <a:xfrm>
            <a:off x="609600" y="6217920"/>
            <a:ext cx="10972800" cy="4269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None/>
            </a:pPr>
            <a:r>
              <a:rPr b="1" lang="en-US" sz="1300">
                <a:solidFill>
                  <a:srgbClr val="B45309"/>
                </a:solidFill>
                <a:latin typeface="Georgia"/>
                <a:ea typeface="Georgia"/>
                <a:cs typeface="Georgia"/>
                <a:sym typeface="Georgia"/>
              </a:rPr>
              <a:t>Highlighted: </a:t>
            </a:r>
            <a:r>
              <a:rPr lang="en-US" sz="1300">
                <a:solidFill>
                  <a:srgbClr val="5F6B76"/>
                </a:solidFill>
                <a:latin typeface="Georgia"/>
                <a:ea typeface="Georgia"/>
                <a:cs typeface="Georgia"/>
                <a:sym typeface="Georgia"/>
              </a:rPr>
              <a:t>high importance, low satisfaction. Ratings are 1 to 5, our team's estimates.</a:t>
            </a:r>
            <a:endParaRPr sz="1300">
              <a:solidFill>
                <a:srgbClr val="5F6B76"/>
              </a:solidFill>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8DC"/>
        </a:solidFill>
      </p:bgPr>
    </p:bg>
    <p:spTree>
      <p:nvGrpSpPr>
        <p:cNvPr id="93" name="Shape 93"/>
        <p:cNvGrpSpPr/>
        <p:nvPr/>
      </p:nvGrpSpPr>
      <p:grpSpPr>
        <a:xfrm>
          <a:off x="0" y="0"/>
          <a:ext cx="0" cy="0"/>
          <a:chOff x="0" y="0"/>
          <a:chExt cx="0" cy="0"/>
        </a:xfrm>
      </p:grpSpPr>
      <p:sp>
        <p:nvSpPr>
          <p:cNvPr id="94" name="Google Shape;94;p4"/>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84E1C"/>
              </a:buClr>
              <a:buSzPts val="1200"/>
              <a:buFont typeface="Arial"/>
              <a:buNone/>
            </a:pPr>
            <a:r>
              <a:rPr b="1" i="0" lang="en-US" sz="1200" u="none" cap="none" strike="noStrike">
                <a:solidFill>
                  <a:srgbClr val="A84E1C"/>
                </a:solidFill>
                <a:latin typeface="Arial"/>
                <a:ea typeface="Arial"/>
                <a:cs typeface="Arial"/>
                <a:sym typeface="Arial"/>
              </a:rPr>
              <a:t>OPPORTUNITIES</a:t>
            </a:r>
            <a:endParaRPr b="0" i="0" sz="1200" u="none" cap="none" strike="noStrike">
              <a:solidFill>
                <a:schemeClr val="dk1"/>
              </a:solidFill>
              <a:latin typeface="Arial"/>
              <a:ea typeface="Arial"/>
              <a:cs typeface="Arial"/>
              <a:sym typeface="Arial"/>
            </a:endParaRPr>
          </a:p>
        </p:txBody>
      </p:sp>
      <p:sp>
        <p:nvSpPr>
          <p:cNvPr id="95" name="Google Shape;95;p4"/>
          <p:cNvSpPr txBox="1"/>
          <p:nvPr>
            <p:ph type="title"/>
          </p:nvPr>
        </p:nvSpPr>
        <p:spPr>
          <a:xfrm>
            <a:off x="812800" y="110232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F2A44"/>
              </a:buClr>
              <a:buSzPts val="3200"/>
              <a:buFont typeface="Georgia"/>
              <a:buNone/>
            </a:pPr>
            <a:r>
              <a:rPr b="1" i="0" lang="en-US" sz="3200">
                <a:solidFill>
                  <a:srgbClr val="1F2A44"/>
                </a:solidFill>
                <a:latin typeface="Georgia"/>
                <a:ea typeface="Georgia"/>
                <a:cs typeface="Georgia"/>
                <a:sym typeface="Georgia"/>
              </a:rPr>
              <a:t>Three ways to serve teachers better</a:t>
            </a:r>
            <a:endParaRPr sz="3200"/>
          </a:p>
        </p:txBody>
      </p:sp>
      <p:sp>
        <p:nvSpPr>
          <p:cNvPr id="96" name="Google Shape;96;p4"/>
          <p:cNvSpPr/>
          <p:nvPr/>
        </p:nvSpPr>
        <p:spPr>
          <a:xfrm>
            <a:off x="812800" y="1803350"/>
            <a:ext cx="3386634" cy="4241850"/>
          </a:xfrm>
          <a:prstGeom prst="roundRect">
            <a:avLst>
              <a:gd fmla="val 3750" name="adj"/>
            </a:avLst>
          </a:prstGeom>
          <a:solidFill>
            <a:srgbClr val="FFFD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7" name="Google Shape;97;p4"/>
          <p:cNvSpPr/>
          <p:nvPr/>
        </p:nvSpPr>
        <p:spPr>
          <a:xfrm>
            <a:off x="812800" y="1803350"/>
            <a:ext cx="3386634" cy="4241850"/>
          </a:xfrm>
          <a:custGeom>
            <a:rect b="b" l="l" r="r" t="t"/>
            <a:pathLst>
              <a:path extrusionOk="0" h="4241850" w="3386634">
                <a:moveTo>
                  <a:pt x="0" y="127000"/>
                </a:moveTo>
                <a:lnTo>
                  <a:pt x="0" y="127000"/>
                </a:lnTo>
                <a:cubicBezTo>
                  <a:pt x="0" y="56860"/>
                  <a:pt x="56860" y="0"/>
                  <a:pt x="127000" y="0"/>
                </a:cubicBezTo>
                <a:lnTo>
                  <a:pt x="3259634" y="0"/>
                </a:lnTo>
                <a:cubicBezTo>
                  <a:pt x="3293316" y="0"/>
                  <a:pt x="3325619" y="13380"/>
                  <a:pt x="3349437" y="37197"/>
                </a:cubicBezTo>
                <a:cubicBezTo>
                  <a:pt x="3373254" y="61015"/>
                  <a:pt x="3386634" y="93318"/>
                  <a:pt x="3386634" y="127000"/>
                </a:cubicBezTo>
                <a:lnTo>
                  <a:pt x="3386634" y="127000"/>
                </a:lnTo>
                <a:cubicBezTo>
                  <a:pt x="3386634" y="84916"/>
                  <a:pt x="3329774" y="50800"/>
                  <a:pt x="3259634" y="50800"/>
                </a:cubicBezTo>
                <a:lnTo>
                  <a:pt x="127000" y="50800"/>
                </a:lnTo>
                <a:cubicBezTo>
                  <a:pt x="56860" y="50800"/>
                  <a:pt x="0" y="84916"/>
                  <a:pt x="0" y="127000"/>
                </a:cubicBezTo>
                <a:close/>
              </a:path>
            </a:pathLst>
          </a:custGeom>
          <a:solidFill>
            <a:srgbClr val="E8945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8" name="Google Shape;98;p4"/>
          <p:cNvSpPr/>
          <p:nvPr/>
        </p:nvSpPr>
        <p:spPr>
          <a:xfrm>
            <a:off x="1066800" y="2082750"/>
            <a:ext cx="2964993"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84E1C"/>
              </a:buClr>
              <a:buSzPts val="1200"/>
              <a:buFont typeface="Arial"/>
              <a:buNone/>
            </a:pPr>
            <a:r>
              <a:rPr b="1" i="0" lang="en-US" sz="1200" u="none" cap="none" strike="noStrike">
                <a:solidFill>
                  <a:srgbClr val="A84E1C"/>
                </a:solidFill>
                <a:latin typeface="Arial"/>
                <a:ea typeface="Arial"/>
                <a:cs typeface="Arial"/>
                <a:sym typeface="Arial"/>
              </a:rPr>
              <a:t>STEP 3 · UNDERSTAND</a:t>
            </a:r>
            <a:endParaRPr b="0" i="0" sz="1200" u="none" cap="none" strike="noStrike">
              <a:solidFill>
                <a:schemeClr val="dk1"/>
              </a:solidFill>
              <a:latin typeface="Arial"/>
              <a:ea typeface="Arial"/>
              <a:cs typeface="Arial"/>
              <a:sym typeface="Arial"/>
            </a:endParaRPr>
          </a:p>
        </p:txBody>
      </p:sp>
      <p:sp>
        <p:nvSpPr>
          <p:cNvPr id="99" name="Google Shape;99;p4"/>
          <p:cNvSpPr/>
          <p:nvPr/>
        </p:nvSpPr>
        <p:spPr>
          <a:xfrm>
            <a:off x="1066800" y="2397671"/>
            <a:ext cx="2964993" cy="53340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1F2A44"/>
              </a:buClr>
              <a:buSzPts val="1600"/>
              <a:buFont typeface="Georgia"/>
              <a:buNone/>
            </a:pPr>
            <a:r>
              <a:rPr b="1" i="0" lang="en-US" sz="1600" u="none" cap="none" strike="noStrike">
                <a:solidFill>
                  <a:srgbClr val="1F2A44"/>
                </a:solidFill>
                <a:latin typeface="Georgia"/>
                <a:ea typeface="Georgia"/>
                <a:cs typeface="Georgia"/>
                <a:sym typeface="Georgia"/>
              </a:rPr>
              <a:t>Make expectations clear the first time</a:t>
            </a:r>
            <a:endParaRPr b="0" i="0" sz="1600" u="none" cap="none" strike="noStrike">
              <a:solidFill>
                <a:schemeClr val="dk1"/>
              </a:solidFill>
              <a:latin typeface="Arial"/>
              <a:ea typeface="Arial"/>
              <a:cs typeface="Arial"/>
              <a:sym typeface="Arial"/>
            </a:endParaRPr>
          </a:p>
        </p:txBody>
      </p:sp>
      <p:sp>
        <p:nvSpPr>
          <p:cNvPr id="100" name="Google Shape;100;p4"/>
          <p:cNvSpPr/>
          <p:nvPr/>
        </p:nvSpPr>
        <p:spPr>
          <a:xfrm>
            <a:off x="1066800" y="3007271"/>
            <a:ext cx="2964993" cy="43686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A6478"/>
              </a:buClr>
              <a:buSzPts val="1200"/>
              <a:buFont typeface="Arial"/>
              <a:buNone/>
            </a:pPr>
            <a:r>
              <a:rPr b="0" i="1" lang="en-US" sz="1200" u="none" cap="none" strike="noStrike">
                <a:solidFill>
                  <a:srgbClr val="5A6478"/>
                </a:solidFill>
                <a:latin typeface="Arial"/>
                <a:ea typeface="Arial"/>
                <a:cs typeface="Arial"/>
                <a:sym typeface="Arial"/>
              </a:rPr>
              <a:t>Today: the same clarifying questions, over and over.</a:t>
            </a:r>
            <a:endParaRPr b="0" i="0" sz="1200" u="none" cap="none" strike="noStrike">
              <a:solidFill>
                <a:schemeClr val="dk1"/>
              </a:solidFill>
              <a:latin typeface="Arial"/>
              <a:ea typeface="Arial"/>
              <a:cs typeface="Arial"/>
              <a:sym typeface="Arial"/>
            </a:endParaRPr>
          </a:p>
        </p:txBody>
      </p:sp>
      <p:sp>
        <p:nvSpPr>
          <p:cNvPr id="101" name="Google Shape;101;p4"/>
          <p:cNvSpPr/>
          <p:nvPr/>
        </p:nvSpPr>
        <p:spPr>
          <a:xfrm>
            <a:off x="1066800" y="3520331"/>
            <a:ext cx="2964993" cy="8786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44"/>
              </a:buClr>
              <a:buSzPts val="1200"/>
              <a:buFont typeface="Arial"/>
              <a:buNone/>
            </a:pPr>
            <a:r>
              <a:rPr b="1" i="0" lang="en-US" sz="1200" u="none" cap="none" strike="noStrike">
                <a:solidFill>
                  <a:srgbClr val="1F2A44"/>
                </a:solidFill>
                <a:latin typeface="Arial"/>
                <a:ea typeface="Arial"/>
                <a:cs typeface="Arial"/>
                <a:sym typeface="Arial"/>
              </a:rPr>
              <a:t>The opportunity:</a:t>
            </a:r>
            <a:r>
              <a:rPr b="0" i="0" lang="en-US" sz="1200" u="none" cap="none" strike="noStrike">
                <a:solidFill>
                  <a:srgbClr val="1F2A44"/>
                </a:solidFill>
                <a:latin typeface="Arial"/>
                <a:ea typeface="Arial"/>
                <a:cs typeface="Arial"/>
                <a:sym typeface="Arial"/>
              </a:rPr>
              <a:t> Help students confirm they understand an assignment before they start, so teachers spend less time re-explaining.</a:t>
            </a:r>
            <a:endParaRPr b="0" i="0" sz="1200" u="none" cap="none" strike="noStrike">
              <a:solidFill>
                <a:schemeClr val="dk1"/>
              </a:solidFill>
              <a:latin typeface="Arial"/>
              <a:ea typeface="Arial"/>
              <a:cs typeface="Arial"/>
              <a:sym typeface="Arial"/>
            </a:endParaRPr>
          </a:p>
        </p:txBody>
      </p:sp>
      <p:sp>
        <p:nvSpPr>
          <p:cNvPr id="102" name="Google Shape;102;p4"/>
          <p:cNvSpPr/>
          <p:nvPr/>
        </p:nvSpPr>
        <p:spPr>
          <a:xfrm>
            <a:off x="1178306" y="4475212"/>
            <a:ext cx="2845867" cy="665361"/>
          </a:xfrm>
          <a:prstGeom prst="rect">
            <a:avLst/>
          </a:prstGeom>
          <a:noFill/>
          <a:ln>
            <a:noFill/>
          </a:ln>
        </p:spPr>
        <p:txBody>
          <a:bodyPr anchorCtr="0" anchor="t" bIns="0" lIns="0" spcFirstLastPara="1" rIns="0" wrap="square" tIns="0">
            <a:normAutofit/>
          </a:bodyPr>
          <a:lstStyle/>
          <a:p>
            <a:pPr indent="-142494" lvl="0" marL="142494" marR="0" rtl="0" algn="l">
              <a:lnSpc>
                <a:spcPct val="140000"/>
              </a:lnSpc>
              <a:spcBef>
                <a:spcPts val="0"/>
              </a:spcBef>
              <a:spcAft>
                <a:spcPts val="0"/>
              </a:spcAft>
              <a:buClr>
                <a:srgbClr val="4A5568"/>
              </a:buClr>
              <a:buSzPts val="1200"/>
              <a:buFont typeface="Arial"/>
              <a:buChar char="•"/>
            </a:pPr>
            <a:r>
              <a:rPr b="0" i="0" lang="en-US" sz="1200" u="none" cap="none" strike="noStrike">
                <a:solidFill>
                  <a:srgbClr val="4A5568"/>
                </a:solidFill>
                <a:latin typeface="Arial"/>
                <a:ea typeface="Arial"/>
                <a:cs typeface="Arial"/>
                <a:sym typeface="Arial"/>
              </a:rPr>
              <a:t>Quick understanding check</a:t>
            </a:r>
            <a:endParaRPr b="0" i="0" sz="1200" u="none" cap="none" strike="noStrike">
              <a:solidFill>
                <a:schemeClr val="dk1"/>
              </a:solidFill>
              <a:latin typeface="Arial"/>
              <a:ea typeface="Arial"/>
              <a:cs typeface="Arial"/>
              <a:sym typeface="Arial"/>
            </a:endParaRPr>
          </a:p>
          <a:p>
            <a:pPr indent="-142494" lvl="0" marL="142494" marR="0" rtl="0" algn="l">
              <a:lnSpc>
                <a:spcPct val="140000"/>
              </a:lnSpc>
              <a:spcBef>
                <a:spcPts val="0"/>
              </a:spcBef>
              <a:spcAft>
                <a:spcPts val="0"/>
              </a:spcAft>
              <a:buClr>
                <a:srgbClr val="4A5568"/>
              </a:buClr>
              <a:buSzPts val="1200"/>
              <a:buFont typeface="Arial"/>
              <a:buChar char="•"/>
            </a:pPr>
            <a:r>
              <a:rPr b="0" i="0" lang="en-US" sz="1200" u="none" cap="none" strike="noStrike">
                <a:solidFill>
                  <a:srgbClr val="4A5568"/>
                </a:solidFill>
                <a:latin typeface="Arial"/>
                <a:ea typeface="Arial"/>
                <a:cs typeface="Arial"/>
                <a:sym typeface="Arial"/>
              </a:rPr>
              <a:t>Worked example and rubric up front</a:t>
            </a:r>
            <a:endParaRPr b="0" i="0" sz="1200" u="none" cap="none" strike="noStrike">
              <a:solidFill>
                <a:schemeClr val="dk1"/>
              </a:solidFill>
              <a:latin typeface="Arial"/>
              <a:ea typeface="Arial"/>
              <a:cs typeface="Arial"/>
              <a:sym typeface="Arial"/>
            </a:endParaRPr>
          </a:p>
          <a:p>
            <a:pPr indent="-142494" lvl="0" marL="142494" marR="0" rtl="0" algn="l">
              <a:lnSpc>
                <a:spcPct val="140000"/>
              </a:lnSpc>
              <a:spcBef>
                <a:spcPts val="0"/>
              </a:spcBef>
              <a:spcAft>
                <a:spcPts val="0"/>
              </a:spcAft>
              <a:buClr>
                <a:srgbClr val="4A5568"/>
              </a:buClr>
              <a:buSzPts val="1200"/>
              <a:buFont typeface="Arial"/>
              <a:buChar char="•"/>
            </a:pPr>
            <a:r>
              <a:rPr b="0" i="0" lang="en-US" sz="1200" u="none" cap="none" strike="noStrike">
                <a:solidFill>
                  <a:srgbClr val="4A5568"/>
                </a:solidFill>
                <a:latin typeface="Arial"/>
                <a:ea typeface="Arial"/>
                <a:cs typeface="Arial"/>
                <a:sym typeface="Arial"/>
              </a:rPr>
              <a:t>Early alert when many are confused</a:t>
            </a:r>
            <a:endParaRPr b="0" i="0" sz="1200" u="none" cap="none" strike="noStrike">
              <a:solidFill>
                <a:schemeClr val="dk1"/>
              </a:solidFill>
              <a:latin typeface="Arial"/>
              <a:ea typeface="Arial"/>
              <a:cs typeface="Arial"/>
              <a:sym typeface="Arial"/>
            </a:endParaRPr>
          </a:p>
        </p:txBody>
      </p:sp>
      <p:sp>
        <p:nvSpPr>
          <p:cNvPr id="103" name="Google Shape;103;p4"/>
          <p:cNvSpPr/>
          <p:nvPr/>
        </p:nvSpPr>
        <p:spPr>
          <a:xfrm>
            <a:off x="4402634" y="1803350"/>
            <a:ext cx="3386683" cy="4241850"/>
          </a:xfrm>
          <a:prstGeom prst="roundRect">
            <a:avLst>
              <a:gd fmla="val 3750" name="adj"/>
            </a:avLst>
          </a:prstGeom>
          <a:solidFill>
            <a:srgbClr val="FFFD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 name="Google Shape;104;p4"/>
          <p:cNvSpPr/>
          <p:nvPr/>
        </p:nvSpPr>
        <p:spPr>
          <a:xfrm>
            <a:off x="4402634" y="1803350"/>
            <a:ext cx="3386683" cy="4241850"/>
          </a:xfrm>
          <a:custGeom>
            <a:rect b="b" l="l" r="r" t="t"/>
            <a:pathLst>
              <a:path extrusionOk="0" h="4241850" w="3386683">
                <a:moveTo>
                  <a:pt x="0" y="127000"/>
                </a:moveTo>
                <a:lnTo>
                  <a:pt x="0" y="127000"/>
                </a:lnTo>
                <a:cubicBezTo>
                  <a:pt x="0" y="56860"/>
                  <a:pt x="56860" y="0"/>
                  <a:pt x="127000" y="0"/>
                </a:cubicBezTo>
                <a:lnTo>
                  <a:pt x="3259683" y="0"/>
                </a:lnTo>
                <a:cubicBezTo>
                  <a:pt x="3293365" y="0"/>
                  <a:pt x="3325668" y="13380"/>
                  <a:pt x="3349486" y="37197"/>
                </a:cubicBezTo>
                <a:cubicBezTo>
                  <a:pt x="3373303" y="61015"/>
                  <a:pt x="3386683" y="93318"/>
                  <a:pt x="3386683" y="127000"/>
                </a:cubicBezTo>
                <a:lnTo>
                  <a:pt x="3386683" y="127000"/>
                </a:lnTo>
                <a:cubicBezTo>
                  <a:pt x="3386683" y="84916"/>
                  <a:pt x="3329823" y="50800"/>
                  <a:pt x="3259683" y="50800"/>
                </a:cubicBezTo>
                <a:lnTo>
                  <a:pt x="127000" y="50800"/>
                </a:lnTo>
                <a:cubicBezTo>
                  <a:pt x="56860" y="50800"/>
                  <a:pt x="0" y="84916"/>
                  <a:pt x="0" y="127000"/>
                </a:cubicBezTo>
                <a:close/>
              </a:path>
            </a:pathLst>
          </a:custGeom>
          <a:solidFill>
            <a:srgbClr val="E8945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5" name="Google Shape;105;p4"/>
          <p:cNvSpPr/>
          <p:nvPr/>
        </p:nvSpPr>
        <p:spPr>
          <a:xfrm>
            <a:off x="4656634" y="2082750"/>
            <a:ext cx="296504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84E1C"/>
              </a:buClr>
              <a:buSzPts val="1200"/>
              <a:buFont typeface="Arial"/>
              <a:buNone/>
            </a:pPr>
            <a:r>
              <a:rPr b="1" i="0" lang="en-US" sz="1200" u="none" cap="none" strike="noStrike">
                <a:solidFill>
                  <a:srgbClr val="A84E1C"/>
                </a:solidFill>
                <a:latin typeface="Arial"/>
                <a:ea typeface="Arial"/>
                <a:cs typeface="Arial"/>
                <a:sym typeface="Arial"/>
              </a:rPr>
              <a:t>STEP 4 · DO AND ASK</a:t>
            </a:r>
            <a:endParaRPr b="0" i="0" sz="1200" u="none" cap="none" strike="noStrike">
              <a:solidFill>
                <a:schemeClr val="dk1"/>
              </a:solidFill>
              <a:latin typeface="Arial"/>
              <a:ea typeface="Arial"/>
              <a:cs typeface="Arial"/>
              <a:sym typeface="Arial"/>
            </a:endParaRPr>
          </a:p>
        </p:txBody>
      </p:sp>
      <p:sp>
        <p:nvSpPr>
          <p:cNvPr id="106" name="Google Shape;106;p4"/>
          <p:cNvSpPr/>
          <p:nvPr/>
        </p:nvSpPr>
        <p:spPr>
          <a:xfrm>
            <a:off x="4656634" y="2397671"/>
            <a:ext cx="2965044" cy="53340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1F2A44"/>
              </a:buClr>
              <a:buSzPts val="1600"/>
              <a:buFont typeface="Georgia"/>
              <a:buNone/>
            </a:pPr>
            <a:r>
              <a:rPr b="1" i="0" lang="en-US" sz="1600" u="none" cap="none" strike="noStrike">
                <a:solidFill>
                  <a:srgbClr val="1F2A44"/>
                </a:solidFill>
                <a:latin typeface="Georgia"/>
                <a:ea typeface="Georgia"/>
                <a:cs typeface="Georgia"/>
                <a:sym typeface="Georgia"/>
              </a:rPr>
              <a:t>One home for questions, tied to the work</a:t>
            </a:r>
            <a:endParaRPr b="0" i="0" sz="1600" u="none" cap="none" strike="noStrike">
              <a:solidFill>
                <a:schemeClr val="dk1"/>
              </a:solidFill>
              <a:latin typeface="Arial"/>
              <a:ea typeface="Arial"/>
              <a:cs typeface="Arial"/>
              <a:sym typeface="Arial"/>
            </a:endParaRPr>
          </a:p>
        </p:txBody>
      </p:sp>
      <p:sp>
        <p:nvSpPr>
          <p:cNvPr id="107" name="Google Shape;107;p4"/>
          <p:cNvSpPr/>
          <p:nvPr/>
        </p:nvSpPr>
        <p:spPr>
          <a:xfrm>
            <a:off x="4656634" y="3007271"/>
            <a:ext cx="2965044" cy="43686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A6478"/>
              </a:buClr>
              <a:buSzPts val="1200"/>
              <a:buFont typeface="Arial"/>
              <a:buNone/>
            </a:pPr>
            <a:r>
              <a:rPr b="0" i="1" lang="en-US" sz="1200" u="none" cap="none" strike="noStrike">
                <a:solidFill>
                  <a:srgbClr val="5A6478"/>
                </a:solidFill>
                <a:latin typeface="Arial"/>
                <a:ea typeface="Arial"/>
                <a:cs typeface="Arial"/>
                <a:sym typeface="Arial"/>
              </a:rPr>
              <a:t>Today: questions scattered across email and forums.</a:t>
            </a:r>
            <a:endParaRPr b="0" i="0" sz="1200" u="none" cap="none" strike="noStrike">
              <a:solidFill>
                <a:schemeClr val="dk1"/>
              </a:solidFill>
              <a:latin typeface="Arial"/>
              <a:ea typeface="Arial"/>
              <a:cs typeface="Arial"/>
              <a:sym typeface="Arial"/>
            </a:endParaRPr>
          </a:p>
        </p:txBody>
      </p:sp>
      <p:sp>
        <p:nvSpPr>
          <p:cNvPr id="108" name="Google Shape;108;p4"/>
          <p:cNvSpPr/>
          <p:nvPr/>
        </p:nvSpPr>
        <p:spPr>
          <a:xfrm>
            <a:off x="4656634" y="3520331"/>
            <a:ext cx="2965044" cy="8786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44"/>
              </a:buClr>
              <a:buSzPts val="1200"/>
              <a:buFont typeface="Arial"/>
              <a:buNone/>
            </a:pPr>
            <a:r>
              <a:rPr b="1" i="0" lang="en-US" sz="1200" u="none" cap="none" strike="noStrike">
                <a:solidFill>
                  <a:srgbClr val="1F2A44"/>
                </a:solidFill>
                <a:latin typeface="Arial"/>
                <a:ea typeface="Arial"/>
                <a:cs typeface="Arial"/>
                <a:sym typeface="Arial"/>
              </a:rPr>
              <a:t>The opportunity:</a:t>
            </a:r>
            <a:r>
              <a:rPr b="0" i="0" lang="en-US" sz="1200" u="none" cap="none" strike="noStrike">
                <a:solidFill>
                  <a:srgbClr val="1F2A44"/>
                </a:solidFill>
                <a:latin typeface="Arial"/>
                <a:ea typeface="Arial"/>
                <a:cs typeface="Arial"/>
                <a:sym typeface="Arial"/>
              </a:rPr>
              <a:t> Let students ask right where they’re working, so teachers answer once and see where the class is stuck.</a:t>
            </a:r>
            <a:endParaRPr b="0" i="0" sz="1200" u="none" cap="none" strike="noStrike">
              <a:solidFill>
                <a:schemeClr val="dk1"/>
              </a:solidFill>
              <a:latin typeface="Arial"/>
              <a:ea typeface="Arial"/>
              <a:cs typeface="Arial"/>
              <a:sym typeface="Arial"/>
            </a:endParaRPr>
          </a:p>
        </p:txBody>
      </p:sp>
      <p:sp>
        <p:nvSpPr>
          <p:cNvPr id="109" name="Google Shape;109;p4"/>
          <p:cNvSpPr/>
          <p:nvPr/>
        </p:nvSpPr>
        <p:spPr>
          <a:xfrm>
            <a:off x="4768140" y="4475212"/>
            <a:ext cx="2845918" cy="665361"/>
          </a:xfrm>
          <a:prstGeom prst="rect">
            <a:avLst/>
          </a:prstGeom>
          <a:noFill/>
          <a:ln>
            <a:noFill/>
          </a:ln>
        </p:spPr>
        <p:txBody>
          <a:bodyPr anchorCtr="0" anchor="t" bIns="0" lIns="0" spcFirstLastPara="1" rIns="0" wrap="square" tIns="0">
            <a:normAutofit/>
          </a:bodyPr>
          <a:lstStyle/>
          <a:p>
            <a:pPr indent="-142494" lvl="0" marL="142494" marR="0" rtl="0" algn="l">
              <a:lnSpc>
                <a:spcPct val="140000"/>
              </a:lnSpc>
              <a:spcBef>
                <a:spcPts val="0"/>
              </a:spcBef>
              <a:spcAft>
                <a:spcPts val="0"/>
              </a:spcAft>
              <a:buClr>
                <a:srgbClr val="4A5568"/>
              </a:buClr>
              <a:buSzPts val="1200"/>
              <a:buFont typeface="Arial"/>
              <a:buChar char="•"/>
            </a:pPr>
            <a:r>
              <a:rPr b="0" i="0" lang="en-US" sz="1200" u="none" cap="none" strike="noStrike">
                <a:solidFill>
                  <a:srgbClr val="4A5568"/>
                </a:solidFill>
                <a:latin typeface="Arial"/>
                <a:ea typeface="Arial"/>
                <a:cs typeface="Arial"/>
                <a:sym typeface="Arial"/>
              </a:rPr>
              <a:t>Questions pinned to the task</a:t>
            </a:r>
            <a:endParaRPr b="0" i="0" sz="1200" u="none" cap="none" strike="noStrike">
              <a:solidFill>
                <a:schemeClr val="dk1"/>
              </a:solidFill>
              <a:latin typeface="Arial"/>
              <a:ea typeface="Arial"/>
              <a:cs typeface="Arial"/>
              <a:sym typeface="Arial"/>
            </a:endParaRPr>
          </a:p>
          <a:p>
            <a:pPr indent="-142494" lvl="0" marL="142494" marR="0" rtl="0" algn="l">
              <a:lnSpc>
                <a:spcPct val="140000"/>
              </a:lnSpc>
              <a:spcBef>
                <a:spcPts val="0"/>
              </a:spcBef>
              <a:spcAft>
                <a:spcPts val="0"/>
              </a:spcAft>
              <a:buClr>
                <a:srgbClr val="4A5568"/>
              </a:buClr>
              <a:buSzPts val="1200"/>
              <a:buFont typeface="Arial"/>
              <a:buChar char="•"/>
            </a:pPr>
            <a:r>
              <a:rPr b="0" i="0" lang="en-US" sz="1200" u="none" cap="none" strike="noStrike">
                <a:solidFill>
                  <a:srgbClr val="4A5568"/>
                </a:solidFill>
                <a:latin typeface="Arial"/>
                <a:ea typeface="Arial"/>
                <a:cs typeface="Arial"/>
                <a:sym typeface="Arial"/>
              </a:rPr>
              <a:t>Duplicate questions grouped</a:t>
            </a:r>
            <a:endParaRPr b="0" i="0" sz="1200" u="none" cap="none" strike="noStrike">
              <a:solidFill>
                <a:schemeClr val="dk1"/>
              </a:solidFill>
              <a:latin typeface="Arial"/>
              <a:ea typeface="Arial"/>
              <a:cs typeface="Arial"/>
              <a:sym typeface="Arial"/>
            </a:endParaRPr>
          </a:p>
          <a:p>
            <a:pPr indent="-142494" lvl="0" marL="142494" marR="0" rtl="0" algn="l">
              <a:lnSpc>
                <a:spcPct val="140000"/>
              </a:lnSpc>
              <a:spcBef>
                <a:spcPts val="0"/>
              </a:spcBef>
              <a:spcAft>
                <a:spcPts val="0"/>
              </a:spcAft>
              <a:buClr>
                <a:srgbClr val="4A5568"/>
              </a:buClr>
              <a:buSzPts val="1200"/>
              <a:buFont typeface="Arial"/>
              <a:buChar char="•"/>
            </a:pPr>
            <a:r>
              <a:rPr b="0" i="0" lang="en-US" sz="1200" u="none" cap="none" strike="noStrike">
                <a:solidFill>
                  <a:srgbClr val="4A5568"/>
                </a:solidFill>
                <a:latin typeface="Arial"/>
                <a:ea typeface="Arial"/>
                <a:cs typeface="Arial"/>
                <a:sym typeface="Arial"/>
              </a:rPr>
              <a:t>One answer shared with all</a:t>
            </a:r>
            <a:endParaRPr b="0" i="0" sz="1200" u="none" cap="none" strike="noStrike">
              <a:solidFill>
                <a:schemeClr val="dk1"/>
              </a:solidFill>
              <a:latin typeface="Arial"/>
              <a:ea typeface="Arial"/>
              <a:cs typeface="Arial"/>
              <a:sym typeface="Arial"/>
            </a:endParaRPr>
          </a:p>
        </p:txBody>
      </p:sp>
      <p:sp>
        <p:nvSpPr>
          <p:cNvPr id="110" name="Google Shape;110;p4"/>
          <p:cNvSpPr/>
          <p:nvPr/>
        </p:nvSpPr>
        <p:spPr>
          <a:xfrm>
            <a:off x="7992517" y="1803350"/>
            <a:ext cx="3386683" cy="4241850"/>
          </a:xfrm>
          <a:prstGeom prst="roundRect">
            <a:avLst>
              <a:gd fmla="val 3750" name="adj"/>
            </a:avLst>
          </a:prstGeom>
          <a:solidFill>
            <a:srgbClr val="FFFD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1" name="Google Shape;111;p4"/>
          <p:cNvSpPr/>
          <p:nvPr/>
        </p:nvSpPr>
        <p:spPr>
          <a:xfrm>
            <a:off x="7992517" y="1803350"/>
            <a:ext cx="3386683" cy="4241850"/>
          </a:xfrm>
          <a:custGeom>
            <a:rect b="b" l="l" r="r" t="t"/>
            <a:pathLst>
              <a:path extrusionOk="0" h="4241850" w="3386683">
                <a:moveTo>
                  <a:pt x="0" y="127000"/>
                </a:moveTo>
                <a:lnTo>
                  <a:pt x="0" y="127000"/>
                </a:lnTo>
                <a:cubicBezTo>
                  <a:pt x="0" y="56860"/>
                  <a:pt x="56860" y="0"/>
                  <a:pt x="127000" y="0"/>
                </a:cubicBezTo>
                <a:lnTo>
                  <a:pt x="3259683" y="0"/>
                </a:lnTo>
                <a:cubicBezTo>
                  <a:pt x="3293365" y="0"/>
                  <a:pt x="3325668" y="13380"/>
                  <a:pt x="3349486" y="37197"/>
                </a:cubicBezTo>
                <a:cubicBezTo>
                  <a:pt x="3373303" y="61015"/>
                  <a:pt x="3386683" y="93318"/>
                  <a:pt x="3386683" y="127000"/>
                </a:cubicBezTo>
                <a:lnTo>
                  <a:pt x="3386683" y="127000"/>
                </a:lnTo>
                <a:cubicBezTo>
                  <a:pt x="3386683" y="84916"/>
                  <a:pt x="3329823" y="50800"/>
                  <a:pt x="3259683" y="50800"/>
                </a:cubicBezTo>
                <a:lnTo>
                  <a:pt x="127000" y="50800"/>
                </a:lnTo>
                <a:cubicBezTo>
                  <a:pt x="56860" y="50800"/>
                  <a:pt x="0" y="84916"/>
                  <a:pt x="0" y="127000"/>
                </a:cubicBezTo>
                <a:close/>
              </a:path>
            </a:pathLst>
          </a:custGeom>
          <a:solidFill>
            <a:srgbClr val="E8945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2" name="Google Shape;112;p4"/>
          <p:cNvSpPr/>
          <p:nvPr/>
        </p:nvSpPr>
        <p:spPr>
          <a:xfrm>
            <a:off x="8246517" y="2082750"/>
            <a:ext cx="296504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A84E1C"/>
              </a:buClr>
              <a:buSzPts val="1200"/>
              <a:buFont typeface="Arial"/>
              <a:buNone/>
            </a:pPr>
            <a:r>
              <a:rPr b="1" i="0" lang="en-US" sz="1200" u="none" cap="none" strike="noStrike">
                <a:solidFill>
                  <a:srgbClr val="A84E1C"/>
                </a:solidFill>
                <a:latin typeface="Arial"/>
                <a:ea typeface="Arial"/>
                <a:cs typeface="Arial"/>
                <a:sym typeface="Arial"/>
              </a:rPr>
              <a:t>STEP 7 · GRADE</a:t>
            </a:r>
            <a:endParaRPr b="0" i="0" sz="1200" u="none" cap="none" strike="noStrike">
              <a:solidFill>
                <a:schemeClr val="dk1"/>
              </a:solidFill>
              <a:latin typeface="Arial"/>
              <a:ea typeface="Arial"/>
              <a:cs typeface="Arial"/>
              <a:sym typeface="Arial"/>
            </a:endParaRPr>
          </a:p>
        </p:txBody>
      </p:sp>
      <p:sp>
        <p:nvSpPr>
          <p:cNvPr id="113" name="Google Shape;113;p4"/>
          <p:cNvSpPr/>
          <p:nvPr/>
        </p:nvSpPr>
        <p:spPr>
          <a:xfrm>
            <a:off x="8246517" y="2397671"/>
            <a:ext cx="2965044" cy="53340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1F2A44"/>
              </a:buClr>
              <a:buSzPts val="1600"/>
              <a:buFont typeface="Georgia"/>
              <a:buNone/>
            </a:pPr>
            <a:r>
              <a:rPr b="1" i="0" lang="en-US" sz="1600" u="none" cap="none" strike="noStrike">
                <a:solidFill>
                  <a:srgbClr val="1F2A44"/>
                </a:solidFill>
                <a:latin typeface="Georgia"/>
                <a:ea typeface="Georgia"/>
                <a:cs typeface="Georgia"/>
                <a:sym typeface="Georgia"/>
              </a:rPr>
              <a:t>Fast, consistent grading with real feedback</a:t>
            </a:r>
            <a:endParaRPr b="0" i="0" sz="1600" u="none" cap="none" strike="noStrike">
              <a:solidFill>
                <a:schemeClr val="dk1"/>
              </a:solidFill>
              <a:latin typeface="Arial"/>
              <a:ea typeface="Arial"/>
              <a:cs typeface="Arial"/>
              <a:sym typeface="Arial"/>
            </a:endParaRPr>
          </a:p>
        </p:txBody>
      </p:sp>
      <p:sp>
        <p:nvSpPr>
          <p:cNvPr id="114" name="Google Shape;114;p4"/>
          <p:cNvSpPr/>
          <p:nvPr/>
        </p:nvSpPr>
        <p:spPr>
          <a:xfrm>
            <a:off x="8246517" y="3007271"/>
            <a:ext cx="2965044" cy="23113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5A6478"/>
              </a:buClr>
              <a:buSzPts val="1200"/>
              <a:buFont typeface="Arial"/>
              <a:buNone/>
            </a:pPr>
            <a:r>
              <a:rPr b="0" i="1" lang="en-US" sz="1200" u="none" cap="none" strike="noStrike">
                <a:solidFill>
                  <a:srgbClr val="5A6478"/>
                </a:solidFill>
                <a:latin typeface="Arial"/>
                <a:ea typeface="Arial"/>
                <a:cs typeface="Arial"/>
                <a:sym typeface="Arial"/>
              </a:rPr>
              <a:t>Today: slow, uneven across graders.</a:t>
            </a:r>
            <a:endParaRPr b="0" i="0" sz="1200" u="none" cap="none" strike="noStrike">
              <a:solidFill>
                <a:schemeClr val="dk1"/>
              </a:solidFill>
              <a:latin typeface="Arial"/>
              <a:ea typeface="Arial"/>
              <a:cs typeface="Arial"/>
              <a:sym typeface="Arial"/>
            </a:endParaRPr>
          </a:p>
        </p:txBody>
      </p:sp>
      <p:sp>
        <p:nvSpPr>
          <p:cNvPr id="115" name="Google Shape;115;p4"/>
          <p:cNvSpPr/>
          <p:nvPr/>
        </p:nvSpPr>
        <p:spPr>
          <a:xfrm>
            <a:off x="8246517" y="3314601"/>
            <a:ext cx="2965044" cy="66536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44"/>
              </a:buClr>
              <a:buSzPts val="1200"/>
              <a:buFont typeface="Arial"/>
              <a:buNone/>
            </a:pPr>
            <a:r>
              <a:rPr b="1" i="0" lang="en-US" sz="1200" u="none" cap="none" strike="noStrike">
                <a:solidFill>
                  <a:srgbClr val="1F2A44"/>
                </a:solidFill>
                <a:latin typeface="Arial"/>
                <a:ea typeface="Arial"/>
                <a:cs typeface="Arial"/>
                <a:sym typeface="Arial"/>
              </a:rPr>
              <a:t>The opportunity:</a:t>
            </a:r>
            <a:r>
              <a:rPr b="0" i="0" lang="en-US" sz="1200" u="none" cap="none" strike="noStrike">
                <a:solidFill>
                  <a:srgbClr val="1F2A44"/>
                </a:solidFill>
                <a:latin typeface="Arial"/>
                <a:ea typeface="Arial"/>
                <a:cs typeface="Arial"/>
                <a:sym typeface="Arial"/>
              </a:rPr>
              <a:t> Give graders shared rubrics and reusable feedback, and show students how they’re doing in one place.</a:t>
            </a:r>
            <a:endParaRPr b="0" i="0" sz="1200" u="none" cap="none" strike="noStrike">
              <a:solidFill>
                <a:schemeClr val="dk1"/>
              </a:solidFill>
              <a:latin typeface="Arial"/>
              <a:ea typeface="Arial"/>
              <a:cs typeface="Arial"/>
              <a:sym typeface="Arial"/>
            </a:endParaRPr>
          </a:p>
        </p:txBody>
      </p:sp>
      <p:sp>
        <p:nvSpPr>
          <p:cNvPr id="116" name="Google Shape;116;p4"/>
          <p:cNvSpPr/>
          <p:nvPr/>
        </p:nvSpPr>
        <p:spPr>
          <a:xfrm>
            <a:off x="8358023" y="4056162"/>
            <a:ext cx="2845918" cy="665361"/>
          </a:xfrm>
          <a:prstGeom prst="rect">
            <a:avLst/>
          </a:prstGeom>
          <a:noFill/>
          <a:ln>
            <a:noFill/>
          </a:ln>
        </p:spPr>
        <p:txBody>
          <a:bodyPr anchorCtr="0" anchor="t" bIns="0" lIns="0" spcFirstLastPara="1" rIns="0" wrap="square" tIns="0">
            <a:normAutofit/>
          </a:bodyPr>
          <a:lstStyle/>
          <a:p>
            <a:pPr indent="-142494" lvl="0" marL="142494" marR="0" rtl="0" algn="l">
              <a:lnSpc>
                <a:spcPct val="140000"/>
              </a:lnSpc>
              <a:spcBef>
                <a:spcPts val="0"/>
              </a:spcBef>
              <a:spcAft>
                <a:spcPts val="0"/>
              </a:spcAft>
              <a:buClr>
                <a:srgbClr val="4A5568"/>
              </a:buClr>
              <a:buSzPts val="1200"/>
              <a:buFont typeface="Arial"/>
              <a:buChar char="•"/>
            </a:pPr>
            <a:r>
              <a:rPr b="0" i="0" lang="en-US" sz="1200" u="none" cap="none" strike="noStrike">
                <a:solidFill>
                  <a:srgbClr val="4A5568"/>
                </a:solidFill>
                <a:latin typeface="Arial"/>
                <a:ea typeface="Arial"/>
                <a:cs typeface="Arial"/>
                <a:sym typeface="Arial"/>
              </a:rPr>
              <a:t>Rubric with a comment bank</a:t>
            </a:r>
            <a:endParaRPr b="0" i="0" sz="1200" u="none" cap="none" strike="noStrike">
              <a:solidFill>
                <a:schemeClr val="dk1"/>
              </a:solidFill>
              <a:latin typeface="Arial"/>
              <a:ea typeface="Arial"/>
              <a:cs typeface="Arial"/>
              <a:sym typeface="Arial"/>
            </a:endParaRPr>
          </a:p>
          <a:p>
            <a:pPr indent="-142494" lvl="0" marL="142494" marR="0" rtl="0" algn="l">
              <a:lnSpc>
                <a:spcPct val="140000"/>
              </a:lnSpc>
              <a:spcBef>
                <a:spcPts val="0"/>
              </a:spcBef>
              <a:spcAft>
                <a:spcPts val="0"/>
              </a:spcAft>
              <a:buClr>
                <a:srgbClr val="4A5568"/>
              </a:buClr>
              <a:buSzPts val="1200"/>
              <a:buFont typeface="Arial"/>
              <a:buChar char="•"/>
            </a:pPr>
            <a:r>
              <a:rPr b="0" i="0" lang="en-US" sz="1200" u="none" cap="none" strike="noStrike">
                <a:solidFill>
                  <a:srgbClr val="4A5568"/>
                </a:solidFill>
                <a:latin typeface="Arial"/>
                <a:ea typeface="Arial"/>
                <a:cs typeface="Arial"/>
                <a:sym typeface="Arial"/>
              </a:rPr>
              <a:t>Consistency checks across TAs</a:t>
            </a:r>
            <a:endParaRPr b="0" i="0" sz="1200" u="none" cap="none" strike="noStrike">
              <a:solidFill>
                <a:schemeClr val="dk1"/>
              </a:solidFill>
              <a:latin typeface="Arial"/>
              <a:ea typeface="Arial"/>
              <a:cs typeface="Arial"/>
              <a:sym typeface="Arial"/>
            </a:endParaRPr>
          </a:p>
          <a:p>
            <a:pPr indent="-142494" lvl="0" marL="142494" marR="0" rtl="0" algn="l">
              <a:lnSpc>
                <a:spcPct val="140000"/>
              </a:lnSpc>
              <a:spcBef>
                <a:spcPts val="0"/>
              </a:spcBef>
              <a:spcAft>
                <a:spcPts val="0"/>
              </a:spcAft>
              <a:buClr>
                <a:srgbClr val="4A5568"/>
              </a:buClr>
              <a:buSzPts val="1200"/>
              <a:buFont typeface="Arial"/>
              <a:buChar char="•"/>
            </a:pPr>
            <a:r>
              <a:rPr b="0" i="0" lang="en-US" sz="1200" u="none" cap="none" strike="noStrike">
                <a:solidFill>
                  <a:srgbClr val="4A5568"/>
                </a:solidFill>
                <a:latin typeface="Arial"/>
                <a:ea typeface="Arial"/>
                <a:cs typeface="Arial"/>
                <a:sym typeface="Arial"/>
              </a:rPr>
              <a:t>Live standing for students</a:t>
            </a:r>
            <a:endParaRPr b="0" i="0" sz="12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pportunities in Education Technology">
  <a:themeElements>
    <a:clrScheme name="Opportunities in Education Technology">
      <a:dk1>
        <a:srgbClr val="1F2A44"/>
      </a:dk1>
      <a:lt1>
        <a:srgbClr val="F7F5EF"/>
      </a:lt1>
      <a:dk2>
        <a:srgbClr val="555D6F"/>
      </a:dk2>
      <a:lt2>
        <a:srgbClr val="E1E1DE"/>
      </a:lt2>
      <a:accent1>
        <a:srgbClr val="A84E1C"/>
      </a:accent1>
      <a:accent2>
        <a:srgbClr val="E8945A"/>
      </a:accent2>
      <a:accent3>
        <a:srgbClr val="4A5568"/>
      </a:accent3>
      <a:accent4>
        <a:srgbClr val="5A6478"/>
      </a:accent4>
      <a:accent5>
        <a:srgbClr val="C9D2E3"/>
      </a:accent5>
      <a:accent6>
        <a:srgbClr val="9AA0A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2026-10-18T17:42:01Z</dcterms:created>
</cp:coreProperties>
</file>