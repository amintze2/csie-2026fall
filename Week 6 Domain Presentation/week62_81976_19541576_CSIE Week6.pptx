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DM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DMSans-bold.fntdata"/><Relationship Id="rId12" Type="http://schemas.openxmlformats.org/officeDocument/2006/relationships/font" Target="fonts/DMSans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DMSans-boldItalic.fntdata"/><Relationship Id="rId14" Type="http://schemas.openxmlformats.org/officeDocument/2006/relationships/font" Target="fonts/DMSa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403f70a8460d5ca2_5_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h403f70a8460d5ca2_5_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h403f70a8460d5ca2_5_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403f70a8460d5ca2_5_1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h403f70a8460d5ca2_5_1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h403f70a8460d5ca2_5_1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403f70a8460d5ca2_5_4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h403f70a8460d5ca2_5_4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h403f70a8460d5ca2_5_4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403f70a8460d5ca2_5_8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h403f70a8460d5ca2_5_8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h403f70a8460d5ca2_5_8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403f70a8460d5ca2_5_17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h403f70a8460d5ca2_5_17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Opportunities are ranked by the gaps on the process map for the job “Should I see a doctor?”. Clinical handoff targets the largest gap (Brief Doctor, +4); it summarizes the user’s own data and leaves judgment to the clinician, so it stays clear of diagnosis. Insight to action targets Interpret and Decide Next Step (+3 each); it flags patterns relative to the user’s baseline and suggests a doctor conversation rather than telling users whether they need care. Frictionless wear targets Capture Data (+2): without wear, every downstream step fails. Regulatory context: the FDA’s January 2026 General Wellness guidance lets wearables estimate blood pressure and glucose for wellness purposes without clearance, but products making medical-grade or diagnostic claims face stricter review. Two paths: Apple pursued FDA clearance for hypertension notifications (Sept 2025) and does not display raw readings; WHOOP launched Blood Pressure Insights as a wellness feature and received an FDA warning letter in July 2025. Why it matters: the $2.2 trillion figure is a 2025 projection from GlobalData and the Partnership to Fight Chronic Disease, roughly 40% of current U.S. health spending of over $5.3 trillion. Avoid the common “90% of health spending goes to chronic disease” claim; PolitiFact rated it False in Feb 2026 because the RAND study behind it measured all spending on people with chronic conditions, not spending on treating them. Abandonment figure: Gartner survey of about 9,600 consumers (roughly 30% of fitness trackers eventually abandoned). Smart ring growth: FDM CCS Insight forecasts +53% in 2026.</a:t>
            </a:r>
            <a:endParaRPr/>
          </a:p>
        </p:txBody>
      </p:sp>
      <p:sp>
        <p:nvSpPr>
          <p:cNvPr id="234" name="Google Shape;234;h403f70a8460d5ca2_5_17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5F6F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609600" y="457200"/>
            <a:ext cx="7924800" cy="335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2400"/>
              <a:buFont typeface="DM Sans"/>
              <a:buNone/>
              <a:defRPr sz="2400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609600" y="1021072"/>
            <a:ext cx="7924800" cy="3512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13233A"/>
              </a:buClr>
              <a:buSzPts val="1200"/>
              <a:buNone/>
              <a:defRPr sz="1200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457200"/>
            <a:ext cx="7924800" cy="335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2400"/>
              <a:buFont typeface="DM Sans"/>
              <a:buNone/>
              <a:defRPr b="0" i="0" sz="24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09600" y="1021072"/>
            <a:ext cx="7924800" cy="3512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13233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33A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0F7C6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6"/>
          <p:cNvSpPr/>
          <p:nvPr/>
        </p:nvSpPr>
        <p:spPr>
          <a:xfrm>
            <a:off x="609600" y="1095896"/>
            <a:ext cx="8162544" cy="205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100"/>
              <a:buFont typeface="DM Sans"/>
              <a:buNone/>
            </a:pPr>
            <a:r>
              <a:rPr b="1" i="0" lang="zh-CN" sz="1100" u="none" cap="none" strike="noStrike">
                <a:solidFill>
                  <a:srgbClr val="F2A65A"/>
                </a:solidFill>
                <a:latin typeface="DM Sans"/>
                <a:ea typeface="DM Sans"/>
                <a:cs typeface="DM Sans"/>
                <a:sym typeface="DM Sans"/>
              </a:rPr>
              <a:t>JOBS TO BE DONE · USER PROCESSES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6"/>
          <p:cNvSpPr txBox="1"/>
          <p:nvPr>
            <p:ph type="title"/>
          </p:nvPr>
        </p:nvSpPr>
        <p:spPr>
          <a:xfrm>
            <a:off x="609600" y="1404938"/>
            <a:ext cx="81624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ct val="100000"/>
              <a:buFont typeface="DM Sans"/>
              <a:buNone/>
            </a:pPr>
            <a:r>
              <a:rPr b="1" i="0" lang="zh-CN" sz="4500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Wearable Health</a:t>
            </a:r>
            <a:endParaRPr sz="4500"/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ct val="100000"/>
              <a:buFont typeface="DM Sans"/>
              <a:buNone/>
            </a:pPr>
            <a:r>
              <a:rPr b="1" i="0" lang="zh-CN" sz="4500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Tracking</a:t>
            </a:r>
            <a:endParaRPr sz="4500"/>
          </a:p>
        </p:txBody>
      </p:sp>
      <p:sp>
        <p:nvSpPr>
          <p:cNvPr id="65" name="Google Shape;65;p16"/>
          <p:cNvSpPr/>
          <p:nvPr/>
        </p:nvSpPr>
        <p:spPr>
          <a:xfrm>
            <a:off x="609600" y="2863472"/>
            <a:ext cx="8162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6DEE6"/>
              </a:buClr>
              <a:buSzPts val="1400"/>
              <a:buFont typeface="DM Sans"/>
              <a:buNone/>
            </a:pPr>
            <a:r>
              <a:rPr b="0" i="0" lang="zh-CN" sz="1400" u="none" cap="none" strike="noStrike">
                <a:solidFill>
                  <a:srgbClr val="D6DEE6"/>
                </a:solidFill>
                <a:latin typeface="DM Sans"/>
                <a:ea typeface="DM Sans"/>
                <a:cs typeface="DM Sans"/>
                <a:sym typeface="DM Sans"/>
              </a:rPr>
              <a:t>Why people wear health trackers, where the experience breaks down, and where to win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609600" y="3251336"/>
            <a:ext cx="762000" cy="28575"/>
          </a:xfrm>
          <a:prstGeom prst="roundRect">
            <a:avLst>
              <a:gd fmla="val 50000" name="adj"/>
            </a:avLst>
          </a:prstGeom>
          <a:solidFill>
            <a:srgbClr val="F2A65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609600" y="3470411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1200"/>
              <a:buFont typeface="DM Sans"/>
              <a:buNone/>
            </a:pPr>
            <a:r>
              <a:rPr b="1" lang="zh-CN" sz="1200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Kendall Frederick </a:t>
            </a:r>
            <a:r>
              <a:rPr b="1" i="0" lang="zh-CN" sz="12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· </a:t>
            </a:r>
            <a:r>
              <a:rPr b="1" lang="zh-CN" sz="1200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Sissi Lai</a:t>
            </a:r>
            <a:r>
              <a:rPr b="1" i="0" lang="zh-CN" sz="12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 · </a:t>
            </a:r>
            <a:r>
              <a:rPr b="1" lang="zh-CN" sz="1200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Owen</a:t>
            </a:r>
            <a:r>
              <a:rPr b="1" i="0" lang="zh-CN" sz="12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 · </a:t>
            </a:r>
            <a:r>
              <a:rPr b="1" lang="zh-CN" sz="1200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Evan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/>
          <p:nvPr/>
        </p:nvSpPr>
        <p:spPr>
          <a:xfrm>
            <a:off x="609600" y="457200"/>
            <a:ext cx="8162544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C6E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0F7C6E"/>
                </a:solidFill>
                <a:latin typeface="DM Sans"/>
                <a:ea typeface="DM Sans"/>
                <a:cs typeface="DM Sans"/>
                <a:sym typeface="DM Sans"/>
              </a:rPr>
              <a:t>DOMAIN OVERVIEW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" name="Google Shape;74;p17"/>
          <p:cNvSpPr txBox="1"/>
          <p:nvPr>
            <p:ph type="title"/>
          </p:nvPr>
        </p:nvSpPr>
        <p:spPr>
          <a:xfrm>
            <a:off x="609600" y="674340"/>
            <a:ext cx="816254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3000"/>
              <a:buFont typeface="DM Sans"/>
              <a:buNone/>
            </a:pPr>
            <a:r>
              <a:rPr b="1" i="0" lang="zh-CN" sz="3000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Wearable Health Tracking</a:t>
            </a:r>
            <a:endParaRPr sz="3000"/>
          </a:p>
        </p:txBody>
      </p:sp>
      <p:sp>
        <p:nvSpPr>
          <p:cNvPr id="75" name="Google Shape;75;p17"/>
          <p:cNvSpPr/>
          <p:nvPr/>
        </p:nvSpPr>
        <p:spPr>
          <a:xfrm>
            <a:off x="611981" y="1286321"/>
            <a:ext cx="2535213" cy="3125018"/>
          </a:xfrm>
          <a:prstGeom prst="roundRect">
            <a:avLst>
              <a:gd fmla="val 3663" name="adj"/>
            </a:avLst>
          </a:prstGeom>
          <a:solidFill>
            <a:srgbClr val="FCFCFA"/>
          </a:solidFill>
          <a:ln cap="flat" cmpd="sng" w="9525">
            <a:solidFill>
              <a:srgbClr val="DDE1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7"/>
          <p:cNvSpPr/>
          <p:nvPr/>
        </p:nvSpPr>
        <p:spPr>
          <a:xfrm>
            <a:off x="785813" y="1460153"/>
            <a:ext cx="2253177" cy="20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C6E"/>
              </a:buClr>
              <a:buSzPts val="1200"/>
              <a:buFont typeface="DM Sans"/>
              <a:buNone/>
            </a:pPr>
            <a:r>
              <a:rPr b="1" i="0" lang="zh-CN" sz="1200" u="none" cap="none" strike="noStrike">
                <a:solidFill>
                  <a:srgbClr val="0F7C6E"/>
                </a:solidFill>
                <a:latin typeface="DM Sans"/>
                <a:ea typeface="DM Sans"/>
                <a:cs typeface="DM Sans"/>
                <a:sym typeface="DM Sans"/>
              </a:rPr>
              <a:t>Growth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785813" y="1757325"/>
            <a:ext cx="2253177" cy="339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2400"/>
              <a:buFont typeface="DM Sans"/>
              <a:buNone/>
            </a:pPr>
            <a:r>
              <a:rPr b="1" i="0" lang="zh-CN" sz="24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$103B</a:t>
            </a:r>
            <a:endParaRPr b="0" i="0" sz="2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785813" y="2096393"/>
            <a:ext cx="2253177" cy="481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DM Sans"/>
              <a:buNone/>
            </a:pP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Global wearable tech market in 2026, projected to reach $231B by 2033 (12.2% CAGR)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785813" y="2673586"/>
            <a:ext cx="2253177" cy="339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2400"/>
              <a:buFont typeface="DM Sans"/>
              <a:buNone/>
            </a:pPr>
            <a:r>
              <a:rPr b="1" i="0" lang="zh-CN" sz="24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+53%</a:t>
            </a:r>
            <a:endParaRPr b="0" i="0" sz="2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785813" y="3012653"/>
            <a:ext cx="2253177" cy="481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DM Sans"/>
              <a:buNone/>
            </a:pP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Smart ring shipments in 2026, while smartwatches dip 4% on replacement fatigue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785813" y="3589846"/>
            <a:ext cx="2253177" cy="339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2400"/>
              <a:buFont typeface="DM Sans"/>
              <a:buNone/>
            </a:pPr>
            <a:r>
              <a:rPr b="1" i="0" lang="zh-CN" sz="24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5M+</a:t>
            </a:r>
            <a:endParaRPr b="0" i="0" sz="2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785813" y="3928914"/>
            <a:ext cx="2253177" cy="32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DM Sans"/>
              <a:buNone/>
            </a:pP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Paid Oura members; revenue up 74% year over year ahead of its IPO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3304357" y="1286321"/>
            <a:ext cx="2535250" cy="3125018"/>
          </a:xfrm>
          <a:prstGeom prst="roundRect">
            <a:avLst>
              <a:gd fmla="val 3663" name="adj"/>
            </a:avLst>
          </a:prstGeom>
          <a:solidFill>
            <a:srgbClr val="FCFCFA"/>
          </a:solidFill>
          <a:ln cap="flat" cmpd="sng" w="9525">
            <a:solidFill>
              <a:srgbClr val="DDE1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3478188" y="1460153"/>
            <a:ext cx="2253215" cy="20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C6E"/>
              </a:buClr>
              <a:buSzPts val="1200"/>
              <a:buFont typeface="DM Sans"/>
              <a:buNone/>
            </a:pPr>
            <a:r>
              <a:rPr b="1" i="0" lang="zh-CN" sz="1200" u="none" cap="none" strike="noStrike">
                <a:solidFill>
                  <a:srgbClr val="0F7C6E"/>
                </a:solidFill>
                <a:latin typeface="DM Sans"/>
                <a:ea typeface="DM Sans"/>
                <a:cs typeface="DM Sans"/>
                <a:sym typeface="DM Sans"/>
              </a:rPr>
              <a:t>Dominant products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3478188" y="1738275"/>
            <a:ext cx="2253215" cy="32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Apple Watch:</a:t>
            </a: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leads North America, about 20% of global shipments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3478188" y="2142121"/>
            <a:ext cx="2253215" cy="32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Huawei Watch:</a:t>
            </a: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#1 globally (22%), driven by China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3478188" y="2545966"/>
            <a:ext cx="2253215" cy="32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Garmin:</a:t>
            </a: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premium choice for athletes and outdoor users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3478188" y="2949811"/>
            <a:ext cx="2253215" cy="32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Samsung Galaxy Watch:</a:t>
            </a: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Android leader, losing share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3478188" y="3353656"/>
            <a:ext cx="2253215" cy="32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Oura Ring:</a:t>
            </a: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roughly three quarters of smart ring shipments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3478188" y="3757501"/>
            <a:ext cx="2253215" cy="32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WHOOP:</a:t>
            </a: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screenless strap sold as a subscription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5994388" y="1283940"/>
            <a:ext cx="2539976" cy="3129781"/>
          </a:xfrm>
          <a:prstGeom prst="roundRect">
            <a:avLst>
              <a:gd fmla="val 3750" name="adj"/>
            </a:avLst>
          </a:prstGeom>
          <a:solidFill>
            <a:srgbClr val="1323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6165838" y="1455390"/>
            <a:ext cx="2262988" cy="20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200"/>
              <a:buFont typeface="DM Sans"/>
              <a:buNone/>
            </a:pPr>
            <a:r>
              <a:rPr b="1" i="0" lang="zh-CN" sz="1200" u="none" cap="none" strike="noStrike">
                <a:solidFill>
                  <a:srgbClr val="F2A65A"/>
                </a:solidFill>
                <a:latin typeface="DM Sans"/>
                <a:ea typeface="DM Sans"/>
                <a:cs typeface="DM Sans"/>
                <a:sym typeface="DM Sans"/>
              </a:rPr>
              <a:t>What’s new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6165838" y="1733513"/>
            <a:ext cx="2262988" cy="481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FDA wellness guidance (Jan 2026)</a:t>
            </a:r>
            <a:r>
              <a:rPr b="0" i="0" lang="zh-CN" sz="900" u="none" cap="none" strike="noStrike">
                <a:solidFill>
                  <a:srgbClr val="D6DEE6"/>
                </a:solidFill>
                <a:latin typeface="DM Sans"/>
                <a:ea typeface="DM Sans"/>
                <a:cs typeface="DM Sans"/>
                <a:sym typeface="DM Sans"/>
              </a:rPr>
              <a:t> lets wearables estimate blood pressure and glucose without clearance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6170588" y="2527406"/>
            <a:ext cx="22629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Cuffless blood pressure:</a:t>
            </a:r>
            <a:r>
              <a:rPr b="0" i="0" lang="zh-CN" sz="900" u="none" cap="none" strike="noStrike">
                <a:solidFill>
                  <a:srgbClr val="D6DEE6"/>
                </a:solidFill>
                <a:latin typeface="DM Sans"/>
                <a:ea typeface="DM Sans"/>
                <a:cs typeface="DM Sans"/>
                <a:sym typeface="DM Sans"/>
              </a:rPr>
              <a:t> Apple hypertension alerts, Oura nighttime BP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6170588" y="3133913"/>
            <a:ext cx="22629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Metabolic insights:</a:t>
            </a:r>
            <a:r>
              <a:rPr b="0" i="0" lang="zh-CN" sz="900" u="none" cap="none" strike="noStrike">
                <a:solidFill>
                  <a:srgbClr val="D6DEE6"/>
                </a:solidFill>
                <a:latin typeface="DM Sans"/>
                <a:ea typeface="DM Sans"/>
                <a:cs typeface="DM Sans"/>
                <a:sym typeface="DM Sans"/>
              </a:rPr>
              <a:t> Google’s Insulin Resistance Trends (Aug 2026)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6170588" y="3740458"/>
            <a:ext cx="22629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AI coaching:</a:t>
            </a:r>
            <a:r>
              <a:rPr b="0" i="0" lang="zh-CN" sz="900" u="none" cap="none" strike="noStrike">
                <a:solidFill>
                  <a:srgbClr val="D6DEE6"/>
                </a:solidFill>
                <a:latin typeface="DM Sans"/>
                <a:ea typeface="DM Sans"/>
                <a:cs typeface="DM Sans"/>
                <a:sym typeface="DM Sans"/>
              </a:rPr>
              <a:t> interpretation, not sensors, is the new battleground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609600" y="4785383"/>
            <a:ext cx="8162544" cy="1676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7179"/>
              </a:buClr>
              <a:buSzPts val="900"/>
              <a:buFont typeface="DM Sans"/>
              <a:buNone/>
            </a:pPr>
            <a:r>
              <a:rPr b="0" i="0" lang="zh-CN" sz="900" u="none" cap="none" strike="noStrike">
                <a:solidFill>
                  <a:srgbClr val="6A7179"/>
                </a:solidFill>
                <a:latin typeface="DM Sans"/>
                <a:ea typeface="DM Sans"/>
                <a:cs typeface="DM Sans"/>
                <a:sym typeface="DM Sans"/>
              </a:rPr>
              <a:t>Sources: Persistence Market Research; FDM CCS Insight; Oura S-1 filing; Counterpoint Q2 2026; FDA, Jan 2026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609600" y="457200"/>
            <a:ext cx="8162544" cy="354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ct val="100000"/>
              <a:buFont typeface="DM Sans"/>
              <a:buNone/>
            </a:pPr>
            <a:r>
              <a:rPr b="1" i="0" lang="zh-CN" sz="2400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Jobs to Be Done:</a:t>
            </a:r>
            <a:r>
              <a:rPr b="1" lang="zh-CN"/>
              <a:t> Why Wear it?</a:t>
            </a:r>
            <a:endParaRPr sz="2400"/>
          </a:p>
        </p:txBody>
      </p:sp>
      <p:sp>
        <p:nvSpPr>
          <p:cNvPr id="104" name="Google Shape;104;p18"/>
          <p:cNvSpPr/>
          <p:nvPr/>
        </p:nvSpPr>
        <p:spPr>
          <a:xfrm>
            <a:off x="609600" y="982973"/>
            <a:ext cx="2539975" cy="3186894"/>
          </a:xfrm>
          <a:prstGeom prst="roundRect">
            <a:avLst>
              <a:gd fmla="val 3750" name="adj"/>
            </a:avLst>
          </a:prstGeom>
          <a:solidFill>
            <a:srgbClr val="FCFC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/>
          <p:nvPr/>
        </p:nvSpPr>
        <p:spPr>
          <a:xfrm>
            <a:off x="609600" y="982973"/>
            <a:ext cx="2539975" cy="3186894"/>
          </a:xfrm>
          <a:custGeom>
            <a:rect b="b" l="l" r="r" t="t"/>
            <a:pathLst>
              <a:path extrusionOk="0" h="4249192" w="3386634">
                <a:moveTo>
                  <a:pt x="127000" y="0"/>
                </a:moveTo>
                <a:lnTo>
                  <a:pt x="3259634" y="0"/>
                </a:lnTo>
                <a:cubicBezTo>
                  <a:pt x="3293316" y="0"/>
                  <a:pt x="3325619" y="13380"/>
                  <a:pt x="3349437" y="37197"/>
                </a:cubicBezTo>
                <a:cubicBezTo>
                  <a:pt x="3373254" y="61015"/>
                  <a:pt x="3386634" y="93318"/>
                  <a:pt x="3386634" y="127000"/>
                </a:cubicBezTo>
                <a:lnTo>
                  <a:pt x="3386634" y="4122192"/>
                </a:lnTo>
                <a:cubicBezTo>
                  <a:pt x="3386634" y="4192332"/>
                  <a:pt x="3329774" y="4249192"/>
                  <a:pt x="3259634" y="4249192"/>
                </a:cubicBezTo>
                <a:lnTo>
                  <a:pt x="127000" y="4249192"/>
                </a:lnTo>
                <a:cubicBezTo>
                  <a:pt x="56860" y="4249192"/>
                  <a:pt x="0" y="4192332"/>
                  <a:pt x="0" y="4122192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  <a:moveTo>
                  <a:pt x="127000" y="50800"/>
                </a:moveTo>
                <a:cubicBezTo>
                  <a:pt x="63874" y="50800"/>
                  <a:pt x="12700" y="84916"/>
                  <a:pt x="12700" y="127000"/>
                </a:cubicBezTo>
                <a:lnTo>
                  <a:pt x="12700" y="4122192"/>
                </a:lnTo>
                <a:cubicBezTo>
                  <a:pt x="12700" y="4185318"/>
                  <a:pt x="63874" y="4236492"/>
                  <a:pt x="127000" y="4236492"/>
                </a:cubicBezTo>
                <a:lnTo>
                  <a:pt x="3259634" y="4236492"/>
                </a:lnTo>
                <a:cubicBezTo>
                  <a:pt x="3322760" y="4236492"/>
                  <a:pt x="3373934" y="4185318"/>
                  <a:pt x="3373934" y="4122192"/>
                </a:cubicBezTo>
                <a:lnTo>
                  <a:pt x="3373934" y="127000"/>
                </a:lnTo>
                <a:cubicBezTo>
                  <a:pt x="3373934" y="84916"/>
                  <a:pt x="3322760" y="50800"/>
                  <a:pt x="3259634" y="50800"/>
                </a:cubicBezTo>
                <a:close/>
              </a:path>
            </a:pathLst>
          </a:custGeom>
          <a:solidFill>
            <a:srgbClr val="0F7C6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ool" id="106" name="Google Shape;10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121916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/>
          <p:nvPr/>
        </p:nvSpPr>
        <p:spPr>
          <a:xfrm>
            <a:off x="1066800" y="1211572"/>
            <a:ext cx="991977" cy="224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C6E"/>
              </a:buClr>
              <a:buSzPts val="1400"/>
              <a:buFont typeface="DM Sans"/>
              <a:buNone/>
            </a:pPr>
            <a:r>
              <a:rPr b="1" i="0" lang="zh-CN" sz="1400" u="none" cap="none" strike="noStrike">
                <a:solidFill>
                  <a:srgbClr val="0F7C6E"/>
                </a:solidFill>
                <a:latin typeface="DM Sans"/>
                <a:ea typeface="DM Sans"/>
                <a:cs typeface="DM Sans"/>
                <a:sym typeface="DM Sans"/>
              </a:rPr>
              <a:t>Functional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2058777" y="1215368"/>
            <a:ext cx="890773" cy="198090"/>
          </a:xfrm>
          <a:custGeom>
            <a:rect b="b" l="l" r="r" t="t"/>
            <a:pathLst>
              <a:path extrusionOk="0" h="264120" w="1187698">
                <a:moveTo>
                  <a:pt x="132060" y="0"/>
                </a:moveTo>
                <a:lnTo>
                  <a:pt x="1055638" y="0"/>
                </a:lnTo>
                <a:cubicBezTo>
                  <a:pt x="1090662" y="0"/>
                  <a:pt x="1124252" y="13913"/>
                  <a:pt x="1149019" y="38679"/>
                </a:cubicBezTo>
                <a:cubicBezTo>
                  <a:pt x="1173785" y="63446"/>
                  <a:pt x="1187698" y="97036"/>
                  <a:pt x="1187698" y="132060"/>
                </a:cubicBezTo>
                <a:lnTo>
                  <a:pt x="1187698" y="132060"/>
                </a:lnTo>
                <a:cubicBezTo>
                  <a:pt x="1187698" y="204995"/>
                  <a:pt x="1128573" y="264120"/>
                  <a:pt x="1055638" y="264120"/>
                </a:cubicBezTo>
                <a:lnTo>
                  <a:pt x="132060" y="264120"/>
                </a:lnTo>
                <a:cubicBezTo>
                  <a:pt x="59125" y="264120"/>
                  <a:pt x="0" y="204995"/>
                  <a:pt x="0" y="132060"/>
                </a:cubicBezTo>
                <a:lnTo>
                  <a:pt x="0" y="132060"/>
                </a:lnTo>
                <a:cubicBezTo>
                  <a:pt x="0" y="59125"/>
                  <a:pt x="59125" y="0"/>
                  <a:pt x="132060" y="0"/>
                </a:cubicBezTo>
                <a:close/>
              </a:path>
            </a:pathLst>
          </a:custGeom>
          <a:solidFill>
            <a:srgbClr val="0F7C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Mapped next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809625" y="1512540"/>
            <a:ext cx="2204123" cy="539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100"/>
              <a:buFont typeface="DM Sans"/>
              <a:buNone/>
            </a:pPr>
            <a:r>
              <a:rPr b="1" i="0" lang="zh-CN" sz="11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“When something feels off, I want objective data so I can decide whether to see a doctor.”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809625" y="2332211"/>
            <a:ext cx="22041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C6E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0F7C6E"/>
                </a:solidFill>
                <a:latin typeface="DM Sans"/>
                <a:ea typeface="DM Sans"/>
                <a:cs typeface="DM Sans"/>
                <a:sym typeface="DM Sans"/>
              </a:rPr>
              <a:t>DESIRED OUTCOME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809625" y="2537807"/>
            <a:ext cx="22041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DM Sans"/>
              <a:buNone/>
            </a:pP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Know quickly if it’s serious, and walk into the appointment with evidence instead of memories.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809625" y="3112981"/>
            <a:ext cx="22041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C6E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0F7C6E"/>
                </a:solidFill>
                <a:latin typeface="DM Sans"/>
                <a:ea typeface="DM Sans"/>
                <a:cs typeface="DM Sans"/>
                <a:sym typeface="DM Sans"/>
              </a:rPr>
              <a:t>CURRENT SOLUTION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801269" y="3357418"/>
            <a:ext cx="22041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DM Sans"/>
              <a:buNone/>
            </a:pP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Apple Watch ECG and rhythm alerts, Oura or WHOOP trends, searching symptoms online, phone screenshots shown at visits.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3304357" y="985354"/>
            <a:ext cx="2535250" cy="3182131"/>
          </a:xfrm>
          <a:prstGeom prst="roundRect">
            <a:avLst>
              <a:gd fmla="val 3663" name="adj"/>
            </a:avLst>
          </a:prstGeom>
          <a:solidFill>
            <a:srgbClr val="FCFCFA"/>
          </a:solidFill>
          <a:ln cap="flat" cmpd="sng" w="9525">
            <a:solidFill>
              <a:srgbClr val="DDE1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ctivity" id="115" name="Google Shape;11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7238" y="11858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/>
          <p:nvPr/>
        </p:nvSpPr>
        <p:spPr>
          <a:xfrm>
            <a:off x="3754413" y="1178235"/>
            <a:ext cx="1008340" cy="224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3480F"/>
              </a:buClr>
              <a:buSzPts val="1400"/>
              <a:buFont typeface="DM Sans"/>
              <a:buNone/>
            </a:pPr>
            <a:r>
              <a:rPr b="1" i="0" lang="zh-CN" sz="1400" u="none" cap="none" strike="noStrike">
                <a:solidFill>
                  <a:srgbClr val="A3480F"/>
                </a:solidFill>
                <a:latin typeface="DM Sans"/>
                <a:ea typeface="DM Sans"/>
                <a:cs typeface="DM Sans"/>
                <a:sym typeface="DM Sans"/>
              </a:rPr>
              <a:t>Emotional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3497238" y="1479203"/>
            <a:ext cx="2213972" cy="712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100"/>
              <a:buFont typeface="DM Sans"/>
              <a:buNone/>
            </a:pPr>
            <a:r>
              <a:rPr b="1" i="0" lang="zh-CN" sz="11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“When I check my scores each morning, I want to feel reassured and in control, so I start the day confident, not anxious.”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3497238" y="2540347"/>
            <a:ext cx="2214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3480F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A3480F"/>
                </a:solidFill>
                <a:latin typeface="DM Sans"/>
                <a:ea typeface="DM Sans"/>
                <a:cs typeface="DM Sans"/>
                <a:sym typeface="DM Sans"/>
              </a:rPr>
              <a:t>DESIRED OUTCOME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3497238" y="2711880"/>
            <a:ext cx="22140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DM Sans"/>
              <a:buNone/>
            </a:pP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Understand what the numbers mean for me and see a sense of progress, without worry over one bad reading.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3497238" y="3235960"/>
            <a:ext cx="2214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3480F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A3480F"/>
                </a:solidFill>
                <a:latin typeface="DM Sans"/>
                <a:ea typeface="DM Sans"/>
                <a:cs typeface="DM Sans"/>
                <a:sym typeface="DM Sans"/>
              </a:rPr>
              <a:t>CURRENT SOLUTION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3497238" y="3458588"/>
            <a:ext cx="22140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DM Sans"/>
              <a:buNone/>
            </a:pP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Readiness and recovery scores (Oura, WHOOP, Garmin Body Battery), in-app tips, online forums, or ignoring the data.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5996769" y="985354"/>
            <a:ext cx="2535213" cy="3182131"/>
          </a:xfrm>
          <a:prstGeom prst="roundRect">
            <a:avLst>
              <a:gd fmla="val 3663" name="adj"/>
            </a:avLst>
          </a:prstGeom>
          <a:solidFill>
            <a:srgbClr val="FCFCFA"/>
          </a:solidFill>
          <a:ln cap="flat" cmpd="sng" w="9525">
            <a:solidFill>
              <a:srgbClr val="DDE1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sers" id="123" name="Google Shape;12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9650" y="11858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/>
          <p:nvPr/>
        </p:nvSpPr>
        <p:spPr>
          <a:xfrm>
            <a:off x="6446825" y="1178235"/>
            <a:ext cx="606504" cy="224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5A9E"/>
              </a:buClr>
              <a:buSzPts val="1400"/>
              <a:buFont typeface="DM Sans"/>
              <a:buNone/>
            </a:pPr>
            <a:r>
              <a:rPr b="1" i="0" lang="zh-CN" sz="1400" u="none" cap="none" strike="noStrike">
                <a:solidFill>
                  <a:srgbClr val="2F5A9E"/>
                </a:solidFill>
                <a:latin typeface="DM Sans"/>
                <a:ea typeface="DM Sans"/>
                <a:cs typeface="DM Sans"/>
                <a:sym typeface="DM Sans"/>
              </a:rPr>
              <a:t>Social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6189650" y="1479203"/>
            <a:ext cx="2213934" cy="712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100"/>
              <a:buFont typeface="DM Sans"/>
              <a:buNone/>
            </a:pPr>
            <a:r>
              <a:rPr b="1" i="0" lang="zh-CN" sz="11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“When I wear my tracker all day, I want it to signal the right image for the setting</a:t>
            </a:r>
            <a:r>
              <a:rPr b="1" lang="zh-CN" sz="1100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.”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6189650" y="2267843"/>
            <a:ext cx="2213934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5A9E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2F5A9E"/>
                </a:solidFill>
                <a:latin typeface="DM Sans"/>
                <a:ea typeface="DM Sans"/>
                <a:cs typeface="DM Sans"/>
                <a:sym typeface="DM Sans"/>
              </a:rPr>
              <a:t>DESIRED OUTCOME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6189650" y="2473440"/>
            <a:ext cx="22140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DM Sans"/>
              <a:buNone/>
            </a:pP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Look committed to training at practice, and look put together, not tech-obsessed or “sick,” in class, at work or out.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6189650" y="3202911"/>
            <a:ext cx="2214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5A9E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2F5A9E"/>
                </a:solidFill>
                <a:latin typeface="DM Sans"/>
                <a:ea typeface="DM Sans"/>
                <a:cs typeface="DM Sans"/>
                <a:sym typeface="DM Sans"/>
              </a:rPr>
              <a:t>CURRENT SOLUTION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6189650" y="3408508"/>
            <a:ext cx="22140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DM Sans"/>
              <a:buNone/>
            </a:pP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 visible WHOOP strap as an athlete signal; an Oura ring that passes as jewelry; swapping bands or taking the device off.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609600" y="4785383"/>
            <a:ext cx="8162544" cy="1676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7179"/>
              </a:buClr>
              <a:buSzPts val="900"/>
              <a:buFont typeface="DM Sans"/>
              <a:buNone/>
            </a:pPr>
            <a:r>
              <a:rPr b="0" i="0" lang="zh-CN" sz="900" u="none" cap="none" strike="noStrike">
                <a:solidFill>
                  <a:srgbClr val="6A7179"/>
                </a:solidFill>
                <a:latin typeface="DM Sans"/>
                <a:ea typeface="DM Sans"/>
                <a:cs typeface="DM Sans"/>
                <a:sym typeface="DM Sans"/>
              </a:rPr>
              <a:t>Sources: team analysis and firsthand experience; product examples from Apple, Oura, WHOOP and Garmin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609600" y="457200"/>
            <a:ext cx="8162544" cy="354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2400"/>
              <a:buFont typeface="DM Sans"/>
              <a:buNone/>
            </a:pPr>
            <a:r>
              <a:rPr b="1" i="0" lang="zh-CN" sz="2400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Process Map: “Should I see a doctor?”</a:t>
            </a:r>
            <a:endParaRPr sz="2400"/>
          </a:p>
        </p:txBody>
      </p:sp>
      <p:sp>
        <p:nvSpPr>
          <p:cNvPr id="137" name="Google Shape;137;p19"/>
          <p:cNvSpPr/>
          <p:nvPr/>
        </p:nvSpPr>
        <p:spPr>
          <a:xfrm>
            <a:off x="609600" y="840097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7C6E"/>
              </a:buClr>
              <a:buSzPts val="1100"/>
              <a:buFont typeface="DM Sans"/>
              <a:buNone/>
            </a:pPr>
            <a:r>
              <a:rPr b="1" i="0" lang="zh-CN" sz="1100" u="none" cap="none" strike="noStrike">
                <a:solidFill>
                  <a:srgbClr val="0F7C6E"/>
                </a:solidFill>
                <a:latin typeface="DM Sans"/>
                <a:ea typeface="DM Sans"/>
                <a:cs typeface="DM Sans"/>
                <a:sym typeface="DM Sans"/>
              </a:rPr>
              <a:t>Functional job:</a:t>
            </a:r>
            <a:r>
              <a:rPr b="0" i="0" lang="zh-CN" sz="11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When something feels off, I want objective data so I can decide whether to see a doctor.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Step 1 chevron" id="138" name="Google Shape;1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165845"/>
            <a:ext cx="881063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/>
          <p:nvPr/>
        </p:nvSpPr>
        <p:spPr>
          <a:xfrm>
            <a:off x="666750" y="1332533"/>
            <a:ext cx="6858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Notice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Symptom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1485900" y="1165845"/>
            <a:ext cx="881063" cy="609600"/>
          </a:xfrm>
          <a:prstGeom prst="rect">
            <a:avLst/>
          </a:prstGeom>
          <a:solidFill>
            <a:srgbClr val="F9E6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tep 2 chevron, focus area" id="141" name="Google Shape;14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5900" y="1165845"/>
            <a:ext cx="881063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/>
          <p:nvPr/>
        </p:nvSpPr>
        <p:spPr>
          <a:xfrm>
            <a:off x="1590675" y="1332533"/>
            <a:ext cx="6858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Capture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Data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Step 3 chevron" id="143" name="Google Shape;14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66963" y="1165845"/>
            <a:ext cx="881063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/>
          <p:nvPr/>
        </p:nvSpPr>
        <p:spPr>
          <a:xfrm>
            <a:off x="2471738" y="1332533"/>
            <a:ext cx="6858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Check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Readings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3248025" y="1165845"/>
            <a:ext cx="881063" cy="609600"/>
          </a:xfrm>
          <a:prstGeom prst="rect">
            <a:avLst/>
          </a:prstGeom>
          <a:solidFill>
            <a:srgbClr val="F9E6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tep 4 chevron, focus area" id="146" name="Google Shape;14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8025" y="1165845"/>
            <a:ext cx="881063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/>
          <p:nvPr/>
        </p:nvSpPr>
        <p:spPr>
          <a:xfrm>
            <a:off x="3352800" y="1403970"/>
            <a:ext cx="685800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Interpret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4129088" y="1165845"/>
            <a:ext cx="881063" cy="609600"/>
          </a:xfrm>
          <a:prstGeom prst="rect">
            <a:avLst/>
          </a:prstGeom>
          <a:solidFill>
            <a:srgbClr val="F9E6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tep 5 chevron, focus area" id="149" name="Google Shape;14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9088" y="1165845"/>
            <a:ext cx="881063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/>
          <p:nvPr/>
        </p:nvSpPr>
        <p:spPr>
          <a:xfrm>
            <a:off x="4233863" y="1332533"/>
            <a:ext cx="6858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Decide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Next Step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Step 6 chevron" id="151" name="Google Shape;15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10150" y="1165845"/>
            <a:ext cx="881063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/>
          <p:nvPr/>
        </p:nvSpPr>
        <p:spPr>
          <a:xfrm>
            <a:off x="5114925" y="1332533"/>
            <a:ext cx="6858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Book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a Visit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5891213" y="1165845"/>
            <a:ext cx="881063" cy="609600"/>
          </a:xfrm>
          <a:prstGeom prst="rect">
            <a:avLst/>
          </a:prstGeom>
          <a:solidFill>
            <a:srgbClr val="F9E6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tep 7 chevron, focus area" id="154" name="Google Shape;15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213" y="1165845"/>
            <a:ext cx="881063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/>
          <p:nvPr/>
        </p:nvSpPr>
        <p:spPr>
          <a:xfrm>
            <a:off x="5995988" y="1332533"/>
            <a:ext cx="6858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Brief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Doctor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Step 8 chevron" id="156" name="Google Shape;15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2275" y="1165845"/>
            <a:ext cx="881063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/>
          <p:nvPr/>
        </p:nvSpPr>
        <p:spPr>
          <a:xfrm>
            <a:off x="6877050" y="1332533"/>
            <a:ext cx="6858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Follow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Up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7653338" y="1814745"/>
            <a:ext cx="8715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900"/>
              <a:buFont typeface="DM Sans"/>
              <a:buNone/>
            </a:pPr>
            <a:r>
              <a:rPr b="1" lang="zh-CN" sz="900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Step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666750" y="1851645"/>
            <a:ext cx="800100" cy="464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DM Sans"/>
              <a:buNone/>
            </a:pP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Feel off, or get an alert from the device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1485900" y="1775445"/>
            <a:ext cx="881063" cy="800100"/>
          </a:xfrm>
          <a:prstGeom prst="rect">
            <a:avLst/>
          </a:prstGeom>
          <a:solidFill>
            <a:srgbClr val="F9E6D8"/>
          </a:solidFill>
          <a:ln>
            <a:noFill/>
          </a:ln>
        </p:spPr>
        <p:txBody>
          <a:bodyPr anchorCtr="0" anchor="t" bIns="0" lIns="57150" spcFirstLastPara="1" rIns="19050" wrap="square" tIns="762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DM Sans"/>
              <a:buNone/>
            </a:pP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Device must be worn and charged in the moment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2424113" y="1851645"/>
            <a:ext cx="804863" cy="464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DM Sans"/>
              <a:buNone/>
            </a:pP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Open the app: heart rate, HRV, ECG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3248025" y="1775445"/>
            <a:ext cx="881063" cy="800100"/>
          </a:xfrm>
          <a:prstGeom prst="rect">
            <a:avLst/>
          </a:prstGeom>
          <a:solidFill>
            <a:srgbClr val="F9E6D8"/>
          </a:solidFill>
          <a:ln>
            <a:noFill/>
          </a:ln>
        </p:spPr>
        <p:txBody>
          <a:bodyPr anchorCtr="0" anchor="t" bIns="0" lIns="57150" spcFirstLastPara="1" rIns="19050" wrap="square" tIns="762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DM Sans"/>
              <a:buNone/>
            </a:pP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Judge if the readings are normal for me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4129088" y="1775445"/>
            <a:ext cx="881063" cy="800100"/>
          </a:xfrm>
          <a:prstGeom prst="rect">
            <a:avLst/>
          </a:prstGeom>
          <a:solidFill>
            <a:srgbClr val="F9E6D8"/>
          </a:solidFill>
          <a:ln>
            <a:noFill/>
          </a:ln>
        </p:spPr>
        <p:txBody>
          <a:bodyPr anchorCtr="0" anchor="t" bIns="0" lIns="57150" spcFirstLastPara="1" rIns="19050" wrap="square" tIns="762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DM Sans"/>
              <a:buNone/>
            </a:pP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Wait it out, adjust, or seek care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5067300" y="1851645"/>
            <a:ext cx="804863" cy="464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DM Sans"/>
              <a:buNone/>
            </a:pP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Schedule a visit or telehealth call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5891213" y="1775445"/>
            <a:ext cx="881063" cy="800100"/>
          </a:xfrm>
          <a:prstGeom prst="rect">
            <a:avLst/>
          </a:prstGeom>
          <a:solidFill>
            <a:srgbClr val="F9E6D8"/>
          </a:solidFill>
          <a:ln>
            <a:noFill/>
          </a:ln>
        </p:spPr>
        <p:txBody>
          <a:bodyPr anchorCtr="0" anchor="t" bIns="0" lIns="57150" spcFirstLastPara="1" rIns="19050" wrap="square" tIns="762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DM Sans"/>
              <a:buNone/>
            </a:pP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Show trends in a 15 minute visit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6829425" y="1851645"/>
            <a:ext cx="804863" cy="464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DM Sans"/>
              <a:buNone/>
            </a:pPr>
            <a:r>
              <a:rPr b="0" i="0" lang="zh-CN" sz="9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Monitor after treatment or changes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67" name="Google Shape;167;p19"/>
          <p:cNvCxnSpPr/>
          <p:nvPr/>
        </p:nvCxnSpPr>
        <p:spPr>
          <a:xfrm>
            <a:off x="7653338" y="2578308"/>
            <a:ext cx="881100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19"/>
          <p:cNvSpPr/>
          <p:nvPr/>
        </p:nvSpPr>
        <p:spPr>
          <a:xfrm>
            <a:off x="7653338" y="2601569"/>
            <a:ext cx="8715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Importance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(1 to 5)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69" name="Google Shape;169;p19"/>
          <p:cNvCxnSpPr/>
          <p:nvPr/>
        </p:nvCxnSpPr>
        <p:spPr>
          <a:xfrm>
            <a:off x="609600" y="2577926"/>
            <a:ext cx="876300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19"/>
          <p:cNvSpPr/>
          <p:nvPr/>
        </p:nvSpPr>
        <p:spPr>
          <a:xfrm>
            <a:off x="638175" y="2654126"/>
            <a:ext cx="819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700"/>
              <a:buFont typeface="DM Sans"/>
              <a:buNone/>
            </a:pPr>
            <a:r>
              <a:rPr b="1" i="0" lang="zh-CN" sz="17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1485900" y="2575545"/>
            <a:ext cx="881063" cy="361950"/>
          </a:xfrm>
          <a:prstGeom prst="rect">
            <a:avLst/>
          </a:prstGeom>
          <a:solidFill>
            <a:srgbClr val="F9E6D8"/>
          </a:solidFill>
          <a:ln>
            <a:noFill/>
          </a:ln>
        </p:spPr>
        <p:txBody>
          <a:bodyPr anchorCtr="0" anchor="ctr" bIns="0" lIns="28575" spcFirstLastPara="1" rIns="28575" wrap="square" tIns="4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700"/>
              <a:buFont typeface="DM Sans"/>
              <a:buNone/>
            </a:pPr>
            <a:r>
              <a:rPr b="1" i="0" lang="zh-CN" sz="17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72" name="Google Shape;172;p19"/>
          <p:cNvCxnSpPr/>
          <p:nvPr/>
        </p:nvCxnSpPr>
        <p:spPr>
          <a:xfrm>
            <a:off x="1485900" y="2577926"/>
            <a:ext cx="881063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19"/>
          <p:cNvCxnSpPr/>
          <p:nvPr/>
        </p:nvCxnSpPr>
        <p:spPr>
          <a:xfrm>
            <a:off x="2366963" y="2577926"/>
            <a:ext cx="881063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19"/>
          <p:cNvSpPr/>
          <p:nvPr/>
        </p:nvSpPr>
        <p:spPr>
          <a:xfrm>
            <a:off x="2395538" y="2654126"/>
            <a:ext cx="8239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700"/>
              <a:buFont typeface="DM Sans"/>
              <a:buNone/>
            </a:pPr>
            <a:r>
              <a:rPr b="1" i="0" lang="zh-CN" sz="17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3248025" y="2575545"/>
            <a:ext cx="881063" cy="361950"/>
          </a:xfrm>
          <a:prstGeom prst="rect">
            <a:avLst/>
          </a:prstGeom>
          <a:solidFill>
            <a:srgbClr val="F9E6D8"/>
          </a:solidFill>
          <a:ln>
            <a:noFill/>
          </a:ln>
        </p:spPr>
        <p:txBody>
          <a:bodyPr anchorCtr="0" anchor="ctr" bIns="0" lIns="28575" spcFirstLastPara="1" rIns="28575" wrap="square" tIns="4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700"/>
              <a:buFont typeface="DM Sans"/>
              <a:buNone/>
            </a:pPr>
            <a:r>
              <a:rPr b="1" i="0" lang="zh-CN" sz="17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76" name="Google Shape;176;p19"/>
          <p:cNvCxnSpPr/>
          <p:nvPr/>
        </p:nvCxnSpPr>
        <p:spPr>
          <a:xfrm>
            <a:off x="3248025" y="2577926"/>
            <a:ext cx="881063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19"/>
          <p:cNvSpPr/>
          <p:nvPr/>
        </p:nvSpPr>
        <p:spPr>
          <a:xfrm>
            <a:off x="4129088" y="2575545"/>
            <a:ext cx="881063" cy="361950"/>
          </a:xfrm>
          <a:prstGeom prst="rect">
            <a:avLst/>
          </a:prstGeom>
          <a:solidFill>
            <a:srgbClr val="F9E6D8"/>
          </a:solidFill>
          <a:ln>
            <a:noFill/>
          </a:ln>
        </p:spPr>
        <p:txBody>
          <a:bodyPr anchorCtr="0" anchor="ctr" bIns="0" lIns="28575" spcFirstLastPara="1" rIns="28575" wrap="square" tIns="4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700"/>
              <a:buFont typeface="DM Sans"/>
              <a:buNone/>
            </a:pPr>
            <a:r>
              <a:rPr b="1" i="0" lang="zh-CN" sz="17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78" name="Google Shape;178;p19"/>
          <p:cNvCxnSpPr/>
          <p:nvPr/>
        </p:nvCxnSpPr>
        <p:spPr>
          <a:xfrm>
            <a:off x="4129088" y="2577926"/>
            <a:ext cx="881063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19"/>
          <p:cNvCxnSpPr/>
          <p:nvPr/>
        </p:nvCxnSpPr>
        <p:spPr>
          <a:xfrm>
            <a:off x="5010150" y="2577926"/>
            <a:ext cx="881063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19"/>
          <p:cNvSpPr/>
          <p:nvPr/>
        </p:nvSpPr>
        <p:spPr>
          <a:xfrm>
            <a:off x="5038725" y="2654126"/>
            <a:ext cx="8239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700"/>
              <a:buFont typeface="DM Sans"/>
              <a:buNone/>
            </a:pPr>
            <a:r>
              <a:rPr b="1" i="0" lang="zh-CN" sz="17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5891213" y="2575545"/>
            <a:ext cx="881063" cy="361950"/>
          </a:xfrm>
          <a:prstGeom prst="rect">
            <a:avLst/>
          </a:prstGeom>
          <a:solidFill>
            <a:srgbClr val="F9E6D8"/>
          </a:solidFill>
          <a:ln>
            <a:noFill/>
          </a:ln>
        </p:spPr>
        <p:txBody>
          <a:bodyPr anchorCtr="0" anchor="ctr" bIns="0" lIns="28575" spcFirstLastPara="1" rIns="28575" wrap="square" tIns="4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700"/>
              <a:buFont typeface="DM Sans"/>
              <a:buNone/>
            </a:pPr>
            <a:r>
              <a:rPr b="1" i="0" lang="zh-CN" sz="17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82" name="Google Shape;182;p19"/>
          <p:cNvCxnSpPr/>
          <p:nvPr/>
        </p:nvCxnSpPr>
        <p:spPr>
          <a:xfrm>
            <a:off x="5891213" y="2577926"/>
            <a:ext cx="881063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" name="Google Shape;183;p19"/>
          <p:cNvCxnSpPr/>
          <p:nvPr/>
        </p:nvCxnSpPr>
        <p:spPr>
          <a:xfrm>
            <a:off x="6772275" y="2577926"/>
            <a:ext cx="881063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19"/>
          <p:cNvSpPr/>
          <p:nvPr/>
        </p:nvSpPr>
        <p:spPr>
          <a:xfrm>
            <a:off x="6800850" y="2654126"/>
            <a:ext cx="8239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700"/>
              <a:buFont typeface="DM Sans"/>
              <a:buNone/>
            </a:pPr>
            <a:r>
              <a:rPr b="1" i="0" lang="zh-CN" sz="17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85" name="Google Shape;185;p19"/>
          <p:cNvCxnSpPr/>
          <p:nvPr/>
        </p:nvCxnSpPr>
        <p:spPr>
          <a:xfrm>
            <a:off x="7653338" y="2918551"/>
            <a:ext cx="881100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19"/>
          <p:cNvSpPr/>
          <p:nvPr/>
        </p:nvSpPr>
        <p:spPr>
          <a:xfrm>
            <a:off x="7653338" y="2974181"/>
            <a:ext cx="8715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Satisfaction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(1 to 5)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87" name="Google Shape;187;p19"/>
          <p:cNvCxnSpPr/>
          <p:nvPr/>
        </p:nvCxnSpPr>
        <p:spPr>
          <a:xfrm>
            <a:off x="609600" y="2939876"/>
            <a:ext cx="876300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9"/>
          <p:cNvSpPr/>
          <p:nvPr/>
        </p:nvSpPr>
        <p:spPr>
          <a:xfrm>
            <a:off x="638175" y="3016076"/>
            <a:ext cx="819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700"/>
              <a:buFont typeface="DM Sans"/>
              <a:buNone/>
            </a:pPr>
            <a:r>
              <a:rPr b="1" i="0" lang="zh-CN" sz="17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1485900" y="2937495"/>
            <a:ext cx="881063" cy="361950"/>
          </a:xfrm>
          <a:prstGeom prst="rect">
            <a:avLst/>
          </a:prstGeom>
          <a:solidFill>
            <a:srgbClr val="F9E6D8"/>
          </a:solidFill>
          <a:ln>
            <a:noFill/>
          </a:ln>
        </p:spPr>
        <p:txBody>
          <a:bodyPr anchorCtr="0" anchor="ctr" bIns="0" lIns="28575" spcFirstLastPara="1" rIns="28575" wrap="square" tIns="4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700"/>
              <a:buFont typeface="DM Sans"/>
              <a:buNone/>
            </a:pPr>
            <a:r>
              <a:rPr b="1" i="0" lang="zh-CN" sz="17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90" name="Google Shape;190;p19"/>
          <p:cNvCxnSpPr/>
          <p:nvPr/>
        </p:nvCxnSpPr>
        <p:spPr>
          <a:xfrm>
            <a:off x="1485900" y="2939876"/>
            <a:ext cx="881063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19"/>
          <p:cNvCxnSpPr/>
          <p:nvPr/>
        </p:nvCxnSpPr>
        <p:spPr>
          <a:xfrm>
            <a:off x="2366963" y="2939876"/>
            <a:ext cx="881063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19"/>
          <p:cNvSpPr/>
          <p:nvPr/>
        </p:nvSpPr>
        <p:spPr>
          <a:xfrm>
            <a:off x="2395538" y="3016076"/>
            <a:ext cx="8239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700"/>
              <a:buFont typeface="DM Sans"/>
              <a:buNone/>
            </a:pPr>
            <a:r>
              <a:rPr b="1" i="0" lang="zh-CN" sz="17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3248025" y="2937495"/>
            <a:ext cx="881063" cy="361950"/>
          </a:xfrm>
          <a:prstGeom prst="rect">
            <a:avLst/>
          </a:prstGeom>
          <a:solidFill>
            <a:srgbClr val="F9E6D8"/>
          </a:solidFill>
          <a:ln>
            <a:noFill/>
          </a:ln>
        </p:spPr>
        <p:txBody>
          <a:bodyPr anchorCtr="0" anchor="ctr" bIns="0" lIns="28575" spcFirstLastPara="1" rIns="28575" wrap="square" tIns="4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700"/>
              <a:buFont typeface="DM Sans"/>
              <a:buNone/>
            </a:pPr>
            <a:r>
              <a:rPr b="1" i="0" lang="zh-CN" sz="17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94" name="Google Shape;194;p19"/>
          <p:cNvCxnSpPr/>
          <p:nvPr/>
        </p:nvCxnSpPr>
        <p:spPr>
          <a:xfrm>
            <a:off x="3248025" y="2939876"/>
            <a:ext cx="881063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19"/>
          <p:cNvSpPr/>
          <p:nvPr/>
        </p:nvSpPr>
        <p:spPr>
          <a:xfrm>
            <a:off x="4129088" y="2937495"/>
            <a:ext cx="881063" cy="361950"/>
          </a:xfrm>
          <a:prstGeom prst="rect">
            <a:avLst/>
          </a:prstGeom>
          <a:solidFill>
            <a:srgbClr val="F9E6D8"/>
          </a:solidFill>
          <a:ln>
            <a:noFill/>
          </a:ln>
        </p:spPr>
        <p:txBody>
          <a:bodyPr anchorCtr="0" anchor="ctr" bIns="0" lIns="28575" spcFirstLastPara="1" rIns="28575" wrap="square" tIns="4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700"/>
              <a:buFont typeface="DM Sans"/>
              <a:buNone/>
            </a:pPr>
            <a:r>
              <a:rPr b="1" i="0" lang="zh-CN" sz="17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96" name="Google Shape;196;p19"/>
          <p:cNvCxnSpPr/>
          <p:nvPr/>
        </p:nvCxnSpPr>
        <p:spPr>
          <a:xfrm>
            <a:off x="4129088" y="2939876"/>
            <a:ext cx="881063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19"/>
          <p:cNvCxnSpPr/>
          <p:nvPr/>
        </p:nvCxnSpPr>
        <p:spPr>
          <a:xfrm>
            <a:off x="5010150" y="2939876"/>
            <a:ext cx="881063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19"/>
          <p:cNvSpPr/>
          <p:nvPr/>
        </p:nvSpPr>
        <p:spPr>
          <a:xfrm>
            <a:off x="5038725" y="3016076"/>
            <a:ext cx="8239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700"/>
              <a:buFont typeface="DM Sans"/>
              <a:buNone/>
            </a:pPr>
            <a:r>
              <a:rPr b="1" i="0" lang="zh-CN" sz="17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5891213" y="2937495"/>
            <a:ext cx="881063" cy="361950"/>
          </a:xfrm>
          <a:prstGeom prst="rect">
            <a:avLst/>
          </a:prstGeom>
          <a:solidFill>
            <a:srgbClr val="F9E6D8"/>
          </a:solidFill>
          <a:ln>
            <a:noFill/>
          </a:ln>
        </p:spPr>
        <p:txBody>
          <a:bodyPr anchorCtr="0" anchor="ctr" bIns="0" lIns="28575" spcFirstLastPara="1" rIns="28575" wrap="square" tIns="4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700"/>
              <a:buFont typeface="DM Sans"/>
              <a:buNone/>
            </a:pPr>
            <a:r>
              <a:rPr b="1" i="0" lang="zh-CN" sz="17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00" name="Google Shape;200;p19"/>
          <p:cNvCxnSpPr/>
          <p:nvPr/>
        </p:nvCxnSpPr>
        <p:spPr>
          <a:xfrm>
            <a:off x="5891213" y="2939876"/>
            <a:ext cx="881063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19"/>
          <p:cNvCxnSpPr/>
          <p:nvPr/>
        </p:nvCxnSpPr>
        <p:spPr>
          <a:xfrm>
            <a:off x="6772275" y="2939876"/>
            <a:ext cx="881063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19"/>
          <p:cNvSpPr/>
          <p:nvPr/>
        </p:nvSpPr>
        <p:spPr>
          <a:xfrm>
            <a:off x="6800850" y="3016076"/>
            <a:ext cx="8239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700"/>
              <a:buFont typeface="DM Sans"/>
              <a:buNone/>
            </a:pPr>
            <a:r>
              <a:rPr b="1" i="0" lang="zh-CN" sz="17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03" name="Google Shape;203;p19"/>
          <p:cNvCxnSpPr/>
          <p:nvPr/>
        </p:nvCxnSpPr>
        <p:spPr>
          <a:xfrm>
            <a:off x="7653338" y="3301826"/>
            <a:ext cx="881100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19"/>
          <p:cNvSpPr/>
          <p:nvPr/>
        </p:nvSpPr>
        <p:spPr>
          <a:xfrm>
            <a:off x="7653338" y="3346366"/>
            <a:ext cx="8715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Gap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05" name="Google Shape;205;p19"/>
          <p:cNvCxnSpPr/>
          <p:nvPr/>
        </p:nvCxnSpPr>
        <p:spPr>
          <a:xfrm>
            <a:off x="609600" y="3301826"/>
            <a:ext cx="876300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19"/>
          <p:cNvSpPr/>
          <p:nvPr/>
        </p:nvSpPr>
        <p:spPr>
          <a:xfrm>
            <a:off x="638175" y="3436144"/>
            <a:ext cx="819150" cy="207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b="1" i="0" lang="zh-CN" sz="14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+1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1485900" y="3299445"/>
            <a:ext cx="881063" cy="457200"/>
          </a:xfrm>
          <a:prstGeom prst="rect">
            <a:avLst/>
          </a:prstGeom>
          <a:solidFill>
            <a:srgbClr val="F9E6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" name="Google Shape;208;p19"/>
          <p:cNvCxnSpPr/>
          <p:nvPr/>
        </p:nvCxnSpPr>
        <p:spPr>
          <a:xfrm>
            <a:off x="1485900" y="3301826"/>
            <a:ext cx="881063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19"/>
          <p:cNvSpPr/>
          <p:nvPr/>
        </p:nvSpPr>
        <p:spPr>
          <a:xfrm>
            <a:off x="1514475" y="3367571"/>
            <a:ext cx="823913" cy="207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3480F"/>
              </a:buClr>
              <a:buSzPts val="1400"/>
              <a:buFont typeface="DM Sans"/>
              <a:buNone/>
            </a:pPr>
            <a:r>
              <a:rPr b="1" i="0" lang="zh-CN" sz="1400" u="none" cap="none" strike="noStrike">
                <a:solidFill>
                  <a:srgbClr val="A3480F"/>
                </a:solidFill>
                <a:latin typeface="DM Sans"/>
                <a:ea typeface="DM Sans"/>
                <a:cs typeface="DM Sans"/>
                <a:sym typeface="DM Sans"/>
              </a:rPr>
              <a:t>+2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1514475" y="3556136"/>
            <a:ext cx="823913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3480F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A3480F"/>
                </a:solidFill>
                <a:latin typeface="DM Sans"/>
                <a:ea typeface="DM Sans"/>
                <a:cs typeface="DM Sans"/>
                <a:sym typeface="DM Sans"/>
              </a:rPr>
              <a:t>Focus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11" name="Google Shape;211;p19"/>
          <p:cNvCxnSpPr/>
          <p:nvPr/>
        </p:nvCxnSpPr>
        <p:spPr>
          <a:xfrm>
            <a:off x="2366963" y="3301826"/>
            <a:ext cx="881063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19"/>
          <p:cNvSpPr/>
          <p:nvPr/>
        </p:nvSpPr>
        <p:spPr>
          <a:xfrm>
            <a:off x="2395538" y="3436144"/>
            <a:ext cx="823913" cy="207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b="1" i="0" lang="zh-CN" sz="14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−1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3248025" y="3299445"/>
            <a:ext cx="881063" cy="457200"/>
          </a:xfrm>
          <a:prstGeom prst="rect">
            <a:avLst/>
          </a:prstGeom>
          <a:solidFill>
            <a:srgbClr val="F9E6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4" name="Google Shape;214;p19"/>
          <p:cNvCxnSpPr/>
          <p:nvPr/>
        </p:nvCxnSpPr>
        <p:spPr>
          <a:xfrm>
            <a:off x="3248025" y="3301826"/>
            <a:ext cx="881063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19"/>
          <p:cNvSpPr/>
          <p:nvPr/>
        </p:nvSpPr>
        <p:spPr>
          <a:xfrm>
            <a:off x="3276600" y="3367571"/>
            <a:ext cx="823913" cy="207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3480F"/>
              </a:buClr>
              <a:buSzPts val="1400"/>
              <a:buFont typeface="DM Sans"/>
              <a:buNone/>
            </a:pPr>
            <a:r>
              <a:rPr b="1" i="0" lang="zh-CN" sz="1400" u="none" cap="none" strike="noStrike">
                <a:solidFill>
                  <a:srgbClr val="A3480F"/>
                </a:solidFill>
                <a:latin typeface="DM Sans"/>
                <a:ea typeface="DM Sans"/>
                <a:cs typeface="DM Sans"/>
                <a:sym typeface="DM Sans"/>
              </a:rPr>
              <a:t>+3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3276600" y="3556136"/>
            <a:ext cx="823913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3480F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A3480F"/>
                </a:solidFill>
                <a:latin typeface="DM Sans"/>
                <a:ea typeface="DM Sans"/>
                <a:cs typeface="DM Sans"/>
                <a:sym typeface="DM Sans"/>
              </a:rPr>
              <a:t>Focus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4129088" y="3299445"/>
            <a:ext cx="881063" cy="457200"/>
          </a:xfrm>
          <a:prstGeom prst="rect">
            <a:avLst/>
          </a:prstGeom>
          <a:solidFill>
            <a:srgbClr val="F9E6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8" name="Google Shape;218;p19"/>
          <p:cNvCxnSpPr/>
          <p:nvPr/>
        </p:nvCxnSpPr>
        <p:spPr>
          <a:xfrm>
            <a:off x="4129088" y="3301826"/>
            <a:ext cx="881063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19"/>
          <p:cNvSpPr/>
          <p:nvPr/>
        </p:nvSpPr>
        <p:spPr>
          <a:xfrm>
            <a:off x="4157663" y="3367571"/>
            <a:ext cx="823913" cy="207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3480F"/>
              </a:buClr>
              <a:buSzPts val="1400"/>
              <a:buFont typeface="DM Sans"/>
              <a:buNone/>
            </a:pPr>
            <a:r>
              <a:rPr b="1" i="0" lang="zh-CN" sz="1400" u="none" cap="none" strike="noStrike">
                <a:solidFill>
                  <a:srgbClr val="A3480F"/>
                </a:solidFill>
                <a:latin typeface="DM Sans"/>
                <a:ea typeface="DM Sans"/>
                <a:cs typeface="DM Sans"/>
                <a:sym typeface="DM Sans"/>
              </a:rPr>
              <a:t>+3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4157663" y="3556136"/>
            <a:ext cx="823913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3480F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A3480F"/>
                </a:solidFill>
                <a:latin typeface="DM Sans"/>
                <a:ea typeface="DM Sans"/>
                <a:cs typeface="DM Sans"/>
                <a:sym typeface="DM Sans"/>
              </a:rPr>
              <a:t>Focus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21" name="Google Shape;221;p19"/>
          <p:cNvCxnSpPr/>
          <p:nvPr/>
        </p:nvCxnSpPr>
        <p:spPr>
          <a:xfrm>
            <a:off x="5010150" y="3301826"/>
            <a:ext cx="881063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19"/>
          <p:cNvSpPr/>
          <p:nvPr/>
        </p:nvSpPr>
        <p:spPr>
          <a:xfrm>
            <a:off x="5038725" y="3436144"/>
            <a:ext cx="823913" cy="207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b="1" i="0" lang="zh-CN" sz="14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5891213" y="3299445"/>
            <a:ext cx="881063" cy="457200"/>
          </a:xfrm>
          <a:prstGeom prst="rect">
            <a:avLst/>
          </a:prstGeom>
          <a:solidFill>
            <a:srgbClr val="F9E6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4" name="Google Shape;224;p19"/>
          <p:cNvCxnSpPr/>
          <p:nvPr/>
        </p:nvCxnSpPr>
        <p:spPr>
          <a:xfrm>
            <a:off x="5891213" y="3301826"/>
            <a:ext cx="881063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19"/>
          <p:cNvSpPr/>
          <p:nvPr/>
        </p:nvSpPr>
        <p:spPr>
          <a:xfrm>
            <a:off x="5919788" y="3367571"/>
            <a:ext cx="823913" cy="207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3480F"/>
              </a:buClr>
              <a:buSzPts val="1400"/>
              <a:buFont typeface="DM Sans"/>
              <a:buNone/>
            </a:pPr>
            <a:r>
              <a:rPr b="1" i="0" lang="zh-CN" sz="1400" u="none" cap="none" strike="noStrike">
                <a:solidFill>
                  <a:srgbClr val="A3480F"/>
                </a:solidFill>
                <a:latin typeface="DM Sans"/>
                <a:ea typeface="DM Sans"/>
                <a:cs typeface="DM Sans"/>
                <a:sym typeface="DM Sans"/>
              </a:rPr>
              <a:t>+4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5919788" y="3556136"/>
            <a:ext cx="823913" cy="156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3480F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A3480F"/>
                </a:solidFill>
                <a:latin typeface="DM Sans"/>
                <a:ea typeface="DM Sans"/>
                <a:cs typeface="DM Sans"/>
                <a:sym typeface="DM Sans"/>
              </a:rPr>
              <a:t>Focus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27" name="Google Shape;227;p19"/>
          <p:cNvCxnSpPr/>
          <p:nvPr/>
        </p:nvCxnSpPr>
        <p:spPr>
          <a:xfrm>
            <a:off x="6772275" y="3301826"/>
            <a:ext cx="881063" cy="0"/>
          </a:xfrm>
          <a:prstGeom prst="straightConnector1">
            <a:avLst/>
          </a:prstGeom>
          <a:noFill/>
          <a:ln cap="flat" cmpd="sng" w="9525">
            <a:solidFill>
              <a:srgbClr val="C9CE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19"/>
          <p:cNvSpPr/>
          <p:nvPr/>
        </p:nvSpPr>
        <p:spPr>
          <a:xfrm>
            <a:off x="6800850" y="3436144"/>
            <a:ext cx="823913" cy="207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b="1" i="0" lang="zh-CN" sz="14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+1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609600" y="3909045"/>
            <a:ext cx="8162544" cy="37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1100"/>
              <a:buFont typeface="DM Sans"/>
              <a:buNone/>
            </a:pPr>
            <a:r>
              <a:rPr b="1" i="0" lang="zh-CN" sz="11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Focus where importance is high and satisfaction is low:</a:t>
            </a:r>
            <a:r>
              <a:rPr b="0" i="0" lang="zh-CN" sz="11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Capture Data, Interpret, Decide Next Step and Brief Doctor. Gap = importance minus satisfaction.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609600" y="4785383"/>
            <a:ext cx="8162544" cy="1676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7179"/>
              </a:buClr>
              <a:buSzPts val="900"/>
              <a:buFont typeface="DM Sans"/>
              <a:buNone/>
            </a:pPr>
            <a:r>
              <a:rPr b="0" i="0" lang="zh-CN" sz="900" u="none" cap="none" strike="noStrike">
                <a:solidFill>
                  <a:srgbClr val="6A7179"/>
                </a:solidFill>
                <a:latin typeface="DM Sans"/>
                <a:ea typeface="DM Sans"/>
                <a:cs typeface="DM Sans"/>
                <a:sym typeface="DM Sans"/>
              </a:rPr>
              <a:t>Ratings: team hypotheses from user reviews and industry reports; to be validated with user interviews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33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 txBox="1"/>
          <p:nvPr>
            <p:ph type="title"/>
          </p:nvPr>
        </p:nvSpPr>
        <p:spPr>
          <a:xfrm>
            <a:off x="609675" y="429500"/>
            <a:ext cx="81624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2160"/>
              <a:buFont typeface="DM Sans"/>
              <a:buNone/>
            </a:pPr>
            <a:r>
              <a:rPr b="1" i="0" lang="zh-CN" sz="2760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Opportunities</a:t>
            </a:r>
            <a:endParaRPr sz="2760"/>
          </a:p>
        </p:txBody>
      </p:sp>
      <p:sp>
        <p:nvSpPr>
          <p:cNvPr id="237" name="Google Shape;237;p20"/>
          <p:cNvSpPr/>
          <p:nvPr/>
        </p:nvSpPr>
        <p:spPr>
          <a:xfrm>
            <a:off x="609675" y="1060047"/>
            <a:ext cx="2540100" cy="2598300"/>
          </a:xfrm>
          <a:prstGeom prst="roundRect">
            <a:avLst>
              <a:gd fmla="val 3750" name="adj"/>
            </a:avLst>
          </a:prstGeom>
          <a:solidFill>
            <a:srgbClr val="1E335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800175" y="1231498"/>
            <a:ext cx="1657945" cy="217140"/>
          </a:xfrm>
          <a:custGeom>
            <a:rect b="b" l="l" r="r" t="t"/>
            <a:pathLst>
              <a:path extrusionOk="0" h="289520" w="2210594">
                <a:moveTo>
                  <a:pt x="144760" y="0"/>
                </a:moveTo>
                <a:lnTo>
                  <a:pt x="2065834" y="0"/>
                </a:lnTo>
                <a:cubicBezTo>
                  <a:pt x="2104227" y="0"/>
                  <a:pt x="2141047" y="15251"/>
                  <a:pt x="2168195" y="42399"/>
                </a:cubicBezTo>
                <a:cubicBezTo>
                  <a:pt x="2195343" y="69547"/>
                  <a:pt x="2210594" y="106367"/>
                  <a:pt x="2210594" y="144760"/>
                </a:cubicBezTo>
                <a:lnTo>
                  <a:pt x="2210594" y="144760"/>
                </a:lnTo>
                <a:cubicBezTo>
                  <a:pt x="2210594" y="224709"/>
                  <a:pt x="2145783" y="289520"/>
                  <a:pt x="2065834" y="289520"/>
                </a:cubicBezTo>
                <a:lnTo>
                  <a:pt x="144760" y="289520"/>
                </a:lnTo>
                <a:cubicBezTo>
                  <a:pt x="64811" y="289520"/>
                  <a:pt x="0" y="224709"/>
                  <a:pt x="0" y="144760"/>
                </a:cubicBezTo>
                <a:lnTo>
                  <a:pt x="0" y="144760"/>
                </a:lnTo>
                <a:cubicBezTo>
                  <a:pt x="0" y="64811"/>
                  <a:pt x="64811" y="0"/>
                  <a:pt x="144760" y="0"/>
                </a:cubicBezTo>
                <a:close/>
              </a:path>
            </a:pathLst>
          </a:custGeom>
          <a:solidFill>
            <a:srgbClr val="F2A6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Step 7 · Gap +4, the largest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800175" y="1515313"/>
            <a:ext cx="2223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1500"/>
              <a:buFont typeface="DM Sans"/>
              <a:buNone/>
            </a:pPr>
            <a:r>
              <a:rPr b="1" i="0" lang="zh-CN" sz="15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1. Clinical handoff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800175" y="1810588"/>
            <a:ext cx="22236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2A65A"/>
                </a:solidFill>
                <a:latin typeface="DM Sans"/>
                <a:ea typeface="DM Sans"/>
                <a:cs typeface="DM Sans"/>
                <a:sym typeface="DM Sans"/>
              </a:rPr>
              <a:t>Problem:</a:t>
            </a:r>
            <a:r>
              <a:rPr b="0" i="0" lang="zh-CN" sz="900" u="none" cap="none" strike="noStrike">
                <a:solidFill>
                  <a:srgbClr val="D6DEE6"/>
                </a:solidFill>
                <a:latin typeface="DM Sans"/>
                <a:ea typeface="DM Sans"/>
                <a:cs typeface="DM Sans"/>
                <a:sym typeface="DM Sans"/>
              </a:rPr>
              <a:t> Briefing the doctor matters most, yet visits are short and clinicians rarely have tools to use wearable data.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800175" y="2396216"/>
            <a:ext cx="2223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2A65A"/>
                </a:solidFill>
                <a:latin typeface="DM Sans"/>
                <a:ea typeface="DM Sans"/>
                <a:cs typeface="DM Sans"/>
                <a:sym typeface="DM Sans"/>
              </a:rPr>
              <a:t>Idea:</a:t>
            </a:r>
            <a:r>
              <a:rPr b="0" i="0" lang="zh-CN" sz="900" u="none" cap="none" strike="noStrike">
                <a:solidFill>
                  <a:srgbClr val="D6DEE6"/>
                </a:solidFill>
                <a:latin typeface="DM Sans"/>
                <a:ea typeface="DM Sans"/>
                <a:cs typeface="DM Sans"/>
                <a:sym typeface="DM Sans"/>
              </a:rPr>
              <a:t> A one-page, clinician-ready summary of the user’s own trends, exportable to patient portals. The doctor decides.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800175" y="3122126"/>
            <a:ext cx="22236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2A65A"/>
                </a:solidFill>
                <a:latin typeface="DM Sans"/>
                <a:ea typeface="DM Sans"/>
                <a:cs typeface="DM Sans"/>
                <a:sym typeface="DM Sans"/>
              </a:rPr>
              <a:t>Jobs served:</a:t>
            </a:r>
            <a:r>
              <a:rPr b="0" i="0" lang="zh-CN" sz="900" u="none" cap="none" strike="noStrike">
                <a:solidFill>
                  <a:srgbClr val="D6DEE6"/>
                </a:solidFill>
                <a:latin typeface="DM Sans"/>
                <a:ea typeface="DM Sans"/>
                <a:cs typeface="DM Sans"/>
                <a:sym typeface="DM Sans"/>
              </a:rPr>
              <a:t> get evidence to my doctor; be seen as a credible, proactive patient.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3302050" y="1060047"/>
            <a:ext cx="2540100" cy="2598300"/>
          </a:xfrm>
          <a:prstGeom prst="roundRect">
            <a:avLst>
              <a:gd fmla="val 3750" name="adj"/>
            </a:avLst>
          </a:prstGeom>
          <a:solidFill>
            <a:srgbClr val="1E335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3492551" y="1231498"/>
            <a:ext cx="1534455" cy="217140"/>
          </a:xfrm>
          <a:custGeom>
            <a:rect b="b" l="l" r="r" t="t"/>
            <a:pathLst>
              <a:path extrusionOk="0" h="289520" w="2045940">
                <a:moveTo>
                  <a:pt x="144760" y="0"/>
                </a:moveTo>
                <a:lnTo>
                  <a:pt x="1901180" y="0"/>
                </a:lnTo>
                <a:cubicBezTo>
                  <a:pt x="1939573" y="0"/>
                  <a:pt x="1976393" y="15251"/>
                  <a:pt x="2003541" y="42399"/>
                </a:cubicBezTo>
                <a:cubicBezTo>
                  <a:pt x="2030689" y="69547"/>
                  <a:pt x="2045940" y="106367"/>
                  <a:pt x="2045940" y="144760"/>
                </a:cubicBezTo>
                <a:lnTo>
                  <a:pt x="2045940" y="144760"/>
                </a:lnTo>
                <a:cubicBezTo>
                  <a:pt x="2045940" y="224709"/>
                  <a:pt x="1981129" y="289520"/>
                  <a:pt x="1901180" y="289520"/>
                </a:cubicBezTo>
                <a:lnTo>
                  <a:pt x="144760" y="289520"/>
                </a:lnTo>
                <a:cubicBezTo>
                  <a:pt x="64811" y="289520"/>
                  <a:pt x="0" y="224709"/>
                  <a:pt x="0" y="144760"/>
                </a:cubicBezTo>
                <a:lnTo>
                  <a:pt x="0" y="144760"/>
                </a:lnTo>
                <a:cubicBezTo>
                  <a:pt x="0" y="64811"/>
                  <a:pt x="64811" y="0"/>
                  <a:pt x="144760" y="0"/>
                </a:cubicBezTo>
                <a:close/>
              </a:path>
            </a:pathLst>
          </a:custGeom>
          <a:solidFill>
            <a:srgbClr val="F2A6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Steps 4 &amp; 5 · Gaps +3, +3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3492550" y="1515313"/>
            <a:ext cx="2223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1500"/>
              <a:buFont typeface="DM Sans"/>
              <a:buNone/>
            </a:pPr>
            <a:r>
              <a:rPr b="1" i="0" lang="zh-CN" sz="15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2. Insight to action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3492550" y="1810588"/>
            <a:ext cx="2223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2A65A"/>
                </a:solidFill>
                <a:latin typeface="DM Sans"/>
                <a:ea typeface="DM Sans"/>
                <a:cs typeface="DM Sans"/>
                <a:sym typeface="DM Sans"/>
              </a:rPr>
              <a:t>Problem:</a:t>
            </a:r>
            <a:r>
              <a:rPr b="0" i="0" lang="zh-CN" sz="900" u="none" cap="none" strike="noStrike">
                <a:solidFill>
                  <a:srgbClr val="D6DEE6"/>
                </a:solidFill>
                <a:latin typeface="DM Sans"/>
                <a:ea typeface="DM Sans"/>
                <a:cs typeface="DM Sans"/>
                <a:sym typeface="DM Sans"/>
              </a:rPr>
              <a:t> Users can’t tell what’s normal for them, so a reading leads to panic or gets ignored.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3492550" y="2396216"/>
            <a:ext cx="22239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2A65A"/>
                </a:solidFill>
                <a:latin typeface="DM Sans"/>
                <a:ea typeface="DM Sans"/>
                <a:cs typeface="DM Sans"/>
                <a:sym typeface="DM Sans"/>
              </a:rPr>
              <a:t>Idea:</a:t>
            </a:r>
            <a:r>
              <a:rPr b="0" i="0" lang="zh-CN" sz="900" u="none" cap="none" strike="noStrike">
                <a:solidFill>
                  <a:srgbClr val="D6DEE6"/>
                </a:solidFill>
                <a:latin typeface="DM Sans"/>
                <a:ea typeface="DM Sans"/>
                <a:cs typeface="DM Sans"/>
                <a:sym typeface="DM Sans"/>
              </a:rPr>
              <a:t> Personal baselines that flag patterns, like “outside your range for 3 nights,” and suggest raising it with a doctor.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3492550" y="3164171"/>
            <a:ext cx="22239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2A65A"/>
                </a:solidFill>
                <a:latin typeface="DM Sans"/>
                <a:ea typeface="DM Sans"/>
                <a:cs typeface="DM Sans"/>
                <a:sym typeface="DM Sans"/>
              </a:rPr>
              <a:t>Jobs served:</a:t>
            </a:r>
            <a:r>
              <a:rPr b="0" i="0" lang="zh-CN" sz="900" u="none" cap="none" strike="noStrike">
                <a:solidFill>
                  <a:srgbClr val="D6DEE6"/>
                </a:solidFill>
                <a:latin typeface="DM Sans"/>
                <a:ea typeface="DM Sans"/>
                <a:cs typeface="DM Sans"/>
                <a:sym typeface="DM Sans"/>
              </a:rPr>
              <a:t> decide whether to see a doctor; feel reassured and in control.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5994463" y="1060047"/>
            <a:ext cx="2540100" cy="2598300"/>
          </a:xfrm>
          <a:prstGeom prst="roundRect">
            <a:avLst>
              <a:gd fmla="val 3750" name="adj"/>
            </a:avLst>
          </a:prstGeom>
          <a:solidFill>
            <a:srgbClr val="1E335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6184963" y="1231498"/>
            <a:ext cx="997298" cy="217140"/>
          </a:xfrm>
          <a:custGeom>
            <a:rect b="b" l="l" r="r" t="t"/>
            <a:pathLst>
              <a:path extrusionOk="0" h="289520" w="1329730">
                <a:moveTo>
                  <a:pt x="144760" y="0"/>
                </a:moveTo>
                <a:lnTo>
                  <a:pt x="1184970" y="0"/>
                </a:lnTo>
                <a:cubicBezTo>
                  <a:pt x="1223363" y="0"/>
                  <a:pt x="1260183" y="15251"/>
                  <a:pt x="1287331" y="42399"/>
                </a:cubicBezTo>
                <a:cubicBezTo>
                  <a:pt x="1314479" y="69547"/>
                  <a:pt x="1329730" y="106367"/>
                  <a:pt x="1329730" y="144760"/>
                </a:cubicBezTo>
                <a:lnTo>
                  <a:pt x="1329730" y="144760"/>
                </a:lnTo>
                <a:cubicBezTo>
                  <a:pt x="1329730" y="224709"/>
                  <a:pt x="1264919" y="289520"/>
                  <a:pt x="1184970" y="289520"/>
                </a:cubicBezTo>
                <a:lnTo>
                  <a:pt x="144760" y="289520"/>
                </a:lnTo>
                <a:cubicBezTo>
                  <a:pt x="64811" y="289520"/>
                  <a:pt x="0" y="224709"/>
                  <a:pt x="0" y="144760"/>
                </a:cubicBezTo>
                <a:lnTo>
                  <a:pt x="0" y="144760"/>
                </a:lnTo>
                <a:cubicBezTo>
                  <a:pt x="0" y="64811"/>
                  <a:pt x="64811" y="0"/>
                  <a:pt x="144760" y="0"/>
                </a:cubicBezTo>
                <a:close/>
              </a:path>
            </a:pathLst>
          </a:custGeom>
          <a:solidFill>
            <a:srgbClr val="F2A6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233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13233A"/>
                </a:solidFill>
                <a:latin typeface="DM Sans"/>
                <a:ea typeface="DM Sans"/>
                <a:cs typeface="DM Sans"/>
                <a:sym typeface="DM Sans"/>
              </a:rPr>
              <a:t>Step 2 · Gap +2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6184963" y="1515313"/>
            <a:ext cx="2223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FCFA"/>
              </a:buClr>
              <a:buSzPts val="1500"/>
              <a:buFont typeface="DM Sans"/>
              <a:buNone/>
            </a:pPr>
            <a:r>
              <a:rPr b="1" i="0" lang="zh-CN" sz="1500" u="none" cap="none" strike="noStrike">
                <a:solidFill>
                  <a:srgbClr val="FCFCFA"/>
                </a:solidFill>
                <a:latin typeface="DM Sans"/>
                <a:ea typeface="DM Sans"/>
                <a:cs typeface="DM Sans"/>
                <a:sym typeface="DM Sans"/>
              </a:rPr>
              <a:t>3. Frictionless wear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6184963" y="1810588"/>
            <a:ext cx="2223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2A65A"/>
                </a:solidFill>
                <a:latin typeface="DM Sans"/>
                <a:ea typeface="DM Sans"/>
                <a:cs typeface="DM Sans"/>
                <a:sym typeface="DM Sans"/>
              </a:rPr>
              <a:t>Problem:</a:t>
            </a:r>
            <a:r>
              <a:rPr b="0" i="0" lang="zh-CN" sz="900" u="none" cap="none" strike="noStrike">
                <a:solidFill>
                  <a:srgbClr val="D6DEE6"/>
                </a:solidFill>
                <a:latin typeface="DM Sans"/>
                <a:ea typeface="DM Sans"/>
                <a:cs typeface="DM Sans"/>
                <a:sym typeface="DM Sans"/>
              </a:rPr>
              <a:t> If the device is charging or in a drawer when symptoms hit, there is no data; about 1 in 3 trackers end up abandoned.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6184963" y="2550513"/>
            <a:ext cx="22236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2A65A"/>
                </a:solidFill>
                <a:latin typeface="DM Sans"/>
                <a:ea typeface="DM Sans"/>
                <a:cs typeface="DM Sans"/>
                <a:sym typeface="DM Sans"/>
              </a:rPr>
              <a:t>Idea:</a:t>
            </a:r>
            <a:r>
              <a:rPr b="0" i="0" lang="zh-CN" sz="900" u="none" cap="none" strike="noStrike">
                <a:solidFill>
                  <a:srgbClr val="D6DEE6"/>
                </a:solidFill>
                <a:latin typeface="DM Sans"/>
                <a:ea typeface="DM Sans"/>
                <a:cs typeface="DM Sans"/>
                <a:sym typeface="DM Sans"/>
              </a:rPr>
              <a:t> Charge while worn, plus sleep-friendly and work-appropriate form factors, like fast-growing smart rings.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6184963" y="3284458"/>
            <a:ext cx="22236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2A65A"/>
                </a:solidFill>
                <a:latin typeface="DM Sans"/>
                <a:ea typeface="DM Sans"/>
                <a:cs typeface="DM Sans"/>
                <a:sym typeface="DM Sans"/>
              </a:rPr>
              <a:t>Jobs served:</a:t>
            </a:r>
            <a:r>
              <a:rPr b="0" i="0" lang="zh-CN" sz="900" u="none" cap="none" strike="noStrike">
                <a:solidFill>
                  <a:srgbClr val="D6DEE6"/>
                </a:solidFill>
                <a:latin typeface="DM Sans"/>
                <a:ea typeface="DM Sans"/>
                <a:cs typeface="DM Sans"/>
                <a:sym typeface="DM Sans"/>
              </a:rPr>
              <a:t> continuous, objective data; discreet and stylish to wear.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614438" y="3815526"/>
            <a:ext cx="3876600" cy="701100"/>
          </a:xfrm>
          <a:prstGeom prst="roundRect">
            <a:avLst>
              <a:gd fmla="val 10191" name="adj"/>
            </a:avLst>
          </a:prstGeom>
          <a:noFill/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rning" id="256" name="Google Shape;256;p20"/>
          <p:cNvPicPr preferRelativeResize="0"/>
          <p:nvPr/>
        </p:nvPicPr>
        <p:blipFill rotWithShape="1">
          <a:blip r:embed="rId3">
            <a:alphaModFix/>
          </a:blip>
          <a:srcRect b="-871" l="0" r="0" t="-871"/>
          <a:stretch/>
        </p:blipFill>
        <p:spPr>
          <a:xfrm>
            <a:off x="771600" y="3934588"/>
            <a:ext cx="9830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0"/>
          <p:cNvSpPr/>
          <p:nvPr/>
        </p:nvSpPr>
        <p:spPr>
          <a:xfrm>
            <a:off x="965151" y="3934588"/>
            <a:ext cx="34698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F2A65A"/>
                </a:solidFill>
                <a:latin typeface="DM Sans"/>
                <a:ea typeface="DM Sans"/>
                <a:cs typeface="DM Sans"/>
                <a:sym typeface="DM Sans"/>
              </a:rPr>
              <a:t>Design constraint:</a:t>
            </a:r>
            <a:r>
              <a:rPr b="0" i="0" lang="zh-CN" sz="900" u="none" cap="none" strike="noStrike">
                <a:solidFill>
                  <a:srgbClr val="D6DEE6"/>
                </a:solidFill>
                <a:latin typeface="DM Sans"/>
                <a:ea typeface="DM Sans"/>
                <a:cs typeface="DM Sans"/>
                <a:sym typeface="DM Sans"/>
              </a:rPr>
              <a:t> stay within FDA wellness guidance. Surface patterns and prompt a doctor conversation; never diagnose.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4653038" y="3815526"/>
            <a:ext cx="3876600" cy="701100"/>
          </a:xfrm>
          <a:prstGeom prst="roundRect">
            <a:avLst>
              <a:gd fmla="val 10191" name="adj"/>
            </a:avLst>
          </a:prstGeom>
          <a:noFill/>
          <a:ln cap="flat" cmpd="sng" w="12700">
            <a:solidFill>
              <a:srgbClr val="0F9B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ightbulb" id="259" name="Google Shape;259;p20"/>
          <p:cNvPicPr preferRelativeResize="0"/>
          <p:nvPr/>
        </p:nvPicPr>
        <p:blipFill rotWithShape="1">
          <a:blip r:embed="rId4">
            <a:alphaModFix/>
          </a:blip>
          <a:srcRect b="-751" l="0" r="0" t="-751"/>
          <a:stretch/>
        </p:blipFill>
        <p:spPr>
          <a:xfrm>
            <a:off x="4810200" y="3934588"/>
            <a:ext cx="89148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0"/>
          <p:cNvSpPr/>
          <p:nvPr/>
        </p:nvSpPr>
        <p:spPr>
          <a:xfrm>
            <a:off x="4994598" y="3934588"/>
            <a:ext cx="34794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CC2AE"/>
              </a:buClr>
              <a:buSzPts val="900"/>
              <a:buFont typeface="DM Sans"/>
              <a:buNone/>
            </a:pPr>
            <a:r>
              <a:rPr b="1" i="0" lang="zh-CN" sz="900" u="none" cap="none" strike="noStrike">
                <a:solidFill>
                  <a:srgbClr val="4CC2AE"/>
                </a:solidFill>
                <a:latin typeface="DM Sans"/>
                <a:ea typeface="DM Sans"/>
                <a:cs typeface="DM Sans"/>
                <a:sym typeface="DM Sans"/>
              </a:rPr>
              <a:t>Why it’s worth solving:</a:t>
            </a:r>
            <a:r>
              <a:rPr b="0" i="0" lang="zh-CN" sz="900" u="none" cap="none" strike="noStrike">
                <a:solidFill>
                  <a:srgbClr val="D6DEE6"/>
                </a:solidFill>
                <a:latin typeface="DM Sans"/>
                <a:ea typeface="DM Sans"/>
                <a:cs typeface="DM Sans"/>
                <a:sym typeface="DM Sans"/>
              </a:rPr>
              <a:t> chronic disease is projected to cost the U.S. about $2.2 trillion a year. Earlier signals shift care toward prevention.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609600" y="4785383"/>
            <a:ext cx="8162544" cy="1676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FB0C2"/>
              </a:buClr>
              <a:buSzPts val="900"/>
              <a:buFont typeface="DM Sans"/>
              <a:buNone/>
            </a:pPr>
            <a:r>
              <a:rPr b="0" i="0" lang="zh-CN" sz="900" u="none" cap="none" strike="noStrike">
                <a:solidFill>
                  <a:srgbClr val="9FB0C2"/>
                </a:solidFill>
                <a:latin typeface="DM Sans"/>
                <a:ea typeface="DM Sans"/>
                <a:cs typeface="DM Sans"/>
                <a:sym typeface="DM Sans"/>
              </a:rPr>
              <a:t>Sources: Gartner; FDM CCS Insight 2026; FDA wellness guidance, Jan 2026; Partnership to Fight Chronic Disease 2025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earable Health Tracking">
  <a:themeElements>
    <a:clrScheme name="Wearable Health Tracking">
      <a:dk1>
        <a:srgbClr val="13233A"/>
      </a:dk1>
      <a:lt1>
        <a:srgbClr val="F5F6F2"/>
      </a:lt1>
      <a:dk2>
        <a:srgbClr val="4C5868"/>
      </a:dk2>
      <a:lt2>
        <a:srgbClr val="DEE1E0"/>
      </a:lt2>
      <a:accent1>
        <a:srgbClr val="A3480F"/>
      </a:accent1>
      <a:accent2>
        <a:srgbClr val="0F7C6E"/>
      </a:accent2>
      <a:accent3>
        <a:srgbClr val="F2A65A"/>
      </a:accent3>
      <a:accent4>
        <a:srgbClr val="2F5A9E"/>
      </a:accent4>
      <a:accent5>
        <a:srgbClr val="4A5568"/>
      </a:accent5>
      <a:accent6>
        <a:srgbClr val="F9E6D8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