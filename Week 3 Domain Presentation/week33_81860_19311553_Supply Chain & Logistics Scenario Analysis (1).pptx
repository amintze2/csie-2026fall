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12192000"/>
  <p:embeddedFontLst>
    <p:embeddedFont>
      <p:font typeface="IBM Plex Sans"/>
      <p:regular r:id="rId10"/>
      <p:bold r:id="rId11"/>
      <p:italic r:id="rId12"/>
      <p:boldItalic r:id="rId13"/>
    </p:embeddedFont>
    <p:embeddedFont>
      <p:font typeface="IBM Plex Mon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iSpTm4QzLDxayntgIAgypxYaNU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IBMPlexSans-bold.fntdata"/><Relationship Id="rId10" Type="http://schemas.openxmlformats.org/officeDocument/2006/relationships/font" Target="fonts/IBMPlexSans-regular.fntdata"/><Relationship Id="rId13" Type="http://schemas.openxmlformats.org/officeDocument/2006/relationships/font" Target="fonts/IBMPlexSans-boldItalic.fntdata"/><Relationship Id="rId12" Type="http://schemas.openxmlformats.org/officeDocument/2006/relationships/font" Target="fonts/IBMPlex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IBMPlexMono-bold.fntdata"/><Relationship Id="rId14" Type="http://schemas.openxmlformats.org/officeDocument/2006/relationships/font" Target="fonts/IBMPlexMono-regular.fntdata"/><Relationship Id="rId17" Type="http://schemas.openxmlformats.org/officeDocument/2006/relationships/font" Target="fonts/IBMPlexMono-boldItalic.fntdata"/><Relationship Id="rId16" Type="http://schemas.openxmlformats.org/officeDocument/2006/relationships/font" Target="fonts/IBMPlexMono-italic.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with the two questions that define our axes. First, who controls logistics: private companies or governments? Second, do global relations stay in check or spiral? 2026 already gives us live evidence on both: the Strait of Hormuz has been largely blocked since February, and the U.S. Postal Service is under real financial and privatization pressure. We use a 2x2 scenario analysis to map four futures and then find problems that matter in more than one of them.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Define the domain broadly: everything that physically moves goods. Then the tension. Physical trade is concentrated in a few sea lanes, and in 2026 two of them are badly constrained: Suez is running about 70% below 2023 tonnage, and Hormuz traffic has collapsed by roughly 95% since the Iran war began on February 28. The right column sets up our two axes. Geopolitics: most trade moves by sea, and the equipment itself mostly comes from China. Ownership: the public carrier, USPS, is losing ground to a private one, Amazon.</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our tools-and-techniques slide. Scenario analysis starts by picking two critical uncertainties: things that would change the industry a lot and that could genuinely go either way. We push each to its extreme. The key check is independence. If the axes were correlated, two quadrants would be implausible. Here they are not: private security firms and carriers already operate in conflict zones, and many countries run state rail and post in peacetime. Note that the evidence today pulls both ways on ownership, and mostly toward the spiral on relations.</a:t>
            </a:r>
            <a:endParaRPr/>
          </a:p>
        </p:txBody>
      </p:sp>
      <p:sp>
        <p:nvSpPr>
          <p:cNvPr id="53" name="Google Shape;5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grid clockwise from top left. Frictionless Marketplace: private platforms win in a stable world. It is the cheapest system, but unprofitable routes disappear. Public Utility Freight: stable world, government runs logistics like highways, so service is universal but slow to innovate. Wartime Command, bottom right: governments take over fleets and run convoys inside allied blocs. The 2026 U.S. naval escort operation in Hormuz is an early version. Mercenary Logistics, bottom left: private firms keep control in a hostile world and buy their own security and insurance, so goods go to whoever pays most. Our read is that 2026 is sliding toward the bottom row while the ownership question is still open.</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Real, important, addressable. Real: every early signal is a 2025 or 2026 measurement, not a forecast. Important: each one shows up in at least two quadrants, so it survives whichever future we end up in. That is the point of scenario analysis. Addressable: these are pricing, coordination and industrial-capacity problems, not physics problems. If asked which is strongest, say 02. The Hormuz closure is happening right now, and nobody has a good instrument to price or hedge it.</a:t>
            </a:r>
            <a:endParaRPr/>
          </a:p>
        </p:txBody>
      </p:sp>
      <p:sp>
        <p:nvSpPr>
          <p:cNvPr id="116" name="Google Shape;11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191C"/>
        </a:solidFill>
      </p:bgPr>
    </p:bg>
    <p:spTree>
      <p:nvGrpSpPr>
        <p:cNvPr id="15" name="Shape 15"/>
        <p:cNvGrpSpPr/>
        <p:nvPr/>
      </p:nvGrpSpPr>
      <p:grpSpPr>
        <a:xfrm>
          <a:off x="0" y="0"/>
          <a:ext cx="0" cy="0"/>
          <a:chOff x="0" y="0"/>
          <a:chExt cx="0" cy="0"/>
        </a:xfrm>
      </p:grpSpPr>
      <p:pic>
        <p:nvPicPr>
          <p:cNvPr descr="Abstract 2x2 scenario grid with four tinted quadrants" id="16" name="Google Shape;16;p1"/>
          <p:cNvPicPr preferRelativeResize="0"/>
          <p:nvPr/>
        </p:nvPicPr>
        <p:blipFill rotWithShape="1">
          <a:blip r:embed="rId3">
            <a:alphaModFix/>
          </a:blip>
          <a:srcRect b="0" l="0" r="0" t="0"/>
          <a:stretch/>
        </p:blipFill>
        <p:spPr>
          <a:xfrm>
            <a:off x="7569200" y="1524000"/>
            <a:ext cx="3810000" cy="3810000"/>
          </a:xfrm>
          <a:prstGeom prst="rect">
            <a:avLst/>
          </a:prstGeom>
          <a:noFill/>
          <a:ln>
            <a:noFill/>
          </a:ln>
        </p:spPr>
      </p:pic>
      <p:sp>
        <p:nvSpPr>
          <p:cNvPr id="17" name="Google Shape;17;p1"/>
          <p:cNvSpPr/>
          <p:nvPr/>
        </p:nvSpPr>
        <p:spPr>
          <a:xfrm>
            <a:off x="812800" y="812800"/>
            <a:ext cx="5886450" cy="25653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8A4B"/>
              </a:buClr>
              <a:buSzPts val="1300"/>
              <a:buFont typeface="IBM Plex Mono"/>
              <a:buNone/>
            </a:pPr>
            <a:r>
              <a:rPr b="1" i="0" lang="en-US" sz="1300" u="none" cap="none" strike="noStrike">
                <a:solidFill>
                  <a:srgbClr val="F08A4B"/>
                </a:solidFill>
                <a:latin typeface="IBM Plex Mono"/>
                <a:ea typeface="IBM Plex Mono"/>
                <a:cs typeface="IBM Plex Mono"/>
                <a:sym typeface="IBM Plex Mono"/>
              </a:rPr>
              <a:t>WEEK 3 · SCENARIO ANALYSIS</a:t>
            </a:r>
            <a:endParaRPr b="0" i="0" sz="1300" u="none" cap="none" strike="noStrike">
              <a:solidFill>
                <a:schemeClr val="dk1"/>
              </a:solidFill>
              <a:latin typeface="Calibri"/>
              <a:ea typeface="Calibri"/>
              <a:cs typeface="Calibri"/>
              <a:sym typeface="Calibri"/>
            </a:endParaRPr>
          </a:p>
        </p:txBody>
      </p:sp>
      <p:sp>
        <p:nvSpPr>
          <p:cNvPr id="18" name="Google Shape;18;p1"/>
          <p:cNvSpPr/>
          <p:nvPr/>
        </p:nvSpPr>
        <p:spPr>
          <a:xfrm>
            <a:off x="812800" y="2061270"/>
            <a:ext cx="6278880" cy="16256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F1EEE7"/>
              </a:buClr>
              <a:buSzPts val="6000"/>
              <a:buFont typeface="IBM Plex Sans"/>
              <a:buNone/>
            </a:pPr>
            <a:r>
              <a:rPr b="0" i="0" lang="en-US" sz="6000" u="none" cap="none" strike="noStrike">
                <a:solidFill>
                  <a:srgbClr val="F1EEE7"/>
                </a:solidFill>
                <a:latin typeface="IBM Plex Sans"/>
                <a:ea typeface="IBM Plex Sans"/>
                <a:cs typeface="IBM Plex Sans"/>
                <a:sym typeface="IBM Plex Sans"/>
              </a:rPr>
              <a:t>Supply Chain</a:t>
            </a:r>
            <a:endParaRPr b="0" i="0" sz="6000" u="none" cap="none" strike="noStrike">
              <a:solidFill>
                <a:schemeClr val="dk1"/>
              </a:solidFill>
              <a:latin typeface="Calibri"/>
              <a:ea typeface="Calibri"/>
              <a:cs typeface="Calibri"/>
              <a:sym typeface="Calibri"/>
            </a:endParaRPr>
          </a:p>
          <a:p>
            <a:pPr indent="0" lvl="0" marL="0" marR="0" rtl="0" algn="l">
              <a:lnSpc>
                <a:spcPct val="104999"/>
              </a:lnSpc>
              <a:spcBef>
                <a:spcPts val="0"/>
              </a:spcBef>
              <a:spcAft>
                <a:spcPts val="0"/>
              </a:spcAft>
              <a:buClr>
                <a:srgbClr val="F1EEE7"/>
              </a:buClr>
              <a:buSzPts val="6000"/>
              <a:buFont typeface="IBM Plex Sans"/>
              <a:buNone/>
            </a:pPr>
            <a:r>
              <a:rPr b="0" i="0" lang="en-US" sz="6000" u="none" cap="none" strike="noStrike">
                <a:solidFill>
                  <a:srgbClr val="F1EEE7"/>
                </a:solidFill>
                <a:latin typeface="IBM Plex Sans"/>
                <a:ea typeface="IBM Plex Sans"/>
                <a:cs typeface="IBM Plex Sans"/>
                <a:sym typeface="IBM Plex Sans"/>
              </a:rPr>
              <a:t>&amp; Logistics</a:t>
            </a:r>
            <a:endParaRPr b="0" i="0" sz="6000" u="none" cap="none" strike="noStrike">
              <a:solidFill>
                <a:schemeClr val="dk1"/>
              </a:solidFill>
              <a:latin typeface="Calibri"/>
              <a:ea typeface="Calibri"/>
              <a:cs typeface="Calibri"/>
              <a:sym typeface="Calibri"/>
            </a:endParaRPr>
          </a:p>
        </p:txBody>
      </p:sp>
      <p:sp>
        <p:nvSpPr>
          <p:cNvPr id="19" name="Google Shape;19;p1"/>
          <p:cNvSpPr/>
          <p:nvPr/>
        </p:nvSpPr>
        <p:spPr>
          <a:xfrm>
            <a:off x="812800" y="3890070"/>
            <a:ext cx="6278880" cy="9320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CD1"/>
              </a:buClr>
              <a:buSzPts val="1700"/>
              <a:buFont typeface="IBM Plex Sans"/>
              <a:buNone/>
            </a:pPr>
            <a:r>
              <a:rPr b="0" i="0" lang="en-US" sz="1700" u="none" cap="none" strike="noStrike">
                <a:solidFill>
                  <a:srgbClr val="C9CCD1"/>
                </a:solidFill>
                <a:latin typeface="IBM Plex Sans"/>
                <a:ea typeface="IBM Plex Sans"/>
                <a:cs typeface="IBM Plex Sans"/>
                <a:sym typeface="IBM Plex Sans"/>
              </a:rPr>
              <a:t>Who runs the networks that move the world's goods, and what happens to them if global relations break down? Four futures from a 2x2 scenario analysis.</a:t>
            </a:r>
            <a:endParaRPr b="0" i="0" sz="1700" u="none" cap="none" strike="noStrike">
              <a:solidFill>
                <a:schemeClr val="dk1"/>
              </a:solidFill>
              <a:latin typeface="Calibri"/>
              <a:ea typeface="Calibri"/>
              <a:cs typeface="Calibri"/>
              <a:sym typeface="Calibri"/>
            </a:endParaRPr>
          </a:p>
        </p:txBody>
      </p:sp>
      <p:sp>
        <p:nvSpPr>
          <p:cNvPr id="20" name="Google Shape;20;p1"/>
          <p:cNvSpPr/>
          <p:nvPr/>
        </p:nvSpPr>
        <p:spPr>
          <a:xfrm>
            <a:off x="812800" y="5814070"/>
            <a:ext cx="5886450" cy="25653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7ABB2"/>
              </a:buClr>
              <a:buSzPts val="1300"/>
              <a:buFont typeface="IBM Plex Sans"/>
              <a:buNone/>
            </a:pPr>
            <a:r>
              <a:rPr b="0" i="0" lang="en-US" sz="1300" u="none" cap="none" strike="noStrike">
                <a:solidFill>
                  <a:srgbClr val="A7ABB2"/>
                </a:solidFill>
                <a:latin typeface="IBM Plex Sans"/>
                <a:ea typeface="IBM Plex Sans"/>
                <a:cs typeface="IBM Plex Sans"/>
                <a:sym typeface="IBM Plex Sans"/>
              </a:rPr>
              <a:t>Team: </a:t>
            </a:r>
            <a:r>
              <a:rPr lang="en-US" sz="1300">
                <a:solidFill>
                  <a:srgbClr val="A7ABB2"/>
                </a:solidFill>
                <a:latin typeface="IBM Plex Sans"/>
                <a:ea typeface="IBM Plex Sans"/>
                <a:cs typeface="IBM Plex Sans"/>
                <a:sym typeface="IBM Plex Sans"/>
              </a:rPr>
              <a:t>Penn</a:t>
            </a:r>
            <a:r>
              <a:rPr b="0" i="0" lang="en-US" sz="1300" u="none" cap="none" strike="noStrike">
                <a:solidFill>
                  <a:srgbClr val="A7ABB2"/>
                </a:solidFill>
                <a:latin typeface="IBM Plex Sans"/>
                <a:ea typeface="IBM Plex Sans"/>
                <a:cs typeface="IBM Plex Sans"/>
                <a:sym typeface="IBM Plex Sans"/>
              </a:rPr>
              <a:t>, Kerry, </a:t>
            </a:r>
            <a:r>
              <a:rPr lang="en-US" sz="1300">
                <a:solidFill>
                  <a:srgbClr val="A7ABB2"/>
                </a:solidFill>
                <a:latin typeface="IBM Plex Sans"/>
                <a:ea typeface="IBM Plex Sans"/>
                <a:cs typeface="IBM Plex Sans"/>
                <a:sym typeface="IBM Plex Sans"/>
              </a:rPr>
              <a:t>Steven, Sichen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8"/>
        </a:solidFill>
      </p:bgPr>
    </p:bg>
    <p:spTree>
      <p:nvGrpSpPr>
        <p:cNvPr id="25" name="Shape 25"/>
        <p:cNvGrpSpPr/>
        <p:nvPr/>
      </p:nvGrpSpPr>
      <p:grpSpPr>
        <a:xfrm>
          <a:off x="0" y="0"/>
          <a:ext cx="0" cy="0"/>
          <a:chOff x="0" y="0"/>
          <a:chExt cx="0" cy="0"/>
        </a:xfrm>
      </p:grpSpPr>
      <p:sp>
        <p:nvSpPr>
          <p:cNvPr id="26" name="Google Shape;26;p2"/>
          <p:cNvSpPr/>
          <p:nvPr/>
        </p:nvSpPr>
        <p:spPr>
          <a:xfrm>
            <a:off x="812800" y="609600"/>
            <a:ext cx="10883392" cy="444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D1F22"/>
              </a:buClr>
              <a:buSzPts val="3000"/>
              <a:buFont typeface="IBM Plex Sans"/>
              <a:buNone/>
            </a:pPr>
            <a:r>
              <a:rPr b="1" i="0" lang="en-US" sz="3000" u="none" cap="none" strike="noStrike">
                <a:solidFill>
                  <a:srgbClr val="1D1F22"/>
                </a:solidFill>
                <a:latin typeface="IBM Plex Sans"/>
                <a:ea typeface="IBM Plex Sans"/>
                <a:cs typeface="IBM Plex Sans"/>
                <a:sym typeface="IBM Plex Sans"/>
              </a:rPr>
              <a:t>The domain: supply chain &amp; logistics</a:t>
            </a:r>
            <a:endParaRPr b="0" i="0" sz="3000" u="none" cap="none" strike="noStrike">
              <a:solidFill>
                <a:schemeClr val="dk1"/>
              </a:solidFill>
              <a:latin typeface="Calibri"/>
              <a:ea typeface="Calibri"/>
              <a:cs typeface="Calibri"/>
              <a:sym typeface="Calibri"/>
            </a:endParaRPr>
          </a:p>
        </p:txBody>
      </p:sp>
      <p:sp>
        <p:nvSpPr>
          <p:cNvPr id="27" name="Google Shape;27;p2"/>
          <p:cNvSpPr/>
          <p:nvPr/>
        </p:nvSpPr>
        <p:spPr>
          <a:xfrm>
            <a:off x="812800" y="1231900"/>
            <a:ext cx="10883392"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A4E55"/>
              </a:buClr>
              <a:buSzPts val="1400"/>
              <a:buFont typeface="IBM Plex Sans"/>
              <a:buNone/>
            </a:pPr>
            <a:r>
              <a:rPr b="0" i="0" lang="en-US" sz="1400" u="none" cap="none" strike="noStrike">
                <a:solidFill>
                  <a:srgbClr val="4A4E55"/>
                </a:solidFill>
                <a:latin typeface="IBM Plex Sans"/>
                <a:ea typeface="IBM Plex Sans"/>
                <a:cs typeface="IBM Plex Sans"/>
                <a:sym typeface="IBM Plex Sans"/>
              </a:rPr>
              <a:t>The networks that move goods from raw material to doorstep: shipping, ports, trucking, warehousing and parcel delivery. Two open questions now shape the whole system: who controls the network, and whether the routes stay open.</a:t>
            </a:r>
            <a:endParaRPr b="0" i="0" sz="1400" u="none" cap="none" strike="noStrike">
              <a:solidFill>
                <a:schemeClr val="dk1"/>
              </a:solidFill>
              <a:latin typeface="Calibri"/>
              <a:ea typeface="Calibri"/>
              <a:cs typeface="Calibri"/>
              <a:sym typeface="Calibri"/>
            </a:endParaRPr>
          </a:p>
        </p:txBody>
      </p:sp>
      <p:sp>
        <p:nvSpPr>
          <p:cNvPr id="28" name="Google Shape;28;p2"/>
          <p:cNvSpPr/>
          <p:nvPr/>
        </p:nvSpPr>
        <p:spPr>
          <a:xfrm>
            <a:off x="815975" y="1918295"/>
            <a:ext cx="5751761" cy="3033961"/>
          </a:xfrm>
          <a:prstGeom prst="roundRect">
            <a:avLst>
              <a:gd fmla="val 4081" name="adj"/>
            </a:avLst>
          </a:prstGeom>
          <a:solidFill>
            <a:srgbClr val="FDFCF9"/>
          </a:solidFill>
          <a:ln cap="flat" cmpd="sng" w="9525">
            <a:solidFill>
              <a:srgbClr val="E2DD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1073150" y="2175470"/>
            <a:ext cx="5394533"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D1F22"/>
              </a:buClr>
              <a:buSzPts val="1600"/>
              <a:buFont typeface="IBM Plex Sans"/>
              <a:buNone/>
            </a:pPr>
            <a:r>
              <a:rPr b="1" i="0" lang="en-US" sz="1600" u="none" cap="none" strike="noStrike">
                <a:solidFill>
                  <a:srgbClr val="1D1F22"/>
                </a:solidFill>
                <a:latin typeface="IBM Plex Sans"/>
                <a:ea typeface="IBM Plex Sans"/>
                <a:cs typeface="IBM Plex Sans"/>
                <a:sym typeface="IBM Plex Sans"/>
              </a:rPr>
              <a:t>Chokepoint traffic vs. pre-crisis normal</a:t>
            </a:r>
            <a:endParaRPr b="0" i="0" sz="1600" u="none" cap="none" strike="noStrike">
              <a:solidFill>
                <a:schemeClr val="dk1"/>
              </a:solidFill>
              <a:latin typeface="Calibri"/>
              <a:ea typeface="Calibri"/>
              <a:cs typeface="Calibri"/>
              <a:sym typeface="Calibri"/>
            </a:endParaRPr>
          </a:p>
        </p:txBody>
      </p:sp>
      <p:sp>
        <p:nvSpPr>
          <p:cNvPr id="30" name="Google Shape;30;p2"/>
          <p:cNvSpPr/>
          <p:nvPr/>
        </p:nvSpPr>
        <p:spPr>
          <a:xfrm>
            <a:off x="1073150" y="2546300"/>
            <a:ext cx="539453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D6168"/>
              </a:buClr>
              <a:buSzPts val="1200"/>
              <a:buFont typeface="IBM Plex Sans"/>
              <a:buNone/>
            </a:pPr>
            <a:r>
              <a:rPr b="0" i="0" lang="en-US" sz="1200" u="none" cap="none" strike="noStrike">
                <a:solidFill>
                  <a:srgbClr val="5D6168"/>
                </a:solidFill>
                <a:latin typeface="IBM Plex Sans"/>
                <a:ea typeface="IBM Plex Sans"/>
                <a:cs typeface="IBM Plex Sans"/>
                <a:sym typeface="IBM Plex Sans"/>
              </a:rPr>
              <a:t>Share of usual traffic still moving through each route</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1073150" y="2931071"/>
            <a:ext cx="1962150" cy="2159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1D1F22"/>
              </a:buClr>
              <a:buSzPts val="1200"/>
              <a:buFont typeface="IBM Plex Sans"/>
              <a:buNone/>
            </a:pPr>
            <a:r>
              <a:rPr b="0" i="0" lang="en-US" sz="1200" u="none" cap="none" strike="noStrike">
                <a:solidFill>
                  <a:srgbClr val="1D1F22"/>
                </a:solidFill>
                <a:latin typeface="IBM Plex Sans"/>
                <a:ea typeface="IBM Plex Sans"/>
                <a:cs typeface="IBM Plex Sans"/>
                <a:sym typeface="IBM Plex Sans"/>
              </a:rPr>
              <a:t>Pre-crisis normal</a:t>
            </a:r>
            <a:endParaRPr b="0" i="0" sz="1200" u="none" cap="none" strike="noStrike">
              <a:solidFill>
                <a:schemeClr val="dk1"/>
              </a:solidFill>
              <a:latin typeface="Calibri"/>
              <a:ea typeface="Calibri"/>
              <a:cs typeface="Calibri"/>
              <a:sym typeface="Calibri"/>
            </a:endParaRPr>
          </a:p>
        </p:txBody>
      </p:sp>
      <p:sp>
        <p:nvSpPr>
          <p:cNvPr id="32" name="Google Shape;32;p2"/>
          <p:cNvSpPr/>
          <p:nvPr/>
        </p:nvSpPr>
        <p:spPr>
          <a:xfrm>
            <a:off x="3105150" y="2886621"/>
            <a:ext cx="2506911" cy="279400"/>
          </a:xfrm>
          <a:prstGeom prst="roundRect">
            <a:avLst>
              <a:gd fmla="val 18182" name="adj"/>
            </a:avLst>
          </a:prstGeom>
          <a:solidFill>
            <a:srgbClr val="B9BD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688261" y="2919661"/>
            <a:ext cx="6223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100%</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1073150" y="3280321"/>
            <a:ext cx="1962150" cy="4064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1D1F22"/>
              </a:buClr>
              <a:buSzPts val="1200"/>
              <a:buFont typeface="IBM Plex Sans"/>
              <a:buNone/>
            </a:pPr>
            <a:r>
              <a:rPr b="0" i="0" lang="en-US" sz="1200" u="none" cap="none" strike="noStrike">
                <a:solidFill>
                  <a:srgbClr val="1D1F22"/>
                </a:solidFill>
                <a:latin typeface="IBM Plex Sans"/>
                <a:ea typeface="IBM Plex Sans"/>
                <a:cs typeface="IBM Plex Sans"/>
                <a:sym typeface="IBM Plex Sans"/>
              </a:rPr>
              <a:t>Suez Canal, 2025 (tonnage vs. 2023)</a:t>
            </a:r>
            <a:endParaRPr b="0" i="0" sz="1200" u="none" cap="none" strike="noStrike">
              <a:solidFill>
                <a:schemeClr val="dk1"/>
              </a:solidFill>
              <a:latin typeface="Calibri"/>
              <a:ea typeface="Calibri"/>
              <a:cs typeface="Calibri"/>
              <a:sym typeface="Calibri"/>
            </a:endParaRPr>
          </a:p>
        </p:txBody>
      </p:sp>
      <p:sp>
        <p:nvSpPr>
          <p:cNvPr id="35" name="Google Shape;35;p2"/>
          <p:cNvSpPr/>
          <p:nvPr/>
        </p:nvSpPr>
        <p:spPr>
          <a:xfrm>
            <a:off x="3105150" y="3331121"/>
            <a:ext cx="752078" cy="279400"/>
          </a:xfrm>
          <a:prstGeom prst="roundRect">
            <a:avLst>
              <a:gd fmla="val 18182" name="adj"/>
            </a:avLst>
          </a:prstGeom>
          <a:solidFill>
            <a:srgbClr val="D965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3857228" y="3331121"/>
            <a:ext cx="1754832" cy="279400"/>
          </a:xfrm>
          <a:prstGeom prst="roundRect">
            <a:avLst>
              <a:gd fmla="val 18182" name="adj"/>
            </a:avLst>
          </a:prstGeom>
          <a:solidFill>
            <a:srgbClr val="E9E4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688261" y="3364161"/>
            <a:ext cx="6223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~30%</a:t>
            </a:r>
            <a:endParaRPr b="0" i="0" sz="1200" u="none" cap="none" strike="noStrike">
              <a:solidFill>
                <a:schemeClr val="dk1"/>
              </a:solidFill>
              <a:latin typeface="Calibri"/>
              <a:ea typeface="Calibri"/>
              <a:cs typeface="Calibri"/>
              <a:sym typeface="Calibri"/>
            </a:endParaRPr>
          </a:p>
        </p:txBody>
      </p:sp>
      <p:sp>
        <p:nvSpPr>
          <p:cNvPr id="38" name="Google Shape;38;p2"/>
          <p:cNvSpPr/>
          <p:nvPr/>
        </p:nvSpPr>
        <p:spPr>
          <a:xfrm>
            <a:off x="1073150" y="3775621"/>
            <a:ext cx="1962150" cy="4064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1D1F22"/>
              </a:buClr>
              <a:buSzPts val="1200"/>
              <a:buFont typeface="IBM Plex Sans"/>
              <a:buNone/>
            </a:pPr>
            <a:r>
              <a:rPr b="0" i="0" lang="en-US" sz="1200" u="none" cap="none" strike="noStrike">
                <a:solidFill>
                  <a:srgbClr val="1D1F22"/>
                </a:solidFill>
                <a:latin typeface="IBM Plex Sans"/>
                <a:ea typeface="IBM Plex Sans"/>
                <a:cs typeface="IBM Plex Sans"/>
                <a:sym typeface="IBM Plex Sans"/>
              </a:rPr>
              <a:t>Strait of Hormuz, Aug. 2026 (ships/day)</a:t>
            </a:r>
            <a:endParaRPr b="0" i="0" sz="1200" u="none" cap="none" strike="noStrike">
              <a:solidFill>
                <a:schemeClr val="dk1"/>
              </a:solidFill>
              <a:latin typeface="Calibri"/>
              <a:ea typeface="Calibri"/>
              <a:cs typeface="Calibri"/>
              <a:sym typeface="Calibri"/>
            </a:endParaRPr>
          </a:p>
        </p:txBody>
      </p:sp>
      <p:sp>
        <p:nvSpPr>
          <p:cNvPr id="39" name="Google Shape;39;p2"/>
          <p:cNvSpPr/>
          <p:nvPr/>
        </p:nvSpPr>
        <p:spPr>
          <a:xfrm>
            <a:off x="3105150" y="3826421"/>
            <a:ext cx="125363" cy="279400"/>
          </a:xfrm>
          <a:prstGeom prst="roundRect">
            <a:avLst>
              <a:gd fmla="val 40522" name="adj"/>
            </a:avLst>
          </a:prstGeom>
          <a:solidFill>
            <a:srgbClr val="A843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3230513" y="3826421"/>
            <a:ext cx="2381548" cy="279400"/>
          </a:xfrm>
          <a:prstGeom prst="roundRect">
            <a:avLst>
              <a:gd fmla="val 18182" name="adj"/>
            </a:avLst>
          </a:prstGeom>
          <a:solidFill>
            <a:srgbClr val="E9E4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688261" y="3859461"/>
            <a:ext cx="6223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~5%</a:t>
            </a:r>
            <a:endParaRPr b="0" i="0" sz="1200" u="none" cap="none" strike="noStrike">
              <a:solidFill>
                <a:schemeClr val="dk1"/>
              </a:solidFill>
              <a:latin typeface="Calibri"/>
              <a:ea typeface="Calibri"/>
              <a:cs typeface="Calibri"/>
              <a:sym typeface="Calibri"/>
            </a:endParaRPr>
          </a:p>
        </p:txBody>
      </p:sp>
      <p:sp>
        <p:nvSpPr>
          <p:cNvPr id="42" name="Google Shape;42;p2"/>
          <p:cNvSpPr/>
          <p:nvPr/>
        </p:nvSpPr>
        <p:spPr>
          <a:xfrm>
            <a:off x="1073150" y="4283621"/>
            <a:ext cx="5394533" cy="43686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A4E55"/>
              </a:buClr>
              <a:buSzPts val="1200"/>
              <a:buFont typeface="IBM Plex Sans"/>
              <a:buNone/>
            </a:pPr>
            <a:r>
              <a:rPr b="0" i="0" lang="en-US" sz="1200" u="none" cap="none" strike="noStrike">
                <a:solidFill>
                  <a:srgbClr val="4A4E55"/>
                </a:solidFill>
                <a:latin typeface="IBM Plex Sans"/>
                <a:ea typeface="IBM Plex Sans"/>
                <a:cs typeface="IBM Plex Sans"/>
                <a:sym typeface="IBM Plex Sans"/>
              </a:rPr>
              <a:t>Hormuz went from 100+ vessels a day to about 5. Ships detouring around the Cape of Good Hope add 10–14 days to Asia–Europe trips.</a:t>
            </a:r>
            <a:endParaRPr b="0" i="0" sz="1200" u="none" cap="none" strike="noStrike">
              <a:solidFill>
                <a:schemeClr val="dk1"/>
              </a:solidFill>
              <a:latin typeface="Calibri"/>
              <a:ea typeface="Calibri"/>
              <a:cs typeface="Calibri"/>
              <a:sym typeface="Calibri"/>
            </a:endParaRPr>
          </a:p>
        </p:txBody>
      </p:sp>
      <p:sp>
        <p:nvSpPr>
          <p:cNvPr id="43" name="Google Shape;43;p2"/>
          <p:cNvSpPr/>
          <p:nvPr/>
        </p:nvSpPr>
        <p:spPr>
          <a:xfrm>
            <a:off x="6824911" y="2379911"/>
            <a:ext cx="1257300" cy="59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D"/>
              </a:buClr>
              <a:buSzPts val="3200"/>
              <a:buFont typeface="IBM Plex Sans"/>
              <a:buNone/>
            </a:pPr>
            <a:r>
              <a:rPr b="1" i="0" lang="en-US" sz="3200" u="none" cap="none" strike="noStrike">
                <a:solidFill>
                  <a:srgbClr val="B4501D"/>
                </a:solidFill>
                <a:latin typeface="IBM Plex Sans"/>
                <a:ea typeface="IBM Plex Sans"/>
                <a:cs typeface="IBM Plex Sans"/>
                <a:sym typeface="IBM Plex Sans"/>
              </a:rPr>
              <a:t>80%</a:t>
            </a:r>
            <a:endParaRPr b="0" i="0" sz="3200" u="none" cap="none" strike="noStrike">
              <a:solidFill>
                <a:schemeClr val="dk1"/>
              </a:solidFill>
              <a:latin typeface="Calibri"/>
              <a:ea typeface="Calibri"/>
              <a:cs typeface="Calibri"/>
              <a:sym typeface="Calibri"/>
            </a:endParaRPr>
          </a:p>
        </p:txBody>
      </p:sp>
      <p:sp>
        <p:nvSpPr>
          <p:cNvPr id="44" name="Google Shape;44;p2"/>
          <p:cNvSpPr/>
          <p:nvPr/>
        </p:nvSpPr>
        <p:spPr>
          <a:xfrm>
            <a:off x="8209211" y="2355800"/>
            <a:ext cx="3265089" cy="64259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0" i="0" lang="en-US" sz="1200" u="none" cap="none" strike="noStrike">
                <a:solidFill>
                  <a:srgbClr val="1D1F22"/>
                </a:solidFill>
                <a:latin typeface="IBM Plex Sans"/>
                <a:ea typeface="IBM Plex Sans"/>
                <a:cs typeface="IBM Plex Sans"/>
                <a:sym typeface="IBM Plex Sans"/>
              </a:rPr>
              <a:t>of world goods trade by volume travels by sea, so every chokepoint is a lever on the global economy</a:t>
            </a:r>
            <a:endParaRPr b="0" i="0" sz="1200" u="none" cap="none" strike="noStrike">
              <a:solidFill>
                <a:schemeClr val="dk1"/>
              </a:solidFill>
              <a:latin typeface="Calibri"/>
              <a:ea typeface="Calibri"/>
              <a:cs typeface="Calibri"/>
              <a:sym typeface="Calibri"/>
            </a:endParaRPr>
          </a:p>
        </p:txBody>
      </p:sp>
      <p:sp>
        <p:nvSpPr>
          <p:cNvPr id="45" name="Google Shape;45;p2"/>
          <p:cNvSpPr/>
          <p:nvPr/>
        </p:nvSpPr>
        <p:spPr>
          <a:xfrm>
            <a:off x="6824911" y="3150791"/>
            <a:ext cx="1257300" cy="59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D"/>
              </a:buClr>
              <a:buSzPts val="3200"/>
              <a:buFont typeface="IBM Plex Sans"/>
              <a:buNone/>
            </a:pPr>
            <a:r>
              <a:rPr b="1" i="0" lang="en-US" sz="3200" u="none" cap="none" strike="noStrike">
                <a:solidFill>
                  <a:srgbClr val="B4501D"/>
                </a:solidFill>
                <a:latin typeface="IBM Plex Sans"/>
                <a:ea typeface="IBM Plex Sans"/>
                <a:cs typeface="IBM Plex Sans"/>
                <a:sym typeface="IBM Plex Sans"/>
              </a:rPr>
              <a:t>95%</a:t>
            </a:r>
            <a:endParaRPr b="0" i="0" sz="3200" u="none" cap="none" strike="noStrike">
              <a:solidFill>
                <a:schemeClr val="dk1"/>
              </a:solidFill>
              <a:latin typeface="Calibri"/>
              <a:ea typeface="Calibri"/>
              <a:cs typeface="Calibri"/>
              <a:sym typeface="Calibri"/>
            </a:endParaRPr>
          </a:p>
        </p:txBody>
      </p:sp>
      <p:sp>
        <p:nvSpPr>
          <p:cNvPr id="46" name="Google Shape;46;p2"/>
          <p:cNvSpPr/>
          <p:nvPr/>
        </p:nvSpPr>
        <p:spPr>
          <a:xfrm>
            <a:off x="8209211" y="3229521"/>
            <a:ext cx="3265089" cy="43686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0" i="0" lang="en-US" sz="1200" u="none" cap="none" strike="noStrike">
                <a:solidFill>
                  <a:srgbClr val="1D1F22"/>
                </a:solidFill>
                <a:latin typeface="IBM Plex Sans"/>
                <a:ea typeface="IBM Plex Sans"/>
                <a:cs typeface="IBM Plex Sans"/>
                <a:sym typeface="IBM Plex Sans"/>
              </a:rPr>
              <a:t>of dry shipping containers are made in China, along with 70% of ship-to-shore port cranes</a:t>
            </a:r>
            <a:endParaRPr b="0" i="0" sz="1200" u="none" cap="none" strike="noStrike">
              <a:solidFill>
                <a:schemeClr val="dk1"/>
              </a:solidFill>
              <a:latin typeface="Calibri"/>
              <a:ea typeface="Calibri"/>
              <a:cs typeface="Calibri"/>
              <a:sym typeface="Calibri"/>
            </a:endParaRPr>
          </a:p>
        </p:txBody>
      </p:sp>
      <p:sp>
        <p:nvSpPr>
          <p:cNvPr id="47" name="Google Shape;47;p2"/>
          <p:cNvSpPr/>
          <p:nvPr/>
        </p:nvSpPr>
        <p:spPr>
          <a:xfrm>
            <a:off x="6824911" y="3921621"/>
            <a:ext cx="1257300" cy="59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690"/>
              </a:buClr>
              <a:buSzPts val="3200"/>
              <a:buFont typeface="IBM Plex Sans"/>
              <a:buNone/>
            </a:pPr>
            <a:r>
              <a:rPr b="1" i="0" lang="en-US" sz="3200" u="none" cap="none" strike="noStrike">
                <a:solidFill>
                  <a:srgbClr val="2F6690"/>
                </a:solidFill>
                <a:latin typeface="IBM Plex Sans"/>
                <a:ea typeface="IBM Plex Sans"/>
                <a:cs typeface="IBM Plex Sans"/>
                <a:sym typeface="IBM Plex Sans"/>
              </a:rPr>
              <a:t>20%</a:t>
            </a:r>
            <a:endParaRPr b="0" i="0" sz="3200" u="none" cap="none" strike="noStrike">
              <a:solidFill>
                <a:schemeClr val="dk1"/>
              </a:solidFill>
              <a:latin typeface="Calibri"/>
              <a:ea typeface="Calibri"/>
              <a:cs typeface="Calibri"/>
              <a:sym typeface="Calibri"/>
            </a:endParaRPr>
          </a:p>
        </p:txBody>
      </p:sp>
      <p:sp>
        <p:nvSpPr>
          <p:cNvPr id="48" name="Google Shape;48;p2"/>
          <p:cNvSpPr/>
          <p:nvPr/>
        </p:nvSpPr>
        <p:spPr>
          <a:xfrm>
            <a:off x="8209211" y="3897511"/>
            <a:ext cx="3265089" cy="64259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0" i="0" lang="en-US" sz="1200" u="none" cap="none" strike="noStrike">
                <a:solidFill>
                  <a:srgbClr val="1D1F22"/>
                </a:solidFill>
                <a:latin typeface="IBM Plex Sans"/>
                <a:ea typeface="IBM Plex Sans"/>
                <a:cs typeface="IBM Plex Sans"/>
                <a:sym typeface="IBM Plex Sans"/>
              </a:rPr>
              <a:t>cut by Amazon from its USPS contract, the Postal Service's largest. Amazon now out-ships USPS in parcels</a:t>
            </a:r>
            <a:endParaRPr b="0" i="0" sz="1200" u="none" cap="none" strike="noStrike">
              <a:solidFill>
                <a:schemeClr val="dk1"/>
              </a:solidFill>
              <a:latin typeface="Calibri"/>
              <a:ea typeface="Calibri"/>
              <a:cs typeface="Calibri"/>
              <a:sym typeface="Calibri"/>
            </a:endParaRPr>
          </a:p>
        </p:txBody>
      </p:sp>
      <p:sp>
        <p:nvSpPr>
          <p:cNvPr id="49" name="Google Shape;49;p2"/>
          <p:cNvSpPr/>
          <p:nvPr/>
        </p:nvSpPr>
        <p:spPr>
          <a:xfrm>
            <a:off x="812800" y="6233220"/>
            <a:ext cx="10883392" cy="4215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A6E75"/>
              </a:buClr>
              <a:buSzPts val="1200"/>
              <a:buFont typeface="IBM Plex Sans"/>
              <a:buNone/>
            </a:pPr>
            <a:r>
              <a:rPr b="0" i="0" lang="en-US" sz="1200" u="none" cap="none" strike="noStrike">
                <a:solidFill>
                  <a:srgbClr val="6A6E75"/>
                </a:solidFill>
                <a:latin typeface="IBM Plex Sans"/>
                <a:ea typeface="IBM Plex Sans"/>
                <a:cs typeface="IBM Plex Sans"/>
                <a:sym typeface="IBM Plex Sans"/>
              </a:rPr>
              <a:t>Sources: UNCTAD, Review of Maritime Transport 2025 · Al Jazeera, Aug. 2026 · GoFreight, Jul. 2026 · Foundation for Defense of Democracies, Sep. 2026 · Phenomenal World, May 2026, citing ShipMatrix</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191C"/>
        </a:solidFill>
      </p:bgPr>
    </p:bg>
    <p:spTree>
      <p:nvGrpSpPr>
        <p:cNvPr id="54" name="Shape 54"/>
        <p:cNvGrpSpPr/>
        <p:nvPr/>
      </p:nvGrpSpPr>
      <p:grpSpPr>
        <a:xfrm>
          <a:off x="0" y="0"/>
          <a:ext cx="0" cy="0"/>
          <a:chOff x="0" y="0"/>
          <a:chExt cx="0" cy="0"/>
        </a:xfrm>
      </p:grpSpPr>
      <p:sp>
        <p:nvSpPr>
          <p:cNvPr id="55" name="Google Shape;55;p3"/>
          <p:cNvSpPr/>
          <p:nvPr/>
        </p:nvSpPr>
        <p:spPr>
          <a:xfrm>
            <a:off x="812800" y="609600"/>
            <a:ext cx="10883392" cy="444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1EEE7"/>
              </a:buClr>
              <a:buSzPts val="3000"/>
              <a:buFont typeface="IBM Plex Sans"/>
              <a:buNone/>
            </a:pPr>
            <a:r>
              <a:rPr b="1" i="0" lang="en-US" sz="3000" u="none" cap="none" strike="noStrike">
                <a:solidFill>
                  <a:srgbClr val="F1EEE7"/>
                </a:solidFill>
                <a:latin typeface="IBM Plex Sans"/>
                <a:ea typeface="IBM Plex Sans"/>
                <a:cs typeface="IBM Plex Sans"/>
                <a:sym typeface="IBM Plex Sans"/>
              </a:rPr>
              <a:t>Choosing the axes</a:t>
            </a:r>
            <a:endParaRPr b="0" i="0" sz="3000" u="none" cap="none" strike="noStrike">
              <a:solidFill>
                <a:schemeClr val="dk1"/>
              </a:solidFill>
              <a:latin typeface="Calibri"/>
              <a:ea typeface="Calibri"/>
              <a:cs typeface="Calibri"/>
              <a:sym typeface="Calibri"/>
            </a:endParaRPr>
          </a:p>
        </p:txBody>
      </p:sp>
      <p:sp>
        <p:nvSpPr>
          <p:cNvPr id="56" name="Google Shape;56;p3"/>
          <p:cNvSpPr/>
          <p:nvPr/>
        </p:nvSpPr>
        <p:spPr>
          <a:xfrm>
            <a:off x="812800" y="1206500"/>
            <a:ext cx="10883392"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CCD1"/>
              </a:buClr>
              <a:buSzPts val="1400"/>
              <a:buFont typeface="IBM Plex Sans"/>
              <a:buNone/>
            </a:pPr>
            <a:r>
              <a:rPr b="1" i="0" lang="en-US" sz="1400" u="none" cap="none" strike="noStrike">
                <a:solidFill>
                  <a:srgbClr val="C9CCD1"/>
                </a:solidFill>
                <a:latin typeface="IBM Plex Sans"/>
                <a:ea typeface="IBM Plex Sans"/>
                <a:cs typeface="IBM Plex Sans"/>
                <a:sym typeface="IBM Plex Sans"/>
              </a:rPr>
              <a:t>Tool: 2x2 scenario analysis.</a:t>
            </a:r>
            <a:r>
              <a:rPr b="0" i="0" lang="en-US" sz="1400" u="none" cap="none" strike="noStrike">
                <a:solidFill>
                  <a:srgbClr val="C9CCD1"/>
                </a:solidFill>
                <a:latin typeface="IBM Plex Sans"/>
                <a:ea typeface="IBM Plex Sans"/>
                <a:cs typeface="IBM Plex Sans"/>
                <a:sym typeface="IBM Plex Sans"/>
              </a:rPr>
              <a:t> Each axis is a critical uncertainty (high impact, unresolved today) pushed to its extreme in both directions. Crossing them gives four futures to stress-test.</a:t>
            </a:r>
            <a:endParaRPr b="0" i="0" sz="1400" u="none" cap="none" strike="noStrike">
              <a:solidFill>
                <a:schemeClr val="dk1"/>
              </a:solidFill>
              <a:latin typeface="Calibri"/>
              <a:ea typeface="Calibri"/>
              <a:cs typeface="Calibri"/>
              <a:sym typeface="Calibri"/>
            </a:endParaRPr>
          </a:p>
        </p:txBody>
      </p:sp>
      <p:sp>
        <p:nvSpPr>
          <p:cNvPr id="57" name="Google Shape;57;p3"/>
          <p:cNvSpPr/>
          <p:nvPr/>
        </p:nvSpPr>
        <p:spPr>
          <a:xfrm>
            <a:off x="812800" y="1864320"/>
            <a:ext cx="5156200" cy="3149402"/>
          </a:xfrm>
          <a:prstGeom prst="roundRect">
            <a:avLst>
              <a:gd fmla="val 4033" name="adj"/>
            </a:avLst>
          </a:prstGeom>
          <a:solidFill>
            <a:srgbClr val="2225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1041400" y="2092920"/>
            <a:ext cx="48399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8A4B"/>
              </a:buClr>
              <a:buSzPts val="1200"/>
              <a:buFont typeface="IBM Plex Mono"/>
              <a:buNone/>
            </a:pPr>
            <a:r>
              <a:rPr b="1" i="0" lang="en-US" sz="1200" u="none" cap="none" strike="noStrike">
                <a:solidFill>
                  <a:srgbClr val="F08A4B"/>
                </a:solidFill>
                <a:latin typeface="IBM Plex Mono"/>
                <a:ea typeface="IBM Plex Mono"/>
                <a:cs typeface="IBM Plex Mono"/>
                <a:sym typeface="IBM Plex Mono"/>
              </a:rPr>
              <a:t>AXIS 1 · OWNERSHIP</a:t>
            </a:r>
            <a:endParaRPr b="0" i="0" sz="1200" u="none" cap="none" strike="noStrike">
              <a:solidFill>
                <a:schemeClr val="dk1"/>
              </a:solidFill>
              <a:latin typeface="Calibri"/>
              <a:ea typeface="Calibri"/>
              <a:cs typeface="Calibri"/>
              <a:sym typeface="Calibri"/>
            </a:endParaRPr>
          </a:p>
        </p:txBody>
      </p:sp>
      <p:sp>
        <p:nvSpPr>
          <p:cNvPr id="59" name="Google Shape;59;p3"/>
          <p:cNvSpPr/>
          <p:nvPr/>
        </p:nvSpPr>
        <p:spPr>
          <a:xfrm>
            <a:off x="1041400" y="2407841"/>
            <a:ext cx="4839970"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E7"/>
              </a:buClr>
              <a:buSzPts val="2000"/>
              <a:buFont typeface="IBM Plex Sans"/>
              <a:buNone/>
            </a:pPr>
            <a:r>
              <a:rPr b="1" i="0" lang="en-US" sz="2000" u="none" cap="none" strike="noStrike">
                <a:solidFill>
                  <a:srgbClr val="F1EEE7"/>
                </a:solidFill>
                <a:latin typeface="IBM Plex Sans"/>
                <a:ea typeface="IBM Plex Sans"/>
                <a:cs typeface="IBM Plex Sans"/>
                <a:sym typeface="IBM Plex Sans"/>
              </a:rPr>
              <a:t>Who runs logistics?</a:t>
            </a:r>
            <a:endParaRPr b="0" i="0" sz="2000" u="none" cap="none" strike="noStrike">
              <a:solidFill>
                <a:schemeClr val="dk1"/>
              </a:solidFill>
              <a:latin typeface="Calibri"/>
              <a:ea typeface="Calibri"/>
              <a:cs typeface="Calibri"/>
              <a:sym typeface="Calibri"/>
            </a:endParaRPr>
          </a:p>
        </p:txBody>
      </p:sp>
      <p:sp>
        <p:nvSpPr>
          <p:cNvPr id="60" name="Google Shape;60;p3"/>
          <p:cNvSpPr/>
          <p:nvPr/>
        </p:nvSpPr>
        <p:spPr>
          <a:xfrm>
            <a:off x="1041400" y="2814241"/>
            <a:ext cx="1103263" cy="314920"/>
          </a:xfrm>
          <a:prstGeom prst="roundRect">
            <a:avLst>
              <a:gd fmla="val 48393" name="adj"/>
            </a:avLst>
          </a:prstGeom>
          <a:solidFill>
            <a:srgbClr val="3A2A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1155700" y="2865041"/>
            <a:ext cx="92546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8A4B"/>
              </a:buClr>
              <a:buSzPts val="1200"/>
              <a:buFont typeface="IBM Plex Sans"/>
              <a:buNone/>
            </a:pPr>
            <a:r>
              <a:rPr b="1" i="0" lang="en-US" sz="1200" u="none" cap="none" strike="noStrike">
                <a:solidFill>
                  <a:srgbClr val="F08A4B"/>
                </a:solidFill>
                <a:latin typeface="IBM Plex Sans"/>
                <a:ea typeface="IBM Plex Sans"/>
                <a:cs typeface="IBM Plex Sans"/>
                <a:sym typeface="IBM Plex Sans"/>
              </a:rPr>
              <a:t>Fully private</a:t>
            </a:r>
            <a:endParaRPr b="0" i="0" sz="1200" u="none" cap="none" strike="noStrike">
              <a:solidFill>
                <a:schemeClr val="dk1"/>
              </a:solidFill>
              <a:latin typeface="Calibri"/>
              <a:ea typeface="Calibri"/>
              <a:cs typeface="Calibri"/>
              <a:sym typeface="Calibri"/>
            </a:endParaRPr>
          </a:p>
        </p:txBody>
      </p:sp>
      <p:sp>
        <p:nvSpPr>
          <p:cNvPr id="62" name="Google Shape;62;p3"/>
          <p:cNvSpPr/>
          <p:nvPr/>
        </p:nvSpPr>
        <p:spPr>
          <a:xfrm>
            <a:off x="2246263" y="2962176"/>
            <a:ext cx="1592213" cy="19050"/>
          </a:xfrm>
          <a:prstGeom prst="rect">
            <a:avLst/>
          </a:prstGeom>
          <a:solidFill>
            <a:srgbClr val="5D61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3940076" y="2814241"/>
            <a:ext cx="1800324" cy="314920"/>
          </a:xfrm>
          <a:prstGeom prst="roundRect">
            <a:avLst>
              <a:gd fmla="val 48393" name="adj"/>
            </a:avLst>
          </a:prstGeom>
          <a:solidFill>
            <a:srgbClr val="1E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4054376" y="2865041"/>
            <a:ext cx="16225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DC"/>
              </a:buClr>
              <a:buSzPts val="1200"/>
              <a:buFont typeface="IBM Plex Sans"/>
              <a:buNone/>
            </a:pPr>
            <a:r>
              <a:rPr b="1" i="0" lang="en-US" sz="1200" u="none" cap="none" strike="noStrike">
                <a:solidFill>
                  <a:srgbClr val="7FB2DC"/>
                </a:solidFill>
                <a:latin typeface="IBM Plex Sans"/>
                <a:ea typeface="IBM Plex Sans"/>
                <a:cs typeface="IBM Plex Sans"/>
                <a:sym typeface="IBM Plex Sans"/>
              </a:rPr>
              <a:t>Government-operated</a:t>
            </a:r>
            <a:endParaRPr b="0" i="0" sz="1200" u="none" cap="none" strike="noStrike">
              <a:solidFill>
                <a:schemeClr val="dk1"/>
              </a:solidFill>
              <a:latin typeface="Calibri"/>
              <a:ea typeface="Calibri"/>
              <a:cs typeface="Calibri"/>
              <a:sym typeface="Calibri"/>
            </a:endParaRPr>
          </a:p>
        </p:txBody>
      </p:sp>
      <p:sp>
        <p:nvSpPr>
          <p:cNvPr id="65" name="Google Shape;65;p3"/>
          <p:cNvSpPr/>
          <p:nvPr/>
        </p:nvSpPr>
        <p:spPr>
          <a:xfrm>
            <a:off x="1041400" y="3230761"/>
            <a:ext cx="48399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8A4B"/>
              </a:buClr>
              <a:buSzPts val="1200"/>
              <a:buFont typeface="IBM Plex Sans"/>
              <a:buNone/>
            </a:pPr>
            <a:r>
              <a:rPr b="1" i="0" lang="en-US" sz="1200" u="none" cap="none" strike="noStrike">
                <a:solidFill>
                  <a:srgbClr val="F08A4B"/>
                </a:solidFill>
                <a:latin typeface="IBM Plex Sans"/>
                <a:ea typeface="IBM Plex Sans"/>
                <a:cs typeface="IBM Plex Sans"/>
                <a:sym typeface="IBM Plex Sans"/>
              </a:rPr>
              <a:t>Pulling private</a:t>
            </a:r>
            <a:endParaRPr b="0" i="0" sz="1200" u="none" cap="none" strike="noStrike">
              <a:solidFill>
                <a:schemeClr val="dk1"/>
              </a:solidFill>
              <a:latin typeface="Calibri"/>
              <a:ea typeface="Calibri"/>
              <a:cs typeface="Calibri"/>
              <a:sym typeface="Calibri"/>
            </a:endParaRPr>
          </a:p>
        </p:txBody>
      </p:sp>
      <p:sp>
        <p:nvSpPr>
          <p:cNvPr id="66" name="Google Shape;66;p3"/>
          <p:cNvSpPr/>
          <p:nvPr/>
        </p:nvSpPr>
        <p:spPr>
          <a:xfrm>
            <a:off x="1041400" y="3545681"/>
            <a:ext cx="4839970" cy="436860"/>
          </a:xfrm>
          <a:prstGeom prst="rect">
            <a:avLst/>
          </a:prstGeom>
          <a:noFill/>
          <a:ln>
            <a:noFill/>
          </a:ln>
        </p:spPr>
        <p:txBody>
          <a:bodyPr anchorCtr="0" anchor="t" bIns="0" lIns="0" spcFirstLastPara="1" rIns="0" wrap="square" tIns="0">
            <a:normAutofit/>
          </a:bodyPr>
          <a:lstStyle/>
          <a:p>
            <a:pPr indent="-155194" lvl="0" marL="182880" marR="0" rtl="0" algn="l">
              <a:lnSpc>
                <a:spcPct val="135000"/>
              </a:lnSpc>
              <a:spcBef>
                <a:spcPts val="0"/>
              </a:spcBef>
              <a:spcAft>
                <a:spcPts val="0"/>
              </a:spcAft>
              <a:buClr>
                <a:srgbClr val="DCDFE3"/>
              </a:buClr>
              <a:buSzPts val="1200"/>
              <a:buFont typeface="IBM Plex Sans"/>
              <a:buChar char="•"/>
            </a:pPr>
            <a:r>
              <a:rPr b="0" i="0" lang="en-US" sz="1200" u="none" cap="none" strike="noStrike">
                <a:solidFill>
                  <a:srgbClr val="DCDFE3"/>
                </a:solidFill>
                <a:latin typeface="IBM Plex Sans"/>
                <a:ea typeface="IBM Plex Sans"/>
                <a:cs typeface="IBM Plex Sans"/>
                <a:sym typeface="IBM Plex Sans"/>
              </a:rPr>
              <a:t>Amazon now out-ships USPS in parcels</a:t>
            </a:r>
            <a:endParaRPr b="0" i="0" sz="1200" u="none" cap="none" strike="noStrike">
              <a:solidFill>
                <a:schemeClr val="dk1"/>
              </a:solidFill>
              <a:latin typeface="Calibri"/>
              <a:ea typeface="Calibri"/>
              <a:cs typeface="Calibri"/>
              <a:sym typeface="Calibri"/>
            </a:endParaRPr>
          </a:p>
          <a:p>
            <a:pPr indent="-155194" lvl="0" marL="182880" marR="0" rtl="0" algn="l">
              <a:lnSpc>
                <a:spcPct val="135000"/>
              </a:lnSpc>
              <a:spcBef>
                <a:spcPts val="0"/>
              </a:spcBef>
              <a:spcAft>
                <a:spcPts val="0"/>
              </a:spcAft>
              <a:buClr>
                <a:srgbClr val="DCDFE3"/>
              </a:buClr>
              <a:buSzPts val="1200"/>
              <a:buFont typeface="IBM Plex Sans"/>
              <a:buChar char="•"/>
            </a:pPr>
            <a:r>
              <a:rPr b="0" i="0" lang="en-US" sz="1200" u="none" cap="none" strike="noStrike">
                <a:solidFill>
                  <a:srgbClr val="DCDFE3"/>
                </a:solidFill>
                <a:latin typeface="IBM Plex Sans"/>
                <a:ea typeface="IBM Plex Sans"/>
                <a:cs typeface="IBM Plex Sans"/>
                <a:sym typeface="IBM Plex Sans"/>
              </a:rPr>
              <a:t>USPS near its borrowing cap; privatization talk revived</a:t>
            </a:r>
            <a:endParaRPr b="0" i="0" sz="1200" u="none" cap="none" strike="noStrike">
              <a:solidFill>
                <a:schemeClr val="dk1"/>
              </a:solidFill>
              <a:latin typeface="Calibri"/>
              <a:ea typeface="Calibri"/>
              <a:cs typeface="Calibri"/>
              <a:sym typeface="Calibri"/>
            </a:endParaRPr>
          </a:p>
        </p:txBody>
      </p:sp>
      <p:sp>
        <p:nvSpPr>
          <p:cNvPr id="67" name="Google Shape;67;p3"/>
          <p:cNvSpPr/>
          <p:nvPr/>
        </p:nvSpPr>
        <p:spPr>
          <a:xfrm>
            <a:off x="1041400" y="4058741"/>
            <a:ext cx="48399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DC"/>
              </a:buClr>
              <a:buSzPts val="1200"/>
              <a:buFont typeface="IBM Plex Sans"/>
              <a:buNone/>
            </a:pPr>
            <a:r>
              <a:rPr b="1" i="0" lang="en-US" sz="1200" u="none" cap="none" strike="noStrike">
                <a:solidFill>
                  <a:srgbClr val="7FB2DC"/>
                </a:solidFill>
                <a:latin typeface="IBM Plex Sans"/>
                <a:ea typeface="IBM Plex Sans"/>
                <a:cs typeface="IBM Plex Sans"/>
                <a:sym typeface="IBM Plex Sans"/>
              </a:rPr>
              <a:t>Pulling government</a:t>
            </a:r>
            <a:endParaRPr b="0" i="0" sz="1200" u="none" cap="none" strike="noStrike">
              <a:solidFill>
                <a:schemeClr val="dk1"/>
              </a:solidFill>
              <a:latin typeface="Calibri"/>
              <a:ea typeface="Calibri"/>
              <a:cs typeface="Calibri"/>
              <a:sym typeface="Calibri"/>
            </a:endParaRPr>
          </a:p>
        </p:txBody>
      </p:sp>
      <p:sp>
        <p:nvSpPr>
          <p:cNvPr id="68" name="Google Shape;68;p3"/>
          <p:cNvSpPr/>
          <p:nvPr/>
        </p:nvSpPr>
        <p:spPr>
          <a:xfrm>
            <a:off x="1041400" y="4373662"/>
            <a:ext cx="4839970" cy="436860"/>
          </a:xfrm>
          <a:prstGeom prst="rect">
            <a:avLst/>
          </a:prstGeom>
          <a:noFill/>
          <a:ln>
            <a:noFill/>
          </a:ln>
        </p:spPr>
        <p:txBody>
          <a:bodyPr anchorCtr="0" anchor="t" bIns="0" lIns="0" spcFirstLastPara="1" rIns="0" wrap="square" tIns="0">
            <a:normAutofit/>
          </a:bodyPr>
          <a:lstStyle/>
          <a:p>
            <a:pPr indent="-155194" lvl="0" marL="182880" marR="0" rtl="0" algn="l">
              <a:lnSpc>
                <a:spcPct val="135000"/>
              </a:lnSpc>
              <a:spcBef>
                <a:spcPts val="0"/>
              </a:spcBef>
              <a:spcAft>
                <a:spcPts val="0"/>
              </a:spcAft>
              <a:buClr>
                <a:srgbClr val="DCDFE3"/>
              </a:buClr>
              <a:buSzPts val="1200"/>
              <a:buFont typeface="IBM Plex Sans"/>
              <a:buChar char="•"/>
            </a:pPr>
            <a:r>
              <a:rPr b="0" i="0" lang="en-US" sz="1200" u="none" cap="none" strike="noStrike">
                <a:solidFill>
                  <a:srgbClr val="DCDFE3"/>
                </a:solidFill>
                <a:latin typeface="IBM Plex Sans"/>
                <a:ea typeface="IBM Plex Sans"/>
                <a:cs typeface="IBM Plex Sans"/>
                <a:sym typeface="IBM Plex Sans"/>
              </a:rPr>
              <a:t>U.S. Navy escorting merchant ships through Hormuz</a:t>
            </a:r>
            <a:endParaRPr b="0" i="0" sz="1200" u="none" cap="none" strike="noStrike">
              <a:solidFill>
                <a:schemeClr val="dk1"/>
              </a:solidFill>
              <a:latin typeface="Calibri"/>
              <a:ea typeface="Calibri"/>
              <a:cs typeface="Calibri"/>
              <a:sym typeface="Calibri"/>
            </a:endParaRPr>
          </a:p>
          <a:p>
            <a:pPr indent="-155194" lvl="0" marL="182880" marR="0" rtl="0" algn="l">
              <a:lnSpc>
                <a:spcPct val="135000"/>
              </a:lnSpc>
              <a:spcBef>
                <a:spcPts val="0"/>
              </a:spcBef>
              <a:spcAft>
                <a:spcPts val="0"/>
              </a:spcAft>
              <a:buClr>
                <a:srgbClr val="DCDFE3"/>
              </a:buClr>
              <a:buSzPts val="1200"/>
              <a:buFont typeface="IBM Plex Sans"/>
              <a:buChar char="•"/>
            </a:pPr>
            <a:r>
              <a:rPr b="0" i="0" lang="en-US" sz="1200" u="none" cap="none" strike="noStrike">
                <a:solidFill>
                  <a:srgbClr val="DCDFE3"/>
                </a:solidFill>
                <a:latin typeface="IBM Plex Sans"/>
                <a:ea typeface="IBM Plex Sans"/>
                <a:cs typeface="IBM Plex Sans"/>
                <a:sym typeface="IBM Plex Sans"/>
              </a:rPr>
              <a:t>Beijing demands a COSCO majority in the $23B ports sale</a:t>
            </a:r>
            <a:endParaRPr b="0" i="0" sz="1200" u="none" cap="none" strike="noStrike">
              <a:solidFill>
                <a:schemeClr val="dk1"/>
              </a:solidFill>
              <a:latin typeface="Calibri"/>
              <a:ea typeface="Calibri"/>
              <a:cs typeface="Calibri"/>
              <a:sym typeface="Calibri"/>
            </a:endParaRPr>
          </a:p>
        </p:txBody>
      </p:sp>
      <p:sp>
        <p:nvSpPr>
          <p:cNvPr id="69" name="Google Shape;69;p3"/>
          <p:cNvSpPr/>
          <p:nvPr/>
        </p:nvSpPr>
        <p:spPr>
          <a:xfrm>
            <a:off x="6223000" y="1864320"/>
            <a:ext cx="5156200" cy="3149402"/>
          </a:xfrm>
          <a:prstGeom prst="roundRect">
            <a:avLst>
              <a:gd fmla="val 4033" name="adj"/>
            </a:avLst>
          </a:prstGeom>
          <a:solidFill>
            <a:srgbClr val="2225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6451600" y="2092920"/>
            <a:ext cx="48399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8A4B"/>
              </a:buClr>
              <a:buSzPts val="1200"/>
              <a:buFont typeface="IBM Plex Mono"/>
              <a:buNone/>
            </a:pPr>
            <a:r>
              <a:rPr b="1" i="0" lang="en-US" sz="1200" u="none" cap="none" strike="noStrike">
                <a:solidFill>
                  <a:srgbClr val="F08A4B"/>
                </a:solidFill>
                <a:latin typeface="IBM Plex Mono"/>
                <a:ea typeface="IBM Plex Mono"/>
                <a:cs typeface="IBM Plex Mono"/>
                <a:sym typeface="IBM Plex Mono"/>
              </a:rPr>
              <a:t>AXIS 2 · GLOBAL RELATIONS</a:t>
            </a:r>
            <a:endParaRPr b="0" i="0" sz="1200" u="none" cap="none" strike="noStrike">
              <a:solidFill>
                <a:schemeClr val="dk1"/>
              </a:solidFill>
              <a:latin typeface="Calibri"/>
              <a:ea typeface="Calibri"/>
              <a:cs typeface="Calibri"/>
              <a:sym typeface="Calibri"/>
            </a:endParaRPr>
          </a:p>
        </p:txBody>
      </p:sp>
      <p:sp>
        <p:nvSpPr>
          <p:cNvPr id="71" name="Google Shape;71;p3"/>
          <p:cNvSpPr/>
          <p:nvPr/>
        </p:nvSpPr>
        <p:spPr>
          <a:xfrm>
            <a:off x="6451600" y="2407841"/>
            <a:ext cx="4839970"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E7"/>
              </a:buClr>
              <a:buSzPts val="2000"/>
              <a:buFont typeface="IBM Plex Sans"/>
              <a:buNone/>
            </a:pPr>
            <a:r>
              <a:rPr b="1" i="0" lang="en-US" sz="2000" u="none" cap="none" strike="noStrike">
                <a:solidFill>
                  <a:srgbClr val="F1EEE7"/>
                </a:solidFill>
                <a:latin typeface="IBM Plex Sans"/>
                <a:ea typeface="IBM Plex Sans"/>
                <a:cs typeface="IBM Plex Sans"/>
                <a:sym typeface="IBM Plex Sans"/>
              </a:rPr>
              <a:t>Do relations hold?</a:t>
            </a:r>
            <a:endParaRPr b="0" i="0" sz="2000" u="none" cap="none" strike="noStrike">
              <a:solidFill>
                <a:schemeClr val="dk1"/>
              </a:solidFill>
              <a:latin typeface="Calibri"/>
              <a:ea typeface="Calibri"/>
              <a:cs typeface="Calibri"/>
              <a:sym typeface="Calibri"/>
            </a:endParaRPr>
          </a:p>
        </p:txBody>
      </p:sp>
      <p:sp>
        <p:nvSpPr>
          <p:cNvPr id="72" name="Google Shape;72;p3"/>
          <p:cNvSpPr/>
          <p:nvPr/>
        </p:nvSpPr>
        <p:spPr>
          <a:xfrm>
            <a:off x="6451600" y="2814241"/>
            <a:ext cx="1162050" cy="314920"/>
          </a:xfrm>
          <a:prstGeom prst="roundRect">
            <a:avLst>
              <a:gd fmla="val 48393" name="adj"/>
            </a:avLst>
          </a:prstGeom>
          <a:solidFill>
            <a:srgbClr val="2333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6565900" y="2865041"/>
            <a:ext cx="98425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FD3AE"/>
              </a:buClr>
              <a:buSzPts val="1200"/>
              <a:buFont typeface="IBM Plex Sans"/>
              <a:buNone/>
            </a:pPr>
            <a:r>
              <a:rPr b="1" i="0" lang="en-US" sz="1200" u="none" cap="none" strike="noStrike">
                <a:solidFill>
                  <a:srgbClr val="9FD3AE"/>
                </a:solidFill>
                <a:latin typeface="IBM Plex Sans"/>
                <a:ea typeface="IBM Plex Sans"/>
                <a:cs typeface="IBM Plex Sans"/>
                <a:sym typeface="IBM Plex Sans"/>
              </a:rPr>
              <a:t>Stay in check</a:t>
            </a:r>
            <a:endParaRPr b="0" i="0" sz="1200" u="none" cap="none" strike="noStrike">
              <a:solidFill>
                <a:schemeClr val="dk1"/>
              </a:solidFill>
              <a:latin typeface="Calibri"/>
              <a:ea typeface="Calibri"/>
              <a:cs typeface="Calibri"/>
              <a:sym typeface="Calibri"/>
            </a:endParaRPr>
          </a:p>
        </p:txBody>
      </p:sp>
      <p:sp>
        <p:nvSpPr>
          <p:cNvPr id="74" name="Google Shape;74;p3"/>
          <p:cNvSpPr/>
          <p:nvPr/>
        </p:nvSpPr>
        <p:spPr>
          <a:xfrm>
            <a:off x="7715250" y="2962176"/>
            <a:ext cx="1712714" cy="19050"/>
          </a:xfrm>
          <a:prstGeom prst="rect">
            <a:avLst/>
          </a:prstGeom>
          <a:solidFill>
            <a:srgbClr val="5D61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9529564" y="2814241"/>
            <a:ext cx="1621036" cy="314920"/>
          </a:xfrm>
          <a:prstGeom prst="roundRect">
            <a:avLst>
              <a:gd fmla="val 48393" name="adj"/>
            </a:avLst>
          </a:prstGeom>
          <a:solidFill>
            <a:srgbClr val="3A22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9643864" y="2865041"/>
            <a:ext cx="144323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857A"/>
              </a:buClr>
              <a:buSzPts val="1200"/>
              <a:buFont typeface="IBM Plex Sans"/>
              <a:buNone/>
            </a:pPr>
            <a:r>
              <a:rPr b="1" i="0" lang="en-US" sz="1200" u="none" cap="none" strike="noStrike">
                <a:solidFill>
                  <a:srgbClr val="F0857A"/>
                </a:solidFill>
                <a:latin typeface="IBM Plex Sans"/>
                <a:ea typeface="IBM Plex Sans"/>
                <a:cs typeface="IBM Plex Sans"/>
                <a:sym typeface="IBM Plex Sans"/>
              </a:rPr>
              <a:t>Spiral out of control</a:t>
            </a:r>
            <a:endParaRPr b="0" i="0" sz="1200" u="none" cap="none" strike="noStrike">
              <a:solidFill>
                <a:schemeClr val="dk1"/>
              </a:solidFill>
              <a:latin typeface="Calibri"/>
              <a:ea typeface="Calibri"/>
              <a:cs typeface="Calibri"/>
              <a:sym typeface="Calibri"/>
            </a:endParaRPr>
          </a:p>
        </p:txBody>
      </p:sp>
      <p:sp>
        <p:nvSpPr>
          <p:cNvPr id="77" name="Google Shape;77;p3"/>
          <p:cNvSpPr/>
          <p:nvPr/>
        </p:nvSpPr>
        <p:spPr>
          <a:xfrm>
            <a:off x="6451600" y="3230761"/>
            <a:ext cx="48399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0857A"/>
              </a:buClr>
              <a:buSzPts val="1200"/>
              <a:buFont typeface="IBM Plex Sans"/>
              <a:buNone/>
            </a:pPr>
            <a:r>
              <a:rPr b="1" i="0" lang="en-US" sz="1200" u="none" cap="none" strike="noStrike">
                <a:solidFill>
                  <a:srgbClr val="F0857A"/>
                </a:solidFill>
                <a:latin typeface="IBM Plex Sans"/>
                <a:ea typeface="IBM Plex Sans"/>
                <a:cs typeface="IBM Plex Sans"/>
                <a:sym typeface="IBM Plex Sans"/>
              </a:rPr>
              <a:t>Pulling toward a spiral</a:t>
            </a:r>
            <a:endParaRPr b="0" i="0" sz="1200" u="none" cap="none" strike="noStrike">
              <a:solidFill>
                <a:schemeClr val="dk1"/>
              </a:solidFill>
              <a:latin typeface="Calibri"/>
              <a:ea typeface="Calibri"/>
              <a:cs typeface="Calibri"/>
              <a:sym typeface="Calibri"/>
            </a:endParaRPr>
          </a:p>
        </p:txBody>
      </p:sp>
      <p:sp>
        <p:nvSpPr>
          <p:cNvPr id="78" name="Google Shape;78;p3"/>
          <p:cNvSpPr/>
          <p:nvPr/>
        </p:nvSpPr>
        <p:spPr>
          <a:xfrm>
            <a:off x="6451600" y="3545681"/>
            <a:ext cx="4839970" cy="436860"/>
          </a:xfrm>
          <a:prstGeom prst="rect">
            <a:avLst/>
          </a:prstGeom>
          <a:noFill/>
          <a:ln>
            <a:noFill/>
          </a:ln>
        </p:spPr>
        <p:txBody>
          <a:bodyPr anchorCtr="0" anchor="t" bIns="0" lIns="0" spcFirstLastPara="1" rIns="0" wrap="square" tIns="0">
            <a:normAutofit/>
          </a:bodyPr>
          <a:lstStyle/>
          <a:p>
            <a:pPr indent="-155194" lvl="0" marL="182880" marR="0" rtl="0" algn="l">
              <a:lnSpc>
                <a:spcPct val="135000"/>
              </a:lnSpc>
              <a:spcBef>
                <a:spcPts val="0"/>
              </a:spcBef>
              <a:spcAft>
                <a:spcPts val="0"/>
              </a:spcAft>
              <a:buClr>
                <a:srgbClr val="DCDFE3"/>
              </a:buClr>
              <a:buSzPts val="1200"/>
              <a:buFont typeface="IBM Plex Sans"/>
              <a:buChar char="•"/>
            </a:pPr>
            <a:r>
              <a:rPr b="0" i="0" lang="en-US" sz="1200" u="none" cap="none" strike="noStrike">
                <a:solidFill>
                  <a:srgbClr val="DCDFE3"/>
                </a:solidFill>
                <a:latin typeface="IBM Plex Sans"/>
                <a:ea typeface="IBM Plex Sans"/>
                <a:cs typeface="IBM Plex Sans"/>
                <a:sym typeface="IBM Plex Sans"/>
              </a:rPr>
              <a:t>Hormuz blocked since Feb. 2026, traffic down ~95%</a:t>
            </a:r>
            <a:endParaRPr b="0" i="0" sz="1200" u="none" cap="none" strike="noStrike">
              <a:solidFill>
                <a:schemeClr val="dk1"/>
              </a:solidFill>
              <a:latin typeface="Calibri"/>
              <a:ea typeface="Calibri"/>
              <a:cs typeface="Calibri"/>
              <a:sym typeface="Calibri"/>
            </a:endParaRPr>
          </a:p>
          <a:p>
            <a:pPr indent="-155194" lvl="0" marL="182880" marR="0" rtl="0" algn="l">
              <a:lnSpc>
                <a:spcPct val="135000"/>
              </a:lnSpc>
              <a:spcBef>
                <a:spcPts val="0"/>
              </a:spcBef>
              <a:spcAft>
                <a:spcPts val="0"/>
              </a:spcAft>
              <a:buClr>
                <a:srgbClr val="DCDFE3"/>
              </a:buClr>
              <a:buSzPts val="1200"/>
              <a:buFont typeface="IBM Plex Sans"/>
              <a:buChar char="•"/>
            </a:pPr>
            <a:r>
              <a:rPr b="0" i="0" lang="en-US" sz="1200" u="none" cap="none" strike="noStrike">
                <a:solidFill>
                  <a:srgbClr val="DCDFE3"/>
                </a:solidFill>
                <a:latin typeface="IBM Plex Sans"/>
                <a:ea typeface="IBM Plex Sans"/>
                <a:cs typeface="IBM Plex Sans"/>
                <a:sym typeface="IBM Plex Sans"/>
              </a:rPr>
              <a:t>U.S.–Iran conflict spreading to Iraq and Yemen</a:t>
            </a:r>
            <a:endParaRPr b="0" i="0" sz="1200" u="none" cap="none" strike="noStrike">
              <a:solidFill>
                <a:schemeClr val="dk1"/>
              </a:solidFill>
              <a:latin typeface="Calibri"/>
              <a:ea typeface="Calibri"/>
              <a:cs typeface="Calibri"/>
              <a:sym typeface="Calibri"/>
            </a:endParaRPr>
          </a:p>
        </p:txBody>
      </p:sp>
      <p:sp>
        <p:nvSpPr>
          <p:cNvPr id="79" name="Google Shape;79;p3"/>
          <p:cNvSpPr/>
          <p:nvPr/>
        </p:nvSpPr>
        <p:spPr>
          <a:xfrm>
            <a:off x="6451600" y="4058741"/>
            <a:ext cx="48399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FD3AE"/>
              </a:buClr>
              <a:buSzPts val="1200"/>
              <a:buFont typeface="IBM Plex Sans"/>
              <a:buNone/>
            </a:pPr>
            <a:r>
              <a:rPr b="1" i="0" lang="en-US" sz="1200" u="none" cap="none" strike="noStrike">
                <a:solidFill>
                  <a:srgbClr val="9FD3AE"/>
                </a:solidFill>
                <a:latin typeface="IBM Plex Sans"/>
                <a:ea typeface="IBM Plex Sans"/>
                <a:cs typeface="IBM Plex Sans"/>
                <a:sym typeface="IBM Plex Sans"/>
              </a:rPr>
              <a:t>Pulling toward stability</a:t>
            </a:r>
            <a:endParaRPr b="0" i="0" sz="1200" u="none" cap="none" strike="noStrike">
              <a:solidFill>
                <a:schemeClr val="dk1"/>
              </a:solidFill>
              <a:latin typeface="Calibri"/>
              <a:ea typeface="Calibri"/>
              <a:cs typeface="Calibri"/>
              <a:sym typeface="Calibri"/>
            </a:endParaRPr>
          </a:p>
        </p:txBody>
      </p:sp>
      <p:sp>
        <p:nvSpPr>
          <p:cNvPr id="80" name="Google Shape;80;p3"/>
          <p:cNvSpPr/>
          <p:nvPr/>
        </p:nvSpPr>
        <p:spPr>
          <a:xfrm>
            <a:off x="6451600" y="4373662"/>
            <a:ext cx="4839970" cy="436860"/>
          </a:xfrm>
          <a:prstGeom prst="rect">
            <a:avLst/>
          </a:prstGeom>
          <a:noFill/>
          <a:ln>
            <a:noFill/>
          </a:ln>
        </p:spPr>
        <p:txBody>
          <a:bodyPr anchorCtr="0" anchor="t" bIns="0" lIns="0" spcFirstLastPara="1" rIns="0" wrap="square" tIns="0">
            <a:normAutofit/>
          </a:bodyPr>
          <a:lstStyle/>
          <a:p>
            <a:pPr indent="-155194" lvl="0" marL="182880" marR="0" rtl="0" algn="l">
              <a:lnSpc>
                <a:spcPct val="135000"/>
              </a:lnSpc>
              <a:spcBef>
                <a:spcPts val="0"/>
              </a:spcBef>
              <a:spcAft>
                <a:spcPts val="0"/>
              </a:spcAft>
              <a:buClr>
                <a:srgbClr val="DCDFE3"/>
              </a:buClr>
              <a:buSzPts val="1200"/>
              <a:buFont typeface="IBM Plex Sans"/>
              <a:buChar char="•"/>
            </a:pPr>
            <a:r>
              <a:rPr b="0" i="0" lang="en-US" sz="1200" u="none" cap="none" strike="noStrike">
                <a:solidFill>
                  <a:srgbClr val="DCDFE3"/>
                </a:solidFill>
                <a:latin typeface="IBM Plex Sans"/>
                <a:ea typeface="IBM Plex Sans"/>
                <a:cs typeface="IBM Plex Sans"/>
                <a:sym typeface="IBM Plex Sans"/>
              </a:rPr>
              <a:t>CMA CGM back in the Red Sea under naval escort</a:t>
            </a:r>
            <a:endParaRPr b="0" i="0" sz="1200" u="none" cap="none" strike="noStrike">
              <a:solidFill>
                <a:schemeClr val="dk1"/>
              </a:solidFill>
              <a:latin typeface="Calibri"/>
              <a:ea typeface="Calibri"/>
              <a:cs typeface="Calibri"/>
              <a:sym typeface="Calibri"/>
            </a:endParaRPr>
          </a:p>
          <a:p>
            <a:pPr indent="-155194" lvl="0" marL="182880" marR="0" rtl="0" algn="l">
              <a:lnSpc>
                <a:spcPct val="135000"/>
              </a:lnSpc>
              <a:spcBef>
                <a:spcPts val="0"/>
              </a:spcBef>
              <a:spcAft>
                <a:spcPts val="0"/>
              </a:spcAft>
              <a:buClr>
                <a:srgbClr val="DCDFE3"/>
              </a:buClr>
              <a:buSzPts val="1200"/>
              <a:buFont typeface="IBM Plex Sans"/>
              <a:buChar char="•"/>
            </a:pPr>
            <a:r>
              <a:rPr b="0" i="0" lang="en-US" sz="1200" u="none" cap="none" strike="noStrike">
                <a:solidFill>
                  <a:srgbClr val="DCDFE3"/>
                </a:solidFill>
                <a:latin typeface="IBM Plex Sans"/>
                <a:ea typeface="IBM Plex Sans"/>
                <a:cs typeface="IBM Plex Sans"/>
                <a:sym typeface="IBM Plex Sans"/>
              </a:rPr>
              <a:t>Shippers diversifying routes to absorb shocks</a:t>
            </a:r>
            <a:endParaRPr b="0" i="0" sz="1200" u="none" cap="none" strike="noStrike">
              <a:solidFill>
                <a:schemeClr val="dk1"/>
              </a:solidFill>
              <a:latin typeface="Calibri"/>
              <a:ea typeface="Calibri"/>
              <a:cs typeface="Calibri"/>
              <a:sym typeface="Calibri"/>
            </a:endParaRPr>
          </a:p>
        </p:txBody>
      </p:sp>
      <p:sp>
        <p:nvSpPr>
          <p:cNvPr id="81" name="Google Shape;81;p3"/>
          <p:cNvSpPr/>
          <p:nvPr/>
        </p:nvSpPr>
        <p:spPr>
          <a:xfrm>
            <a:off x="812800" y="5191522"/>
            <a:ext cx="10883392"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CCD1"/>
              </a:buClr>
              <a:buSzPts val="1300"/>
              <a:buFont typeface="IBM Plex Sans"/>
              <a:buNone/>
            </a:pPr>
            <a:r>
              <a:rPr b="0" i="1" lang="en-US" sz="1300" u="none" cap="none" strike="noStrike">
                <a:solidFill>
                  <a:srgbClr val="C9CCD1"/>
                </a:solidFill>
                <a:latin typeface="IBM Plex Sans"/>
                <a:ea typeface="IBM Plex Sans"/>
                <a:cs typeface="IBM Plex Sans"/>
                <a:sym typeface="IBM Plex Sans"/>
              </a:rPr>
              <a:t>Why these two work together: they are independent. Private carriers can operate in a war zone, and governments can run logistics in peacetime, so all four corners are plausible.</a:t>
            </a:r>
            <a:endParaRPr b="0" i="0" sz="1300" u="none" cap="none" strike="noStrike">
              <a:solidFill>
                <a:schemeClr val="dk1"/>
              </a:solidFill>
              <a:latin typeface="Calibri"/>
              <a:ea typeface="Calibri"/>
              <a:cs typeface="Calibri"/>
              <a:sym typeface="Calibri"/>
            </a:endParaRPr>
          </a:p>
        </p:txBody>
      </p:sp>
      <p:sp>
        <p:nvSpPr>
          <p:cNvPr id="82" name="Google Shape;82;p3"/>
          <p:cNvSpPr/>
          <p:nvPr/>
        </p:nvSpPr>
        <p:spPr>
          <a:xfrm>
            <a:off x="812800" y="6233220"/>
            <a:ext cx="10883392" cy="4215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8D9198"/>
              </a:buClr>
              <a:buSzPts val="1200"/>
              <a:buFont typeface="IBM Plex Sans"/>
              <a:buNone/>
            </a:pPr>
            <a:r>
              <a:rPr b="0" i="0" lang="en-US" sz="1200" u="none" cap="none" strike="noStrike">
                <a:solidFill>
                  <a:srgbClr val="8D9198"/>
                </a:solidFill>
                <a:latin typeface="IBM Plex Sans"/>
                <a:ea typeface="IBM Plex Sans"/>
                <a:cs typeface="IBM Plex Sans"/>
                <a:sym typeface="IBM Plex Sans"/>
              </a:rPr>
              <a:t>Sources: Phenomenal World, May 2026 · Brookings, Mar. 2026 · Congressional Research Service, Aug. 2026 · Global Trade Magazine, Dec. 2025 · Al Jazeera, Aug. 2026 · GoFreight, Jul. 2026 · UNCTAD RMT 2025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8"/>
        </a:solidFill>
      </p:bgPr>
    </p:bg>
    <p:spTree>
      <p:nvGrpSpPr>
        <p:cNvPr id="87" name="Shape 87"/>
        <p:cNvGrpSpPr/>
        <p:nvPr/>
      </p:nvGrpSpPr>
      <p:grpSpPr>
        <a:xfrm>
          <a:off x="0" y="0"/>
          <a:ext cx="0" cy="0"/>
          <a:chOff x="0" y="0"/>
          <a:chExt cx="0" cy="0"/>
        </a:xfrm>
      </p:grpSpPr>
      <p:sp>
        <p:nvSpPr>
          <p:cNvPr id="88" name="Google Shape;88;p4"/>
          <p:cNvSpPr/>
          <p:nvPr/>
        </p:nvSpPr>
        <p:spPr>
          <a:xfrm>
            <a:off x="812800" y="457200"/>
            <a:ext cx="10883392" cy="444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D1F22"/>
              </a:buClr>
              <a:buSzPts val="3000"/>
              <a:buFont typeface="IBM Plex Sans"/>
              <a:buNone/>
            </a:pPr>
            <a:r>
              <a:rPr b="1" i="0" lang="en-US" sz="3000" u="none" cap="none" strike="noStrike">
                <a:solidFill>
                  <a:srgbClr val="1D1F22"/>
                </a:solidFill>
                <a:latin typeface="IBM Plex Sans"/>
                <a:ea typeface="IBM Plex Sans"/>
                <a:cs typeface="IBM Plex Sans"/>
                <a:sym typeface="IBM Plex Sans"/>
              </a:rPr>
              <a:t>Four futures for logistics</a:t>
            </a:r>
            <a:endParaRPr b="0" i="0" sz="3000" u="none" cap="none" strike="noStrike">
              <a:solidFill>
                <a:schemeClr val="dk1"/>
              </a:solidFill>
              <a:latin typeface="Calibri"/>
              <a:ea typeface="Calibri"/>
              <a:cs typeface="Calibri"/>
              <a:sym typeface="Calibri"/>
            </a:endParaRPr>
          </a:p>
        </p:txBody>
      </p:sp>
      <p:sp>
        <p:nvSpPr>
          <p:cNvPr id="89" name="Google Shape;89;p4"/>
          <p:cNvSpPr/>
          <p:nvPr/>
        </p:nvSpPr>
        <p:spPr>
          <a:xfrm>
            <a:off x="812800" y="952500"/>
            <a:ext cx="10883392" cy="24001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A4E55"/>
              </a:buClr>
              <a:buSzPts val="1300"/>
              <a:buFont typeface="IBM Plex Sans"/>
              <a:buNone/>
            </a:pPr>
            <a:r>
              <a:rPr b="0" i="0" lang="en-US" sz="1300" u="none" cap="none" strike="noStrike">
                <a:solidFill>
                  <a:srgbClr val="4A4E55"/>
                </a:solidFill>
                <a:latin typeface="IBM Plex Sans"/>
                <a:ea typeface="IBM Plex Sans"/>
                <a:cs typeface="IBM Plex Sans"/>
                <a:sym typeface="IBM Plex Sans"/>
              </a:rPr>
              <a:t>Where 2026 sits: sliding toward the bottom row as chokepoints close, with ownership pulled both ways.</a:t>
            </a:r>
            <a:endParaRPr b="0" i="0" sz="1300" u="none" cap="none" strike="noStrike">
              <a:solidFill>
                <a:schemeClr val="dk1"/>
              </a:solidFill>
              <a:latin typeface="Calibri"/>
              <a:ea typeface="Calibri"/>
              <a:cs typeface="Calibri"/>
              <a:sym typeface="Calibri"/>
            </a:endParaRPr>
          </a:p>
        </p:txBody>
      </p:sp>
      <p:sp>
        <p:nvSpPr>
          <p:cNvPr id="90" name="Google Shape;90;p4"/>
          <p:cNvSpPr/>
          <p:nvPr/>
        </p:nvSpPr>
        <p:spPr>
          <a:xfrm>
            <a:off x="1246505" y="1295400"/>
            <a:ext cx="510159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B4501D"/>
              </a:buClr>
              <a:buSzPts val="1200"/>
              <a:buFont typeface="IBM Plex Mono"/>
              <a:buNone/>
            </a:pPr>
            <a:r>
              <a:rPr b="1" i="0" lang="en-US" sz="1200" u="none" cap="none" strike="noStrike">
                <a:solidFill>
                  <a:srgbClr val="B4501D"/>
                </a:solidFill>
                <a:latin typeface="IBM Plex Mono"/>
                <a:ea typeface="IBM Plex Mono"/>
                <a:cs typeface="IBM Plex Mono"/>
                <a:sym typeface="IBM Plex Mono"/>
              </a:rPr>
              <a:t>← FULLY PRIVATE</a:t>
            </a:r>
            <a:endParaRPr b="0" i="0" sz="1200" u="none" cap="none" strike="noStrike">
              <a:solidFill>
                <a:schemeClr val="dk1"/>
              </a:solidFill>
              <a:latin typeface="Calibri"/>
              <a:ea typeface="Calibri"/>
              <a:cs typeface="Calibri"/>
              <a:sym typeface="Calibri"/>
            </a:endParaRPr>
          </a:p>
        </p:txBody>
      </p:sp>
      <p:sp>
        <p:nvSpPr>
          <p:cNvPr id="91" name="Google Shape;91;p4"/>
          <p:cNvSpPr/>
          <p:nvPr/>
        </p:nvSpPr>
        <p:spPr>
          <a:xfrm>
            <a:off x="6351905" y="1295400"/>
            <a:ext cx="510159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2F6690"/>
              </a:buClr>
              <a:buSzPts val="1200"/>
              <a:buFont typeface="IBM Plex Mono"/>
              <a:buNone/>
            </a:pPr>
            <a:r>
              <a:rPr b="1" i="0" lang="en-US" sz="1200" u="none" cap="none" strike="noStrike">
                <a:solidFill>
                  <a:srgbClr val="2F6690"/>
                </a:solidFill>
                <a:latin typeface="IBM Plex Mono"/>
                <a:ea typeface="IBM Plex Mono"/>
                <a:cs typeface="IBM Plex Mono"/>
                <a:sym typeface="IBM Plex Mono"/>
              </a:rPr>
              <a:t>GOVERNMENT-OPERATED →</a:t>
            </a:r>
            <a:endParaRPr b="0" i="0" sz="1200" u="none" cap="none" strike="noStrike">
              <a:solidFill>
                <a:schemeClr val="dk1"/>
              </a:solidFill>
              <a:latin typeface="Calibri"/>
              <a:ea typeface="Calibri"/>
              <a:cs typeface="Calibri"/>
              <a:sym typeface="Calibri"/>
            </a:endParaRPr>
          </a:p>
        </p:txBody>
      </p:sp>
      <p:sp>
        <p:nvSpPr>
          <p:cNvPr id="92" name="Google Shape;92;p4"/>
          <p:cNvSpPr/>
          <p:nvPr/>
        </p:nvSpPr>
        <p:spPr>
          <a:xfrm rot="-5400000">
            <a:off x="45720" y="2444477"/>
            <a:ext cx="2092960" cy="342900"/>
          </a:xfrm>
          <a:prstGeom prst="rect">
            <a:avLst/>
          </a:prstGeom>
          <a:noFill/>
          <a:ln>
            <a:noFill/>
          </a:ln>
        </p:spPr>
        <p:txBody>
          <a:bodyPr anchorCtr="0" anchor="t" bIns="0" lIns="0" spcFirstLastPara="1" rIns="0" wrap="square" tIns="0">
            <a:normAutofit/>
          </a:bodyPr>
          <a:lstStyle/>
          <a:p>
            <a:pPr indent="0" lvl="0" marL="0" marR="0" rtl="0" algn="ctr">
              <a:lnSpc>
                <a:spcPct val="208000"/>
              </a:lnSpc>
              <a:spcBef>
                <a:spcPts val="0"/>
              </a:spcBef>
              <a:spcAft>
                <a:spcPts val="0"/>
              </a:spcAft>
              <a:buClr>
                <a:srgbClr val="3D7A52"/>
              </a:buClr>
              <a:buSzPts val="1200"/>
              <a:buFont typeface="IBM Plex Mono"/>
              <a:buNone/>
            </a:pPr>
            <a:r>
              <a:rPr b="1" i="0" lang="en-US" sz="1200" u="none" cap="none" strike="noStrike">
                <a:solidFill>
                  <a:srgbClr val="3D7A52"/>
                </a:solidFill>
                <a:latin typeface="IBM Plex Mono"/>
                <a:ea typeface="IBM Plex Mono"/>
                <a:cs typeface="IBM Plex Mono"/>
                <a:sym typeface="IBM Plex Mono"/>
              </a:rPr>
              <a:t>IN CHECK</a:t>
            </a:r>
            <a:endParaRPr b="0" i="0" sz="1200" u="none" cap="none" strike="noStrike">
              <a:solidFill>
                <a:schemeClr val="dk1"/>
              </a:solidFill>
              <a:latin typeface="Calibri"/>
              <a:ea typeface="Calibri"/>
              <a:cs typeface="Calibri"/>
              <a:sym typeface="Calibri"/>
            </a:endParaRPr>
          </a:p>
        </p:txBody>
      </p:sp>
      <p:sp>
        <p:nvSpPr>
          <p:cNvPr id="93" name="Google Shape;93;p4"/>
          <p:cNvSpPr/>
          <p:nvPr/>
        </p:nvSpPr>
        <p:spPr>
          <a:xfrm rot="-5400000">
            <a:off x="45720" y="4628877"/>
            <a:ext cx="2092960" cy="342900"/>
          </a:xfrm>
          <a:prstGeom prst="rect">
            <a:avLst/>
          </a:prstGeom>
          <a:noFill/>
          <a:ln>
            <a:noFill/>
          </a:ln>
        </p:spPr>
        <p:txBody>
          <a:bodyPr anchorCtr="0" anchor="t" bIns="0" lIns="0" spcFirstLastPara="1" rIns="0" wrap="square" tIns="0">
            <a:normAutofit/>
          </a:bodyPr>
          <a:lstStyle/>
          <a:p>
            <a:pPr indent="0" lvl="0" marL="0" marR="0" rtl="0" algn="ctr">
              <a:lnSpc>
                <a:spcPct val="208000"/>
              </a:lnSpc>
              <a:spcBef>
                <a:spcPts val="0"/>
              </a:spcBef>
              <a:spcAft>
                <a:spcPts val="0"/>
              </a:spcAft>
              <a:buClr>
                <a:srgbClr val="A8432C"/>
              </a:buClr>
              <a:buSzPts val="1200"/>
              <a:buFont typeface="IBM Plex Mono"/>
              <a:buNone/>
            </a:pPr>
            <a:r>
              <a:rPr b="1" i="0" lang="en-US" sz="1200" u="none" cap="none" strike="noStrike">
                <a:solidFill>
                  <a:srgbClr val="A8432C"/>
                </a:solidFill>
                <a:latin typeface="IBM Plex Mono"/>
                <a:ea typeface="IBM Plex Mono"/>
                <a:cs typeface="IBM Plex Mono"/>
                <a:sym typeface="IBM Plex Mono"/>
              </a:rPr>
              <a:t>SPIRALING ↓</a:t>
            </a:r>
            <a:endParaRPr b="0" i="0" sz="1200" u="none" cap="none" strike="noStrike">
              <a:solidFill>
                <a:schemeClr val="dk1"/>
              </a:solidFill>
              <a:latin typeface="Calibri"/>
              <a:ea typeface="Calibri"/>
              <a:cs typeface="Calibri"/>
              <a:sym typeface="Calibri"/>
            </a:endParaRPr>
          </a:p>
        </p:txBody>
      </p:sp>
      <p:sp>
        <p:nvSpPr>
          <p:cNvPr id="94" name="Google Shape;94;p4"/>
          <p:cNvSpPr/>
          <p:nvPr/>
        </p:nvSpPr>
        <p:spPr>
          <a:xfrm>
            <a:off x="1323975" y="1603375"/>
            <a:ext cx="4946650" cy="2025650"/>
          </a:xfrm>
          <a:prstGeom prst="roundRect">
            <a:avLst>
              <a:gd fmla="val 6113" name="adj"/>
            </a:avLst>
          </a:prstGeom>
          <a:solidFill>
            <a:srgbClr val="FDFCF9"/>
          </a:solidFill>
          <a:ln cap="flat" cmpd="sng" w="9525">
            <a:solidFill>
              <a:srgbClr val="E2DD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lobe linked by private delivery routes with a parcel" id="95" name="Google Shape;95;p4"/>
          <p:cNvPicPr preferRelativeResize="0"/>
          <p:nvPr/>
        </p:nvPicPr>
        <p:blipFill rotWithShape="1">
          <a:blip r:embed="rId3">
            <a:alphaModFix/>
          </a:blip>
          <a:srcRect b="0" l="0" r="0" t="0"/>
          <a:stretch/>
        </p:blipFill>
        <p:spPr>
          <a:xfrm>
            <a:off x="1504950" y="1981200"/>
            <a:ext cx="1397000" cy="1270000"/>
          </a:xfrm>
          <a:prstGeom prst="rect">
            <a:avLst/>
          </a:prstGeom>
          <a:noFill/>
          <a:ln>
            <a:noFill/>
          </a:ln>
        </p:spPr>
      </p:pic>
      <p:sp>
        <p:nvSpPr>
          <p:cNvPr id="96" name="Google Shape;96;p4"/>
          <p:cNvSpPr/>
          <p:nvPr/>
        </p:nvSpPr>
        <p:spPr>
          <a:xfrm>
            <a:off x="3079750" y="1866999"/>
            <a:ext cx="3100197" cy="25906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B4501D"/>
              </a:buClr>
              <a:buSzPts val="1600"/>
              <a:buFont typeface="IBM Plex Sans"/>
              <a:buNone/>
            </a:pPr>
            <a:r>
              <a:rPr b="1" i="0" lang="en-US" sz="1600" u="none" cap="none" strike="noStrike">
                <a:solidFill>
                  <a:srgbClr val="B4501D"/>
                </a:solidFill>
                <a:latin typeface="IBM Plex Sans"/>
                <a:ea typeface="IBM Plex Sans"/>
                <a:cs typeface="IBM Plex Sans"/>
                <a:sym typeface="IBM Plex Sans"/>
              </a:rPr>
              <a:t>Frictionless Marketplace</a:t>
            </a:r>
            <a:endParaRPr b="0" i="0" sz="1600" u="none" cap="none" strike="noStrike">
              <a:solidFill>
                <a:schemeClr val="dk1"/>
              </a:solidFill>
              <a:latin typeface="Calibri"/>
              <a:ea typeface="Calibri"/>
              <a:cs typeface="Calibri"/>
              <a:sym typeface="Calibri"/>
            </a:endParaRPr>
          </a:p>
        </p:txBody>
      </p:sp>
      <p:sp>
        <p:nvSpPr>
          <p:cNvPr id="97" name="Google Shape;97;p4"/>
          <p:cNvSpPr/>
          <p:nvPr/>
        </p:nvSpPr>
        <p:spPr>
          <a:xfrm>
            <a:off x="3079750" y="2176859"/>
            <a:ext cx="3100197" cy="1213941"/>
          </a:xfrm>
          <a:prstGeom prst="rect">
            <a:avLst/>
          </a:prstGeom>
          <a:noFill/>
          <a:ln>
            <a:noFill/>
          </a:ln>
        </p:spPr>
        <p:txBody>
          <a:bodyPr anchorCtr="0" anchor="t" bIns="0" lIns="0" spcFirstLastPara="1" rIns="0" wrap="square" tIns="0">
            <a:normAutofit/>
          </a:bodyPr>
          <a:lstStyle/>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Mega-platforms run end to end: lowest cost, fastest delivery</a:t>
            </a:r>
            <a:endParaRPr b="0" i="0" sz="1200" u="none" cap="none" strike="noStrike">
              <a:solidFill>
                <a:schemeClr val="dk1"/>
              </a:solidFill>
              <a:latin typeface="Calibri"/>
              <a:ea typeface="Calibri"/>
              <a:cs typeface="Calibri"/>
              <a:sym typeface="Calibri"/>
            </a:endParaRPr>
          </a:p>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Routes that don't pay get dropped: rural, small, remote</a:t>
            </a:r>
            <a:endParaRPr b="0" i="0" sz="1200" u="none" cap="none" strike="noStrike">
              <a:solidFill>
                <a:schemeClr val="dk1"/>
              </a:solidFill>
              <a:latin typeface="Calibri"/>
              <a:ea typeface="Calibri"/>
              <a:cs typeface="Calibri"/>
              <a:sym typeface="Calibri"/>
            </a:endParaRPr>
          </a:p>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Risk: private monopoly over essential infrastructure</a:t>
            </a:r>
            <a:endParaRPr b="0" i="0" sz="1200" u="none" cap="none" strike="noStrike">
              <a:solidFill>
                <a:schemeClr val="dk1"/>
              </a:solidFill>
              <a:latin typeface="Calibri"/>
              <a:ea typeface="Calibri"/>
              <a:cs typeface="Calibri"/>
              <a:sym typeface="Calibri"/>
            </a:endParaRPr>
          </a:p>
        </p:txBody>
      </p:sp>
      <p:sp>
        <p:nvSpPr>
          <p:cNvPr id="98" name="Google Shape;98;p4"/>
          <p:cNvSpPr/>
          <p:nvPr/>
        </p:nvSpPr>
        <p:spPr>
          <a:xfrm>
            <a:off x="6429375" y="1603375"/>
            <a:ext cx="4946650" cy="2025650"/>
          </a:xfrm>
          <a:prstGeom prst="roundRect">
            <a:avLst>
              <a:gd fmla="val 6113" name="adj"/>
            </a:avLst>
          </a:prstGeom>
          <a:solidFill>
            <a:srgbClr val="FDFCF9"/>
          </a:solidFill>
          <a:ln cap="flat" cmpd="sng" w="9525">
            <a:solidFill>
              <a:srgbClr val="E2DD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overnment building with columns above a public road" id="99" name="Google Shape;99;p4"/>
          <p:cNvPicPr preferRelativeResize="0"/>
          <p:nvPr/>
        </p:nvPicPr>
        <p:blipFill rotWithShape="1">
          <a:blip r:embed="rId4">
            <a:alphaModFix/>
          </a:blip>
          <a:srcRect b="0" l="0" r="0" t="0"/>
          <a:stretch/>
        </p:blipFill>
        <p:spPr>
          <a:xfrm>
            <a:off x="6610350" y="1981200"/>
            <a:ext cx="1397000" cy="1270000"/>
          </a:xfrm>
          <a:prstGeom prst="rect">
            <a:avLst/>
          </a:prstGeom>
          <a:noFill/>
          <a:ln>
            <a:noFill/>
          </a:ln>
        </p:spPr>
      </p:pic>
      <p:sp>
        <p:nvSpPr>
          <p:cNvPr id="100" name="Google Shape;100;p4"/>
          <p:cNvSpPr/>
          <p:nvPr/>
        </p:nvSpPr>
        <p:spPr>
          <a:xfrm>
            <a:off x="8185150" y="1866999"/>
            <a:ext cx="3100197" cy="25906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6690"/>
              </a:buClr>
              <a:buSzPts val="1600"/>
              <a:buFont typeface="IBM Plex Sans"/>
              <a:buNone/>
            </a:pPr>
            <a:r>
              <a:rPr b="1" i="0" lang="en-US" sz="1600" u="none" cap="none" strike="noStrike">
                <a:solidFill>
                  <a:srgbClr val="2F6690"/>
                </a:solidFill>
                <a:latin typeface="IBM Plex Sans"/>
                <a:ea typeface="IBM Plex Sans"/>
                <a:cs typeface="IBM Plex Sans"/>
                <a:sym typeface="IBM Plex Sans"/>
              </a:rPr>
              <a:t>Public Utility Freight</a:t>
            </a:r>
            <a:endParaRPr b="0" i="0" sz="1600" u="none" cap="none" strike="noStrike">
              <a:solidFill>
                <a:schemeClr val="dk1"/>
              </a:solidFill>
              <a:latin typeface="Calibri"/>
              <a:ea typeface="Calibri"/>
              <a:cs typeface="Calibri"/>
              <a:sym typeface="Calibri"/>
            </a:endParaRPr>
          </a:p>
        </p:txBody>
      </p:sp>
      <p:sp>
        <p:nvSpPr>
          <p:cNvPr id="101" name="Google Shape;101;p4"/>
          <p:cNvSpPr/>
          <p:nvPr/>
        </p:nvSpPr>
        <p:spPr>
          <a:xfrm>
            <a:off x="8185150" y="2176859"/>
            <a:ext cx="3100197" cy="1213941"/>
          </a:xfrm>
          <a:prstGeom prst="rect">
            <a:avLst/>
          </a:prstGeom>
          <a:noFill/>
          <a:ln>
            <a:noFill/>
          </a:ln>
        </p:spPr>
        <p:txBody>
          <a:bodyPr anchorCtr="0" anchor="t" bIns="0" lIns="0" spcFirstLastPara="1" rIns="0" wrap="square" tIns="0">
            <a:normAutofit/>
          </a:bodyPr>
          <a:lstStyle/>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Freight run like highways: universal, regulated service</a:t>
            </a:r>
            <a:endParaRPr b="0" i="0" sz="1200" u="none" cap="none" strike="noStrike">
              <a:solidFill>
                <a:schemeClr val="dk1"/>
              </a:solidFill>
              <a:latin typeface="Calibri"/>
              <a:ea typeface="Calibri"/>
              <a:cs typeface="Calibri"/>
              <a:sym typeface="Calibri"/>
            </a:endParaRPr>
          </a:p>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Every address served at one price, backed by taxpayers</a:t>
            </a:r>
            <a:endParaRPr b="0" i="0" sz="1200" u="none" cap="none" strike="noStrike">
              <a:solidFill>
                <a:schemeClr val="dk1"/>
              </a:solidFill>
              <a:latin typeface="Calibri"/>
              <a:ea typeface="Calibri"/>
              <a:cs typeface="Calibri"/>
              <a:sym typeface="Calibri"/>
            </a:endParaRPr>
          </a:p>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Risk: slow innovation, budget fights, political pricing</a:t>
            </a:r>
            <a:endParaRPr b="0" i="0" sz="1200" u="none" cap="none" strike="noStrike">
              <a:solidFill>
                <a:schemeClr val="dk1"/>
              </a:solidFill>
              <a:latin typeface="Calibri"/>
              <a:ea typeface="Calibri"/>
              <a:cs typeface="Calibri"/>
              <a:sym typeface="Calibri"/>
            </a:endParaRPr>
          </a:p>
        </p:txBody>
      </p:sp>
      <p:sp>
        <p:nvSpPr>
          <p:cNvPr id="102" name="Google Shape;102;p4"/>
          <p:cNvSpPr/>
          <p:nvPr/>
        </p:nvSpPr>
        <p:spPr>
          <a:xfrm>
            <a:off x="1323975" y="3787775"/>
            <a:ext cx="4946650" cy="2025650"/>
          </a:xfrm>
          <a:prstGeom prst="roundRect">
            <a:avLst>
              <a:gd fmla="val 6113" name="adj"/>
            </a:avLst>
          </a:prstGeom>
          <a:solidFill>
            <a:srgbClr val="EBE2D5"/>
          </a:solidFill>
          <a:ln cap="flat" cmpd="sng" w="9525">
            <a:solidFill>
              <a:srgbClr val="D9CD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ntainer ship guarded by a shield next to a coin" id="103" name="Google Shape;103;p4"/>
          <p:cNvPicPr preferRelativeResize="0"/>
          <p:nvPr/>
        </p:nvPicPr>
        <p:blipFill rotWithShape="1">
          <a:blip r:embed="rId5">
            <a:alphaModFix/>
          </a:blip>
          <a:srcRect b="0" l="0" r="0" t="0"/>
          <a:stretch/>
        </p:blipFill>
        <p:spPr>
          <a:xfrm>
            <a:off x="1504950" y="4165600"/>
            <a:ext cx="1397000" cy="1270000"/>
          </a:xfrm>
          <a:prstGeom prst="rect">
            <a:avLst/>
          </a:prstGeom>
          <a:noFill/>
          <a:ln>
            <a:noFill/>
          </a:ln>
        </p:spPr>
      </p:pic>
      <p:sp>
        <p:nvSpPr>
          <p:cNvPr id="104" name="Google Shape;104;p4"/>
          <p:cNvSpPr/>
          <p:nvPr/>
        </p:nvSpPr>
        <p:spPr>
          <a:xfrm>
            <a:off x="3079750" y="4051399"/>
            <a:ext cx="3100197" cy="25906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B4501D"/>
              </a:buClr>
              <a:buSzPts val="1600"/>
              <a:buFont typeface="IBM Plex Sans"/>
              <a:buNone/>
            </a:pPr>
            <a:r>
              <a:rPr b="1" i="0" lang="en-US" sz="1600" u="none" cap="none" strike="noStrike">
                <a:solidFill>
                  <a:srgbClr val="B4501D"/>
                </a:solidFill>
                <a:latin typeface="IBM Plex Sans"/>
                <a:ea typeface="IBM Plex Sans"/>
                <a:cs typeface="IBM Plex Sans"/>
                <a:sym typeface="IBM Plex Sans"/>
              </a:rPr>
              <a:t>Mercenary Logistics</a:t>
            </a:r>
            <a:endParaRPr b="0" i="0" sz="1600" u="none" cap="none" strike="noStrike">
              <a:solidFill>
                <a:schemeClr val="dk1"/>
              </a:solidFill>
              <a:latin typeface="Calibri"/>
              <a:ea typeface="Calibri"/>
              <a:cs typeface="Calibri"/>
              <a:sym typeface="Calibri"/>
            </a:endParaRPr>
          </a:p>
        </p:txBody>
      </p:sp>
      <p:sp>
        <p:nvSpPr>
          <p:cNvPr id="105" name="Google Shape;105;p4"/>
          <p:cNvSpPr/>
          <p:nvPr/>
        </p:nvSpPr>
        <p:spPr>
          <a:xfrm>
            <a:off x="3079750" y="4361259"/>
            <a:ext cx="3100197" cy="1213941"/>
          </a:xfrm>
          <a:prstGeom prst="rect">
            <a:avLst/>
          </a:prstGeom>
          <a:noFill/>
          <a:ln>
            <a:noFill/>
          </a:ln>
        </p:spPr>
        <p:txBody>
          <a:bodyPr anchorCtr="0" anchor="t" bIns="0" lIns="0" spcFirstLastPara="1" rIns="0" wrap="square" tIns="0">
            <a:normAutofit/>
          </a:bodyPr>
          <a:lstStyle/>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Firms buy their own security, insurance and safe corridors</a:t>
            </a:r>
            <a:endParaRPr b="0" i="0" sz="1200" u="none" cap="none" strike="noStrike">
              <a:solidFill>
                <a:schemeClr val="dk1"/>
              </a:solidFill>
              <a:latin typeface="Calibri"/>
              <a:ea typeface="Calibri"/>
              <a:cs typeface="Calibri"/>
              <a:sym typeface="Calibri"/>
            </a:endParaRPr>
          </a:p>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Capacity goes to the highest bidder, not the most in need</a:t>
            </a:r>
            <a:endParaRPr b="0" i="0" sz="1200" u="none" cap="none" strike="noStrike">
              <a:solidFill>
                <a:schemeClr val="dk1"/>
              </a:solidFill>
              <a:latin typeface="Calibri"/>
              <a:ea typeface="Calibri"/>
              <a:cs typeface="Calibri"/>
              <a:sym typeface="Calibri"/>
            </a:endParaRPr>
          </a:p>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Risk: carriers act like states, choosing whom to serve</a:t>
            </a:r>
            <a:endParaRPr b="0" i="0" sz="1200" u="none" cap="none" strike="noStrike">
              <a:solidFill>
                <a:schemeClr val="dk1"/>
              </a:solidFill>
              <a:latin typeface="Calibri"/>
              <a:ea typeface="Calibri"/>
              <a:cs typeface="Calibri"/>
              <a:sym typeface="Calibri"/>
            </a:endParaRPr>
          </a:p>
        </p:txBody>
      </p:sp>
      <p:sp>
        <p:nvSpPr>
          <p:cNvPr id="106" name="Google Shape;106;p4"/>
          <p:cNvSpPr/>
          <p:nvPr/>
        </p:nvSpPr>
        <p:spPr>
          <a:xfrm>
            <a:off x="6429375" y="3787775"/>
            <a:ext cx="4946650" cy="2025650"/>
          </a:xfrm>
          <a:prstGeom prst="roundRect">
            <a:avLst>
              <a:gd fmla="val 6113" name="adj"/>
            </a:avLst>
          </a:prstGeom>
          <a:solidFill>
            <a:srgbClr val="EBE2D5"/>
          </a:solidFill>
          <a:ln cap="flat" cmpd="sng" w="9525">
            <a:solidFill>
              <a:srgbClr val="D9CD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rship escorting a cargo ship in a convoy under a star" id="107" name="Google Shape;107;p4"/>
          <p:cNvPicPr preferRelativeResize="0"/>
          <p:nvPr/>
        </p:nvPicPr>
        <p:blipFill rotWithShape="1">
          <a:blip r:embed="rId6">
            <a:alphaModFix/>
          </a:blip>
          <a:srcRect b="0" l="0" r="0" t="0"/>
          <a:stretch/>
        </p:blipFill>
        <p:spPr>
          <a:xfrm>
            <a:off x="6610350" y="4165600"/>
            <a:ext cx="1397000" cy="1270000"/>
          </a:xfrm>
          <a:prstGeom prst="rect">
            <a:avLst/>
          </a:prstGeom>
          <a:noFill/>
          <a:ln>
            <a:noFill/>
          </a:ln>
        </p:spPr>
      </p:pic>
      <p:sp>
        <p:nvSpPr>
          <p:cNvPr id="108" name="Google Shape;108;p4"/>
          <p:cNvSpPr/>
          <p:nvPr/>
        </p:nvSpPr>
        <p:spPr>
          <a:xfrm>
            <a:off x="8185150" y="4051399"/>
            <a:ext cx="3100197" cy="25906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2F6690"/>
              </a:buClr>
              <a:buSzPts val="1600"/>
              <a:buFont typeface="IBM Plex Sans"/>
              <a:buNone/>
            </a:pPr>
            <a:r>
              <a:rPr b="1" i="0" lang="en-US" sz="1600" u="none" cap="none" strike="noStrike">
                <a:solidFill>
                  <a:srgbClr val="2F6690"/>
                </a:solidFill>
                <a:latin typeface="IBM Plex Sans"/>
                <a:ea typeface="IBM Plex Sans"/>
                <a:cs typeface="IBM Plex Sans"/>
                <a:sym typeface="IBM Plex Sans"/>
              </a:rPr>
              <a:t>Wartime Command</a:t>
            </a:r>
            <a:endParaRPr b="0" i="0" sz="1600" u="none" cap="none" strike="noStrike">
              <a:solidFill>
                <a:schemeClr val="dk1"/>
              </a:solidFill>
              <a:latin typeface="Calibri"/>
              <a:ea typeface="Calibri"/>
              <a:cs typeface="Calibri"/>
              <a:sym typeface="Calibri"/>
            </a:endParaRPr>
          </a:p>
        </p:txBody>
      </p:sp>
      <p:sp>
        <p:nvSpPr>
          <p:cNvPr id="109" name="Google Shape;109;p4"/>
          <p:cNvSpPr/>
          <p:nvPr/>
        </p:nvSpPr>
        <p:spPr>
          <a:xfrm>
            <a:off x="8185150" y="4361259"/>
            <a:ext cx="3100197" cy="1213941"/>
          </a:xfrm>
          <a:prstGeom prst="rect">
            <a:avLst/>
          </a:prstGeom>
          <a:noFill/>
          <a:ln>
            <a:noFill/>
          </a:ln>
        </p:spPr>
        <p:txBody>
          <a:bodyPr anchorCtr="0" anchor="t" bIns="0" lIns="0" spcFirstLastPara="1" rIns="0" wrap="square" tIns="0">
            <a:normAutofit/>
          </a:bodyPr>
          <a:lstStyle/>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States requisition fleets and run escorted convoys</a:t>
            </a:r>
            <a:endParaRPr b="0" i="0" sz="1200" u="none" cap="none" strike="noStrike">
              <a:solidFill>
                <a:schemeClr val="dk1"/>
              </a:solidFill>
              <a:latin typeface="Calibri"/>
              <a:ea typeface="Calibri"/>
              <a:cs typeface="Calibri"/>
              <a:sym typeface="Calibri"/>
            </a:endParaRPr>
          </a:p>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Trade flows only within allied blocs; goods get rationed</a:t>
            </a:r>
            <a:endParaRPr b="0" i="0" sz="1200" u="none" cap="none" strike="noStrike">
              <a:solidFill>
                <a:schemeClr val="dk1"/>
              </a:solidFill>
              <a:latin typeface="Calibri"/>
              <a:ea typeface="Calibri"/>
              <a:cs typeface="Calibri"/>
              <a:sym typeface="Calibri"/>
            </a:endParaRPr>
          </a:p>
          <a:p>
            <a:pPr indent="-155194" lvl="0" marL="182880" marR="0" rtl="0" algn="l">
              <a:lnSpc>
                <a:spcPct val="130000"/>
              </a:lnSpc>
              <a:spcBef>
                <a:spcPts val="0"/>
              </a:spcBef>
              <a:spcAft>
                <a:spcPts val="0"/>
              </a:spcAft>
              <a:buClr>
                <a:srgbClr val="1D1F22"/>
              </a:buClr>
              <a:buSzPts val="1200"/>
              <a:buFont typeface="IBM Plex Sans"/>
              <a:buChar char="•"/>
            </a:pPr>
            <a:r>
              <a:rPr b="0" i="0" lang="en-US" sz="1200" u="none" cap="none" strike="noStrike">
                <a:solidFill>
                  <a:srgbClr val="1D1F22"/>
                </a:solidFill>
                <a:latin typeface="IBM Plex Sans"/>
                <a:ea typeface="IBM Plex Sans"/>
                <a:cs typeface="IBM Plex Sans"/>
                <a:sym typeface="IBM Plex Sans"/>
              </a:rPr>
              <a:t>Risk: efficiency collapses; logistics becomes a weapon</a:t>
            </a:r>
            <a:endParaRPr b="0" i="0" sz="1200" u="none" cap="none" strike="noStrike">
              <a:solidFill>
                <a:schemeClr val="dk1"/>
              </a:solidFill>
              <a:latin typeface="Calibri"/>
              <a:ea typeface="Calibri"/>
              <a:cs typeface="Calibri"/>
              <a:sym typeface="Calibri"/>
            </a:endParaRPr>
          </a:p>
        </p:txBody>
      </p:sp>
      <p:sp>
        <p:nvSpPr>
          <p:cNvPr id="110" name="Google Shape;110;p4"/>
          <p:cNvSpPr/>
          <p:nvPr/>
        </p:nvSpPr>
        <p:spPr>
          <a:xfrm>
            <a:off x="812800" y="6355110"/>
            <a:ext cx="10883392"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A6E75"/>
              </a:buClr>
              <a:buSzPts val="1200"/>
              <a:buFont typeface="IBM Plex Sans"/>
              <a:buNone/>
            </a:pPr>
            <a:r>
              <a:rPr b="0" i="0" lang="en-US" sz="1200" u="none" cap="none" strike="noStrike">
                <a:solidFill>
                  <a:srgbClr val="6A6E75"/>
                </a:solidFill>
                <a:latin typeface="IBM Plex Sans"/>
                <a:ea typeface="IBM Plex Sans"/>
                <a:cs typeface="IBM Plex Sans"/>
                <a:sym typeface="IBM Plex Sans"/>
              </a:rPr>
              <a:t>Scenario names and descriptions are our own hypotheses, not forecasts. Early signals for each axis and their sources are on the previous slide.</a:t>
            </a:r>
            <a:endParaRPr b="0" i="0" sz="1200" u="none" cap="none" strike="noStrike">
              <a:solidFill>
                <a:schemeClr val="dk1"/>
              </a:solidFill>
              <a:latin typeface="Calibri"/>
              <a:ea typeface="Calibri"/>
              <a:cs typeface="Calibri"/>
              <a:sym typeface="Calibri"/>
            </a:endParaRPr>
          </a:p>
        </p:txBody>
      </p:sp>
      <p:sp>
        <p:nvSpPr>
          <p:cNvPr id="111" name="Google Shape;111;p4"/>
          <p:cNvSpPr/>
          <p:nvPr/>
        </p:nvSpPr>
        <p:spPr>
          <a:xfrm rot="-5400000">
            <a:off x="-462275" y="3477232"/>
            <a:ext cx="2093100" cy="342900"/>
          </a:xfrm>
          <a:prstGeom prst="rect">
            <a:avLst/>
          </a:prstGeom>
          <a:noFill/>
          <a:ln>
            <a:noFill/>
          </a:ln>
        </p:spPr>
        <p:txBody>
          <a:bodyPr anchorCtr="0" anchor="t" bIns="0" lIns="0" spcFirstLastPara="1" rIns="0" wrap="square" tIns="0">
            <a:noAutofit/>
          </a:bodyPr>
          <a:lstStyle/>
          <a:p>
            <a:pPr indent="0" lvl="0" marL="0" marR="0" rtl="0" algn="ctr">
              <a:lnSpc>
                <a:spcPct val="208000"/>
              </a:lnSpc>
              <a:spcBef>
                <a:spcPts val="0"/>
              </a:spcBef>
              <a:spcAft>
                <a:spcPts val="0"/>
              </a:spcAft>
              <a:buClr>
                <a:srgbClr val="3D7A52"/>
              </a:buClr>
              <a:buSzPts val="1200"/>
              <a:buFont typeface="IBM Plex Mono"/>
              <a:buNone/>
            </a:pPr>
            <a:r>
              <a:rPr b="1" lang="en-US" sz="1200">
                <a:solidFill>
                  <a:schemeClr val="dk1"/>
                </a:solidFill>
                <a:latin typeface="IBM Plex Mono"/>
                <a:ea typeface="IBM Plex Mono"/>
                <a:cs typeface="IBM Plex Mono"/>
                <a:sym typeface="IBM Plex Mono"/>
              </a:rPr>
              <a:t>GLOBAL RELATIONS</a:t>
            </a:r>
            <a:endParaRPr b="0" i="0" sz="1200" u="none" cap="none" strike="noStrike">
              <a:solidFill>
                <a:schemeClr val="dk1"/>
              </a:solidFill>
              <a:latin typeface="Calibri"/>
              <a:ea typeface="Calibri"/>
              <a:cs typeface="Calibri"/>
              <a:sym typeface="Calibri"/>
            </a:endParaRPr>
          </a:p>
        </p:txBody>
      </p:sp>
      <p:sp>
        <p:nvSpPr>
          <p:cNvPr id="112" name="Google Shape;112;p4"/>
          <p:cNvSpPr/>
          <p:nvPr/>
        </p:nvSpPr>
        <p:spPr>
          <a:xfrm>
            <a:off x="3703755" y="1133138"/>
            <a:ext cx="51015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4501D"/>
              </a:buClr>
              <a:buSzPts val="1200"/>
              <a:buFont typeface="IBM Plex Mono"/>
              <a:buNone/>
            </a:pPr>
            <a:r>
              <a:rPr b="1" lang="en-US" sz="1200">
                <a:solidFill>
                  <a:schemeClr val="dk1"/>
                </a:solidFill>
                <a:latin typeface="IBM Plex Mono"/>
                <a:ea typeface="IBM Plex Mono"/>
                <a:cs typeface="IBM Plex Mono"/>
                <a:sym typeface="IBM Plex Mono"/>
              </a:rPr>
              <a:t>Privatization of logistics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E8"/>
        </a:solidFill>
      </p:bgPr>
    </p:bg>
    <p:spTree>
      <p:nvGrpSpPr>
        <p:cNvPr id="117" name="Shape 117"/>
        <p:cNvGrpSpPr/>
        <p:nvPr/>
      </p:nvGrpSpPr>
      <p:grpSpPr>
        <a:xfrm>
          <a:off x="0" y="0"/>
          <a:ext cx="0" cy="0"/>
          <a:chOff x="0" y="0"/>
          <a:chExt cx="0" cy="0"/>
        </a:xfrm>
      </p:grpSpPr>
      <p:sp>
        <p:nvSpPr>
          <p:cNvPr id="118" name="Google Shape;118;p5"/>
          <p:cNvSpPr/>
          <p:nvPr/>
        </p:nvSpPr>
        <p:spPr>
          <a:xfrm>
            <a:off x="812800" y="609600"/>
            <a:ext cx="10883392" cy="444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D1F22"/>
              </a:buClr>
              <a:buSzPts val="3000"/>
              <a:buFont typeface="IBM Plex Sans"/>
              <a:buNone/>
            </a:pPr>
            <a:r>
              <a:rPr b="1" i="0" lang="en-US" sz="3000" u="none" cap="none" strike="noStrike">
                <a:solidFill>
                  <a:srgbClr val="1D1F22"/>
                </a:solidFill>
                <a:latin typeface="IBM Plex Sans"/>
                <a:ea typeface="IBM Plex Sans"/>
                <a:cs typeface="IBM Plex Sans"/>
                <a:sym typeface="IBM Plex Sans"/>
              </a:rPr>
              <a:t>Three opportunities</a:t>
            </a:r>
            <a:endParaRPr b="0" i="0" sz="3000" u="none" cap="none" strike="noStrike">
              <a:solidFill>
                <a:schemeClr val="dk1"/>
              </a:solidFill>
              <a:latin typeface="Calibri"/>
              <a:ea typeface="Calibri"/>
              <a:cs typeface="Calibri"/>
              <a:sym typeface="Calibri"/>
            </a:endParaRPr>
          </a:p>
        </p:txBody>
      </p:sp>
      <p:sp>
        <p:nvSpPr>
          <p:cNvPr id="119" name="Google Shape;119;p5"/>
          <p:cNvSpPr/>
          <p:nvPr/>
        </p:nvSpPr>
        <p:spPr>
          <a:xfrm>
            <a:off x="812800" y="1206500"/>
            <a:ext cx="10883392"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A4E55"/>
              </a:buClr>
              <a:buSzPts val="1400"/>
              <a:buFont typeface="IBM Plex Sans"/>
              <a:buNone/>
            </a:pPr>
            <a:r>
              <a:rPr b="0" i="0" lang="en-US" sz="1400" u="none" cap="none" strike="noStrike">
                <a:solidFill>
                  <a:srgbClr val="4A4E55"/>
                </a:solidFill>
                <a:latin typeface="IBM Plex Sans"/>
                <a:ea typeface="IBM Plex Sans"/>
                <a:cs typeface="IBM Plex Sans"/>
                <a:sym typeface="IBM Plex Sans"/>
              </a:rPr>
              <a:t>Problems, not solutions. Each appears in more than one quadrant, so it matters whichever future arrives.</a:t>
            </a:r>
            <a:endParaRPr b="0" i="0" sz="1400" u="none" cap="none" strike="noStrike">
              <a:solidFill>
                <a:schemeClr val="dk1"/>
              </a:solidFill>
              <a:latin typeface="Calibri"/>
              <a:ea typeface="Calibri"/>
              <a:cs typeface="Calibri"/>
              <a:sym typeface="Calibri"/>
            </a:endParaRPr>
          </a:p>
        </p:txBody>
      </p:sp>
      <p:sp>
        <p:nvSpPr>
          <p:cNvPr id="120" name="Google Shape;120;p5"/>
          <p:cNvSpPr/>
          <p:nvPr/>
        </p:nvSpPr>
        <p:spPr>
          <a:xfrm>
            <a:off x="815975" y="1627485"/>
            <a:ext cx="3380284" cy="3750121"/>
          </a:xfrm>
          <a:prstGeom prst="roundRect">
            <a:avLst>
              <a:gd fmla="val 3663" name="adj"/>
            </a:avLst>
          </a:prstGeom>
          <a:solidFill>
            <a:srgbClr val="FDFCF9"/>
          </a:solidFill>
          <a:ln cap="flat" cmpd="sng" w="9525">
            <a:solidFill>
              <a:srgbClr val="E2DD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1047750" y="1859260"/>
            <a:ext cx="300423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D"/>
              </a:buClr>
              <a:buSzPts val="1200"/>
              <a:buFont typeface="IBM Plex Mono"/>
              <a:buNone/>
            </a:pPr>
            <a:r>
              <a:rPr b="1" i="0" lang="en-US" sz="1200" u="none" cap="none" strike="noStrike">
                <a:solidFill>
                  <a:srgbClr val="B4501D"/>
                </a:solidFill>
                <a:latin typeface="IBM Plex Mono"/>
                <a:ea typeface="IBM Plex Mono"/>
                <a:cs typeface="IBM Plex Mono"/>
                <a:sym typeface="IBM Plex Mono"/>
              </a:rPr>
              <a:t>01 · UNIVERSAL SERVICE</a:t>
            </a:r>
            <a:endParaRPr b="0" i="0" sz="1200" u="none" cap="none" strike="noStrike">
              <a:solidFill>
                <a:schemeClr val="dk1"/>
              </a:solidFill>
              <a:latin typeface="Calibri"/>
              <a:ea typeface="Calibri"/>
              <a:cs typeface="Calibri"/>
              <a:sym typeface="Calibri"/>
            </a:endParaRPr>
          </a:p>
        </p:txBody>
      </p:sp>
      <p:sp>
        <p:nvSpPr>
          <p:cNvPr id="122" name="Google Shape;122;p5"/>
          <p:cNvSpPr/>
          <p:nvPr/>
        </p:nvSpPr>
        <p:spPr>
          <a:xfrm>
            <a:off x="1047750" y="2161480"/>
            <a:ext cx="3004236" cy="51306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D1F22"/>
              </a:buClr>
              <a:buSzPts val="1600"/>
              <a:buFont typeface="IBM Plex Sans"/>
              <a:buNone/>
            </a:pPr>
            <a:r>
              <a:rPr b="1" i="0" lang="en-US" sz="1600" u="none" cap="none" strike="noStrike">
                <a:solidFill>
                  <a:srgbClr val="1D1F22"/>
                </a:solidFill>
                <a:latin typeface="IBM Plex Sans"/>
                <a:ea typeface="IBM Plex Sans"/>
                <a:cs typeface="IBM Plex Sans"/>
                <a:sym typeface="IBM Plex Sans"/>
              </a:rPr>
              <a:t>Someone has to deliver where no one profits</a:t>
            </a:r>
            <a:endParaRPr b="0" i="0" sz="1600" u="none" cap="none" strike="noStrike">
              <a:solidFill>
                <a:schemeClr val="dk1"/>
              </a:solidFill>
              <a:latin typeface="Calibri"/>
              <a:ea typeface="Calibri"/>
              <a:cs typeface="Calibri"/>
              <a:sym typeface="Calibri"/>
            </a:endParaRPr>
          </a:p>
        </p:txBody>
      </p:sp>
      <p:sp>
        <p:nvSpPr>
          <p:cNvPr id="123" name="Google Shape;123;p5"/>
          <p:cNvSpPr/>
          <p:nvPr/>
        </p:nvSpPr>
        <p:spPr>
          <a:xfrm>
            <a:off x="1047750" y="2738041"/>
            <a:ext cx="2916734" cy="289520"/>
          </a:xfrm>
          <a:prstGeom prst="roundRect">
            <a:avLst>
              <a:gd fmla="val 43866" name="adj"/>
            </a:avLst>
          </a:prstGeom>
          <a:solidFill>
            <a:srgbClr val="F3F0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1149350" y="2776141"/>
            <a:ext cx="27949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4E55"/>
              </a:buClr>
              <a:buSzPts val="1200"/>
              <a:buFont typeface="IBM Plex Sans"/>
              <a:buNone/>
            </a:pPr>
            <a:r>
              <a:rPr b="0" i="0" lang="en-US" sz="1200" u="none" cap="none" strike="noStrike">
                <a:solidFill>
                  <a:srgbClr val="4A4E55"/>
                </a:solidFill>
                <a:latin typeface="IBM Plex Sans"/>
                <a:ea typeface="IBM Plex Sans"/>
                <a:cs typeface="IBM Plex Sans"/>
                <a:sym typeface="IBM Plex Sans"/>
              </a:rPr>
              <a:t>Marketplace · Mercenary</a:t>
            </a:r>
            <a:endParaRPr b="0" i="0" sz="1200" u="none" cap="none" strike="noStrike">
              <a:solidFill>
                <a:schemeClr val="dk1"/>
              </a:solidFill>
              <a:latin typeface="Calibri"/>
              <a:ea typeface="Calibri"/>
              <a:cs typeface="Calibri"/>
              <a:sym typeface="Calibri"/>
            </a:endParaRPr>
          </a:p>
        </p:txBody>
      </p:sp>
      <p:sp>
        <p:nvSpPr>
          <p:cNvPr id="125" name="Google Shape;125;p5"/>
          <p:cNvSpPr/>
          <p:nvPr/>
        </p:nvSpPr>
        <p:spPr>
          <a:xfrm>
            <a:off x="1047750" y="3116461"/>
            <a:ext cx="3004236" cy="43686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Who:</a:t>
            </a:r>
            <a:r>
              <a:rPr b="0" i="0" lang="en-US" sz="1200" u="none" cap="none" strike="noStrike">
                <a:solidFill>
                  <a:srgbClr val="1D1F22"/>
                </a:solidFill>
                <a:latin typeface="IBM Plex Sans"/>
                <a:ea typeface="IBM Plex Sans"/>
                <a:cs typeface="IBM Plex Sans"/>
                <a:sym typeface="IBM Plex Sans"/>
              </a:rPr>
              <a:t> rural households, small shops, pharmacies, vote-by-mail</a:t>
            </a:r>
            <a:endParaRPr b="0" i="0" sz="1200" u="none" cap="none" strike="noStrike">
              <a:solidFill>
                <a:schemeClr val="dk1"/>
              </a:solidFill>
              <a:latin typeface="Calibri"/>
              <a:ea typeface="Calibri"/>
              <a:cs typeface="Calibri"/>
              <a:sym typeface="Calibri"/>
            </a:endParaRPr>
          </a:p>
        </p:txBody>
      </p:sp>
      <p:sp>
        <p:nvSpPr>
          <p:cNvPr id="126" name="Google Shape;126;p5"/>
          <p:cNvSpPr/>
          <p:nvPr/>
        </p:nvSpPr>
        <p:spPr>
          <a:xfrm>
            <a:off x="1047750" y="3616821"/>
            <a:ext cx="3004236" cy="64259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Why it matters:</a:t>
            </a:r>
            <a:r>
              <a:rPr b="0" i="0" lang="en-US" sz="1200" u="none" cap="none" strike="noStrike">
                <a:solidFill>
                  <a:srgbClr val="1D1F22"/>
                </a:solidFill>
                <a:latin typeface="IBM Plex Sans"/>
                <a:ea typeface="IBM Plex Sans"/>
                <a:cs typeface="IBM Plex Sans"/>
                <a:sym typeface="IBM Plex Sans"/>
              </a:rPr>
              <a:t> private networks keep dense routes and leave the rest to a shrinking public carrier</a:t>
            </a:r>
            <a:endParaRPr b="0" i="0" sz="1200" u="none" cap="none" strike="noStrike">
              <a:solidFill>
                <a:schemeClr val="dk1"/>
              </a:solidFill>
              <a:latin typeface="Calibri"/>
              <a:ea typeface="Calibri"/>
              <a:cs typeface="Calibri"/>
              <a:sym typeface="Calibri"/>
            </a:endParaRPr>
          </a:p>
        </p:txBody>
      </p:sp>
      <p:sp>
        <p:nvSpPr>
          <p:cNvPr id="127" name="Google Shape;127;p5"/>
          <p:cNvSpPr/>
          <p:nvPr/>
        </p:nvSpPr>
        <p:spPr>
          <a:xfrm>
            <a:off x="1047750" y="4322911"/>
            <a:ext cx="3004236" cy="8483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Early signal:</a:t>
            </a:r>
            <a:r>
              <a:rPr b="0" i="0" lang="en-US" sz="1200" u="none" cap="none" strike="noStrike">
                <a:solidFill>
                  <a:srgbClr val="1D1F22"/>
                </a:solidFill>
                <a:latin typeface="IBM Plex Sans"/>
                <a:ea typeface="IBM Plex Sans"/>
                <a:cs typeface="IBM Plex Sans"/>
                <a:sym typeface="IBM Plex Sans"/>
              </a:rPr>
              <a:t> Amazon cut its USPS contract 20% and passed it in parcels; USPS warned it may be unable to deliver within 12 months</a:t>
            </a:r>
            <a:endParaRPr b="0" i="0" sz="1200" u="none" cap="none" strike="noStrike">
              <a:solidFill>
                <a:schemeClr val="dk1"/>
              </a:solidFill>
              <a:latin typeface="Calibri"/>
              <a:ea typeface="Calibri"/>
              <a:cs typeface="Calibri"/>
              <a:sym typeface="Calibri"/>
            </a:endParaRPr>
          </a:p>
        </p:txBody>
      </p:sp>
      <p:sp>
        <p:nvSpPr>
          <p:cNvPr id="128" name="Google Shape;128;p5"/>
          <p:cNvSpPr/>
          <p:nvPr/>
        </p:nvSpPr>
        <p:spPr>
          <a:xfrm>
            <a:off x="4405809" y="1627485"/>
            <a:ext cx="3380333" cy="3750121"/>
          </a:xfrm>
          <a:prstGeom prst="roundRect">
            <a:avLst>
              <a:gd fmla="val 3663" name="adj"/>
            </a:avLst>
          </a:prstGeom>
          <a:solidFill>
            <a:srgbClr val="FDFCF9"/>
          </a:solidFill>
          <a:ln cap="flat" cmpd="sng" w="9525">
            <a:solidFill>
              <a:srgbClr val="E2DD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4637584" y="1859260"/>
            <a:ext cx="300428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D"/>
              </a:buClr>
              <a:buSzPts val="1200"/>
              <a:buFont typeface="IBM Plex Mono"/>
              <a:buNone/>
            </a:pPr>
            <a:r>
              <a:rPr b="1" i="0" lang="en-US" sz="1200" u="none" cap="none" strike="noStrike">
                <a:solidFill>
                  <a:srgbClr val="B4501D"/>
                </a:solidFill>
                <a:latin typeface="IBM Plex Mono"/>
                <a:ea typeface="IBM Plex Mono"/>
                <a:cs typeface="IBM Plex Mono"/>
                <a:sym typeface="IBM Plex Mono"/>
              </a:rPr>
              <a:t>02 · CHOKEPOINT RISK</a:t>
            </a:r>
            <a:endParaRPr b="0" i="0" sz="1200" u="none" cap="none" strike="noStrike">
              <a:solidFill>
                <a:schemeClr val="dk1"/>
              </a:solidFill>
              <a:latin typeface="Calibri"/>
              <a:ea typeface="Calibri"/>
              <a:cs typeface="Calibri"/>
              <a:sym typeface="Calibri"/>
            </a:endParaRPr>
          </a:p>
        </p:txBody>
      </p:sp>
      <p:sp>
        <p:nvSpPr>
          <p:cNvPr id="130" name="Google Shape;130;p5"/>
          <p:cNvSpPr/>
          <p:nvPr/>
        </p:nvSpPr>
        <p:spPr>
          <a:xfrm>
            <a:off x="4637584" y="2161480"/>
            <a:ext cx="3004287" cy="51306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D1F22"/>
              </a:buClr>
              <a:buSzPts val="1600"/>
              <a:buFont typeface="IBM Plex Sans"/>
              <a:buNone/>
            </a:pPr>
            <a:r>
              <a:rPr b="1" i="0" lang="en-US" sz="1600" u="none" cap="none" strike="noStrike">
                <a:solidFill>
                  <a:srgbClr val="1D1F22"/>
                </a:solidFill>
                <a:latin typeface="IBM Plex Sans"/>
                <a:ea typeface="IBM Plex Sans"/>
                <a:cs typeface="IBM Plex Sans"/>
                <a:sym typeface="IBM Plex Sans"/>
              </a:rPr>
              <a:t>No one can price or hedge a closed strait</a:t>
            </a:r>
            <a:endParaRPr b="0" i="0" sz="1600" u="none" cap="none" strike="noStrike">
              <a:solidFill>
                <a:schemeClr val="dk1"/>
              </a:solidFill>
              <a:latin typeface="Calibri"/>
              <a:ea typeface="Calibri"/>
              <a:cs typeface="Calibri"/>
              <a:sym typeface="Calibri"/>
            </a:endParaRPr>
          </a:p>
        </p:txBody>
      </p:sp>
      <p:sp>
        <p:nvSpPr>
          <p:cNvPr id="131" name="Google Shape;131;p5"/>
          <p:cNvSpPr/>
          <p:nvPr/>
        </p:nvSpPr>
        <p:spPr>
          <a:xfrm>
            <a:off x="4637584" y="2738041"/>
            <a:ext cx="2916783" cy="289520"/>
          </a:xfrm>
          <a:prstGeom prst="roundRect">
            <a:avLst>
              <a:gd fmla="val 43866" name="adj"/>
            </a:avLst>
          </a:prstGeom>
          <a:solidFill>
            <a:srgbClr val="F3F0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4739184" y="2776141"/>
            <a:ext cx="279499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4E55"/>
              </a:buClr>
              <a:buSzPts val="1200"/>
              <a:buFont typeface="IBM Plex Sans"/>
              <a:buNone/>
            </a:pPr>
            <a:r>
              <a:rPr b="0" i="0" lang="en-US" sz="1200" u="none" cap="none" strike="noStrike">
                <a:solidFill>
                  <a:srgbClr val="4A4E55"/>
                </a:solidFill>
                <a:latin typeface="IBM Plex Sans"/>
                <a:ea typeface="IBM Plex Sans"/>
                <a:cs typeface="IBM Plex Sans"/>
                <a:sym typeface="IBM Plex Sans"/>
              </a:rPr>
              <a:t>Mercenary · Wartime Command</a:t>
            </a:r>
            <a:endParaRPr b="0" i="0" sz="1200" u="none" cap="none" strike="noStrike">
              <a:solidFill>
                <a:schemeClr val="dk1"/>
              </a:solidFill>
              <a:latin typeface="Calibri"/>
              <a:ea typeface="Calibri"/>
              <a:cs typeface="Calibri"/>
              <a:sym typeface="Calibri"/>
            </a:endParaRPr>
          </a:p>
        </p:txBody>
      </p:sp>
      <p:sp>
        <p:nvSpPr>
          <p:cNvPr id="133" name="Google Shape;133;p5"/>
          <p:cNvSpPr/>
          <p:nvPr/>
        </p:nvSpPr>
        <p:spPr>
          <a:xfrm>
            <a:off x="4637584" y="3116461"/>
            <a:ext cx="3004287" cy="43686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Who:</a:t>
            </a:r>
            <a:r>
              <a:rPr b="0" i="0" lang="en-US" sz="1200" u="none" cap="none" strike="noStrike">
                <a:solidFill>
                  <a:srgbClr val="1D1F22"/>
                </a:solidFill>
                <a:latin typeface="IBM Plex Sans"/>
                <a:ea typeface="IBM Plex Sans"/>
                <a:cs typeface="IBM Plex Sans"/>
                <a:sym typeface="IBM Plex Sans"/>
              </a:rPr>
              <a:t> importers, carriers, marine insurers, fuel buyers</a:t>
            </a:r>
            <a:endParaRPr b="0" i="0" sz="1200" u="none" cap="none" strike="noStrike">
              <a:solidFill>
                <a:schemeClr val="dk1"/>
              </a:solidFill>
              <a:latin typeface="Calibri"/>
              <a:ea typeface="Calibri"/>
              <a:cs typeface="Calibri"/>
              <a:sym typeface="Calibri"/>
            </a:endParaRPr>
          </a:p>
        </p:txBody>
      </p:sp>
      <p:sp>
        <p:nvSpPr>
          <p:cNvPr id="134" name="Google Shape;134;p5"/>
          <p:cNvSpPr/>
          <p:nvPr/>
        </p:nvSpPr>
        <p:spPr>
          <a:xfrm>
            <a:off x="4637584" y="3616821"/>
            <a:ext cx="3004287" cy="64259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Why it matters:</a:t>
            </a:r>
            <a:r>
              <a:rPr b="0" i="0" lang="en-US" sz="1200" u="none" cap="none" strike="noStrike">
                <a:solidFill>
                  <a:srgbClr val="1D1F22"/>
                </a:solidFill>
                <a:latin typeface="IBM Plex Sans"/>
                <a:ea typeface="IBM Plex Sans"/>
                <a:cs typeface="IBM Plex Sans"/>
                <a:sym typeface="IBM Plex Sans"/>
              </a:rPr>
              <a:t> one closure reroutes a big share of trade overnight, and the cost lands on everyone downstream</a:t>
            </a:r>
            <a:endParaRPr b="0" i="0" sz="1200" u="none" cap="none" strike="noStrike">
              <a:solidFill>
                <a:schemeClr val="dk1"/>
              </a:solidFill>
              <a:latin typeface="Calibri"/>
              <a:ea typeface="Calibri"/>
              <a:cs typeface="Calibri"/>
              <a:sym typeface="Calibri"/>
            </a:endParaRPr>
          </a:p>
        </p:txBody>
      </p:sp>
      <p:sp>
        <p:nvSpPr>
          <p:cNvPr id="135" name="Google Shape;135;p5"/>
          <p:cNvSpPr/>
          <p:nvPr/>
        </p:nvSpPr>
        <p:spPr>
          <a:xfrm>
            <a:off x="4637584" y="4322911"/>
            <a:ext cx="3004287" cy="64259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Early signal:</a:t>
            </a:r>
            <a:r>
              <a:rPr b="0" i="0" lang="en-US" sz="1200" u="none" cap="none" strike="noStrike">
                <a:solidFill>
                  <a:srgbClr val="1D1F22"/>
                </a:solidFill>
                <a:latin typeface="IBM Plex Sans"/>
                <a:ea typeface="IBM Plex Sans"/>
                <a:cs typeface="IBM Plex Sans"/>
                <a:sym typeface="IBM Plex Sans"/>
              </a:rPr>
              <a:t> Hormuz fell from 100+ ships a day to about 5; the Cape detour adds 10–14 days and a 25–30% rate premium</a:t>
            </a:r>
            <a:endParaRPr b="0" i="0" sz="1200" u="none" cap="none" strike="noStrike">
              <a:solidFill>
                <a:schemeClr val="dk1"/>
              </a:solidFill>
              <a:latin typeface="Calibri"/>
              <a:ea typeface="Calibri"/>
              <a:cs typeface="Calibri"/>
              <a:sym typeface="Calibri"/>
            </a:endParaRPr>
          </a:p>
        </p:txBody>
      </p:sp>
      <p:sp>
        <p:nvSpPr>
          <p:cNvPr id="136" name="Google Shape;136;p5"/>
          <p:cNvSpPr/>
          <p:nvPr/>
        </p:nvSpPr>
        <p:spPr>
          <a:xfrm>
            <a:off x="7995692" y="1627485"/>
            <a:ext cx="3380333" cy="3750121"/>
          </a:xfrm>
          <a:prstGeom prst="roundRect">
            <a:avLst>
              <a:gd fmla="val 3663" name="adj"/>
            </a:avLst>
          </a:prstGeom>
          <a:solidFill>
            <a:srgbClr val="FDFCF9"/>
          </a:solidFill>
          <a:ln cap="flat" cmpd="sng" w="9525">
            <a:solidFill>
              <a:srgbClr val="E2DD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8227467" y="1859260"/>
            <a:ext cx="300428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D"/>
              </a:buClr>
              <a:buSzPts val="1200"/>
              <a:buFont typeface="IBM Plex Mono"/>
              <a:buNone/>
            </a:pPr>
            <a:r>
              <a:rPr b="1" i="0" lang="en-US" sz="1200" u="none" cap="none" strike="noStrike">
                <a:solidFill>
                  <a:srgbClr val="B4501D"/>
                </a:solidFill>
                <a:latin typeface="IBM Plex Mono"/>
                <a:ea typeface="IBM Plex Mono"/>
                <a:cs typeface="IBM Plex Mono"/>
                <a:sym typeface="IBM Plex Mono"/>
              </a:rPr>
              <a:t>03 · THE EQUIPMENT GAP</a:t>
            </a:r>
            <a:endParaRPr b="0" i="0" sz="1200" u="none" cap="none" strike="noStrike">
              <a:solidFill>
                <a:schemeClr val="dk1"/>
              </a:solidFill>
              <a:latin typeface="Calibri"/>
              <a:ea typeface="Calibri"/>
              <a:cs typeface="Calibri"/>
              <a:sym typeface="Calibri"/>
            </a:endParaRPr>
          </a:p>
        </p:txBody>
      </p:sp>
      <p:sp>
        <p:nvSpPr>
          <p:cNvPr id="138" name="Google Shape;138;p5"/>
          <p:cNvSpPr/>
          <p:nvPr/>
        </p:nvSpPr>
        <p:spPr>
          <a:xfrm>
            <a:off x="8227467" y="2161480"/>
            <a:ext cx="3004287" cy="51306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D1F22"/>
              </a:buClr>
              <a:buSzPts val="1600"/>
              <a:buFont typeface="IBM Plex Sans"/>
              <a:buNone/>
            </a:pPr>
            <a:r>
              <a:rPr b="1" i="0" lang="en-US" sz="1600" u="none" cap="none" strike="noStrike">
                <a:solidFill>
                  <a:srgbClr val="1D1F22"/>
                </a:solidFill>
                <a:latin typeface="IBM Plex Sans"/>
                <a:ea typeface="IBM Plex Sans"/>
                <a:cs typeface="IBM Plex Sans"/>
                <a:sym typeface="IBM Plex Sans"/>
              </a:rPr>
              <a:t>The hardware of trade comes from one country</a:t>
            </a:r>
            <a:endParaRPr b="0" i="0" sz="1600" u="none" cap="none" strike="noStrike">
              <a:solidFill>
                <a:schemeClr val="dk1"/>
              </a:solidFill>
              <a:latin typeface="Calibri"/>
              <a:ea typeface="Calibri"/>
              <a:cs typeface="Calibri"/>
              <a:sym typeface="Calibri"/>
            </a:endParaRPr>
          </a:p>
        </p:txBody>
      </p:sp>
      <p:sp>
        <p:nvSpPr>
          <p:cNvPr id="139" name="Google Shape;139;p5"/>
          <p:cNvSpPr/>
          <p:nvPr/>
        </p:nvSpPr>
        <p:spPr>
          <a:xfrm>
            <a:off x="8227467" y="2738041"/>
            <a:ext cx="2916783" cy="289520"/>
          </a:xfrm>
          <a:prstGeom prst="roundRect">
            <a:avLst>
              <a:gd fmla="val 43866" name="adj"/>
            </a:avLst>
          </a:prstGeom>
          <a:solidFill>
            <a:srgbClr val="F3F0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8329067" y="2776141"/>
            <a:ext cx="279499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4E55"/>
              </a:buClr>
              <a:buSzPts val="1200"/>
              <a:buFont typeface="IBM Plex Sans"/>
              <a:buNone/>
            </a:pPr>
            <a:r>
              <a:rPr b="0" i="0" lang="en-US" sz="1200" u="none" cap="none" strike="noStrike">
                <a:solidFill>
                  <a:srgbClr val="4A4E55"/>
                </a:solidFill>
                <a:latin typeface="IBM Plex Sans"/>
                <a:ea typeface="IBM Plex Sans"/>
                <a:cs typeface="IBM Plex Sans"/>
                <a:sym typeface="IBM Plex Sans"/>
              </a:rPr>
              <a:t>All four · worst in Wartime</a:t>
            </a:r>
            <a:endParaRPr b="0" i="0" sz="1200" u="none" cap="none" strike="noStrike">
              <a:solidFill>
                <a:schemeClr val="dk1"/>
              </a:solidFill>
              <a:latin typeface="Calibri"/>
              <a:ea typeface="Calibri"/>
              <a:cs typeface="Calibri"/>
              <a:sym typeface="Calibri"/>
            </a:endParaRPr>
          </a:p>
        </p:txBody>
      </p:sp>
      <p:sp>
        <p:nvSpPr>
          <p:cNvPr id="141" name="Google Shape;141;p5"/>
          <p:cNvSpPr/>
          <p:nvPr/>
        </p:nvSpPr>
        <p:spPr>
          <a:xfrm>
            <a:off x="8227467" y="3116461"/>
            <a:ext cx="3004287" cy="43686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Who:</a:t>
            </a:r>
            <a:r>
              <a:rPr b="0" i="0" lang="en-US" sz="1200" u="none" cap="none" strike="noStrike">
                <a:solidFill>
                  <a:srgbClr val="1D1F22"/>
                </a:solidFill>
                <a:latin typeface="IBM Plex Sans"/>
                <a:ea typeface="IBM Plex Sans"/>
                <a:cs typeface="IBM Plex Sans"/>
                <a:sym typeface="IBM Plex Sans"/>
              </a:rPr>
              <a:t> port authorities, carriers, defense planners, manufacturers</a:t>
            </a:r>
            <a:endParaRPr b="0" i="0" sz="1200" u="none" cap="none" strike="noStrike">
              <a:solidFill>
                <a:schemeClr val="dk1"/>
              </a:solidFill>
              <a:latin typeface="Calibri"/>
              <a:ea typeface="Calibri"/>
              <a:cs typeface="Calibri"/>
              <a:sym typeface="Calibri"/>
            </a:endParaRPr>
          </a:p>
        </p:txBody>
      </p:sp>
      <p:sp>
        <p:nvSpPr>
          <p:cNvPr id="142" name="Google Shape;142;p5"/>
          <p:cNvSpPr/>
          <p:nvPr/>
        </p:nvSpPr>
        <p:spPr>
          <a:xfrm>
            <a:off x="8227467" y="3616821"/>
            <a:ext cx="3004287" cy="64259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Why it matters:</a:t>
            </a:r>
            <a:r>
              <a:rPr b="0" i="0" lang="en-US" sz="1200" u="none" cap="none" strike="noStrike">
                <a:solidFill>
                  <a:srgbClr val="1D1F22"/>
                </a:solidFill>
                <a:latin typeface="IBM Plex Sans"/>
                <a:ea typeface="IBM Plex Sans"/>
                <a:cs typeface="IBM Plex Sans"/>
                <a:sym typeface="IBM Plex Sans"/>
              </a:rPr>
              <a:t> public or private, logistics still buys boxes, cranes and ships from a possible adversary</a:t>
            </a:r>
            <a:endParaRPr b="0" i="0" sz="1200" u="none" cap="none" strike="noStrike">
              <a:solidFill>
                <a:schemeClr val="dk1"/>
              </a:solidFill>
              <a:latin typeface="Calibri"/>
              <a:ea typeface="Calibri"/>
              <a:cs typeface="Calibri"/>
              <a:sym typeface="Calibri"/>
            </a:endParaRPr>
          </a:p>
        </p:txBody>
      </p:sp>
      <p:sp>
        <p:nvSpPr>
          <p:cNvPr id="143" name="Google Shape;143;p5"/>
          <p:cNvSpPr/>
          <p:nvPr/>
        </p:nvSpPr>
        <p:spPr>
          <a:xfrm>
            <a:off x="8227467" y="4322911"/>
            <a:ext cx="3004287" cy="64259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D1F22"/>
              </a:buClr>
              <a:buSzPts val="1200"/>
              <a:buFont typeface="IBM Plex Sans"/>
              <a:buNone/>
            </a:pPr>
            <a:r>
              <a:rPr b="1" i="0" lang="en-US" sz="1200" u="none" cap="none" strike="noStrike">
                <a:solidFill>
                  <a:srgbClr val="1D1F22"/>
                </a:solidFill>
                <a:latin typeface="IBM Plex Sans"/>
                <a:ea typeface="IBM Plex Sans"/>
                <a:cs typeface="IBM Plex Sans"/>
                <a:sym typeface="IBM Plex Sans"/>
              </a:rPr>
              <a:t>Early signal:</a:t>
            </a:r>
            <a:r>
              <a:rPr b="0" i="0" lang="en-US" sz="1200" u="none" cap="none" strike="noStrike">
                <a:solidFill>
                  <a:srgbClr val="1D1F22"/>
                </a:solidFill>
                <a:latin typeface="IBM Plex Sans"/>
                <a:ea typeface="IBM Plex Sans"/>
                <a:cs typeface="IBM Plex Sans"/>
                <a:sym typeface="IBM Plex Sans"/>
              </a:rPr>
              <a:t> China makes 95% of dry containers and 70% of port cranes, and won 82.5% of new ship orders in H1 2026</a:t>
            </a:r>
            <a:endParaRPr b="0" i="0" sz="1200" u="none" cap="none" strike="noStrike">
              <a:solidFill>
                <a:schemeClr val="dk1"/>
              </a:solidFill>
              <a:latin typeface="Calibri"/>
              <a:ea typeface="Calibri"/>
              <a:cs typeface="Calibri"/>
              <a:sym typeface="Calibri"/>
            </a:endParaRPr>
          </a:p>
        </p:txBody>
      </p:sp>
      <p:sp>
        <p:nvSpPr>
          <p:cNvPr id="144" name="Google Shape;144;p5"/>
          <p:cNvSpPr/>
          <p:nvPr/>
        </p:nvSpPr>
        <p:spPr>
          <a:xfrm>
            <a:off x="812800" y="6233220"/>
            <a:ext cx="10883392" cy="4215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A6E75"/>
              </a:buClr>
              <a:buSzPts val="1200"/>
              <a:buFont typeface="IBM Plex Sans"/>
              <a:buNone/>
            </a:pPr>
            <a:r>
              <a:rPr b="0" i="0" lang="en-US" sz="1200" u="none" cap="none" strike="noStrike">
                <a:solidFill>
                  <a:srgbClr val="6A6E75"/>
                </a:solidFill>
                <a:latin typeface="IBM Plex Sans"/>
                <a:ea typeface="IBM Plex Sans"/>
                <a:cs typeface="IBM Plex Sans"/>
                <a:sym typeface="IBM Plex Sans"/>
              </a:rPr>
              <a:t>Sources: Phenomenal World, May 2026, citing ShipMatrix · Brookings, Mar. 2026 · Al Jazeera, Aug. 2026 · GoFreight, Jul. 2026 · Foundation for Defense of Democracies, Sep.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2026-09-27T20:11:30Z</dcterms:created>
  <dc:creator>PptxGenJS</dc:creator>
</cp:coreProperties>
</file>