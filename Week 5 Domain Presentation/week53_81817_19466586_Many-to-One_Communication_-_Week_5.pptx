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h7bc1a9fc94fe86b8_18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 name="Google Shape;17;h7bc1a9fc94fe86b8_18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Our domain is communication. Our trend: communication has become many-to-one. With too much to filter, people hand the choice to algorithms, so the gatekeeper has changed (gatekeeping theory, White 1950 [15]). Deciding what reaches people used to be a visible editorial job; now it is done by algorithms that optimize for engagement, for goals neither senders nor receivers chose or can see. News is where this shift is clearest, but every message now passes through the same gate.</a:t>
            </a:r>
            <a:endParaRPr/>
          </a:p>
        </p:txBody>
      </p:sp>
      <p:sp>
        <p:nvSpPr>
          <p:cNvPr id="18" name="Google Shape;18;h7bc1a9fc94fe86b8_18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h7bc1a9fc94fe86b8_18_3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 name="Google Shape;53;h7bc1a9fc94fe86b8_18_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Background. The trend: communication is no longer one-to-one, it is many-to-one, and that creates information overload. The five observations on the right come from our Step 1 worksheet. The key step is in the bottom-left box: when thousands of senders compete for one person, something has to choose which messages get through, and increasingly that is an algorithm. The next slide backs the trend up with data.</a:t>
            </a:r>
            <a:endParaRPr/>
          </a:p>
        </p:txBody>
      </p:sp>
      <p:sp>
        <p:nvSpPr>
          <p:cNvPr id="54" name="Google Shape;54;h7bc1a9fc94fe86b8_18_3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h7bc1a9fc94fe86b8_18_8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 name="Google Shape;100;h7bc1a9fc94fe86b8_18_8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Supply: billions of people can now publish, and social and video platforms have overtaken TV as a news source in the US. Demand: attention has not grown. Gloria Mark measured how long knowledge workers stay on one screen before switching: about 150 seconds in 2004, 47 seconds now. Microsoft's telemetry shows about 275 interruptions a day, so work communication is many-to-one too. Nobody can filter all of this alone, so the filtering is handed to algorithms. If asked: Kepios counts user identities, not unique people, and Mark's figure is screen-switching, not a general attention span.</a:t>
            </a:r>
            <a:endParaRPr/>
          </a:p>
        </p:txBody>
      </p:sp>
      <p:sp>
        <p:nvSpPr>
          <p:cNvPr id="101" name="Google Shape;101;h7bc1a9fc94fe86b8_18_8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h7bc1a9fc94fe86b8_18_10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4" name="Google Shape;124;h7bc1a9fc94fe86b8_18_10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Political: trust in mass media is at a record low (Gallup), but the decline began in the 1970s, before social media, so we do not claim social media caused it. Our claim is narrower: fragmentation removed the shared agenda that used to slow it. Two-thirds of adults say they need to cut back on political news (AP-NORC), and campaign money is moving from broadcast TV to digital (AdImpact). Economic: platforms are paid for engagement, so feeds optimize for engagement. Traditional media was also ad-funded, but its incentives were visible; a feed's are not. Digital takes nearly three-quarters of global ad revenue (WPP Media), and newspaper ad revenue collapsed (Pew).</a:t>
            </a:r>
            <a:endParaRPr/>
          </a:p>
        </p:txBody>
      </p:sp>
      <p:sp>
        <p:nvSpPr>
          <p:cNvPr id="125" name="Google Shape;125;h7bc1a9fc94fe86b8_18_10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h7bc1a9fc94fe86b8_18_13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1" name="Google Shape;161;h7bc1a9fc94fe86b8_18_13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Social: trust is moving from institutions to individuals. 21% of US adults regularly get news from news influencers, and 77% of those influencers have no news-organization ties, so the new trust signals are unverified. 46% of US teens are online almost constantly, in the years when views form. Technological: personalized algorithms now decide which messages reach each person. The gatekeeper role editors used to play has moved into the feed, and users cannot see or set what it optimizes for.</a:t>
            </a:r>
            <a:endParaRPr/>
          </a:p>
        </p:txBody>
      </p:sp>
      <p:sp>
        <p:nvSpPr>
          <p:cNvPr id="162" name="Google Shape;162;h7bc1a9fc94fe86b8_18_13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h7bc1a9fc94fe86b8_18_17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8" name="Google Shape;198;h7bc1a9fc94fe86b8_18_17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Three forces reinforce each other: personalized algorithms (T) shape attention and behavior (S); scarce attention fuels the engagement-driven ad economy (E); and money moving to engagement-driven channels reshapes political campaigning and rewards conflict (P). Political and technological forces are in tension: campaigns depend on targeting, while regulators push back. The EU Digital Services Act requires the largest platforms to offer at least one feed option not based on profiling. All four meet at the gate in the channel, where an algorithm decides which voices reach each person. Evidence: Guess et al. (Science, 2023) found ranked feeds keep users on Facebook and Instagram longer than chronological feeds; WPP Media puts digital at 73% of global ad revenue; AdImpact reports broadcast fell below half of political ad spending in 2024.</a:t>
            </a:r>
            <a:endParaRPr/>
          </a:p>
        </p:txBody>
      </p:sp>
      <p:sp>
        <p:nvSpPr>
          <p:cNvPr id="199" name="Google Shape;199;h7bc1a9fc94fe86b8_18_17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h7bc1a9fc94fe86b8_18_2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8" name="Google Shape;238;h7bc1a9fc94fe86b8_18_2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The strongest study of feed algorithms is Guess et al. (Science, 2023). Switching users to a chronological feed for three months cut their time on the platform and changed what they saw, including more political content and more content from untrustworthy sources. So the gatekeeper clearly matters. It found no measurable change in political attitudes, but look at what it tested: adults only; the three months around a presidential election, when views are most fixed; following lists already built by years of ranked feeds; and everyone else still on the algorithm. Attitudes are most open to change in late adolescence and early adulthood (Krosnick and Alwin, 1989). The study also measured what people believe, not how they judge sources. Our position is not that the study is wrong; it answers a different question from ours.</a:t>
            </a:r>
            <a:endParaRPr/>
          </a:p>
        </p:txBody>
      </p:sp>
      <p:sp>
        <p:nvSpPr>
          <p:cNvPr id="239" name="Google Shape;239;h7bc1a9fc94fe86b8_18_2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h7bc1a9fc94fe86b8_18_25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5" name="Google Shape;275;h7bc1a9fc94fe86b8_18_25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Each opportunity follows the worksheet: the problem, who has it, what is being destroyed, and where the discontinuity is. 01 and 02 are the two ends of the same channel. 01 is the receiving end: people cannot see or set what their feed optimizes for, and the only choices offered are engagement-ranked or plain chronological. It matters most for teens and young adults, whose views are still forming. 02 is the sending end: schools, clinics, employers and families cannot be sure an important message landed. 03 is trust: credibility moved from institutions to individuals, and nothing verifies the new signals.</a:t>
            </a:r>
            <a:endParaRPr/>
          </a:p>
        </p:txBody>
      </p:sp>
      <p:sp>
        <p:nvSpPr>
          <p:cNvPr id="276" name="Google Shape;276;h7bc1a9fc94fe86b8_18_25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h7bc1a9fc94fe86b8_18_28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2" name="Google Shape;312;h7bc1a9fc94fe86b8_18_28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Numbers in square brackets on earlier slides refer to this list. Where we cite a news or summary article, it reports the original study or poll; for the final submission, cite the original reports directly.</a:t>
            </a:r>
            <a:endParaRPr/>
          </a:p>
        </p:txBody>
      </p:sp>
      <p:sp>
        <p:nvSpPr>
          <p:cNvPr id="313" name="Google Shape;313;h7bc1a9fc94fe86b8_18_28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Dark">
  <p:cSld name="Title Dark">
    <p:bg>
      <p:bgPr>
        <a:solidFill>
          <a:schemeClr val="dk2"/>
        </a:solidFill>
      </p:bgPr>
    </p:bg>
    <p:spTree>
      <p:nvGrpSpPr>
        <p:cNvPr id="7" name="Shape 7"/>
        <p:cNvGrpSpPr/>
        <p:nvPr/>
      </p:nvGrpSpPr>
      <p:grpSpPr>
        <a:xfrm>
          <a:off x="0" y="0"/>
          <a:ext cx="0" cy="0"/>
          <a:chOff x="0" y="0"/>
          <a:chExt cx="0" cy="0"/>
        </a:xfrm>
      </p:grpSpPr>
      <p:sp>
        <p:nvSpPr>
          <p:cNvPr id="8" name="Google Shape;8;p2"/>
          <p:cNvSpPr txBox="1"/>
          <p:nvPr>
            <p:ph type="title"/>
          </p:nvPr>
        </p:nvSpPr>
        <p:spPr>
          <a:xfrm>
            <a:off x="640080" y="1828800"/>
            <a:ext cx="6035040" cy="201168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lt1"/>
              </a:buClr>
              <a:buSzPts val="4400"/>
              <a:buFont typeface="Arial"/>
              <a:buNone/>
              <a:defRPr b="1" i="0" sz="4400"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2"/>
          <p:cNvSpPr txBox="1"/>
          <p:nvPr>
            <p:ph idx="1" type="body"/>
          </p:nvPr>
        </p:nvSpPr>
        <p:spPr>
          <a:xfrm>
            <a:off x="640080" y="4069080"/>
            <a:ext cx="5852160" cy="109728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Clr>
                <a:schemeClr val="accent6"/>
              </a:buClr>
              <a:buSzPts val="1800"/>
              <a:buFont typeface="Arial"/>
              <a:buNone/>
              <a:defRPr b="0" i="0" sz="1800" u="none" cap="none" strike="noStrike">
                <a:solidFill>
                  <a:schemeClr val="accent6"/>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bg>
      <p:bgPr>
        <a:solidFill>
          <a:schemeClr val="lt1"/>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548640" y="365760"/>
            <a:ext cx="11091672" cy="8229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2"/>
              </a:buClr>
              <a:buSzPts val="3000"/>
              <a:buFont typeface="Arial"/>
              <a:buNone/>
              <a:defRPr b="1" i="0" sz="30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3"/>
          <p:cNvSpPr/>
          <p:nvPr/>
        </p:nvSpPr>
        <p:spPr>
          <a:xfrm>
            <a:off x="548640" y="640080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000"/>
              <a:buFont typeface="Calibri"/>
              <a:buNone/>
            </a:pPr>
            <a:r>
              <a:rPr lang="en-US" sz="1000">
                <a:solidFill>
                  <a:schemeClr val="accent5"/>
                </a:solidFill>
                <a:latin typeface="Calibri"/>
                <a:ea typeface="Calibri"/>
                <a:cs typeface="Calibri"/>
                <a:sym typeface="Calibri"/>
              </a:rPr>
              <a:t>Communication  |  Macro Changes (PEST)  |  Problems Worth Solving</a:t>
            </a:r>
            <a:endParaRPr sz="1000">
              <a:solidFill>
                <a:schemeClr val="dk1"/>
              </a:solidFill>
              <a:latin typeface="Calibri"/>
              <a:ea typeface="Calibri"/>
              <a:cs typeface="Calibri"/>
              <a:sym typeface="Calibri"/>
            </a:endParaRPr>
          </a:p>
        </p:txBody>
      </p:sp>
      <p:sp>
        <p:nvSpPr>
          <p:cNvPr id="13" name="Google Shape;13;p3"/>
          <p:cNvSpPr txBox="1"/>
          <p:nvPr>
            <p:ph idx="12" type="sldNum"/>
          </p:nvPr>
        </p:nvSpPr>
        <p:spPr>
          <a:xfrm>
            <a:off x="11155680" y="6400800"/>
            <a:ext cx="484632" cy="274320"/>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sz="1000">
                <a:solidFill>
                  <a:schemeClr val="accent5"/>
                </a:solidFill>
                <a:latin typeface="Calibri"/>
                <a:ea typeface="Calibri"/>
                <a:cs typeface="Calibri"/>
                <a:sym typeface="Calibri"/>
              </a:defRPr>
            </a:lvl1pPr>
            <a:lvl2pPr indent="0" lvl="1" marL="0" marR="0" algn="r">
              <a:spcBef>
                <a:spcPts val="0"/>
              </a:spcBef>
              <a:buNone/>
              <a:defRPr b="0" sz="1000">
                <a:solidFill>
                  <a:schemeClr val="accent5"/>
                </a:solidFill>
                <a:latin typeface="Calibri"/>
                <a:ea typeface="Calibri"/>
                <a:cs typeface="Calibri"/>
                <a:sym typeface="Calibri"/>
              </a:defRPr>
            </a:lvl2pPr>
            <a:lvl3pPr indent="0" lvl="2" marL="0" marR="0" algn="r">
              <a:spcBef>
                <a:spcPts val="0"/>
              </a:spcBef>
              <a:buNone/>
              <a:defRPr b="0" sz="1000">
                <a:solidFill>
                  <a:schemeClr val="accent5"/>
                </a:solidFill>
                <a:latin typeface="Calibri"/>
                <a:ea typeface="Calibri"/>
                <a:cs typeface="Calibri"/>
                <a:sym typeface="Calibri"/>
              </a:defRPr>
            </a:lvl3pPr>
            <a:lvl4pPr indent="0" lvl="3" marL="0" marR="0" algn="r">
              <a:spcBef>
                <a:spcPts val="0"/>
              </a:spcBef>
              <a:buNone/>
              <a:defRPr b="0" sz="1000">
                <a:solidFill>
                  <a:schemeClr val="accent5"/>
                </a:solidFill>
                <a:latin typeface="Calibri"/>
                <a:ea typeface="Calibri"/>
                <a:cs typeface="Calibri"/>
                <a:sym typeface="Calibri"/>
              </a:defRPr>
            </a:lvl4pPr>
            <a:lvl5pPr indent="0" lvl="4" marL="0" marR="0" algn="r">
              <a:spcBef>
                <a:spcPts val="0"/>
              </a:spcBef>
              <a:buNone/>
              <a:defRPr b="0" sz="1000">
                <a:solidFill>
                  <a:schemeClr val="accent5"/>
                </a:solidFill>
                <a:latin typeface="Calibri"/>
                <a:ea typeface="Calibri"/>
                <a:cs typeface="Calibri"/>
                <a:sym typeface="Calibri"/>
              </a:defRPr>
            </a:lvl5pPr>
            <a:lvl6pPr indent="0" lvl="5" marL="0" marR="0" algn="r">
              <a:spcBef>
                <a:spcPts val="0"/>
              </a:spcBef>
              <a:buNone/>
              <a:defRPr b="0" sz="1000">
                <a:solidFill>
                  <a:schemeClr val="accent5"/>
                </a:solidFill>
                <a:latin typeface="Calibri"/>
                <a:ea typeface="Calibri"/>
                <a:cs typeface="Calibri"/>
                <a:sym typeface="Calibri"/>
              </a:defRPr>
            </a:lvl6pPr>
            <a:lvl7pPr indent="0" lvl="6" marL="0" marR="0" algn="r">
              <a:spcBef>
                <a:spcPts val="0"/>
              </a:spcBef>
              <a:buNone/>
              <a:defRPr b="0" sz="1000">
                <a:solidFill>
                  <a:schemeClr val="accent5"/>
                </a:solidFill>
                <a:latin typeface="Calibri"/>
                <a:ea typeface="Calibri"/>
                <a:cs typeface="Calibri"/>
                <a:sym typeface="Calibri"/>
              </a:defRPr>
            </a:lvl7pPr>
            <a:lvl8pPr indent="0" lvl="7" marL="0" marR="0" algn="r">
              <a:spcBef>
                <a:spcPts val="0"/>
              </a:spcBef>
              <a:buNone/>
              <a:defRPr b="0" sz="1000">
                <a:solidFill>
                  <a:schemeClr val="accent5"/>
                </a:solidFill>
                <a:latin typeface="Calibri"/>
                <a:ea typeface="Calibri"/>
                <a:cs typeface="Calibri"/>
                <a:sym typeface="Calibri"/>
              </a:defRPr>
            </a:lvl8pPr>
            <a:lvl9pPr indent="0" lvl="8" marL="0" marR="0" algn="r">
              <a:spcBef>
                <a:spcPts val="0"/>
              </a:spcBef>
              <a:buNone/>
              <a:defRPr b="0" sz="1000">
                <a:solidFill>
                  <a:schemeClr val="accent5"/>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4" name="Shape 1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idx="12" type="sldNum"/>
          </p:nvPr>
        </p:nvSpPr>
        <p:spPr>
          <a:xfrm>
            <a:off x="11155680" y="6400800"/>
            <a:ext cx="484632" cy="27432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1000" u="none" cap="none" strike="noStrike">
                <a:solidFill>
                  <a:schemeClr val="accent5"/>
                </a:solidFill>
                <a:latin typeface="Calibri"/>
                <a:ea typeface="Calibri"/>
                <a:cs typeface="Calibri"/>
                <a:sym typeface="Calibri"/>
              </a:defRPr>
            </a:lvl1pPr>
            <a:lvl2pPr indent="0" lvl="1" marL="0" marR="0" rtl="0" algn="r">
              <a:spcBef>
                <a:spcPts val="0"/>
              </a:spcBef>
              <a:buNone/>
              <a:defRPr b="0" i="0" sz="1000" u="none" cap="none" strike="noStrike">
                <a:solidFill>
                  <a:schemeClr val="accent5"/>
                </a:solidFill>
                <a:latin typeface="Calibri"/>
                <a:ea typeface="Calibri"/>
                <a:cs typeface="Calibri"/>
                <a:sym typeface="Calibri"/>
              </a:defRPr>
            </a:lvl2pPr>
            <a:lvl3pPr indent="0" lvl="2" marL="0" marR="0" rtl="0" algn="r">
              <a:spcBef>
                <a:spcPts val="0"/>
              </a:spcBef>
              <a:buNone/>
              <a:defRPr b="0" i="0" sz="1000" u="none" cap="none" strike="noStrike">
                <a:solidFill>
                  <a:schemeClr val="accent5"/>
                </a:solidFill>
                <a:latin typeface="Calibri"/>
                <a:ea typeface="Calibri"/>
                <a:cs typeface="Calibri"/>
                <a:sym typeface="Calibri"/>
              </a:defRPr>
            </a:lvl3pPr>
            <a:lvl4pPr indent="0" lvl="3" marL="0" marR="0" rtl="0" algn="r">
              <a:spcBef>
                <a:spcPts val="0"/>
              </a:spcBef>
              <a:buNone/>
              <a:defRPr b="0" i="0" sz="1000" u="none" cap="none" strike="noStrike">
                <a:solidFill>
                  <a:schemeClr val="accent5"/>
                </a:solidFill>
                <a:latin typeface="Calibri"/>
                <a:ea typeface="Calibri"/>
                <a:cs typeface="Calibri"/>
                <a:sym typeface="Calibri"/>
              </a:defRPr>
            </a:lvl4pPr>
            <a:lvl5pPr indent="0" lvl="4" marL="0" marR="0" rtl="0" algn="r">
              <a:spcBef>
                <a:spcPts val="0"/>
              </a:spcBef>
              <a:buNone/>
              <a:defRPr b="0" i="0" sz="1000" u="none" cap="none" strike="noStrike">
                <a:solidFill>
                  <a:schemeClr val="accent5"/>
                </a:solidFill>
                <a:latin typeface="Calibri"/>
                <a:ea typeface="Calibri"/>
                <a:cs typeface="Calibri"/>
                <a:sym typeface="Calibri"/>
              </a:defRPr>
            </a:lvl5pPr>
            <a:lvl6pPr indent="0" lvl="5" marL="0" marR="0" rtl="0" algn="r">
              <a:spcBef>
                <a:spcPts val="0"/>
              </a:spcBef>
              <a:buNone/>
              <a:defRPr b="0" i="0" sz="1000" u="none" cap="none" strike="noStrike">
                <a:solidFill>
                  <a:schemeClr val="accent5"/>
                </a:solidFill>
                <a:latin typeface="Calibri"/>
                <a:ea typeface="Calibri"/>
                <a:cs typeface="Calibri"/>
                <a:sym typeface="Calibri"/>
              </a:defRPr>
            </a:lvl6pPr>
            <a:lvl7pPr indent="0" lvl="6" marL="0" marR="0" rtl="0" algn="r">
              <a:spcBef>
                <a:spcPts val="0"/>
              </a:spcBef>
              <a:buNone/>
              <a:defRPr b="0" i="0" sz="1000" u="none" cap="none" strike="noStrike">
                <a:solidFill>
                  <a:schemeClr val="accent5"/>
                </a:solidFill>
                <a:latin typeface="Calibri"/>
                <a:ea typeface="Calibri"/>
                <a:cs typeface="Calibri"/>
                <a:sym typeface="Calibri"/>
              </a:defRPr>
            </a:lvl7pPr>
            <a:lvl8pPr indent="0" lvl="7" marL="0" marR="0" rtl="0" algn="r">
              <a:spcBef>
                <a:spcPts val="0"/>
              </a:spcBef>
              <a:buNone/>
              <a:defRPr b="0" i="0" sz="1000" u="none" cap="none" strike="noStrike">
                <a:solidFill>
                  <a:schemeClr val="accent5"/>
                </a:solidFill>
                <a:latin typeface="Calibri"/>
                <a:ea typeface="Calibri"/>
                <a:cs typeface="Calibri"/>
                <a:sym typeface="Calibri"/>
              </a:defRPr>
            </a:lvl8pPr>
            <a:lvl9pPr indent="0" lvl="8" marL="0" marR="0" rtl="0" algn="r">
              <a:spcBef>
                <a:spcPts val="0"/>
              </a:spcBef>
              <a:buNone/>
              <a:defRPr b="0" i="0" sz="1000" u="none" cap="none" strike="noStrike">
                <a:solidFill>
                  <a:schemeClr val="accent5"/>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1.png"/></Relationships>
</file>

<file path=ppt/slides/_rels/slide9.xml.rels><?xml version="1.0" encoding="UTF-8" standalone="yes"?><Relationships xmlns="http://schemas.openxmlformats.org/package/2006/relationships"><Relationship Id="rId11" Type="http://schemas.openxmlformats.org/officeDocument/2006/relationships/hyperlink" Target="https://www.dropmedia.co.uk/wpp-media-says-more-than-half-of-content-driven-ad-revenue-will-come-from-social-in-2025-as-ugc-overtakes-professional-production-and-ai-surges/" TargetMode="External"/><Relationship Id="rId10" Type="http://schemas.openxmlformats.org/officeDocument/2006/relationships/hyperlink" Target="https://tvtechnology.com/news/political-ad-spend-for-the-2024-election-cycle-hit-a-record-usd11-1-billion" TargetMode="External"/><Relationship Id="rId13" Type="http://schemas.openxmlformats.org/officeDocument/2006/relationships/hyperlink" Target="https://allwork.space/2025/04/80-of-workers-are-interrupted-too-often-to-be-effective-new-microsoft-report-reveals/" TargetMode="External"/><Relationship Id="rId12" Type="http://schemas.openxmlformats.org/officeDocument/2006/relationships/hyperlink" Target="https://www.universityofcalifornia.edu/news/how-sharpen-your-attention-and-meet-your-goals-2024" TargetMode="External"/><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https://datareportal.com/reports/digital-2025-global-overview-report" TargetMode="External"/><Relationship Id="rId4" Type="http://schemas.openxmlformats.org/officeDocument/2006/relationships/hyperlink" Target="https://reutersinstitute.politics.ox.ac.uk/digital-news-report/2025" TargetMode="External"/><Relationship Id="rId9" Type="http://schemas.openxmlformats.org/officeDocument/2006/relationships/hyperlink" Target="https://www.aljazeera.com/news/2024/12/26/two-thirds-of-us-adults-tuning-out-political-news-poll-finds" TargetMode="External"/><Relationship Id="rId14" Type="http://schemas.openxmlformats.org/officeDocument/2006/relationships/hyperlink" Target="https://csmapnyu.org/research/how-do-social-media-feed-algorithms-affect-attitudes-and-behavior-in-an-election-campaign" TargetMode="External"/><Relationship Id="rId5" Type="http://schemas.openxmlformats.org/officeDocument/2006/relationships/hyperlink" Target="https://www.axios.com/2025/10/02/media-trust-new-low" TargetMode="External"/><Relationship Id="rId6" Type="http://schemas.openxmlformats.org/officeDocument/2006/relationships/hyperlink" Target="https://www.pew.org/en/trust/archive/summer-2025/who-are-social-medias-news-influencers" TargetMode="External"/><Relationship Id="rId7" Type="http://schemas.openxmlformats.org/officeDocument/2006/relationships/hyperlink" Target="https://www.pewresearch.org/internet/2024/12/12/teens-social-media-and-technology-2024/" TargetMode="External"/><Relationship Id="rId8" Type="http://schemas.openxmlformats.org/officeDocument/2006/relationships/hyperlink" Target="https://www.pewresearch.org/short-reads/2020/02/14/fast-facts-about-the-newspaper-industrys-financial-struggles/"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 name="Shape 19"/>
        <p:cNvGrpSpPr/>
        <p:nvPr/>
      </p:nvGrpSpPr>
      <p:grpSpPr>
        <a:xfrm>
          <a:off x="0" y="0"/>
          <a:ext cx="0" cy="0"/>
          <a:chOff x="0" y="0"/>
          <a:chExt cx="0" cy="0"/>
        </a:xfrm>
      </p:grpSpPr>
      <p:sp>
        <p:nvSpPr>
          <p:cNvPr id="20" name="Google Shape;20;p5"/>
          <p:cNvSpPr txBox="1"/>
          <p:nvPr>
            <p:ph type="title"/>
          </p:nvPr>
        </p:nvSpPr>
        <p:spPr>
          <a:xfrm>
            <a:off x="640080" y="1828800"/>
            <a:ext cx="6035040" cy="201168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Clr>
                <a:schemeClr val="lt1"/>
              </a:buClr>
              <a:buSzPts val="4400"/>
              <a:buFont typeface="Arial"/>
              <a:buNone/>
            </a:pPr>
            <a:r>
              <a:rPr b="1" lang="en-US" sz="4400">
                <a:solidFill>
                  <a:schemeClr val="lt1"/>
                </a:solidFill>
                <a:latin typeface="Arial"/>
                <a:ea typeface="Arial"/>
                <a:cs typeface="Arial"/>
                <a:sym typeface="Arial"/>
              </a:rPr>
              <a:t>Many-to-One Communication</a:t>
            </a:r>
            <a:endParaRPr sz="4400"/>
          </a:p>
        </p:txBody>
      </p:sp>
      <p:sp>
        <p:nvSpPr>
          <p:cNvPr id="21" name="Google Shape;21;p5"/>
          <p:cNvSpPr txBox="1"/>
          <p:nvPr>
            <p:ph idx="1" type="body"/>
          </p:nvPr>
        </p:nvSpPr>
        <p:spPr>
          <a:xfrm>
            <a:off x="640080" y="4069080"/>
            <a:ext cx="5852160" cy="10972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accent1"/>
              </a:buClr>
              <a:buSzPts val="2200"/>
              <a:buNone/>
            </a:pPr>
            <a:r>
              <a:rPr lang="en-US" sz="2200">
                <a:solidFill>
                  <a:schemeClr val="accent1"/>
                </a:solidFill>
              </a:rPr>
              <a:t>...and the invisible gatekeeper in between</a:t>
            </a:r>
            <a:endParaRPr/>
          </a:p>
          <a:p>
            <a:pPr indent="0" lvl="0" marL="0" rtl="0" algn="l">
              <a:spcBef>
                <a:spcPts val="2160"/>
              </a:spcBef>
              <a:spcAft>
                <a:spcPts val="0"/>
              </a:spcAft>
              <a:buClr>
                <a:schemeClr val="accent6"/>
              </a:buClr>
              <a:buSzPts val="1800"/>
              <a:buNone/>
            </a:pPr>
            <a:r>
              <a:rPr lang="en-US" sz="1800"/>
              <a:t>Flora, Michael, Jason, Yash</a:t>
            </a:r>
            <a:endParaRPr/>
          </a:p>
        </p:txBody>
      </p:sp>
      <p:cxnSp>
        <p:nvCxnSpPr>
          <p:cNvPr id="22" name="Google Shape;22;p5"/>
          <p:cNvCxnSpPr/>
          <p:nvPr/>
        </p:nvCxnSpPr>
        <p:spPr>
          <a:xfrm>
            <a:off x="7223760" y="1097280"/>
            <a:ext cx="2834640" cy="2331720"/>
          </a:xfrm>
          <a:prstGeom prst="straightConnector1">
            <a:avLst/>
          </a:prstGeom>
          <a:noFill/>
          <a:ln cap="flat" cmpd="sng" w="12700">
            <a:solidFill>
              <a:srgbClr val="6C74A8">
                <a:alpha val="70196"/>
              </a:srgbClr>
            </a:solidFill>
            <a:prstDash val="solid"/>
            <a:round/>
            <a:headEnd len="sm" w="sm" type="none"/>
            <a:tailEnd len="sm" w="sm" type="none"/>
          </a:ln>
        </p:spPr>
      </p:cxnSp>
      <p:cxnSp>
        <p:nvCxnSpPr>
          <p:cNvPr id="23" name="Google Shape;23;p5"/>
          <p:cNvCxnSpPr/>
          <p:nvPr/>
        </p:nvCxnSpPr>
        <p:spPr>
          <a:xfrm>
            <a:off x="7863840" y="1828800"/>
            <a:ext cx="2194560" cy="1600200"/>
          </a:xfrm>
          <a:prstGeom prst="straightConnector1">
            <a:avLst/>
          </a:prstGeom>
          <a:noFill/>
          <a:ln cap="flat" cmpd="sng" w="12700">
            <a:solidFill>
              <a:srgbClr val="6C74A8">
                <a:alpha val="70196"/>
              </a:srgbClr>
            </a:solidFill>
            <a:prstDash val="solid"/>
            <a:round/>
            <a:headEnd len="sm" w="sm" type="none"/>
            <a:tailEnd len="sm" w="sm" type="none"/>
          </a:ln>
        </p:spPr>
      </p:cxnSp>
      <p:cxnSp>
        <p:nvCxnSpPr>
          <p:cNvPr id="24" name="Google Shape;24;p5"/>
          <p:cNvCxnSpPr/>
          <p:nvPr/>
        </p:nvCxnSpPr>
        <p:spPr>
          <a:xfrm>
            <a:off x="6949440" y="2468880"/>
            <a:ext cx="3108960" cy="960120"/>
          </a:xfrm>
          <a:prstGeom prst="straightConnector1">
            <a:avLst/>
          </a:prstGeom>
          <a:noFill/>
          <a:ln cap="flat" cmpd="sng" w="12700">
            <a:solidFill>
              <a:srgbClr val="6C74A8">
                <a:alpha val="70196"/>
              </a:srgbClr>
            </a:solidFill>
            <a:prstDash val="solid"/>
            <a:round/>
            <a:headEnd len="sm" w="sm" type="none"/>
            <a:tailEnd len="sm" w="sm" type="none"/>
          </a:ln>
        </p:spPr>
      </p:cxnSp>
      <p:cxnSp>
        <p:nvCxnSpPr>
          <p:cNvPr id="25" name="Google Shape;25;p5"/>
          <p:cNvCxnSpPr/>
          <p:nvPr/>
        </p:nvCxnSpPr>
        <p:spPr>
          <a:xfrm>
            <a:off x="8138160" y="2743200"/>
            <a:ext cx="1920240" cy="685800"/>
          </a:xfrm>
          <a:prstGeom prst="straightConnector1">
            <a:avLst/>
          </a:prstGeom>
          <a:noFill/>
          <a:ln cap="flat" cmpd="sng" w="12700">
            <a:solidFill>
              <a:srgbClr val="6C74A8">
                <a:alpha val="70196"/>
              </a:srgbClr>
            </a:solidFill>
            <a:prstDash val="solid"/>
            <a:round/>
            <a:headEnd len="sm" w="sm" type="none"/>
            <a:tailEnd len="sm" w="sm" type="none"/>
          </a:ln>
        </p:spPr>
      </p:cxnSp>
      <p:cxnSp>
        <p:nvCxnSpPr>
          <p:cNvPr id="26" name="Google Shape;26;p5"/>
          <p:cNvCxnSpPr/>
          <p:nvPr/>
        </p:nvCxnSpPr>
        <p:spPr>
          <a:xfrm>
            <a:off x="7132320" y="3429000"/>
            <a:ext cx="2926080" cy="914"/>
          </a:xfrm>
          <a:prstGeom prst="straightConnector1">
            <a:avLst/>
          </a:prstGeom>
          <a:noFill/>
          <a:ln cap="flat" cmpd="sng" w="12700">
            <a:solidFill>
              <a:srgbClr val="6C74A8">
                <a:alpha val="70196"/>
              </a:srgbClr>
            </a:solidFill>
            <a:prstDash val="solid"/>
            <a:round/>
            <a:headEnd len="sm" w="sm" type="none"/>
            <a:tailEnd len="sm" w="sm" type="none"/>
          </a:ln>
        </p:spPr>
      </p:cxnSp>
      <p:cxnSp>
        <p:nvCxnSpPr>
          <p:cNvPr id="27" name="Google Shape;27;p5"/>
          <p:cNvCxnSpPr/>
          <p:nvPr/>
        </p:nvCxnSpPr>
        <p:spPr>
          <a:xfrm flipH="1" rot="10800000">
            <a:off x="7772400" y="3429000"/>
            <a:ext cx="2286000" cy="594360"/>
          </a:xfrm>
          <a:prstGeom prst="straightConnector1">
            <a:avLst/>
          </a:prstGeom>
          <a:noFill/>
          <a:ln cap="flat" cmpd="sng" w="12700">
            <a:solidFill>
              <a:srgbClr val="6C74A8">
                <a:alpha val="70196"/>
              </a:srgbClr>
            </a:solidFill>
            <a:prstDash val="solid"/>
            <a:round/>
            <a:headEnd len="sm" w="sm" type="none"/>
            <a:tailEnd len="sm" w="sm" type="none"/>
          </a:ln>
        </p:spPr>
      </p:cxnSp>
      <p:cxnSp>
        <p:nvCxnSpPr>
          <p:cNvPr id="28" name="Google Shape;28;p5"/>
          <p:cNvCxnSpPr/>
          <p:nvPr/>
        </p:nvCxnSpPr>
        <p:spPr>
          <a:xfrm flipH="1" rot="10800000">
            <a:off x="8412480" y="3429000"/>
            <a:ext cx="1645920" cy="137160"/>
          </a:xfrm>
          <a:prstGeom prst="straightConnector1">
            <a:avLst/>
          </a:prstGeom>
          <a:noFill/>
          <a:ln cap="flat" cmpd="sng" w="12700">
            <a:solidFill>
              <a:srgbClr val="6C74A8">
                <a:alpha val="70196"/>
              </a:srgbClr>
            </a:solidFill>
            <a:prstDash val="solid"/>
            <a:round/>
            <a:headEnd len="sm" w="sm" type="none"/>
            <a:tailEnd len="sm" w="sm" type="none"/>
          </a:ln>
        </p:spPr>
      </p:cxnSp>
      <p:cxnSp>
        <p:nvCxnSpPr>
          <p:cNvPr id="29" name="Google Shape;29;p5"/>
          <p:cNvCxnSpPr/>
          <p:nvPr/>
        </p:nvCxnSpPr>
        <p:spPr>
          <a:xfrm flipH="1" rot="10800000">
            <a:off x="6949440" y="3429000"/>
            <a:ext cx="3108960" cy="1051560"/>
          </a:xfrm>
          <a:prstGeom prst="straightConnector1">
            <a:avLst/>
          </a:prstGeom>
          <a:noFill/>
          <a:ln cap="flat" cmpd="sng" w="12700">
            <a:solidFill>
              <a:srgbClr val="6C74A8">
                <a:alpha val="70196"/>
              </a:srgbClr>
            </a:solidFill>
            <a:prstDash val="solid"/>
            <a:round/>
            <a:headEnd len="sm" w="sm" type="none"/>
            <a:tailEnd len="sm" w="sm" type="none"/>
          </a:ln>
        </p:spPr>
      </p:cxnSp>
      <p:cxnSp>
        <p:nvCxnSpPr>
          <p:cNvPr id="30" name="Google Shape;30;p5"/>
          <p:cNvCxnSpPr/>
          <p:nvPr/>
        </p:nvCxnSpPr>
        <p:spPr>
          <a:xfrm flipH="1" rot="10800000">
            <a:off x="8046720" y="3429000"/>
            <a:ext cx="2011680" cy="1417320"/>
          </a:xfrm>
          <a:prstGeom prst="straightConnector1">
            <a:avLst/>
          </a:prstGeom>
          <a:noFill/>
          <a:ln cap="flat" cmpd="sng" w="12700">
            <a:solidFill>
              <a:srgbClr val="6C74A8">
                <a:alpha val="70196"/>
              </a:srgbClr>
            </a:solidFill>
            <a:prstDash val="solid"/>
            <a:round/>
            <a:headEnd len="sm" w="sm" type="none"/>
            <a:tailEnd len="sm" w="sm" type="none"/>
          </a:ln>
        </p:spPr>
      </p:cxnSp>
      <p:cxnSp>
        <p:nvCxnSpPr>
          <p:cNvPr id="31" name="Google Shape;31;p5"/>
          <p:cNvCxnSpPr/>
          <p:nvPr/>
        </p:nvCxnSpPr>
        <p:spPr>
          <a:xfrm flipH="1" rot="10800000">
            <a:off x="7315200" y="3429000"/>
            <a:ext cx="2743200" cy="2057400"/>
          </a:xfrm>
          <a:prstGeom prst="straightConnector1">
            <a:avLst/>
          </a:prstGeom>
          <a:noFill/>
          <a:ln cap="flat" cmpd="sng" w="12700">
            <a:solidFill>
              <a:srgbClr val="6C74A8">
                <a:alpha val="70196"/>
              </a:srgbClr>
            </a:solidFill>
            <a:prstDash val="solid"/>
            <a:round/>
            <a:headEnd len="sm" w="sm" type="none"/>
            <a:tailEnd len="sm" w="sm" type="none"/>
          </a:ln>
        </p:spPr>
      </p:cxnSp>
      <p:cxnSp>
        <p:nvCxnSpPr>
          <p:cNvPr id="32" name="Google Shape;32;p5"/>
          <p:cNvCxnSpPr/>
          <p:nvPr/>
        </p:nvCxnSpPr>
        <p:spPr>
          <a:xfrm>
            <a:off x="8595360" y="1554480"/>
            <a:ext cx="1463040" cy="1874520"/>
          </a:xfrm>
          <a:prstGeom prst="straightConnector1">
            <a:avLst/>
          </a:prstGeom>
          <a:noFill/>
          <a:ln cap="flat" cmpd="sng" w="12700">
            <a:solidFill>
              <a:srgbClr val="6C74A8">
                <a:alpha val="70196"/>
              </a:srgbClr>
            </a:solidFill>
            <a:prstDash val="solid"/>
            <a:round/>
            <a:headEnd len="sm" w="sm" type="none"/>
            <a:tailEnd len="sm" w="sm" type="none"/>
          </a:ln>
        </p:spPr>
      </p:cxnSp>
      <p:cxnSp>
        <p:nvCxnSpPr>
          <p:cNvPr id="33" name="Google Shape;33;p5"/>
          <p:cNvCxnSpPr/>
          <p:nvPr/>
        </p:nvCxnSpPr>
        <p:spPr>
          <a:xfrm flipH="1" rot="10800000">
            <a:off x="8686800" y="3429000"/>
            <a:ext cx="1371600" cy="1965960"/>
          </a:xfrm>
          <a:prstGeom prst="straightConnector1">
            <a:avLst/>
          </a:prstGeom>
          <a:noFill/>
          <a:ln cap="flat" cmpd="sng" w="12700">
            <a:solidFill>
              <a:srgbClr val="6C74A8">
                <a:alpha val="70196"/>
              </a:srgbClr>
            </a:solidFill>
            <a:prstDash val="solid"/>
            <a:round/>
            <a:headEnd len="sm" w="sm" type="none"/>
            <a:tailEnd len="sm" w="sm" type="none"/>
          </a:ln>
        </p:spPr>
      </p:cxnSp>
      <p:sp>
        <p:nvSpPr>
          <p:cNvPr id="34" name="Google Shape;34;p5"/>
          <p:cNvSpPr/>
          <p:nvPr/>
        </p:nvSpPr>
        <p:spPr>
          <a:xfrm>
            <a:off x="7123176" y="996696"/>
            <a:ext cx="201168" cy="201168"/>
          </a:xfrm>
          <a:prstGeom prst="ellipse">
            <a:avLst/>
          </a:prstGeom>
          <a:solidFill>
            <a:schemeClr val="accent6"/>
          </a:solidFill>
          <a:ln cap="flat" cmpd="sng" w="12700">
            <a:solidFill>
              <a:schemeClr val="accent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 name="Google Shape;35;p5"/>
          <p:cNvSpPr/>
          <p:nvPr/>
        </p:nvSpPr>
        <p:spPr>
          <a:xfrm>
            <a:off x="7763256" y="1728216"/>
            <a:ext cx="201168" cy="201168"/>
          </a:xfrm>
          <a:prstGeom prst="ellipse">
            <a:avLst/>
          </a:prstGeom>
          <a:solidFill>
            <a:schemeClr val="accent6"/>
          </a:solidFill>
          <a:ln cap="flat" cmpd="sng" w="12700">
            <a:solidFill>
              <a:schemeClr val="accent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 name="Google Shape;36;p5"/>
          <p:cNvSpPr/>
          <p:nvPr/>
        </p:nvSpPr>
        <p:spPr>
          <a:xfrm>
            <a:off x="6848856" y="2368296"/>
            <a:ext cx="201168" cy="201168"/>
          </a:xfrm>
          <a:prstGeom prst="ellipse">
            <a:avLst/>
          </a:prstGeom>
          <a:solidFill>
            <a:schemeClr val="accent6"/>
          </a:solidFill>
          <a:ln cap="flat" cmpd="sng" w="12700">
            <a:solidFill>
              <a:schemeClr val="accent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 name="Google Shape;37;p5"/>
          <p:cNvSpPr/>
          <p:nvPr/>
        </p:nvSpPr>
        <p:spPr>
          <a:xfrm>
            <a:off x="8037576" y="2642616"/>
            <a:ext cx="201168" cy="201168"/>
          </a:xfrm>
          <a:prstGeom prst="ellipse">
            <a:avLst/>
          </a:prstGeom>
          <a:solidFill>
            <a:schemeClr val="accent6"/>
          </a:solidFill>
          <a:ln cap="flat" cmpd="sng" w="12700">
            <a:solidFill>
              <a:schemeClr val="accent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 name="Google Shape;38;p5"/>
          <p:cNvSpPr/>
          <p:nvPr/>
        </p:nvSpPr>
        <p:spPr>
          <a:xfrm>
            <a:off x="7031736" y="3328416"/>
            <a:ext cx="201168" cy="201168"/>
          </a:xfrm>
          <a:prstGeom prst="ellipse">
            <a:avLst/>
          </a:prstGeom>
          <a:solidFill>
            <a:schemeClr val="accent6"/>
          </a:solidFill>
          <a:ln cap="flat" cmpd="sng" w="12700">
            <a:solidFill>
              <a:schemeClr val="accent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 name="Google Shape;39;p5"/>
          <p:cNvSpPr/>
          <p:nvPr/>
        </p:nvSpPr>
        <p:spPr>
          <a:xfrm>
            <a:off x="7671816" y="3922776"/>
            <a:ext cx="201168" cy="201168"/>
          </a:xfrm>
          <a:prstGeom prst="ellipse">
            <a:avLst/>
          </a:prstGeom>
          <a:solidFill>
            <a:schemeClr val="accent6"/>
          </a:solidFill>
          <a:ln cap="flat" cmpd="sng" w="12700">
            <a:solidFill>
              <a:schemeClr val="accent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 name="Google Shape;40;p5"/>
          <p:cNvSpPr/>
          <p:nvPr/>
        </p:nvSpPr>
        <p:spPr>
          <a:xfrm>
            <a:off x="8311896" y="3465576"/>
            <a:ext cx="201168" cy="201168"/>
          </a:xfrm>
          <a:prstGeom prst="ellipse">
            <a:avLst/>
          </a:prstGeom>
          <a:solidFill>
            <a:schemeClr val="accent6"/>
          </a:solidFill>
          <a:ln cap="flat" cmpd="sng" w="12700">
            <a:solidFill>
              <a:schemeClr val="accent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 name="Google Shape;41;p5"/>
          <p:cNvSpPr/>
          <p:nvPr/>
        </p:nvSpPr>
        <p:spPr>
          <a:xfrm>
            <a:off x="6848856" y="4379976"/>
            <a:ext cx="201168" cy="201168"/>
          </a:xfrm>
          <a:prstGeom prst="ellipse">
            <a:avLst/>
          </a:prstGeom>
          <a:solidFill>
            <a:schemeClr val="accent6"/>
          </a:solidFill>
          <a:ln cap="flat" cmpd="sng" w="12700">
            <a:solidFill>
              <a:schemeClr val="accent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 name="Google Shape;42;p5"/>
          <p:cNvSpPr/>
          <p:nvPr/>
        </p:nvSpPr>
        <p:spPr>
          <a:xfrm>
            <a:off x="7946136" y="4745736"/>
            <a:ext cx="201168" cy="201168"/>
          </a:xfrm>
          <a:prstGeom prst="ellipse">
            <a:avLst/>
          </a:prstGeom>
          <a:solidFill>
            <a:schemeClr val="accent6"/>
          </a:solidFill>
          <a:ln cap="flat" cmpd="sng" w="12700">
            <a:solidFill>
              <a:schemeClr val="accent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 name="Google Shape;43;p5"/>
          <p:cNvSpPr/>
          <p:nvPr/>
        </p:nvSpPr>
        <p:spPr>
          <a:xfrm>
            <a:off x="7214616" y="5385816"/>
            <a:ext cx="201168" cy="201168"/>
          </a:xfrm>
          <a:prstGeom prst="ellipse">
            <a:avLst/>
          </a:prstGeom>
          <a:solidFill>
            <a:schemeClr val="accent6"/>
          </a:solidFill>
          <a:ln cap="flat" cmpd="sng" w="12700">
            <a:solidFill>
              <a:schemeClr val="accent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 name="Google Shape;44;p5"/>
          <p:cNvSpPr/>
          <p:nvPr/>
        </p:nvSpPr>
        <p:spPr>
          <a:xfrm>
            <a:off x="8494776" y="1453896"/>
            <a:ext cx="201168" cy="201168"/>
          </a:xfrm>
          <a:prstGeom prst="ellipse">
            <a:avLst/>
          </a:prstGeom>
          <a:solidFill>
            <a:schemeClr val="accent6"/>
          </a:solidFill>
          <a:ln cap="flat" cmpd="sng" w="12700">
            <a:solidFill>
              <a:schemeClr val="accent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 name="Google Shape;45;p5"/>
          <p:cNvSpPr/>
          <p:nvPr/>
        </p:nvSpPr>
        <p:spPr>
          <a:xfrm>
            <a:off x="8586216" y="5294376"/>
            <a:ext cx="201168" cy="201168"/>
          </a:xfrm>
          <a:prstGeom prst="ellipse">
            <a:avLst/>
          </a:prstGeom>
          <a:solidFill>
            <a:schemeClr val="accent6"/>
          </a:solidFill>
          <a:ln cap="flat" cmpd="sng" w="12700">
            <a:solidFill>
              <a:schemeClr val="accent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 name="Google Shape;46;p5"/>
          <p:cNvSpPr/>
          <p:nvPr/>
        </p:nvSpPr>
        <p:spPr>
          <a:xfrm>
            <a:off x="9646920" y="3017520"/>
            <a:ext cx="822960" cy="82296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 name="Google Shape;47;p5"/>
          <p:cNvSpPr txBox="1"/>
          <p:nvPr/>
        </p:nvSpPr>
        <p:spPr>
          <a:xfrm>
            <a:off x="10993245" y="3863320"/>
            <a:ext cx="8229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400"/>
              <a:buFont typeface="Calibri"/>
              <a:buNone/>
            </a:pPr>
            <a:r>
              <a:rPr b="1" lang="en-US" sz="1400">
                <a:solidFill>
                  <a:schemeClr val="lt1"/>
                </a:solidFill>
                <a:latin typeface="Calibri"/>
                <a:ea typeface="Calibri"/>
                <a:cs typeface="Calibri"/>
                <a:sym typeface="Calibri"/>
              </a:rPr>
              <a:t>You</a:t>
            </a:r>
            <a:endParaRPr sz="1400">
              <a:solidFill>
                <a:schemeClr val="dk1"/>
              </a:solidFill>
              <a:latin typeface="Calibri"/>
              <a:ea typeface="Calibri"/>
              <a:cs typeface="Calibri"/>
              <a:sym typeface="Calibri"/>
            </a:endParaRPr>
          </a:p>
        </p:txBody>
      </p:sp>
      <p:sp>
        <p:nvSpPr>
          <p:cNvPr id="48" name="Google Shape;48;p5"/>
          <p:cNvSpPr txBox="1"/>
          <p:nvPr/>
        </p:nvSpPr>
        <p:spPr>
          <a:xfrm>
            <a:off x="7552944" y="5897880"/>
            <a:ext cx="82296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400"/>
              <a:buFont typeface="Calibri"/>
              <a:buNone/>
            </a:pPr>
            <a:r>
              <a:rPr b="1" lang="en-US" sz="1400">
                <a:solidFill>
                  <a:schemeClr val="lt1"/>
                </a:solidFill>
                <a:latin typeface="Calibri"/>
                <a:ea typeface="Calibri"/>
                <a:cs typeface="Calibri"/>
                <a:sym typeface="Calibri"/>
              </a:rPr>
              <a:t>Everyone</a:t>
            </a:r>
            <a:endParaRPr sz="1400">
              <a:solidFill>
                <a:schemeClr val="dk1"/>
              </a:solidFill>
              <a:latin typeface="Calibri"/>
              <a:ea typeface="Calibri"/>
              <a:cs typeface="Calibri"/>
              <a:sym typeface="Calibri"/>
            </a:endParaRPr>
          </a:p>
        </p:txBody>
      </p:sp>
      <p:sp>
        <p:nvSpPr>
          <p:cNvPr id="49" name="Google Shape;49;p5"/>
          <p:cNvSpPr/>
          <p:nvPr/>
        </p:nvSpPr>
        <p:spPr>
          <a:xfrm>
            <a:off x="11304046" y="3328814"/>
            <a:ext cx="201300" cy="201300"/>
          </a:xfrm>
          <a:prstGeom prst="ellipse">
            <a:avLst/>
          </a:prstGeom>
          <a:solidFill>
            <a:schemeClr val="accent6"/>
          </a:solidFill>
          <a:ln cap="flat" cmpd="sng" w="12700">
            <a:solidFill>
              <a:schemeClr val="accent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50" name="Google Shape;50;p5"/>
          <p:cNvCxnSpPr>
            <a:stCxn id="46" idx="6"/>
            <a:endCxn id="49" idx="2"/>
          </p:cNvCxnSpPr>
          <p:nvPr/>
        </p:nvCxnSpPr>
        <p:spPr>
          <a:xfrm>
            <a:off x="10469880" y="3429000"/>
            <a:ext cx="834300" cy="600"/>
          </a:xfrm>
          <a:prstGeom prst="straightConnector1">
            <a:avLst/>
          </a:prstGeom>
          <a:noFill/>
          <a:ln cap="flat" cmpd="sng" w="12700">
            <a:solidFill>
              <a:srgbClr val="6C74A8">
                <a:alpha val="70200"/>
              </a:srgbClr>
            </a:solidFill>
            <a:prstDash val="solid"/>
            <a:round/>
            <a:headEnd len="sm" w="sm" type="none"/>
            <a:tailEnd len="sm" w="sm"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6"/>
          <p:cNvSpPr txBox="1"/>
          <p:nvPr>
            <p:ph type="title"/>
          </p:nvPr>
        </p:nvSpPr>
        <p:spPr>
          <a:xfrm>
            <a:off x="548640" y="365760"/>
            <a:ext cx="11091672" cy="8229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000"/>
              <a:buFont typeface="Arial"/>
              <a:buNone/>
            </a:pPr>
            <a:r>
              <a:rPr b="1" lang="en-US" sz="3000">
                <a:solidFill>
                  <a:schemeClr val="dk2"/>
                </a:solidFill>
                <a:latin typeface="Arial"/>
                <a:ea typeface="Arial"/>
                <a:cs typeface="Arial"/>
                <a:sym typeface="Arial"/>
              </a:rPr>
              <a:t>Communication is no longer one-to-one: it's many-to-one</a:t>
            </a:r>
            <a:endParaRPr sz="3000"/>
          </a:p>
        </p:txBody>
      </p:sp>
      <p:sp>
        <p:nvSpPr>
          <p:cNvPr id="57" name="Google Shape;57;p6"/>
          <p:cNvSpPr/>
          <p:nvPr/>
        </p:nvSpPr>
        <p:spPr>
          <a:xfrm>
            <a:off x="548640" y="1417320"/>
            <a:ext cx="4937760" cy="2194560"/>
          </a:xfrm>
          <a:prstGeom prst="roundRect">
            <a:avLst>
              <a:gd fmla="val 5000" name="adj"/>
            </a:avLst>
          </a:prstGeom>
          <a:solidFill>
            <a:schemeClr val="lt2"/>
          </a:solidFill>
          <a:ln cap="flat" cmpd="sng" w="12700">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 name="Google Shape;58;p6"/>
          <p:cNvSpPr/>
          <p:nvPr/>
        </p:nvSpPr>
        <p:spPr>
          <a:xfrm>
            <a:off x="548640" y="3886200"/>
            <a:ext cx="4937760" cy="2240280"/>
          </a:xfrm>
          <a:prstGeom prst="roundRect">
            <a:avLst>
              <a:gd fmla="val 4898" name="adj"/>
            </a:avLst>
          </a:prstGeom>
          <a:solidFill>
            <a:schemeClr val="dk2"/>
          </a:solidFill>
          <a:ln cap="flat" cmpd="sng" w="12700">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 name="Google Shape;59;p6"/>
          <p:cNvSpPr txBox="1"/>
          <p:nvPr/>
        </p:nvSpPr>
        <p:spPr>
          <a:xfrm>
            <a:off x="822960" y="1600200"/>
            <a:ext cx="3657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1200"/>
              <a:buFont typeface="Calibri"/>
              <a:buNone/>
            </a:pPr>
            <a:r>
              <a:rPr b="1" lang="en-US" spc="300" sz="1200">
                <a:solidFill>
                  <a:schemeClr val="accent2"/>
                </a:solidFill>
                <a:latin typeface="Calibri"/>
                <a:ea typeface="Calibri"/>
                <a:cs typeface="Calibri"/>
                <a:sym typeface="Calibri"/>
              </a:rPr>
              <a:t>THEN: ONE-TO-ONE</a:t>
            </a:r>
            <a:endParaRPr sz="1200">
              <a:solidFill>
                <a:schemeClr val="dk1"/>
              </a:solidFill>
              <a:latin typeface="Calibri"/>
              <a:ea typeface="Calibri"/>
              <a:cs typeface="Calibri"/>
              <a:sym typeface="Calibri"/>
            </a:endParaRPr>
          </a:p>
        </p:txBody>
      </p:sp>
      <p:sp>
        <p:nvSpPr>
          <p:cNvPr id="60" name="Google Shape;60;p6"/>
          <p:cNvSpPr txBox="1"/>
          <p:nvPr/>
        </p:nvSpPr>
        <p:spPr>
          <a:xfrm>
            <a:off x="822960" y="1920240"/>
            <a:ext cx="237744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lang="en-US" sz="1400">
                <a:solidFill>
                  <a:schemeClr val="dk1"/>
                </a:solidFill>
                <a:latin typeface="Calibri"/>
                <a:ea typeface="Calibri"/>
                <a:cs typeface="Calibri"/>
                <a:sym typeface="Calibri"/>
              </a:rPr>
              <a:t>A letter, a call, a conversation. One sender, one receiver, full attention.</a:t>
            </a:r>
            <a:endParaRPr sz="1400">
              <a:solidFill>
                <a:schemeClr val="dk1"/>
              </a:solidFill>
              <a:latin typeface="Calibri"/>
              <a:ea typeface="Calibri"/>
              <a:cs typeface="Calibri"/>
              <a:sym typeface="Calibri"/>
            </a:endParaRPr>
          </a:p>
        </p:txBody>
      </p:sp>
      <p:sp>
        <p:nvSpPr>
          <p:cNvPr id="61" name="Google Shape;61;p6"/>
          <p:cNvSpPr/>
          <p:nvPr/>
        </p:nvSpPr>
        <p:spPr>
          <a:xfrm>
            <a:off x="3429000" y="2331720"/>
            <a:ext cx="457200" cy="457200"/>
          </a:xfrm>
          <a:prstGeom prst="ellipse">
            <a:avLst/>
          </a:prstGeom>
          <a:solidFill>
            <a:schemeClr val="accent2"/>
          </a:solidFill>
          <a:ln cap="flat" cmpd="sng" w="12700">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62" name="Google Shape;62;p6"/>
          <p:cNvCxnSpPr/>
          <p:nvPr/>
        </p:nvCxnSpPr>
        <p:spPr>
          <a:xfrm>
            <a:off x="3931920" y="2560320"/>
            <a:ext cx="777240" cy="0"/>
          </a:xfrm>
          <a:prstGeom prst="straightConnector1">
            <a:avLst/>
          </a:prstGeom>
          <a:noFill/>
          <a:ln cap="flat" cmpd="sng" w="25400">
            <a:solidFill>
              <a:srgbClr val="6C74A8"/>
            </a:solidFill>
            <a:prstDash val="solid"/>
            <a:round/>
            <a:headEnd len="med" w="med" type="triangle"/>
            <a:tailEnd len="med" w="med" type="triangle"/>
          </a:ln>
        </p:spPr>
      </p:cxnSp>
      <p:sp>
        <p:nvSpPr>
          <p:cNvPr id="63" name="Google Shape;63;p6"/>
          <p:cNvSpPr/>
          <p:nvPr/>
        </p:nvSpPr>
        <p:spPr>
          <a:xfrm>
            <a:off x="4754880" y="2331720"/>
            <a:ext cx="457200" cy="45720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 name="Google Shape;64;p6"/>
          <p:cNvSpPr txBox="1"/>
          <p:nvPr/>
        </p:nvSpPr>
        <p:spPr>
          <a:xfrm>
            <a:off x="822960" y="4069080"/>
            <a:ext cx="3657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200"/>
              <a:buFont typeface="Calibri"/>
              <a:buNone/>
            </a:pPr>
            <a:r>
              <a:rPr b="1" lang="en-US" spc="300" sz="1200">
                <a:solidFill>
                  <a:schemeClr val="accent1"/>
                </a:solidFill>
                <a:latin typeface="Calibri"/>
                <a:ea typeface="Calibri"/>
                <a:cs typeface="Calibri"/>
                <a:sym typeface="Calibri"/>
              </a:rPr>
              <a:t>NOW: MANY-TO-ONE</a:t>
            </a:r>
            <a:endParaRPr sz="1200">
              <a:solidFill>
                <a:schemeClr val="dk1"/>
              </a:solidFill>
              <a:latin typeface="Calibri"/>
              <a:ea typeface="Calibri"/>
              <a:cs typeface="Calibri"/>
              <a:sym typeface="Calibri"/>
            </a:endParaRPr>
          </a:p>
        </p:txBody>
      </p:sp>
      <p:sp>
        <p:nvSpPr>
          <p:cNvPr id="65" name="Google Shape;65;p6"/>
          <p:cNvSpPr txBox="1"/>
          <p:nvPr/>
        </p:nvSpPr>
        <p:spPr>
          <a:xfrm>
            <a:off x="822960" y="4389120"/>
            <a:ext cx="2377440"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Feeds, group chats, reels and notifications. Thousands of senders compete for one person's attention, and an algorithm decides which get through.</a:t>
            </a:r>
            <a:endParaRPr sz="1400">
              <a:solidFill>
                <a:schemeClr val="dk1"/>
              </a:solidFill>
              <a:latin typeface="Calibri"/>
              <a:ea typeface="Calibri"/>
              <a:cs typeface="Calibri"/>
              <a:sym typeface="Calibri"/>
            </a:endParaRPr>
          </a:p>
        </p:txBody>
      </p:sp>
      <p:cxnSp>
        <p:nvCxnSpPr>
          <p:cNvPr id="66" name="Google Shape;66;p6"/>
          <p:cNvCxnSpPr/>
          <p:nvPr/>
        </p:nvCxnSpPr>
        <p:spPr>
          <a:xfrm>
            <a:off x="3520440" y="4343400"/>
            <a:ext cx="1463040" cy="685800"/>
          </a:xfrm>
          <a:prstGeom prst="straightConnector1">
            <a:avLst/>
          </a:prstGeom>
          <a:noFill/>
          <a:ln cap="flat" cmpd="sng" w="12700">
            <a:solidFill>
              <a:srgbClr val="8A8FA8"/>
            </a:solidFill>
            <a:prstDash val="solid"/>
            <a:round/>
            <a:headEnd len="sm" w="sm" type="none"/>
            <a:tailEnd len="sm" w="sm" type="none"/>
          </a:ln>
        </p:spPr>
      </p:cxnSp>
      <p:cxnSp>
        <p:nvCxnSpPr>
          <p:cNvPr id="67" name="Google Shape;67;p6"/>
          <p:cNvCxnSpPr/>
          <p:nvPr/>
        </p:nvCxnSpPr>
        <p:spPr>
          <a:xfrm>
            <a:off x="3886200" y="4617720"/>
            <a:ext cx="1097280" cy="411480"/>
          </a:xfrm>
          <a:prstGeom prst="straightConnector1">
            <a:avLst/>
          </a:prstGeom>
          <a:noFill/>
          <a:ln cap="flat" cmpd="sng" w="12700">
            <a:solidFill>
              <a:srgbClr val="8A8FA8"/>
            </a:solidFill>
            <a:prstDash val="solid"/>
            <a:round/>
            <a:headEnd len="sm" w="sm" type="none"/>
            <a:tailEnd len="sm" w="sm" type="none"/>
          </a:ln>
        </p:spPr>
      </p:cxnSp>
      <p:cxnSp>
        <p:nvCxnSpPr>
          <p:cNvPr id="68" name="Google Shape;68;p6"/>
          <p:cNvCxnSpPr/>
          <p:nvPr/>
        </p:nvCxnSpPr>
        <p:spPr>
          <a:xfrm>
            <a:off x="3474720" y="4983480"/>
            <a:ext cx="1508760" cy="45720"/>
          </a:xfrm>
          <a:prstGeom prst="straightConnector1">
            <a:avLst/>
          </a:prstGeom>
          <a:noFill/>
          <a:ln cap="flat" cmpd="sng" w="12700">
            <a:solidFill>
              <a:srgbClr val="8A8FA8"/>
            </a:solidFill>
            <a:prstDash val="solid"/>
            <a:round/>
            <a:headEnd len="sm" w="sm" type="none"/>
            <a:tailEnd len="sm" w="sm" type="none"/>
          </a:ln>
        </p:spPr>
      </p:cxnSp>
      <p:cxnSp>
        <p:nvCxnSpPr>
          <p:cNvPr id="69" name="Google Shape;69;p6"/>
          <p:cNvCxnSpPr/>
          <p:nvPr/>
        </p:nvCxnSpPr>
        <p:spPr>
          <a:xfrm flipH="1" rot="10800000">
            <a:off x="3931920" y="5029200"/>
            <a:ext cx="1051560" cy="320040"/>
          </a:xfrm>
          <a:prstGeom prst="straightConnector1">
            <a:avLst/>
          </a:prstGeom>
          <a:noFill/>
          <a:ln cap="flat" cmpd="sng" w="12700">
            <a:solidFill>
              <a:srgbClr val="8A8FA8"/>
            </a:solidFill>
            <a:prstDash val="solid"/>
            <a:round/>
            <a:headEnd len="sm" w="sm" type="none"/>
            <a:tailEnd len="sm" w="sm" type="none"/>
          </a:ln>
        </p:spPr>
      </p:cxnSp>
      <p:cxnSp>
        <p:nvCxnSpPr>
          <p:cNvPr id="70" name="Google Shape;70;p6"/>
          <p:cNvCxnSpPr/>
          <p:nvPr/>
        </p:nvCxnSpPr>
        <p:spPr>
          <a:xfrm flipH="1" rot="10800000">
            <a:off x="3566160" y="5029200"/>
            <a:ext cx="1417320" cy="685800"/>
          </a:xfrm>
          <a:prstGeom prst="straightConnector1">
            <a:avLst/>
          </a:prstGeom>
          <a:noFill/>
          <a:ln cap="flat" cmpd="sng" w="12700">
            <a:solidFill>
              <a:srgbClr val="8A8FA8"/>
            </a:solidFill>
            <a:prstDash val="solid"/>
            <a:round/>
            <a:headEnd len="sm" w="sm" type="none"/>
            <a:tailEnd len="sm" w="sm" type="none"/>
          </a:ln>
        </p:spPr>
      </p:cxnSp>
      <p:cxnSp>
        <p:nvCxnSpPr>
          <p:cNvPr id="71" name="Google Shape;71;p6"/>
          <p:cNvCxnSpPr/>
          <p:nvPr/>
        </p:nvCxnSpPr>
        <p:spPr>
          <a:xfrm>
            <a:off x="4160520" y="4206240"/>
            <a:ext cx="822960" cy="822960"/>
          </a:xfrm>
          <a:prstGeom prst="straightConnector1">
            <a:avLst/>
          </a:prstGeom>
          <a:noFill/>
          <a:ln cap="flat" cmpd="sng" w="12700">
            <a:solidFill>
              <a:srgbClr val="8A8FA8"/>
            </a:solidFill>
            <a:prstDash val="solid"/>
            <a:round/>
            <a:headEnd len="sm" w="sm" type="none"/>
            <a:tailEnd len="sm" w="sm" type="none"/>
          </a:ln>
        </p:spPr>
      </p:cxnSp>
      <p:cxnSp>
        <p:nvCxnSpPr>
          <p:cNvPr id="72" name="Google Shape;72;p6"/>
          <p:cNvCxnSpPr/>
          <p:nvPr/>
        </p:nvCxnSpPr>
        <p:spPr>
          <a:xfrm flipH="1" rot="10800000">
            <a:off x="4160520" y="5029200"/>
            <a:ext cx="822960" cy="777240"/>
          </a:xfrm>
          <a:prstGeom prst="straightConnector1">
            <a:avLst/>
          </a:prstGeom>
          <a:noFill/>
          <a:ln cap="flat" cmpd="sng" w="12700">
            <a:solidFill>
              <a:srgbClr val="8A8FA8"/>
            </a:solidFill>
            <a:prstDash val="solid"/>
            <a:round/>
            <a:headEnd len="sm" w="sm" type="none"/>
            <a:tailEnd len="sm" w="sm" type="none"/>
          </a:ln>
        </p:spPr>
      </p:cxnSp>
      <p:sp>
        <p:nvSpPr>
          <p:cNvPr id="73" name="Google Shape;73;p6"/>
          <p:cNvSpPr/>
          <p:nvPr/>
        </p:nvSpPr>
        <p:spPr>
          <a:xfrm>
            <a:off x="3429000" y="4251960"/>
            <a:ext cx="182880" cy="182880"/>
          </a:xfrm>
          <a:prstGeom prst="ellipse">
            <a:avLst/>
          </a:prstGeom>
          <a:solidFill>
            <a:schemeClr val="accent6"/>
          </a:solidFill>
          <a:ln cap="flat" cmpd="sng" w="12700">
            <a:solidFill>
              <a:schemeClr val="accent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 name="Google Shape;74;p6"/>
          <p:cNvSpPr/>
          <p:nvPr/>
        </p:nvSpPr>
        <p:spPr>
          <a:xfrm>
            <a:off x="3794760" y="4526280"/>
            <a:ext cx="182880" cy="182880"/>
          </a:xfrm>
          <a:prstGeom prst="ellipse">
            <a:avLst/>
          </a:prstGeom>
          <a:solidFill>
            <a:schemeClr val="accent6"/>
          </a:solidFill>
          <a:ln cap="flat" cmpd="sng" w="12700">
            <a:solidFill>
              <a:schemeClr val="accent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 name="Google Shape;75;p6"/>
          <p:cNvSpPr/>
          <p:nvPr/>
        </p:nvSpPr>
        <p:spPr>
          <a:xfrm>
            <a:off x="3383280" y="4892040"/>
            <a:ext cx="182880" cy="182880"/>
          </a:xfrm>
          <a:prstGeom prst="ellipse">
            <a:avLst/>
          </a:prstGeom>
          <a:solidFill>
            <a:schemeClr val="accent6"/>
          </a:solidFill>
          <a:ln cap="flat" cmpd="sng" w="12700">
            <a:solidFill>
              <a:schemeClr val="accent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 name="Google Shape;76;p6"/>
          <p:cNvSpPr/>
          <p:nvPr/>
        </p:nvSpPr>
        <p:spPr>
          <a:xfrm>
            <a:off x="3840480" y="5257800"/>
            <a:ext cx="182880" cy="182880"/>
          </a:xfrm>
          <a:prstGeom prst="ellipse">
            <a:avLst/>
          </a:prstGeom>
          <a:solidFill>
            <a:schemeClr val="accent6"/>
          </a:solidFill>
          <a:ln cap="flat" cmpd="sng" w="12700">
            <a:solidFill>
              <a:schemeClr val="accent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 name="Google Shape;77;p6"/>
          <p:cNvSpPr/>
          <p:nvPr/>
        </p:nvSpPr>
        <p:spPr>
          <a:xfrm>
            <a:off x="3474720" y="5623560"/>
            <a:ext cx="182880" cy="182880"/>
          </a:xfrm>
          <a:prstGeom prst="ellipse">
            <a:avLst/>
          </a:prstGeom>
          <a:solidFill>
            <a:schemeClr val="accent6"/>
          </a:solidFill>
          <a:ln cap="flat" cmpd="sng" w="12700">
            <a:solidFill>
              <a:schemeClr val="accent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 name="Google Shape;78;p6"/>
          <p:cNvSpPr/>
          <p:nvPr/>
        </p:nvSpPr>
        <p:spPr>
          <a:xfrm>
            <a:off x="4069080" y="4114800"/>
            <a:ext cx="182880" cy="182880"/>
          </a:xfrm>
          <a:prstGeom prst="ellipse">
            <a:avLst/>
          </a:prstGeom>
          <a:solidFill>
            <a:schemeClr val="accent6"/>
          </a:solidFill>
          <a:ln cap="flat" cmpd="sng" w="12700">
            <a:solidFill>
              <a:schemeClr val="accent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 name="Google Shape;79;p6"/>
          <p:cNvSpPr/>
          <p:nvPr/>
        </p:nvSpPr>
        <p:spPr>
          <a:xfrm>
            <a:off x="4069080" y="5715000"/>
            <a:ext cx="182880" cy="182880"/>
          </a:xfrm>
          <a:prstGeom prst="ellipse">
            <a:avLst/>
          </a:prstGeom>
          <a:solidFill>
            <a:schemeClr val="accent6"/>
          </a:solidFill>
          <a:ln cap="flat" cmpd="sng" w="12700">
            <a:solidFill>
              <a:schemeClr val="accent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 name="Google Shape;80;p6"/>
          <p:cNvSpPr/>
          <p:nvPr/>
        </p:nvSpPr>
        <p:spPr>
          <a:xfrm>
            <a:off x="4754880" y="4800600"/>
            <a:ext cx="457200" cy="45720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 name="Google Shape;81;p6"/>
          <p:cNvSpPr txBox="1"/>
          <p:nvPr/>
        </p:nvSpPr>
        <p:spPr>
          <a:xfrm>
            <a:off x="6035040" y="1417320"/>
            <a:ext cx="5486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2000"/>
              <a:buFont typeface="Calibri"/>
              <a:buNone/>
            </a:pPr>
            <a:r>
              <a:rPr b="1" lang="en-US" sz="2000">
                <a:solidFill>
                  <a:schemeClr val="dk2"/>
                </a:solidFill>
                <a:latin typeface="Calibri"/>
                <a:ea typeface="Calibri"/>
                <a:cs typeface="Calibri"/>
                <a:sym typeface="Calibri"/>
              </a:rPr>
              <a:t>What our team observed</a:t>
            </a:r>
            <a:endParaRPr sz="2000">
              <a:solidFill>
                <a:schemeClr val="dk1"/>
              </a:solidFill>
              <a:latin typeface="Calibri"/>
              <a:ea typeface="Calibri"/>
              <a:cs typeface="Calibri"/>
              <a:sym typeface="Calibri"/>
            </a:endParaRPr>
          </a:p>
        </p:txBody>
      </p:sp>
      <p:sp>
        <p:nvSpPr>
          <p:cNvPr id="82" name="Google Shape;82;p6"/>
          <p:cNvSpPr/>
          <p:nvPr/>
        </p:nvSpPr>
        <p:spPr>
          <a:xfrm>
            <a:off x="6035040" y="2084832"/>
            <a:ext cx="384048" cy="384048"/>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 name="Google Shape;83;p6"/>
          <p:cNvSpPr txBox="1"/>
          <p:nvPr/>
        </p:nvSpPr>
        <p:spPr>
          <a:xfrm>
            <a:off x="6035040" y="208483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400"/>
              <a:buFont typeface="Calibri"/>
              <a:buNone/>
            </a:pPr>
            <a:r>
              <a:rPr b="1" lang="en-US" sz="1400">
                <a:solidFill>
                  <a:schemeClr val="lt1"/>
                </a:solidFill>
                <a:latin typeface="Calibri"/>
                <a:ea typeface="Calibri"/>
                <a:cs typeface="Calibri"/>
                <a:sym typeface="Calibri"/>
              </a:rPr>
              <a:t>1</a:t>
            </a:r>
            <a:endParaRPr sz="1400">
              <a:solidFill>
                <a:schemeClr val="dk1"/>
              </a:solidFill>
              <a:latin typeface="Calibri"/>
              <a:ea typeface="Calibri"/>
              <a:cs typeface="Calibri"/>
              <a:sym typeface="Calibri"/>
            </a:endParaRPr>
          </a:p>
        </p:txBody>
      </p:sp>
      <p:sp>
        <p:nvSpPr>
          <p:cNvPr id="84" name="Google Shape;84;p6"/>
          <p:cNvSpPr txBox="1"/>
          <p:nvPr/>
        </p:nvSpPr>
        <p:spPr>
          <a:xfrm>
            <a:off x="6629400" y="2011680"/>
            <a:ext cx="498348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2264B"/>
              </a:buClr>
              <a:buSzPts val="1400"/>
              <a:buFont typeface="Calibri"/>
              <a:buNone/>
            </a:pPr>
            <a:r>
              <a:rPr b="1" lang="en-US" sz="1400">
                <a:solidFill>
                  <a:srgbClr val="22264B"/>
                </a:solidFill>
                <a:latin typeface="Calibri"/>
                <a:ea typeface="Calibri"/>
                <a:cs typeface="Calibri"/>
                <a:sym typeface="Calibri"/>
              </a:rPr>
              <a:t>More ways to share</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1A1C2E"/>
              </a:buClr>
              <a:buSzPts val="1400"/>
              <a:buFont typeface="Calibri"/>
              <a:buNone/>
            </a:pPr>
            <a:r>
              <a:rPr lang="en-US" sz="1400">
                <a:solidFill>
                  <a:srgbClr val="1A1C2E"/>
                </a:solidFill>
                <a:latin typeface="Calibri"/>
                <a:ea typeface="Calibri"/>
                <a:cs typeface="Calibri"/>
                <a:sym typeface="Calibri"/>
              </a:rPr>
              <a:t>Faster communication and more access than ever before.</a:t>
            </a:r>
            <a:endParaRPr sz="1400">
              <a:solidFill>
                <a:schemeClr val="dk1"/>
              </a:solidFill>
              <a:latin typeface="Calibri"/>
              <a:ea typeface="Calibri"/>
              <a:cs typeface="Calibri"/>
              <a:sym typeface="Calibri"/>
            </a:endParaRPr>
          </a:p>
        </p:txBody>
      </p:sp>
      <p:sp>
        <p:nvSpPr>
          <p:cNvPr id="85" name="Google Shape;85;p6"/>
          <p:cNvSpPr/>
          <p:nvPr/>
        </p:nvSpPr>
        <p:spPr>
          <a:xfrm>
            <a:off x="6035040" y="2926080"/>
            <a:ext cx="384048" cy="384048"/>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 name="Google Shape;86;p6"/>
          <p:cNvSpPr txBox="1"/>
          <p:nvPr/>
        </p:nvSpPr>
        <p:spPr>
          <a:xfrm>
            <a:off x="6035040" y="292608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400"/>
              <a:buFont typeface="Calibri"/>
              <a:buNone/>
            </a:pPr>
            <a:r>
              <a:rPr b="1" lang="en-US" sz="1400">
                <a:solidFill>
                  <a:schemeClr val="lt1"/>
                </a:solidFill>
                <a:latin typeface="Calibri"/>
                <a:ea typeface="Calibri"/>
                <a:cs typeface="Calibri"/>
                <a:sym typeface="Calibri"/>
              </a:rPr>
              <a:t>2</a:t>
            </a:r>
            <a:endParaRPr sz="1400">
              <a:solidFill>
                <a:schemeClr val="dk1"/>
              </a:solidFill>
              <a:latin typeface="Calibri"/>
              <a:ea typeface="Calibri"/>
              <a:cs typeface="Calibri"/>
              <a:sym typeface="Calibri"/>
            </a:endParaRPr>
          </a:p>
        </p:txBody>
      </p:sp>
      <p:sp>
        <p:nvSpPr>
          <p:cNvPr id="87" name="Google Shape;87;p6"/>
          <p:cNvSpPr txBox="1"/>
          <p:nvPr/>
        </p:nvSpPr>
        <p:spPr>
          <a:xfrm>
            <a:off x="6629400" y="2852928"/>
            <a:ext cx="498348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2264B"/>
              </a:buClr>
              <a:buSzPts val="1400"/>
              <a:buFont typeface="Calibri"/>
              <a:buNone/>
            </a:pPr>
            <a:r>
              <a:rPr b="1" lang="en-US" sz="1400">
                <a:solidFill>
                  <a:srgbClr val="22264B"/>
                </a:solidFill>
                <a:latin typeface="Calibri"/>
                <a:ea typeface="Calibri"/>
                <a:cs typeface="Calibri"/>
                <a:sym typeface="Calibri"/>
              </a:rPr>
              <a:t>Anyone can broadcast</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1A1C2E"/>
              </a:buClr>
              <a:buSzPts val="1400"/>
              <a:buFont typeface="Calibri"/>
              <a:buNone/>
            </a:pPr>
            <a:r>
              <a:rPr lang="en-US" sz="1400">
                <a:solidFill>
                  <a:srgbClr val="1A1C2E"/>
                </a:solidFill>
                <a:latin typeface="Calibri"/>
                <a:ea typeface="Calibri"/>
                <a:cs typeface="Calibri"/>
                <a:sym typeface="Calibri"/>
              </a:rPr>
              <a:t>A normal person on social media can reach thousands of people.</a:t>
            </a:r>
            <a:endParaRPr sz="1400">
              <a:solidFill>
                <a:schemeClr val="dk1"/>
              </a:solidFill>
              <a:latin typeface="Calibri"/>
              <a:ea typeface="Calibri"/>
              <a:cs typeface="Calibri"/>
              <a:sym typeface="Calibri"/>
            </a:endParaRPr>
          </a:p>
        </p:txBody>
      </p:sp>
      <p:sp>
        <p:nvSpPr>
          <p:cNvPr id="88" name="Google Shape;88;p6"/>
          <p:cNvSpPr/>
          <p:nvPr/>
        </p:nvSpPr>
        <p:spPr>
          <a:xfrm>
            <a:off x="6035040" y="3767328"/>
            <a:ext cx="384048" cy="384048"/>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 name="Google Shape;89;p6"/>
          <p:cNvSpPr txBox="1"/>
          <p:nvPr/>
        </p:nvSpPr>
        <p:spPr>
          <a:xfrm>
            <a:off x="6035040" y="376732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400"/>
              <a:buFont typeface="Calibri"/>
              <a:buNone/>
            </a:pPr>
            <a:r>
              <a:rPr b="1" lang="en-US" sz="1400">
                <a:solidFill>
                  <a:schemeClr val="lt1"/>
                </a:solidFill>
                <a:latin typeface="Calibri"/>
                <a:ea typeface="Calibri"/>
                <a:cs typeface="Calibri"/>
                <a:sym typeface="Calibri"/>
              </a:rPr>
              <a:t>3</a:t>
            </a:r>
            <a:endParaRPr sz="1400">
              <a:solidFill>
                <a:schemeClr val="dk1"/>
              </a:solidFill>
              <a:latin typeface="Calibri"/>
              <a:ea typeface="Calibri"/>
              <a:cs typeface="Calibri"/>
              <a:sym typeface="Calibri"/>
            </a:endParaRPr>
          </a:p>
        </p:txBody>
      </p:sp>
      <p:sp>
        <p:nvSpPr>
          <p:cNvPr id="90" name="Google Shape;90;p6"/>
          <p:cNvSpPr txBox="1"/>
          <p:nvPr/>
        </p:nvSpPr>
        <p:spPr>
          <a:xfrm>
            <a:off x="6629400" y="3694176"/>
            <a:ext cx="498348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2264B"/>
              </a:buClr>
              <a:buSzPts val="1400"/>
              <a:buFont typeface="Calibri"/>
              <a:buNone/>
            </a:pPr>
            <a:r>
              <a:rPr b="1" lang="en-US" sz="1400">
                <a:solidFill>
                  <a:srgbClr val="22264B"/>
                </a:solidFill>
                <a:latin typeface="Calibri"/>
                <a:ea typeface="Calibri"/>
                <a:cs typeface="Calibri"/>
                <a:sym typeface="Calibri"/>
              </a:rPr>
              <a:t>Information overload</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1A1C2E"/>
              </a:buClr>
              <a:buSzPts val="1400"/>
              <a:buFont typeface="Calibri"/>
              <a:buNone/>
            </a:pPr>
            <a:r>
              <a:rPr lang="en-US" sz="1400">
                <a:solidFill>
                  <a:srgbClr val="1A1C2E"/>
                </a:solidFill>
                <a:latin typeface="Calibri"/>
                <a:ea typeface="Calibri"/>
                <a:cs typeface="Calibri"/>
                <a:sym typeface="Calibri"/>
              </a:rPr>
              <a:t>Too many sources, so each message gets less attention.</a:t>
            </a:r>
            <a:endParaRPr sz="1400">
              <a:solidFill>
                <a:schemeClr val="dk1"/>
              </a:solidFill>
              <a:latin typeface="Calibri"/>
              <a:ea typeface="Calibri"/>
              <a:cs typeface="Calibri"/>
              <a:sym typeface="Calibri"/>
            </a:endParaRPr>
          </a:p>
        </p:txBody>
      </p:sp>
      <p:sp>
        <p:nvSpPr>
          <p:cNvPr id="91" name="Google Shape;91;p6"/>
          <p:cNvSpPr/>
          <p:nvPr/>
        </p:nvSpPr>
        <p:spPr>
          <a:xfrm>
            <a:off x="6035040" y="4608576"/>
            <a:ext cx="384048" cy="384048"/>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 name="Google Shape;92;p6"/>
          <p:cNvSpPr txBox="1"/>
          <p:nvPr/>
        </p:nvSpPr>
        <p:spPr>
          <a:xfrm>
            <a:off x="6035040" y="4608576"/>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400"/>
              <a:buFont typeface="Calibri"/>
              <a:buNone/>
            </a:pPr>
            <a:r>
              <a:rPr b="1" lang="en-US" sz="1400">
                <a:solidFill>
                  <a:schemeClr val="lt1"/>
                </a:solidFill>
                <a:latin typeface="Calibri"/>
                <a:ea typeface="Calibri"/>
                <a:cs typeface="Calibri"/>
                <a:sym typeface="Calibri"/>
              </a:rPr>
              <a:t>4</a:t>
            </a:r>
            <a:endParaRPr sz="1400">
              <a:solidFill>
                <a:schemeClr val="dk1"/>
              </a:solidFill>
              <a:latin typeface="Calibri"/>
              <a:ea typeface="Calibri"/>
              <a:cs typeface="Calibri"/>
              <a:sym typeface="Calibri"/>
            </a:endParaRPr>
          </a:p>
        </p:txBody>
      </p:sp>
      <p:sp>
        <p:nvSpPr>
          <p:cNvPr id="93" name="Google Shape;93;p6"/>
          <p:cNvSpPr txBox="1"/>
          <p:nvPr/>
        </p:nvSpPr>
        <p:spPr>
          <a:xfrm>
            <a:off x="6629400" y="4535424"/>
            <a:ext cx="498348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2264B"/>
              </a:buClr>
              <a:buSzPts val="1400"/>
              <a:buFont typeface="Calibri"/>
              <a:buNone/>
            </a:pPr>
            <a:r>
              <a:rPr b="1" lang="en-US" sz="1400">
                <a:solidFill>
                  <a:srgbClr val="22264B"/>
                </a:solidFill>
                <a:latin typeface="Calibri"/>
                <a:ea typeface="Calibri"/>
                <a:cs typeface="Calibri"/>
                <a:sym typeface="Calibri"/>
              </a:rPr>
              <a:t>Fragmented</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1A1C2E"/>
              </a:buClr>
              <a:buSzPts val="1400"/>
              <a:buFont typeface="Calibri"/>
              <a:buNone/>
            </a:pPr>
            <a:r>
              <a:rPr lang="en-US" sz="1400">
                <a:solidFill>
                  <a:srgbClr val="1A1C2E"/>
                </a:solidFill>
                <a:latin typeface="Calibri"/>
                <a:ea typeface="Calibri"/>
                <a:cs typeface="Calibri"/>
                <a:sym typeface="Calibri"/>
              </a:rPr>
              <a:t>Communication comes in short bursts, like reels.</a:t>
            </a:r>
            <a:endParaRPr sz="1400">
              <a:solidFill>
                <a:schemeClr val="dk1"/>
              </a:solidFill>
              <a:latin typeface="Calibri"/>
              <a:ea typeface="Calibri"/>
              <a:cs typeface="Calibri"/>
              <a:sym typeface="Calibri"/>
            </a:endParaRPr>
          </a:p>
        </p:txBody>
      </p:sp>
      <p:sp>
        <p:nvSpPr>
          <p:cNvPr id="94" name="Google Shape;94;p6"/>
          <p:cNvSpPr/>
          <p:nvPr/>
        </p:nvSpPr>
        <p:spPr>
          <a:xfrm>
            <a:off x="6035040" y="5449824"/>
            <a:ext cx="384048" cy="384048"/>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 name="Google Shape;95;p6"/>
          <p:cNvSpPr txBox="1"/>
          <p:nvPr/>
        </p:nvSpPr>
        <p:spPr>
          <a:xfrm>
            <a:off x="6035040" y="5449824"/>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400"/>
              <a:buFont typeface="Calibri"/>
              <a:buNone/>
            </a:pPr>
            <a:r>
              <a:rPr b="1" lang="en-US" sz="1400">
                <a:solidFill>
                  <a:schemeClr val="lt1"/>
                </a:solidFill>
                <a:latin typeface="Calibri"/>
                <a:ea typeface="Calibri"/>
                <a:cs typeface="Calibri"/>
                <a:sym typeface="Calibri"/>
              </a:rPr>
              <a:t>5</a:t>
            </a:r>
            <a:endParaRPr sz="1400">
              <a:solidFill>
                <a:schemeClr val="dk1"/>
              </a:solidFill>
              <a:latin typeface="Calibri"/>
              <a:ea typeface="Calibri"/>
              <a:cs typeface="Calibri"/>
              <a:sym typeface="Calibri"/>
            </a:endParaRPr>
          </a:p>
        </p:txBody>
      </p:sp>
      <p:sp>
        <p:nvSpPr>
          <p:cNvPr id="96" name="Google Shape;96;p6"/>
          <p:cNvSpPr txBox="1"/>
          <p:nvPr/>
        </p:nvSpPr>
        <p:spPr>
          <a:xfrm>
            <a:off x="6629400" y="5376672"/>
            <a:ext cx="498348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2264B"/>
              </a:buClr>
              <a:buSzPts val="1400"/>
              <a:buFont typeface="Calibri"/>
              <a:buNone/>
            </a:pPr>
            <a:r>
              <a:rPr b="1" lang="en-US" sz="1400">
                <a:solidFill>
                  <a:srgbClr val="22264B"/>
                </a:solidFill>
                <a:latin typeface="Calibri"/>
                <a:ea typeface="Calibri"/>
                <a:cs typeface="Calibri"/>
                <a:sym typeface="Calibri"/>
              </a:rPr>
              <a:t>More formats</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1A1C2E"/>
              </a:buClr>
              <a:buSzPts val="1400"/>
              <a:buFont typeface="Calibri"/>
              <a:buNone/>
            </a:pPr>
            <a:r>
              <a:rPr lang="en-US" sz="1400">
                <a:solidFill>
                  <a:srgbClr val="1A1C2E"/>
                </a:solidFill>
                <a:latin typeface="Calibri"/>
                <a:ea typeface="Calibri"/>
                <a:cs typeface="Calibri"/>
                <a:sym typeface="Calibri"/>
              </a:rPr>
              <a:t>Calls, texts, photos and videos all arrive at once.</a:t>
            </a:r>
            <a:endParaRPr sz="1400">
              <a:solidFill>
                <a:schemeClr val="dk1"/>
              </a:solidFill>
              <a:latin typeface="Calibri"/>
              <a:ea typeface="Calibri"/>
              <a:cs typeface="Calibri"/>
              <a:sym typeface="Calibri"/>
            </a:endParaRPr>
          </a:p>
        </p:txBody>
      </p:sp>
      <p:sp>
        <p:nvSpPr>
          <p:cNvPr id="97" name="Google Shape;97;p6"/>
          <p:cNvSpPr txBox="1"/>
          <p:nvPr>
            <p:ph idx="4294967295" type="sldNum"/>
          </p:nvPr>
        </p:nvSpPr>
        <p:spPr>
          <a:xfrm>
            <a:off x="11155680" y="6400800"/>
            <a:ext cx="48463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000">
                <a:solidFill>
                  <a:schemeClr val="accent5"/>
                </a:solidFill>
                <a:latin typeface="Calibri"/>
                <a:ea typeface="Calibri"/>
                <a:cs typeface="Calibri"/>
                <a:sym typeface="Calibri"/>
              </a:rPr>
              <a:t>‹#›</a:t>
            </a:fld>
            <a:endParaRPr sz="1000">
              <a:solidFill>
                <a:schemeClr val="accent5"/>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7"/>
          <p:cNvSpPr txBox="1"/>
          <p:nvPr>
            <p:ph type="title"/>
          </p:nvPr>
        </p:nvSpPr>
        <p:spPr>
          <a:xfrm>
            <a:off x="548640" y="365760"/>
            <a:ext cx="11091672" cy="8229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000"/>
              <a:buFont typeface="Arial"/>
              <a:buNone/>
            </a:pPr>
            <a:r>
              <a:rPr b="1" lang="en-US" sz="3000">
                <a:solidFill>
                  <a:schemeClr val="dk2"/>
                </a:solidFill>
                <a:latin typeface="Arial"/>
                <a:ea typeface="Arial"/>
                <a:cs typeface="Arial"/>
                <a:sym typeface="Arial"/>
              </a:rPr>
              <a:t>By the numbers: more senders, less attention per message</a:t>
            </a:r>
            <a:endParaRPr sz="3000"/>
          </a:p>
        </p:txBody>
      </p:sp>
      <p:sp>
        <p:nvSpPr>
          <p:cNvPr id="104" name="Google Shape;104;p7"/>
          <p:cNvSpPr/>
          <p:nvPr/>
        </p:nvSpPr>
        <p:spPr>
          <a:xfrm>
            <a:off x="548640" y="1463040"/>
            <a:ext cx="2587752" cy="4023360"/>
          </a:xfrm>
          <a:prstGeom prst="roundRect">
            <a:avLst>
              <a:gd fmla="val 4240" name="adj"/>
            </a:avLst>
          </a:prstGeom>
          <a:solidFill>
            <a:schemeClr val="dk2"/>
          </a:solidFill>
          <a:ln cap="flat" cmpd="sng" w="12700">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5" name="Google Shape;105;p7"/>
          <p:cNvSpPr txBox="1"/>
          <p:nvPr/>
        </p:nvSpPr>
        <p:spPr>
          <a:xfrm>
            <a:off x="822960" y="1783080"/>
            <a:ext cx="2039112"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4400"/>
              <a:buFont typeface="Arial"/>
              <a:buNone/>
            </a:pPr>
            <a:r>
              <a:rPr b="1" lang="en-US" sz="4400">
                <a:solidFill>
                  <a:schemeClr val="accent1"/>
                </a:solidFill>
                <a:latin typeface="Arial"/>
                <a:ea typeface="Arial"/>
                <a:cs typeface="Arial"/>
                <a:sym typeface="Arial"/>
              </a:rPr>
              <a:t>5.24B</a:t>
            </a:r>
            <a:endParaRPr sz="4400">
              <a:solidFill>
                <a:schemeClr val="dk1"/>
              </a:solidFill>
              <a:latin typeface="Calibri"/>
              <a:ea typeface="Calibri"/>
              <a:cs typeface="Calibri"/>
              <a:sym typeface="Calibri"/>
            </a:endParaRPr>
          </a:p>
        </p:txBody>
      </p:sp>
      <p:sp>
        <p:nvSpPr>
          <p:cNvPr id="106" name="Google Shape;106;p7"/>
          <p:cNvSpPr txBox="1"/>
          <p:nvPr/>
        </p:nvSpPr>
        <p:spPr>
          <a:xfrm>
            <a:off x="822960" y="2834640"/>
            <a:ext cx="2039112" cy="1737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500"/>
              <a:buFont typeface="Calibri"/>
              <a:buNone/>
            </a:pPr>
            <a:r>
              <a:rPr lang="en-US" sz="1500">
                <a:solidFill>
                  <a:schemeClr val="lt1"/>
                </a:solidFill>
                <a:latin typeface="Calibri"/>
                <a:ea typeface="Calibri"/>
                <a:cs typeface="Calibri"/>
                <a:sym typeface="Calibri"/>
              </a:rPr>
              <a:t>social media user identities worldwide, 64% of everyone on Earth, up 206 million in one year</a:t>
            </a:r>
            <a:endParaRPr sz="1500">
              <a:solidFill>
                <a:schemeClr val="dk1"/>
              </a:solidFill>
              <a:latin typeface="Calibri"/>
              <a:ea typeface="Calibri"/>
              <a:cs typeface="Calibri"/>
              <a:sym typeface="Calibri"/>
            </a:endParaRPr>
          </a:p>
        </p:txBody>
      </p:sp>
      <p:sp>
        <p:nvSpPr>
          <p:cNvPr id="107" name="Google Shape;107;p7"/>
          <p:cNvSpPr txBox="1"/>
          <p:nvPr/>
        </p:nvSpPr>
        <p:spPr>
          <a:xfrm>
            <a:off x="822960" y="4663440"/>
            <a:ext cx="2039112" cy="59436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chemeClr val="accent6"/>
              </a:buClr>
              <a:buSzPts val="1000"/>
              <a:buFont typeface="Calibri"/>
              <a:buNone/>
            </a:pPr>
            <a:r>
              <a:rPr i="1" lang="en-US" sz="1000">
                <a:solidFill>
                  <a:schemeClr val="accent6"/>
                </a:solidFill>
                <a:latin typeface="Calibri"/>
                <a:ea typeface="Calibri"/>
                <a:cs typeface="Calibri"/>
                <a:sym typeface="Calibri"/>
              </a:rPr>
              <a:t>Kepios / DataReportal, Digital 2025 [1]</a:t>
            </a:r>
            <a:endParaRPr sz="1000">
              <a:solidFill>
                <a:schemeClr val="dk1"/>
              </a:solidFill>
              <a:latin typeface="Calibri"/>
              <a:ea typeface="Calibri"/>
              <a:cs typeface="Calibri"/>
              <a:sym typeface="Calibri"/>
            </a:endParaRPr>
          </a:p>
        </p:txBody>
      </p:sp>
      <p:sp>
        <p:nvSpPr>
          <p:cNvPr id="108" name="Google Shape;108;p7"/>
          <p:cNvSpPr/>
          <p:nvPr/>
        </p:nvSpPr>
        <p:spPr>
          <a:xfrm>
            <a:off x="3383280" y="1463040"/>
            <a:ext cx="2587752" cy="4023360"/>
          </a:xfrm>
          <a:prstGeom prst="roundRect">
            <a:avLst>
              <a:gd fmla="val 4240" name="adj"/>
            </a:avLst>
          </a:prstGeom>
          <a:solidFill>
            <a:schemeClr val="lt2"/>
          </a:solidFill>
          <a:ln cap="flat" cmpd="sng" w="12700">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 name="Google Shape;109;p7"/>
          <p:cNvSpPr txBox="1"/>
          <p:nvPr/>
        </p:nvSpPr>
        <p:spPr>
          <a:xfrm>
            <a:off x="3657600" y="1783080"/>
            <a:ext cx="2039112"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4400"/>
              <a:buFont typeface="Arial"/>
              <a:buNone/>
            </a:pPr>
            <a:r>
              <a:rPr b="1" lang="en-US" sz="4400">
                <a:solidFill>
                  <a:schemeClr val="accent1"/>
                </a:solidFill>
                <a:latin typeface="Arial"/>
                <a:ea typeface="Arial"/>
                <a:cs typeface="Arial"/>
                <a:sym typeface="Arial"/>
              </a:rPr>
              <a:t>54%</a:t>
            </a:r>
            <a:endParaRPr sz="4400">
              <a:solidFill>
                <a:schemeClr val="dk1"/>
              </a:solidFill>
              <a:latin typeface="Calibri"/>
              <a:ea typeface="Calibri"/>
              <a:cs typeface="Calibri"/>
              <a:sym typeface="Calibri"/>
            </a:endParaRPr>
          </a:p>
        </p:txBody>
      </p:sp>
      <p:sp>
        <p:nvSpPr>
          <p:cNvPr id="110" name="Google Shape;110;p7"/>
          <p:cNvSpPr txBox="1"/>
          <p:nvPr/>
        </p:nvSpPr>
        <p:spPr>
          <a:xfrm>
            <a:off x="3657600" y="2834640"/>
            <a:ext cx="2039112" cy="1737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lang="en-US" sz="1500">
                <a:solidFill>
                  <a:schemeClr val="dk1"/>
                </a:solidFill>
                <a:latin typeface="Calibri"/>
                <a:ea typeface="Calibri"/>
                <a:cs typeface="Calibri"/>
                <a:sym typeface="Calibri"/>
              </a:rPr>
              <a:t>of US adults get news from social media and video platforms, now ahead of TV (50%) and news websites (48%)</a:t>
            </a:r>
            <a:endParaRPr sz="1500">
              <a:solidFill>
                <a:schemeClr val="dk1"/>
              </a:solidFill>
              <a:latin typeface="Calibri"/>
              <a:ea typeface="Calibri"/>
              <a:cs typeface="Calibri"/>
              <a:sym typeface="Calibri"/>
            </a:endParaRPr>
          </a:p>
        </p:txBody>
      </p:sp>
      <p:sp>
        <p:nvSpPr>
          <p:cNvPr id="111" name="Google Shape;111;p7"/>
          <p:cNvSpPr txBox="1"/>
          <p:nvPr/>
        </p:nvSpPr>
        <p:spPr>
          <a:xfrm>
            <a:off x="3657600" y="4663440"/>
            <a:ext cx="2039112" cy="59436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chemeClr val="accent2"/>
              </a:buClr>
              <a:buSzPts val="1000"/>
              <a:buFont typeface="Calibri"/>
              <a:buNone/>
            </a:pPr>
            <a:r>
              <a:rPr i="1" lang="en-US" sz="1000">
                <a:solidFill>
                  <a:schemeClr val="accent2"/>
                </a:solidFill>
                <a:latin typeface="Calibri"/>
                <a:ea typeface="Calibri"/>
                <a:cs typeface="Calibri"/>
                <a:sym typeface="Calibri"/>
              </a:rPr>
              <a:t>Reuters Institute, Digital News Report 2025 [2]</a:t>
            </a:r>
            <a:endParaRPr sz="1000">
              <a:solidFill>
                <a:schemeClr val="dk1"/>
              </a:solidFill>
              <a:latin typeface="Calibri"/>
              <a:ea typeface="Calibri"/>
              <a:cs typeface="Calibri"/>
              <a:sym typeface="Calibri"/>
            </a:endParaRPr>
          </a:p>
        </p:txBody>
      </p:sp>
      <p:sp>
        <p:nvSpPr>
          <p:cNvPr id="112" name="Google Shape;112;p7"/>
          <p:cNvSpPr/>
          <p:nvPr/>
        </p:nvSpPr>
        <p:spPr>
          <a:xfrm>
            <a:off x="6217920" y="1463040"/>
            <a:ext cx="2587752" cy="4023360"/>
          </a:xfrm>
          <a:prstGeom prst="roundRect">
            <a:avLst>
              <a:gd fmla="val 4240" name="adj"/>
            </a:avLst>
          </a:prstGeom>
          <a:solidFill>
            <a:schemeClr val="dk2"/>
          </a:solidFill>
          <a:ln cap="flat" cmpd="sng" w="12700">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3" name="Google Shape;113;p7"/>
          <p:cNvSpPr txBox="1"/>
          <p:nvPr/>
        </p:nvSpPr>
        <p:spPr>
          <a:xfrm>
            <a:off x="6492240" y="1783080"/>
            <a:ext cx="2039112"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4400"/>
              <a:buFont typeface="Arial"/>
              <a:buNone/>
            </a:pPr>
            <a:r>
              <a:rPr b="1" lang="en-US" sz="4400">
                <a:solidFill>
                  <a:schemeClr val="accent1"/>
                </a:solidFill>
                <a:latin typeface="Arial"/>
                <a:ea typeface="Arial"/>
                <a:cs typeface="Arial"/>
                <a:sym typeface="Arial"/>
              </a:rPr>
              <a:t>47 sec</a:t>
            </a:r>
            <a:endParaRPr sz="4400">
              <a:solidFill>
                <a:schemeClr val="dk1"/>
              </a:solidFill>
              <a:latin typeface="Calibri"/>
              <a:ea typeface="Calibri"/>
              <a:cs typeface="Calibri"/>
              <a:sym typeface="Calibri"/>
            </a:endParaRPr>
          </a:p>
        </p:txBody>
      </p:sp>
      <p:sp>
        <p:nvSpPr>
          <p:cNvPr id="114" name="Google Shape;114;p7"/>
          <p:cNvSpPr txBox="1"/>
          <p:nvPr/>
        </p:nvSpPr>
        <p:spPr>
          <a:xfrm>
            <a:off x="6492240" y="2834640"/>
            <a:ext cx="2039112" cy="1737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500"/>
              <a:buFont typeface="Calibri"/>
              <a:buNone/>
            </a:pPr>
            <a:r>
              <a:rPr lang="en-US" sz="1500">
                <a:solidFill>
                  <a:schemeClr val="lt1"/>
                </a:solidFill>
                <a:latin typeface="Calibri"/>
                <a:ea typeface="Calibri"/>
                <a:cs typeface="Calibri"/>
                <a:sym typeface="Calibri"/>
              </a:rPr>
              <a:t>average time on one screen before switching (knowledge workers), down from about 150 seconds in 2004</a:t>
            </a:r>
            <a:endParaRPr sz="1500">
              <a:solidFill>
                <a:schemeClr val="dk1"/>
              </a:solidFill>
              <a:latin typeface="Calibri"/>
              <a:ea typeface="Calibri"/>
              <a:cs typeface="Calibri"/>
              <a:sym typeface="Calibri"/>
            </a:endParaRPr>
          </a:p>
        </p:txBody>
      </p:sp>
      <p:sp>
        <p:nvSpPr>
          <p:cNvPr id="115" name="Google Shape;115;p7"/>
          <p:cNvSpPr txBox="1"/>
          <p:nvPr/>
        </p:nvSpPr>
        <p:spPr>
          <a:xfrm>
            <a:off x="6492240" y="4663440"/>
            <a:ext cx="2039112" cy="59436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chemeClr val="accent6"/>
              </a:buClr>
              <a:buSzPts val="1000"/>
              <a:buFont typeface="Calibri"/>
              <a:buNone/>
            </a:pPr>
            <a:r>
              <a:rPr i="1" lang="en-US" sz="1000">
                <a:solidFill>
                  <a:schemeClr val="accent6"/>
                </a:solidFill>
                <a:latin typeface="Calibri"/>
                <a:ea typeface="Calibri"/>
                <a:cs typeface="Calibri"/>
                <a:sym typeface="Calibri"/>
              </a:rPr>
              <a:t>Gloria Mark, UC Irvine, Attention Span [10]</a:t>
            </a:r>
            <a:endParaRPr sz="1000">
              <a:solidFill>
                <a:schemeClr val="dk1"/>
              </a:solidFill>
              <a:latin typeface="Calibri"/>
              <a:ea typeface="Calibri"/>
              <a:cs typeface="Calibri"/>
              <a:sym typeface="Calibri"/>
            </a:endParaRPr>
          </a:p>
        </p:txBody>
      </p:sp>
      <p:sp>
        <p:nvSpPr>
          <p:cNvPr id="116" name="Google Shape;116;p7"/>
          <p:cNvSpPr/>
          <p:nvPr/>
        </p:nvSpPr>
        <p:spPr>
          <a:xfrm>
            <a:off x="9052560" y="1463040"/>
            <a:ext cx="2587752" cy="4023360"/>
          </a:xfrm>
          <a:prstGeom prst="roundRect">
            <a:avLst>
              <a:gd fmla="val 4240" name="adj"/>
            </a:avLst>
          </a:prstGeom>
          <a:solidFill>
            <a:schemeClr val="lt2"/>
          </a:solidFill>
          <a:ln cap="flat" cmpd="sng" w="12700">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 name="Google Shape;117;p7"/>
          <p:cNvSpPr txBox="1"/>
          <p:nvPr/>
        </p:nvSpPr>
        <p:spPr>
          <a:xfrm>
            <a:off x="9326880" y="1783080"/>
            <a:ext cx="2039112"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4400"/>
              <a:buFont typeface="Arial"/>
              <a:buNone/>
            </a:pPr>
            <a:r>
              <a:rPr b="1" lang="en-US" sz="4400">
                <a:solidFill>
                  <a:schemeClr val="accent1"/>
                </a:solidFill>
                <a:latin typeface="Arial"/>
                <a:ea typeface="Arial"/>
                <a:cs typeface="Arial"/>
                <a:sym typeface="Arial"/>
              </a:rPr>
              <a:t>275</a:t>
            </a:r>
            <a:endParaRPr sz="4400">
              <a:solidFill>
                <a:schemeClr val="dk1"/>
              </a:solidFill>
              <a:latin typeface="Calibri"/>
              <a:ea typeface="Calibri"/>
              <a:cs typeface="Calibri"/>
              <a:sym typeface="Calibri"/>
            </a:endParaRPr>
          </a:p>
        </p:txBody>
      </p:sp>
      <p:sp>
        <p:nvSpPr>
          <p:cNvPr id="118" name="Google Shape;118;p7"/>
          <p:cNvSpPr txBox="1"/>
          <p:nvPr/>
        </p:nvSpPr>
        <p:spPr>
          <a:xfrm>
            <a:off x="9326880" y="2834640"/>
            <a:ext cx="2039112" cy="1737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lang="en-US" sz="1500">
                <a:solidFill>
                  <a:schemeClr val="dk1"/>
                </a:solidFill>
                <a:latin typeface="Calibri"/>
                <a:ea typeface="Calibri"/>
                <a:cs typeface="Calibri"/>
                <a:sym typeface="Calibri"/>
              </a:rPr>
              <a:t>workplace interruptions a day for the average knowledge worker, about one every 2 minutes</a:t>
            </a:r>
            <a:endParaRPr sz="1500">
              <a:solidFill>
                <a:schemeClr val="dk1"/>
              </a:solidFill>
              <a:latin typeface="Calibri"/>
              <a:ea typeface="Calibri"/>
              <a:cs typeface="Calibri"/>
              <a:sym typeface="Calibri"/>
            </a:endParaRPr>
          </a:p>
        </p:txBody>
      </p:sp>
      <p:sp>
        <p:nvSpPr>
          <p:cNvPr id="119" name="Google Shape;119;p7"/>
          <p:cNvSpPr txBox="1"/>
          <p:nvPr/>
        </p:nvSpPr>
        <p:spPr>
          <a:xfrm>
            <a:off x="9326880" y="4663440"/>
            <a:ext cx="2039112" cy="59436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chemeClr val="accent2"/>
              </a:buClr>
              <a:buSzPts val="1000"/>
              <a:buFont typeface="Calibri"/>
              <a:buNone/>
            </a:pPr>
            <a:r>
              <a:rPr i="1" lang="en-US" sz="1000">
                <a:solidFill>
                  <a:schemeClr val="accent2"/>
                </a:solidFill>
                <a:latin typeface="Calibri"/>
                <a:ea typeface="Calibri"/>
                <a:cs typeface="Calibri"/>
                <a:sym typeface="Calibri"/>
              </a:rPr>
              <a:t>Microsoft Work Trend Index 2025 [11]</a:t>
            </a:r>
            <a:endParaRPr sz="1000">
              <a:solidFill>
                <a:schemeClr val="dk1"/>
              </a:solidFill>
              <a:latin typeface="Calibri"/>
              <a:ea typeface="Calibri"/>
              <a:cs typeface="Calibri"/>
              <a:sym typeface="Calibri"/>
            </a:endParaRPr>
          </a:p>
        </p:txBody>
      </p:sp>
      <p:sp>
        <p:nvSpPr>
          <p:cNvPr id="120" name="Google Shape;120;p7"/>
          <p:cNvSpPr txBox="1"/>
          <p:nvPr/>
        </p:nvSpPr>
        <p:spPr>
          <a:xfrm>
            <a:off x="548640" y="5669280"/>
            <a:ext cx="11091672"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5A36"/>
              </a:buClr>
              <a:buSzPts val="1500"/>
              <a:buFont typeface="Calibri"/>
              <a:buNone/>
            </a:pPr>
            <a:r>
              <a:rPr b="1" lang="en-US" sz="1500">
                <a:solidFill>
                  <a:srgbClr val="FF5A36"/>
                </a:solidFill>
                <a:latin typeface="Calibri"/>
                <a:ea typeface="Calibri"/>
                <a:cs typeface="Calibri"/>
                <a:sym typeface="Calibri"/>
              </a:rPr>
              <a:t>So what: </a:t>
            </a:r>
            <a:r>
              <a:rPr lang="en-US" sz="1500">
                <a:solidFill>
                  <a:srgbClr val="22264B"/>
                </a:solidFill>
                <a:latin typeface="Calibri"/>
                <a:ea typeface="Calibri"/>
                <a:cs typeface="Calibri"/>
                <a:sym typeface="Calibri"/>
              </a:rPr>
              <a:t>more voices reach each person, while the attention each one gets keeps falling. No one can filter it all, so the filtering is handed to algorithms.</a:t>
            </a:r>
            <a:endParaRPr sz="1500">
              <a:solidFill>
                <a:schemeClr val="dk1"/>
              </a:solidFill>
              <a:latin typeface="Calibri"/>
              <a:ea typeface="Calibri"/>
              <a:cs typeface="Calibri"/>
              <a:sym typeface="Calibri"/>
            </a:endParaRPr>
          </a:p>
        </p:txBody>
      </p:sp>
      <p:sp>
        <p:nvSpPr>
          <p:cNvPr id="121" name="Google Shape;121;p7"/>
          <p:cNvSpPr txBox="1"/>
          <p:nvPr>
            <p:ph idx="4294967295" type="sldNum"/>
          </p:nvPr>
        </p:nvSpPr>
        <p:spPr>
          <a:xfrm>
            <a:off x="11155680" y="6400800"/>
            <a:ext cx="48463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000">
                <a:solidFill>
                  <a:schemeClr val="accent5"/>
                </a:solidFill>
                <a:latin typeface="Calibri"/>
                <a:ea typeface="Calibri"/>
                <a:cs typeface="Calibri"/>
                <a:sym typeface="Calibri"/>
              </a:rPr>
              <a:t>‹#›</a:t>
            </a:fld>
            <a:endParaRPr sz="1000">
              <a:solidFill>
                <a:schemeClr val="accent5"/>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8"/>
          <p:cNvSpPr txBox="1"/>
          <p:nvPr>
            <p:ph type="title"/>
          </p:nvPr>
        </p:nvSpPr>
        <p:spPr>
          <a:xfrm>
            <a:off x="548640" y="365760"/>
            <a:ext cx="11091672" cy="8229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000"/>
              <a:buFont typeface="Arial"/>
              <a:buNone/>
            </a:pPr>
            <a:r>
              <a:rPr b="1" lang="en-US" sz="3000">
                <a:solidFill>
                  <a:schemeClr val="dk2"/>
                </a:solidFill>
                <a:latin typeface="Arial"/>
                <a:ea typeface="Arial"/>
                <a:cs typeface="Arial"/>
                <a:sym typeface="Arial"/>
              </a:rPr>
              <a:t>PEST analysis: political and economic forces</a:t>
            </a:r>
            <a:endParaRPr sz="3000"/>
          </a:p>
        </p:txBody>
      </p:sp>
      <p:sp>
        <p:nvSpPr>
          <p:cNvPr id="128" name="Google Shape;128;p8"/>
          <p:cNvSpPr/>
          <p:nvPr/>
        </p:nvSpPr>
        <p:spPr>
          <a:xfrm>
            <a:off x="548640" y="1371600"/>
            <a:ext cx="5440680" cy="4846320"/>
          </a:xfrm>
          <a:prstGeom prst="roundRect">
            <a:avLst>
              <a:gd fmla="val 2264" name="adj"/>
            </a:avLst>
          </a:prstGeom>
          <a:solidFill>
            <a:schemeClr val="lt2"/>
          </a:solidFill>
          <a:ln cap="flat" cmpd="sng" w="12700">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9" name="Google Shape;129;p8"/>
          <p:cNvSpPr/>
          <p:nvPr/>
        </p:nvSpPr>
        <p:spPr>
          <a:xfrm>
            <a:off x="822960" y="1600200"/>
            <a:ext cx="502920" cy="502920"/>
          </a:xfrm>
          <a:prstGeom prst="ellipse">
            <a:avLst/>
          </a:prstGeom>
          <a:solidFill>
            <a:schemeClr val="dk2"/>
          </a:solidFill>
          <a:ln cap="flat" cmpd="sng" w="12700">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0" name="Google Shape;130;p8"/>
          <p:cNvSpPr txBox="1"/>
          <p:nvPr/>
        </p:nvSpPr>
        <p:spPr>
          <a:xfrm>
            <a:off x="822960" y="160020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800"/>
              <a:buFont typeface="Calibri"/>
              <a:buNone/>
            </a:pPr>
            <a:r>
              <a:rPr b="1" lang="en-US" sz="1800">
                <a:solidFill>
                  <a:schemeClr val="lt1"/>
                </a:solidFill>
                <a:latin typeface="Calibri"/>
                <a:ea typeface="Calibri"/>
                <a:cs typeface="Calibri"/>
                <a:sym typeface="Calibri"/>
              </a:rPr>
              <a:t>P</a:t>
            </a:r>
            <a:endParaRPr sz="1800">
              <a:solidFill>
                <a:schemeClr val="dk1"/>
              </a:solidFill>
              <a:latin typeface="Calibri"/>
              <a:ea typeface="Calibri"/>
              <a:cs typeface="Calibri"/>
              <a:sym typeface="Calibri"/>
            </a:endParaRPr>
          </a:p>
        </p:txBody>
      </p:sp>
      <p:sp>
        <p:nvSpPr>
          <p:cNvPr id="131" name="Google Shape;131;p8"/>
          <p:cNvSpPr txBox="1"/>
          <p:nvPr/>
        </p:nvSpPr>
        <p:spPr>
          <a:xfrm>
            <a:off x="1463040" y="1600200"/>
            <a:ext cx="2743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2000"/>
              <a:buFont typeface="Calibri"/>
              <a:buNone/>
            </a:pPr>
            <a:r>
              <a:rPr b="1" lang="en-US" sz="2000">
                <a:solidFill>
                  <a:schemeClr val="dk2"/>
                </a:solidFill>
                <a:latin typeface="Calibri"/>
                <a:ea typeface="Calibri"/>
                <a:cs typeface="Calibri"/>
                <a:sym typeface="Calibri"/>
              </a:rPr>
              <a:t>Political</a:t>
            </a:r>
            <a:endParaRPr sz="2000">
              <a:solidFill>
                <a:schemeClr val="dk1"/>
              </a:solidFill>
              <a:latin typeface="Calibri"/>
              <a:ea typeface="Calibri"/>
              <a:cs typeface="Calibri"/>
              <a:sym typeface="Calibri"/>
            </a:endParaRPr>
          </a:p>
        </p:txBody>
      </p:sp>
      <p:sp>
        <p:nvSpPr>
          <p:cNvPr id="132" name="Google Shape;132;p8"/>
          <p:cNvSpPr txBox="1"/>
          <p:nvPr/>
        </p:nvSpPr>
        <p:spPr>
          <a:xfrm>
            <a:off x="822960" y="2267712"/>
            <a:ext cx="48920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1100"/>
              <a:buFont typeface="Calibri"/>
              <a:buNone/>
            </a:pPr>
            <a:r>
              <a:rPr b="1" lang="en-US" spc="200" sz="1100">
                <a:solidFill>
                  <a:schemeClr val="accent2"/>
                </a:solidFill>
                <a:latin typeface="Calibri"/>
                <a:ea typeface="Calibri"/>
                <a:cs typeface="Calibri"/>
                <a:sym typeface="Calibri"/>
              </a:rPr>
              <a:t>WHAT IS CHANGING</a:t>
            </a:r>
            <a:endParaRPr sz="1100">
              <a:solidFill>
                <a:schemeClr val="dk1"/>
              </a:solidFill>
              <a:latin typeface="Calibri"/>
              <a:ea typeface="Calibri"/>
              <a:cs typeface="Calibri"/>
              <a:sym typeface="Calibri"/>
            </a:endParaRPr>
          </a:p>
        </p:txBody>
      </p:sp>
      <p:sp>
        <p:nvSpPr>
          <p:cNvPr id="133" name="Google Shape;133;p8"/>
          <p:cNvSpPr txBox="1"/>
          <p:nvPr/>
        </p:nvSpPr>
        <p:spPr>
          <a:xfrm>
            <a:off x="822960" y="2514600"/>
            <a:ext cx="489204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lang="en-US" sz="1400">
                <a:solidFill>
                  <a:schemeClr val="dk1"/>
                </a:solidFill>
                <a:latin typeface="Calibri"/>
                <a:ea typeface="Calibri"/>
                <a:cs typeface="Calibri"/>
                <a:sym typeface="Calibri"/>
              </a:rPr>
              <a:t>Trust in media was falling before social media. Fragmentation removed the shared agenda that slowed it, so people side with whatever they see most.</a:t>
            </a:r>
            <a:endParaRPr sz="1400">
              <a:solidFill>
                <a:schemeClr val="dk1"/>
              </a:solidFill>
              <a:latin typeface="Calibri"/>
              <a:ea typeface="Calibri"/>
              <a:cs typeface="Calibri"/>
              <a:sym typeface="Calibri"/>
            </a:endParaRPr>
          </a:p>
        </p:txBody>
      </p:sp>
      <p:sp>
        <p:nvSpPr>
          <p:cNvPr id="134" name="Google Shape;134;p8"/>
          <p:cNvSpPr txBox="1"/>
          <p:nvPr/>
        </p:nvSpPr>
        <p:spPr>
          <a:xfrm>
            <a:off x="822960" y="3310128"/>
            <a:ext cx="48920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1100"/>
              <a:buFont typeface="Calibri"/>
              <a:buNone/>
            </a:pPr>
            <a:r>
              <a:rPr b="1" lang="en-US" spc="200" sz="1100">
                <a:solidFill>
                  <a:schemeClr val="accent2"/>
                </a:solidFill>
                <a:latin typeface="Calibri"/>
                <a:ea typeface="Calibri"/>
                <a:cs typeface="Calibri"/>
                <a:sym typeface="Calibri"/>
              </a:rPr>
              <a:t>DATA</a:t>
            </a:r>
            <a:endParaRPr sz="1100">
              <a:solidFill>
                <a:schemeClr val="dk1"/>
              </a:solidFill>
              <a:latin typeface="Calibri"/>
              <a:ea typeface="Calibri"/>
              <a:cs typeface="Calibri"/>
              <a:sym typeface="Calibri"/>
            </a:endParaRPr>
          </a:p>
        </p:txBody>
      </p:sp>
      <p:sp>
        <p:nvSpPr>
          <p:cNvPr id="135" name="Google Shape;135;p8"/>
          <p:cNvSpPr txBox="1"/>
          <p:nvPr/>
        </p:nvSpPr>
        <p:spPr>
          <a:xfrm>
            <a:off x="822960" y="3584448"/>
            <a:ext cx="10515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200"/>
              <a:buFont typeface="Arial"/>
              <a:buNone/>
            </a:pPr>
            <a:r>
              <a:rPr b="1" lang="en-US" sz="2200">
                <a:solidFill>
                  <a:schemeClr val="accent1"/>
                </a:solidFill>
                <a:latin typeface="Arial"/>
                <a:ea typeface="Arial"/>
                <a:cs typeface="Arial"/>
                <a:sym typeface="Arial"/>
              </a:rPr>
              <a:t>28%</a:t>
            </a:r>
            <a:endParaRPr sz="2200">
              <a:solidFill>
                <a:schemeClr val="dk1"/>
              </a:solidFill>
              <a:latin typeface="Calibri"/>
              <a:ea typeface="Calibri"/>
              <a:cs typeface="Calibri"/>
              <a:sym typeface="Calibri"/>
            </a:endParaRPr>
          </a:p>
        </p:txBody>
      </p:sp>
      <p:sp>
        <p:nvSpPr>
          <p:cNvPr id="136" name="Google Shape;136;p8"/>
          <p:cNvSpPr txBox="1"/>
          <p:nvPr/>
        </p:nvSpPr>
        <p:spPr>
          <a:xfrm>
            <a:off x="1920240" y="3584448"/>
            <a:ext cx="37947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C2E"/>
              </a:buClr>
              <a:buSzPts val="1200"/>
              <a:buFont typeface="Calibri"/>
              <a:buNone/>
            </a:pPr>
            <a:r>
              <a:rPr lang="en-US" sz="1200">
                <a:solidFill>
                  <a:srgbClr val="1A1C2E"/>
                </a:solidFill>
                <a:latin typeface="Calibri"/>
                <a:ea typeface="Calibri"/>
                <a:cs typeface="Calibri"/>
                <a:sym typeface="Calibri"/>
              </a:rPr>
              <a:t>of Americans trust the mass media, a record low, down from 68% in 1972 </a:t>
            </a:r>
            <a:r>
              <a:rPr i="1" lang="en-US" sz="1000">
                <a:solidFill>
                  <a:srgbClr val="6C74A8"/>
                </a:solidFill>
                <a:latin typeface="Calibri"/>
                <a:ea typeface="Calibri"/>
                <a:cs typeface="Calibri"/>
                <a:sym typeface="Calibri"/>
              </a:rPr>
              <a:t>Gallup 2025 [3]</a:t>
            </a:r>
            <a:endParaRPr sz="1200">
              <a:solidFill>
                <a:schemeClr val="dk1"/>
              </a:solidFill>
              <a:latin typeface="Calibri"/>
              <a:ea typeface="Calibri"/>
              <a:cs typeface="Calibri"/>
              <a:sym typeface="Calibri"/>
            </a:endParaRPr>
          </a:p>
        </p:txBody>
      </p:sp>
      <p:sp>
        <p:nvSpPr>
          <p:cNvPr id="137" name="Google Shape;137;p8"/>
          <p:cNvSpPr txBox="1"/>
          <p:nvPr/>
        </p:nvSpPr>
        <p:spPr>
          <a:xfrm>
            <a:off x="822960" y="4206240"/>
            <a:ext cx="10515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200"/>
              <a:buFont typeface="Arial"/>
              <a:buNone/>
            </a:pPr>
            <a:r>
              <a:rPr b="1" lang="en-US" sz="2200">
                <a:solidFill>
                  <a:schemeClr val="accent1"/>
                </a:solidFill>
                <a:latin typeface="Arial"/>
                <a:ea typeface="Arial"/>
                <a:cs typeface="Arial"/>
                <a:sym typeface="Arial"/>
              </a:rPr>
              <a:t>65%</a:t>
            </a:r>
            <a:endParaRPr sz="2200">
              <a:solidFill>
                <a:schemeClr val="dk1"/>
              </a:solidFill>
              <a:latin typeface="Calibri"/>
              <a:ea typeface="Calibri"/>
              <a:cs typeface="Calibri"/>
              <a:sym typeface="Calibri"/>
            </a:endParaRPr>
          </a:p>
        </p:txBody>
      </p:sp>
      <p:sp>
        <p:nvSpPr>
          <p:cNvPr id="138" name="Google Shape;138;p8"/>
          <p:cNvSpPr txBox="1"/>
          <p:nvPr/>
        </p:nvSpPr>
        <p:spPr>
          <a:xfrm>
            <a:off x="1920240" y="4206240"/>
            <a:ext cx="37947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C2E"/>
              </a:buClr>
              <a:buSzPts val="1200"/>
              <a:buFont typeface="Calibri"/>
              <a:buNone/>
            </a:pPr>
            <a:r>
              <a:rPr lang="en-US" sz="1200">
                <a:solidFill>
                  <a:srgbClr val="1A1C2E"/>
                </a:solidFill>
                <a:latin typeface="Calibri"/>
                <a:ea typeface="Calibri"/>
                <a:cs typeface="Calibri"/>
                <a:sym typeface="Calibri"/>
              </a:rPr>
              <a:t>of US adults feel they need to cut back on political news because of overload and fatigue </a:t>
            </a:r>
            <a:r>
              <a:rPr i="1" lang="en-US" sz="1000">
                <a:solidFill>
                  <a:srgbClr val="6C74A8"/>
                </a:solidFill>
                <a:latin typeface="Calibri"/>
                <a:ea typeface="Calibri"/>
                <a:cs typeface="Calibri"/>
                <a:sym typeface="Calibri"/>
              </a:rPr>
              <a:t>AP-NORC, Dec 2024 [7]</a:t>
            </a:r>
            <a:endParaRPr sz="1200">
              <a:solidFill>
                <a:schemeClr val="dk1"/>
              </a:solidFill>
              <a:latin typeface="Calibri"/>
              <a:ea typeface="Calibri"/>
              <a:cs typeface="Calibri"/>
              <a:sym typeface="Calibri"/>
            </a:endParaRPr>
          </a:p>
        </p:txBody>
      </p:sp>
      <p:sp>
        <p:nvSpPr>
          <p:cNvPr id="139" name="Google Shape;139;p8"/>
          <p:cNvSpPr txBox="1"/>
          <p:nvPr/>
        </p:nvSpPr>
        <p:spPr>
          <a:xfrm>
            <a:off x="822960" y="4828032"/>
            <a:ext cx="10515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200"/>
              <a:buFont typeface="Arial"/>
              <a:buNone/>
            </a:pPr>
            <a:r>
              <a:rPr b="1" lang="en-US" sz="2200">
                <a:solidFill>
                  <a:schemeClr val="accent1"/>
                </a:solidFill>
                <a:latin typeface="Arial"/>
                <a:ea typeface="Arial"/>
                <a:cs typeface="Arial"/>
                <a:sym typeface="Arial"/>
              </a:rPr>
              <a:t>&lt;50%</a:t>
            </a:r>
            <a:endParaRPr sz="2200">
              <a:solidFill>
                <a:schemeClr val="dk1"/>
              </a:solidFill>
              <a:latin typeface="Calibri"/>
              <a:ea typeface="Calibri"/>
              <a:cs typeface="Calibri"/>
              <a:sym typeface="Calibri"/>
            </a:endParaRPr>
          </a:p>
        </p:txBody>
      </p:sp>
      <p:sp>
        <p:nvSpPr>
          <p:cNvPr id="140" name="Google Shape;140;p8"/>
          <p:cNvSpPr txBox="1"/>
          <p:nvPr/>
        </p:nvSpPr>
        <p:spPr>
          <a:xfrm>
            <a:off x="1920240" y="4828032"/>
            <a:ext cx="37947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C2E"/>
              </a:buClr>
              <a:buSzPts val="1200"/>
              <a:buFont typeface="Calibri"/>
              <a:buNone/>
            </a:pPr>
            <a:r>
              <a:rPr lang="en-US" sz="1200">
                <a:solidFill>
                  <a:srgbClr val="1A1C2E"/>
                </a:solidFill>
                <a:latin typeface="Calibri"/>
                <a:ea typeface="Calibri"/>
                <a:cs typeface="Calibri"/>
                <a:sym typeface="Calibri"/>
              </a:rPr>
              <a:t>share of 2024 political ad spending on broadcast TV, a first; streaming and digital took $3.9B </a:t>
            </a:r>
            <a:r>
              <a:rPr i="1" lang="en-US" sz="1000">
                <a:solidFill>
                  <a:srgbClr val="6C74A8"/>
                </a:solidFill>
                <a:latin typeface="Calibri"/>
                <a:ea typeface="Calibri"/>
                <a:cs typeface="Calibri"/>
                <a:sym typeface="Calibri"/>
              </a:rPr>
              <a:t>AdImpact 2023-24 cycle [8]</a:t>
            </a:r>
            <a:endParaRPr sz="1200">
              <a:solidFill>
                <a:schemeClr val="dk1"/>
              </a:solidFill>
              <a:latin typeface="Calibri"/>
              <a:ea typeface="Calibri"/>
              <a:cs typeface="Calibri"/>
              <a:sym typeface="Calibri"/>
            </a:endParaRPr>
          </a:p>
        </p:txBody>
      </p:sp>
      <p:sp>
        <p:nvSpPr>
          <p:cNvPr id="141" name="Google Shape;141;p8"/>
          <p:cNvSpPr/>
          <p:nvPr/>
        </p:nvSpPr>
        <p:spPr>
          <a:xfrm>
            <a:off x="685800" y="5486400"/>
            <a:ext cx="5166360" cy="594360"/>
          </a:xfrm>
          <a:prstGeom prst="roundRect">
            <a:avLst>
              <a:gd fmla="val 12308" name="adj"/>
            </a:avLst>
          </a:prstGeom>
          <a:solidFill>
            <a:schemeClr val="lt1"/>
          </a:solidFill>
          <a:ln cap="flat" cmpd="sng" w="1270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2" name="Google Shape;142;p8"/>
          <p:cNvSpPr txBox="1"/>
          <p:nvPr/>
        </p:nvSpPr>
        <p:spPr>
          <a:xfrm>
            <a:off x="868680" y="5486400"/>
            <a:ext cx="4800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5A36"/>
              </a:buClr>
              <a:buSzPts val="1100"/>
              <a:buFont typeface="Calibri"/>
              <a:buNone/>
            </a:pPr>
            <a:r>
              <a:rPr b="1" lang="en-US" spc="200" sz="1100">
                <a:solidFill>
                  <a:srgbClr val="FF5A36"/>
                </a:solidFill>
                <a:latin typeface="Calibri"/>
                <a:ea typeface="Calibri"/>
                <a:cs typeface="Calibri"/>
                <a:sym typeface="Calibri"/>
              </a:rPr>
              <a:t>BEING DESTROYED  </a:t>
            </a:r>
            <a:r>
              <a:rPr b="1" lang="en-US" sz="1400">
                <a:solidFill>
                  <a:srgbClr val="22264B"/>
                </a:solidFill>
                <a:latin typeface="Calibri"/>
                <a:ea typeface="Calibri"/>
                <a:cs typeface="Calibri"/>
                <a:sym typeface="Calibri"/>
              </a:rPr>
              <a:t>Traditional political campaigning built on broadcast TV and one shared news agenda</a:t>
            </a:r>
            <a:endParaRPr sz="1100">
              <a:solidFill>
                <a:schemeClr val="dk1"/>
              </a:solidFill>
              <a:latin typeface="Calibri"/>
              <a:ea typeface="Calibri"/>
              <a:cs typeface="Calibri"/>
              <a:sym typeface="Calibri"/>
            </a:endParaRPr>
          </a:p>
        </p:txBody>
      </p:sp>
      <p:sp>
        <p:nvSpPr>
          <p:cNvPr id="143" name="Google Shape;143;p8"/>
          <p:cNvSpPr/>
          <p:nvPr/>
        </p:nvSpPr>
        <p:spPr>
          <a:xfrm>
            <a:off x="6199632" y="1371600"/>
            <a:ext cx="5440680" cy="4846320"/>
          </a:xfrm>
          <a:prstGeom prst="roundRect">
            <a:avLst>
              <a:gd fmla="val 2264" name="adj"/>
            </a:avLst>
          </a:prstGeom>
          <a:solidFill>
            <a:schemeClr val="lt2"/>
          </a:solidFill>
          <a:ln cap="flat" cmpd="sng" w="12700">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4" name="Google Shape;144;p8"/>
          <p:cNvSpPr/>
          <p:nvPr/>
        </p:nvSpPr>
        <p:spPr>
          <a:xfrm>
            <a:off x="6473952" y="1600200"/>
            <a:ext cx="502920" cy="502920"/>
          </a:xfrm>
          <a:prstGeom prst="ellipse">
            <a:avLst/>
          </a:prstGeom>
          <a:solidFill>
            <a:schemeClr val="dk2"/>
          </a:solidFill>
          <a:ln cap="flat" cmpd="sng" w="12700">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5" name="Google Shape;145;p8"/>
          <p:cNvSpPr txBox="1"/>
          <p:nvPr/>
        </p:nvSpPr>
        <p:spPr>
          <a:xfrm>
            <a:off x="6473952" y="160020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800"/>
              <a:buFont typeface="Calibri"/>
              <a:buNone/>
            </a:pPr>
            <a:r>
              <a:rPr b="1" lang="en-US" sz="1800">
                <a:solidFill>
                  <a:schemeClr val="lt1"/>
                </a:solidFill>
                <a:latin typeface="Calibri"/>
                <a:ea typeface="Calibri"/>
                <a:cs typeface="Calibri"/>
                <a:sym typeface="Calibri"/>
              </a:rPr>
              <a:t>E</a:t>
            </a:r>
            <a:endParaRPr sz="1800">
              <a:solidFill>
                <a:schemeClr val="dk1"/>
              </a:solidFill>
              <a:latin typeface="Calibri"/>
              <a:ea typeface="Calibri"/>
              <a:cs typeface="Calibri"/>
              <a:sym typeface="Calibri"/>
            </a:endParaRPr>
          </a:p>
        </p:txBody>
      </p:sp>
      <p:sp>
        <p:nvSpPr>
          <p:cNvPr id="146" name="Google Shape;146;p8"/>
          <p:cNvSpPr txBox="1"/>
          <p:nvPr/>
        </p:nvSpPr>
        <p:spPr>
          <a:xfrm>
            <a:off x="7114032" y="1600200"/>
            <a:ext cx="2743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2000"/>
              <a:buFont typeface="Calibri"/>
              <a:buNone/>
            </a:pPr>
            <a:r>
              <a:rPr b="1" lang="en-US" sz="2000">
                <a:solidFill>
                  <a:schemeClr val="dk2"/>
                </a:solidFill>
                <a:latin typeface="Calibri"/>
                <a:ea typeface="Calibri"/>
                <a:cs typeface="Calibri"/>
                <a:sym typeface="Calibri"/>
              </a:rPr>
              <a:t>Economic</a:t>
            </a:r>
            <a:endParaRPr sz="2000">
              <a:solidFill>
                <a:schemeClr val="dk1"/>
              </a:solidFill>
              <a:latin typeface="Calibri"/>
              <a:ea typeface="Calibri"/>
              <a:cs typeface="Calibri"/>
              <a:sym typeface="Calibri"/>
            </a:endParaRPr>
          </a:p>
        </p:txBody>
      </p:sp>
      <p:sp>
        <p:nvSpPr>
          <p:cNvPr id="147" name="Google Shape;147;p8"/>
          <p:cNvSpPr txBox="1"/>
          <p:nvPr/>
        </p:nvSpPr>
        <p:spPr>
          <a:xfrm>
            <a:off x="6473952" y="2267712"/>
            <a:ext cx="48920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1100"/>
              <a:buFont typeface="Calibri"/>
              <a:buNone/>
            </a:pPr>
            <a:r>
              <a:rPr b="1" lang="en-US" spc="200" sz="1100">
                <a:solidFill>
                  <a:schemeClr val="accent2"/>
                </a:solidFill>
                <a:latin typeface="Calibri"/>
                <a:ea typeface="Calibri"/>
                <a:cs typeface="Calibri"/>
                <a:sym typeface="Calibri"/>
              </a:rPr>
              <a:t>WHAT IS CHANGING</a:t>
            </a:r>
            <a:endParaRPr sz="1100">
              <a:solidFill>
                <a:schemeClr val="dk1"/>
              </a:solidFill>
              <a:latin typeface="Calibri"/>
              <a:ea typeface="Calibri"/>
              <a:cs typeface="Calibri"/>
              <a:sym typeface="Calibri"/>
            </a:endParaRPr>
          </a:p>
        </p:txBody>
      </p:sp>
      <p:sp>
        <p:nvSpPr>
          <p:cNvPr id="148" name="Google Shape;148;p8"/>
          <p:cNvSpPr txBox="1"/>
          <p:nvPr/>
        </p:nvSpPr>
        <p:spPr>
          <a:xfrm>
            <a:off x="6473952" y="2514600"/>
            <a:ext cx="489204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lang="en-US" sz="1400">
                <a:solidFill>
                  <a:schemeClr val="dk1"/>
                </a:solidFill>
                <a:latin typeface="Calibri"/>
                <a:ea typeface="Calibri"/>
                <a:cs typeface="Calibri"/>
                <a:sym typeface="Calibri"/>
              </a:rPr>
              <a:t>Attention is the scarce resource. Platforms are paid for engagement, so feeds optimize for engagement: the user is the product, not the customer.</a:t>
            </a:r>
            <a:endParaRPr sz="1400">
              <a:solidFill>
                <a:schemeClr val="dk1"/>
              </a:solidFill>
              <a:latin typeface="Calibri"/>
              <a:ea typeface="Calibri"/>
              <a:cs typeface="Calibri"/>
              <a:sym typeface="Calibri"/>
            </a:endParaRPr>
          </a:p>
        </p:txBody>
      </p:sp>
      <p:sp>
        <p:nvSpPr>
          <p:cNvPr id="149" name="Google Shape;149;p8"/>
          <p:cNvSpPr txBox="1"/>
          <p:nvPr/>
        </p:nvSpPr>
        <p:spPr>
          <a:xfrm>
            <a:off x="6473952" y="3310128"/>
            <a:ext cx="48920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1100"/>
              <a:buFont typeface="Calibri"/>
              <a:buNone/>
            </a:pPr>
            <a:r>
              <a:rPr b="1" lang="en-US" spc="200" sz="1100">
                <a:solidFill>
                  <a:schemeClr val="accent2"/>
                </a:solidFill>
                <a:latin typeface="Calibri"/>
                <a:ea typeface="Calibri"/>
                <a:cs typeface="Calibri"/>
                <a:sym typeface="Calibri"/>
              </a:rPr>
              <a:t>DATA</a:t>
            </a:r>
            <a:endParaRPr sz="1100">
              <a:solidFill>
                <a:schemeClr val="dk1"/>
              </a:solidFill>
              <a:latin typeface="Calibri"/>
              <a:ea typeface="Calibri"/>
              <a:cs typeface="Calibri"/>
              <a:sym typeface="Calibri"/>
            </a:endParaRPr>
          </a:p>
        </p:txBody>
      </p:sp>
      <p:sp>
        <p:nvSpPr>
          <p:cNvPr id="150" name="Google Shape;150;p8"/>
          <p:cNvSpPr txBox="1"/>
          <p:nvPr/>
        </p:nvSpPr>
        <p:spPr>
          <a:xfrm>
            <a:off x="6473952" y="3584448"/>
            <a:ext cx="10515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200"/>
              <a:buFont typeface="Arial"/>
              <a:buNone/>
            </a:pPr>
            <a:r>
              <a:rPr b="1" lang="en-US" sz="2200">
                <a:solidFill>
                  <a:schemeClr val="accent1"/>
                </a:solidFill>
                <a:latin typeface="Arial"/>
                <a:ea typeface="Arial"/>
                <a:cs typeface="Arial"/>
                <a:sym typeface="Arial"/>
              </a:rPr>
              <a:t>73%</a:t>
            </a:r>
            <a:endParaRPr sz="2200">
              <a:solidFill>
                <a:schemeClr val="dk1"/>
              </a:solidFill>
              <a:latin typeface="Calibri"/>
              <a:ea typeface="Calibri"/>
              <a:cs typeface="Calibri"/>
              <a:sym typeface="Calibri"/>
            </a:endParaRPr>
          </a:p>
        </p:txBody>
      </p:sp>
      <p:sp>
        <p:nvSpPr>
          <p:cNvPr id="151" name="Google Shape;151;p8"/>
          <p:cNvSpPr txBox="1"/>
          <p:nvPr/>
        </p:nvSpPr>
        <p:spPr>
          <a:xfrm>
            <a:off x="7571232" y="3584448"/>
            <a:ext cx="37947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C2E"/>
              </a:buClr>
              <a:buSzPts val="1200"/>
              <a:buFont typeface="Calibri"/>
              <a:buNone/>
            </a:pPr>
            <a:r>
              <a:rPr lang="en-US" sz="1200">
                <a:solidFill>
                  <a:srgbClr val="1A1C2E"/>
                </a:solidFill>
                <a:latin typeface="Calibri"/>
                <a:ea typeface="Calibri"/>
                <a:cs typeface="Calibri"/>
                <a:sym typeface="Calibri"/>
              </a:rPr>
              <a:t>of global ad revenue goes to pure-play digital in 2025 </a:t>
            </a:r>
            <a:r>
              <a:rPr i="1" lang="en-US" sz="1000">
                <a:solidFill>
                  <a:srgbClr val="6C74A8"/>
                </a:solidFill>
                <a:latin typeface="Calibri"/>
                <a:ea typeface="Calibri"/>
                <a:cs typeface="Calibri"/>
                <a:sym typeface="Calibri"/>
              </a:rPr>
              <a:t>WPP Media, This Year Next Year 2025 [9]</a:t>
            </a:r>
            <a:endParaRPr sz="1200">
              <a:solidFill>
                <a:schemeClr val="dk1"/>
              </a:solidFill>
              <a:latin typeface="Calibri"/>
              <a:ea typeface="Calibri"/>
              <a:cs typeface="Calibri"/>
              <a:sym typeface="Calibri"/>
            </a:endParaRPr>
          </a:p>
        </p:txBody>
      </p:sp>
      <p:sp>
        <p:nvSpPr>
          <p:cNvPr id="152" name="Google Shape;152;p8"/>
          <p:cNvSpPr txBox="1"/>
          <p:nvPr/>
        </p:nvSpPr>
        <p:spPr>
          <a:xfrm>
            <a:off x="6473952" y="4206240"/>
            <a:ext cx="10515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200"/>
              <a:buFont typeface="Arial"/>
              <a:buNone/>
            </a:pPr>
            <a:r>
              <a:rPr b="1" lang="en-US" sz="2200">
                <a:solidFill>
                  <a:schemeClr val="accent1"/>
                </a:solidFill>
                <a:latin typeface="Arial"/>
                <a:ea typeface="Arial"/>
                <a:cs typeface="Arial"/>
                <a:sym typeface="Arial"/>
              </a:rPr>
              <a:t>$185B</a:t>
            </a:r>
            <a:endParaRPr sz="2200">
              <a:solidFill>
                <a:schemeClr val="dk1"/>
              </a:solidFill>
              <a:latin typeface="Calibri"/>
              <a:ea typeface="Calibri"/>
              <a:cs typeface="Calibri"/>
              <a:sym typeface="Calibri"/>
            </a:endParaRPr>
          </a:p>
        </p:txBody>
      </p:sp>
      <p:sp>
        <p:nvSpPr>
          <p:cNvPr id="153" name="Google Shape;153;p8"/>
          <p:cNvSpPr txBox="1"/>
          <p:nvPr/>
        </p:nvSpPr>
        <p:spPr>
          <a:xfrm>
            <a:off x="7571232" y="4206240"/>
            <a:ext cx="37947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C2E"/>
              </a:buClr>
              <a:buSzPts val="1200"/>
              <a:buFont typeface="Calibri"/>
              <a:buNone/>
            </a:pPr>
            <a:r>
              <a:rPr lang="en-US" sz="1200">
                <a:solidFill>
                  <a:srgbClr val="1A1C2E"/>
                </a:solidFill>
                <a:latin typeface="Calibri"/>
                <a:ea typeface="Calibri"/>
                <a:cs typeface="Calibri"/>
                <a:sym typeface="Calibri"/>
              </a:rPr>
              <a:t>creator-generated ad revenue in 2025, up 20%; user-generated content is overtaking professional production </a:t>
            </a:r>
            <a:r>
              <a:rPr i="1" lang="en-US" sz="1000">
                <a:solidFill>
                  <a:srgbClr val="6C74A8"/>
                </a:solidFill>
                <a:latin typeface="Calibri"/>
                <a:ea typeface="Calibri"/>
                <a:cs typeface="Calibri"/>
                <a:sym typeface="Calibri"/>
              </a:rPr>
              <a:t>WPP Media 2025 [9]</a:t>
            </a:r>
            <a:endParaRPr sz="1200">
              <a:solidFill>
                <a:schemeClr val="dk1"/>
              </a:solidFill>
              <a:latin typeface="Calibri"/>
              <a:ea typeface="Calibri"/>
              <a:cs typeface="Calibri"/>
              <a:sym typeface="Calibri"/>
            </a:endParaRPr>
          </a:p>
        </p:txBody>
      </p:sp>
      <p:sp>
        <p:nvSpPr>
          <p:cNvPr id="154" name="Google Shape;154;p8"/>
          <p:cNvSpPr txBox="1"/>
          <p:nvPr/>
        </p:nvSpPr>
        <p:spPr>
          <a:xfrm>
            <a:off x="6473952" y="4828032"/>
            <a:ext cx="10515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200"/>
              <a:buFont typeface="Arial"/>
              <a:buNone/>
            </a:pPr>
            <a:r>
              <a:rPr b="1" lang="en-US" sz="2200">
                <a:solidFill>
                  <a:schemeClr val="accent1"/>
                </a:solidFill>
                <a:latin typeface="Arial"/>
                <a:ea typeface="Arial"/>
                <a:cs typeface="Arial"/>
                <a:sym typeface="Arial"/>
              </a:rPr>
              <a:t>-62%</a:t>
            </a:r>
            <a:endParaRPr sz="2200">
              <a:solidFill>
                <a:schemeClr val="dk1"/>
              </a:solidFill>
              <a:latin typeface="Calibri"/>
              <a:ea typeface="Calibri"/>
              <a:cs typeface="Calibri"/>
              <a:sym typeface="Calibri"/>
            </a:endParaRPr>
          </a:p>
        </p:txBody>
      </p:sp>
      <p:sp>
        <p:nvSpPr>
          <p:cNvPr id="155" name="Google Shape;155;p8"/>
          <p:cNvSpPr txBox="1"/>
          <p:nvPr/>
        </p:nvSpPr>
        <p:spPr>
          <a:xfrm>
            <a:off x="7571232" y="4828032"/>
            <a:ext cx="37947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C2E"/>
              </a:buClr>
              <a:buSzPts val="1200"/>
              <a:buFont typeface="Calibri"/>
              <a:buNone/>
            </a:pPr>
            <a:r>
              <a:rPr lang="en-US" sz="1200">
                <a:solidFill>
                  <a:srgbClr val="1A1C2E"/>
                </a:solidFill>
                <a:latin typeface="Calibri"/>
                <a:ea typeface="Calibri"/>
                <a:cs typeface="Calibri"/>
                <a:sym typeface="Calibri"/>
              </a:rPr>
              <a:t>US newspaper ad revenue, $37.8B (2008) to $14.3B (2018); newsroom jobs fell 47% </a:t>
            </a:r>
            <a:r>
              <a:rPr i="1" lang="en-US" sz="1000">
                <a:solidFill>
                  <a:srgbClr val="6C74A8"/>
                </a:solidFill>
                <a:latin typeface="Calibri"/>
                <a:ea typeface="Calibri"/>
                <a:cs typeface="Calibri"/>
                <a:sym typeface="Calibri"/>
              </a:rPr>
              <a:t>Pew Research Center [6]</a:t>
            </a:r>
            <a:endParaRPr sz="1200">
              <a:solidFill>
                <a:schemeClr val="dk1"/>
              </a:solidFill>
              <a:latin typeface="Calibri"/>
              <a:ea typeface="Calibri"/>
              <a:cs typeface="Calibri"/>
              <a:sym typeface="Calibri"/>
            </a:endParaRPr>
          </a:p>
        </p:txBody>
      </p:sp>
      <p:sp>
        <p:nvSpPr>
          <p:cNvPr id="156" name="Google Shape;156;p8"/>
          <p:cNvSpPr/>
          <p:nvPr/>
        </p:nvSpPr>
        <p:spPr>
          <a:xfrm>
            <a:off x="6336792" y="5486400"/>
            <a:ext cx="5166360" cy="594360"/>
          </a:xfrm>
          <a:prstGeom prst="roundRect">
            <a:avLst>
              <a:gd fmla="val 12308" name="adj"/>
            </a:avLst>
          </a:prstGeom>
          <a:solidFill>
            <a:schemeClr val="lt1"/>
          </a:solidFill>
          <a:ln cap="flat" cmpd="sng" w="1270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7" name="Google Shape;157;p8"/>
          <p:cNvSpPr txBox="1"/>
          <p:nvPr/>
        </p:nvSpPr>
        <p:spPr>
          <a:xfrm>
            <a:off x="6519672" y="5486400"/>
            <a:ext cx="4800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5A36"/>
              </a:buClr>
              <a:buSzPts val="1100"/>
              <a:buFont typeface="Calibri"/>
              <a:buNone/>
            </a:pPr>
            <a:r>
              <a:rPr b="1" lang="en-US" spc="200" sz="1100">
                <a:solidFill>
                  <a:srgbClr val="FF5A36"/>
                </a:solidFill>
                <a:latin typeface="Calibri"/>
                <a:ea typeface="Calibri"/>
                <a:cs typeface="Calibri"/>
                <a:sym typeface="Calibri"/>
              </a:rPr>
              <a:t>BEING DESTROYED  </a:t>
            </a:r>
            <a:r>
              <a:rPr b="1" lang="en-US" sz="1400">
                <a:solidFill>
                  <a:srgbClr val="22264B"/>
                </a:solidFill>
                <a:latin typeface="Calibri"/>
                <a:ea typeface="Calibri"/>
                <a:cs typeface="Calibri"/>
                <a:sym typeface="Calibri"/>
              </a:rPr>
              <a:t>Traditional news business models, and knowing whose interests your sources serve</a:t>
            </a:r>
            <a:endParaRPr sz="1100">
              <a:solidFill>
                <a:schemeClr val="dk1"/>
              </a:solidFill>
              <a:latin typeface="Calibri"/>
              <a:ea typeface="Calibri"/>
              <a:cs typeface="Calibri"/>
              <a:sym typeface="Calibri"/>
            </a:endParaRPr>
          </a:p>
        </p:txBody>
      </p:sp>
      <p:sp>
        <p:nvSpPr>
          <p:cNvPr id="158" name="Google Shape;158;p8"/>
          <p:cNvSpPr txBox="1"/>
          <p:nvPr>
            <p:ph idx="4294967295" type="sldNum"/>
          </p:nvPr>
        </p:nvSpPr>
        <p:spPr>
          <a:xfrm>
            <a:off x="11155680" y="6400800"/>
            <a:ext cx="48463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000">
                <a:solidFill>
                  <a:schemeClr val="accent5"/>
                </a:solidFill>
                <a:latin typeface="Calibri"/>
                <a:ea typeface="Calibri"/>
                <a:cs typeface="Calibri"/>
                <a:sym typeface="Calibri"/>
              </a:rPr>
              <a:t>‹#›</a:t>
            </a:fld>
            <a:endParaRPr sz="1000">
              <a:solidFill>
                <a:schemeClr val="accent5"/>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9"/>
          <p:cNvSpPr txBox="1"/>
          <p:nvPr>
            <p:ph type="title"/>
          </p:nvPr>
        </p:nvSpPr>
        <p:spPr>
          <a:xfrm>
            <a:off x="548640" y="365760"/>
            <a:ext cx="11091672" cy="8229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000"/>
              <a:buFont typeface="Arial"/>
              <a:buNone/>
            </a:pPr>
            <a:r>
              <a:rPr b="1" lang="en-US" sz="3000">
                <a:solidFill>
                  <a:schemeClr val="dk2"/>
                </a:solidFill>
                <a:latin typeface="Arial"/>
                <a:ea typeface="Arial"/>
                <a:cs typeface="Arial"/>
                <a:sym typeface="Arial"/>
              </a:rPr>
              <a:t>PEST analysis: social and technological forces</a:t>
            </a:r>
            <a:endParaRPr sz="3000"/>
          </a:p>
        </p:txBody>
      </p:sp>
      <p:sp>
        <p:nvSpPr>
          <p:cNvPr id="165" name="Google Shape;165;p9"/>
          <p:cNvSpPr/>
          <p:nvPr/>
        </p:nvSpPr>
        <p:spPr>
          <a:xfrm>
            <a:off x="548640" y="1371600"/>
            <a:ext cx="5440680" cy="4846320"/>
          </a:xfrm>
          <a:prstGeom prst="roundRect">
            <a:avLst>
              <a:gd fmla="val 2264" name="adj"/>
            </a:avLst>
          </a:prstGeom>
          <a:solidFill>
            <a:schemeClr val="lt2"/>
          </a:solidFill>
          <a:ln cap="flat" cmpd="sng" w="12700">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6" name="Google Shape;166;p9"/>
          <p:cNvSpPr/>
          <p:nvPr/>
        </p:nvSpPr>
        <p:spPr>
          <a:xfrm>
            <a:off x="822960" y="1600200"/>
            <a:ext cx="502920" cy="502920"/>
          </a:xfrm>
          <a:prstGeom prst="ellipse">
            <a:avLst/>
          </a:prstGeom>
          <a:solidFill>
            <a:schemeClr val="dk2"/>
          </a:solidFill>
          <a:ln cap="flat" cmpd="sng" w="12700">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7" name="Google Shape;167;p9"/>
          <p:cNvSpPr txBox="1"/>
          <p:nvPr/>
        </p:nvSpPr>
        <p:spPr>
          <a:xfrm>
            <a:off x="822960" y="160020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800"/>
              <a:buFont typeface="Calibri"/>
              <a:buNone/>
            </a:pPr>
            <a:r>
              <a:rPr b="1" lang="en-US" sz="1800">
                <a:solidFill>
                  <a:schemeClr val="lt1"/>
                </a:solidFill>
                <a:latin typeface="Calibri"/>
                <a:ea typeface="Calibri"/>
                <a:cs typeface="Calibri"/>
                <a:sym typeface="Calibri"/>
              </a:rPr>
              <a:t>S</a:t>
            </a:r>
            <a:endParaRPr sz="1800">
              <a:solidFill>
                <a:schemeClr val="dk1"/>
              </a:solidFill>
              <a:latin typeface="Calibri"/>
              <a:ea typeface="Calibri"/>
              <a:cs typeface="Calibri"/>
              <a:sym typeface="Calibri"/>
            </a:endParaRPr>
          </a:p>
        </p:txBody>
      </p:sp>
      <p:sp>
        <p:nvSpPr>
          <p:cNvPr id="168" name="Google Shape;168;p9"/>
          <p:cNvSpPr txBox="1"/>
          <p:nvPr/>
        </p:nvSpPr>
        <p:spPr>
          <a:xfrm>
            <a:off x="1463040" y="1600200"/>
            <a:ext cx="2743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2000"/>
              <a:buFont typeface="Calibri"/>
              <a:buNone/>
            </a:pPr>
            <a:r>
              <a:rPr b="1" lang="en-US" sz="2000">
                <a:solidFill>
                  <a:schemeClr val="dk2"/>
                </a:solidFill>
                <a:latin typeface="Calibri"/>
                <a:ea typeface="Calibri"/>
                <a:cs typeface="Calibri"/>
                <a:sym typeface="Calibri"/>
              </a:rPr>
              <a:t>Social</a:t>
            </a:r>
            <a:endParaRPr sz="2000">
              <a:solidFill>
                <a:schemeClr val="dk1"/>
              </a:solidFill>
              <a:latin typeface="Calibri"/>
              <a:ea typeface="Calibri"/>
              <a:cs typeface="Calibri"/>
              <a:sym typeface="Calibri"/>
            </a:endParaRPr>
          </a:p>
        </p:txBody>
      </p:sp>
      <p:sp>
        <p:nvSpPr>
          <p:cNvPr id="169" name="Google Shape;169;p9"/>
          <p:cNvSpPr txBox="1"/>
          <p:nvPr/>
        </p:nvSpPr>
        <p:spPr>
          <a:xfrm>
            <a:off x="822960" y="2267712"/>
            <a:ext cx="48920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1100"/>
              <a:buFont typeface="Calibri"/>
              <a:buNone/>
            </a:pPr>
            <a:r>
              <a:rPr b="1" lang="en-US" spc="200" sz="1100">
                <a:solidFill>
                  <a:schemeClr val="accent2"/>
                </a:solidFill>
                <a:latin typeface="Calibri"/>
                <a:ea typeface="Calibri"/>
                <a:cs typeface="Calibri"/>
                <a:sym typeface="Calibri"/>
              </a:rPr>
              <a:t>WHAT IS CHANGING</a:t>
            </a:r>
            <a:endParaRPr sz="1100">
              <a:solidFill>
                <a:schemeClr val="dk1"/>
              </a:solidFill>
              <a:latin typeface="Calibri"/>
              <a:ea typeface="Calibri"/>
              <a:cs typeface="Calibri"/>
              <a:sym typeface="Calibri"/>
            </a:endParaRPr>
          </a:p>
        </p:txBody>
      </p:sp>
      <p:sp>
        <p:nvSpPr>
          <p:cNvPr id="170" name="Google Shape;170;p9"/>
          <p:cNvSpPr txBox="1"/>
          <p:nvPr/>
        </p:nvSpPr>
        <p:spPr>
          <a:xfrm>
            <a:off x="822960" y="2514600"/>
            <a:ext cx="489204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lang="en-US" sz="1400">
                <a:solidFill>
                  <a:schemeClr val="dk1"/>
                </a:solidFill>
                <a:latin typeface="Calibri"/>
                <a:ea typeface="Calibri"/>
                <a:cs typeface="Calibri"/>
                <a:sym typeface="Calibri"/>
              </a:rPr>
              <a:t>People hear from friends, influencers and strangers all at once. Trust is moving from institutions to unverified individuals, and many tune out.</a:t>
            </a:r>
            <a:endParaRPr sz="1400">
              <a:solidFill>
                <a:schemeClr val="dk1"/>
              </a:solidFill>
              <a:latin typeface="Calibri"/>
              <a:ea typeface="Calibri"/>
              <a:cs typeface="Calibri"/>
              <a:sym typeface="Calibri"/>
            </a:endParaRPr>
          </a:p>
        </p:txBody>
      </p:sp>
      <p:sp>
        <p:nvSpPr>
          <p:cNvPr id="171" name="Google Shape;171;p9"/>
          <p:cNvSpPr txBox="1"/>
          <p:nvPr/>
        </p:nvSpPr>
        <p:spPr>
          <a:xfrm>
            <a:off x="822960" y="3310128"/>
            <a:ext cx="48920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1100"/>
              <a:buFont typeface="Calibri"/>
              <a:buNone/>
            </a:pPr>
            <a:r>
              <a:rPr b="1" lang="en-US" spc="200" sz="1100">
                <a:solidFill>
                  <a:schemeClr val="accent2"/>
                </a:solidFill>
                <a:latin typeface="Calibri"/>
                <a:ea typeface="Calibri"/>
                <a:cs typeface="Calibri"/>
                <a:sym typeface="Calibri"/>
              </a:rPr>
              <a:t>DATA</a:t>
            </a:r>
            <a:endParaRPr sz="1100">
              <a:solidFill>
                <a:schemeClr val="dk1"/>
              </a:solidFill>
              <a:latin typeface="Calibri"/>
              <a:ea typeface="Calibri"/>
              <a:cs typeface="Calibri"/>
              <a:sym typeface="Calibri"/>
            </a:endParaRPr>
          </a:p>
        </p:txBody>
      </p:sp>
      <p:sp>
        <p:nvSpPr>
          <p:cNvPr id="172" name="Google Shape;172;p9"/>
          <p:cNvSpPr txBox="1"/>
          <p:nvPr/>
        </p:nvSpPr>
        <p:spPr>
          <a:xfrm>
            <a:off x="822960" y="3584448"/>
            <a:ext cx="10515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200"/>
              <a:buFont typeface="Arial"/>
              <a:buNone/>
            </a:pPr>
            <a:r>
              <a:rPr b="1" lang="en-US" sz="2200">
                <a:solidFill>
                  <a:schemeClr val="accent1"/>
                </a:solidFill>
                <a:latin typeface="Arial"/>
                <a:ea typeface="Arial"/>
                <a:cs typeface="Arial"/>
                <a:sym typeface="Arial"/>
              </a:rPr>
              <a:t>21%</a:t>
            </a:r>
            <a:endParaRPr sz="2200">
              <a:solidFill>
                <a:schemeClr val="dk1"/>
              </a:solidFill>
              <a:latin typeface="Calibri"/>
              <a:ea typeface="Calibri"/>
              <a:cs typeface="Calibri"/>
              <a:sym typeface="Calibri"/>
            </a:endParaRPr>
          </a:p>
        </p:txBody>
      </p:sp>
      <p:sp>
        <p:nvSpPr>
          <p:cNvPr id="173" name="Google Shape;173;p9"/>
          <p:cNvSpPr txBox="1"/>
          <p:nvPr/>
        </p:nvSpPr>
        <p:spPr>
          <a:xfrm>
            <a:off x="1920240" y="3584448"/>
            <a:ext cx="37947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C2E"/>
              </a:buClr>
              <a:buSzPts val="1200"/>
              <a:buFont typeface="Calibri"/>
              <a:buNone/>
            </a:pPr>
            <a:r>
              <a:rPr lang="en-US" sz="1200">
                <a:solidFill>
                  <a:srgbClr val="1A1C2E"/>
                </a:solidFill>
                <a:latin typeface="Calibri"/>
                <a:ea typeface="Calibri"/>
                <a:cs typeface="Calibri"/>
                <a:sym typeface="Calibri"/>
              </a:rPr>
              <a:t>of US adults regularly get news from news influencers (37% of under-30s); 77% of those influencers have no news-org ties </a:t>
            </a:r>
            <a:r>
              <a:rPr i="1" lang="en-US" sz="1000">
                <a:solidFill>
                  <a:srgbClr val="6C74A8"/>
                </a:solidFill>
                <a:latin typeface="Calibri"/>
                <a:ea typeface="Calibri"/>
                <a:cs typeface="Calibri"/>
                <a:sym typeface="Calibri"/>
              </a:rPr>
              <a:t>Pew Research Center, 2024 [4]</a:t>
            </a:r>
            <a:endParaRPr sz="1200">
              <a:solidFill>
                <a:schemeClr val="dk1"/>
              </a:solidFill>
              <a:latin typeface="Calibri"/>
              <a:ea typeface="Calibri"/>
              <a:cs typeface="Calibri"/>
              <a:sym typeface="Calibri"/>
            </a:endParaRPr>
          </a:p>
        </p:txBody>
      </p:sp>
      <p:sp>
        <p:nvSpPr>
          <p:cNvPr id="174" name="Google Shape;174;p9"/>
          <p:cNvSpPr txBox="1"/>
          <p:nvPr/>
        </p:nvSpPr>
        <p:spPr>
          <a:xfrm>
            <a:off x="822960" y="4206240"/>
            <a:ext cx="10515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200"/>
              <a:buFont typeface="Arial"/>
              <a:buNone/>
            </a:pPr>
            <a:r>
              <a:rPr b="1" lang="en-US" sz="2200">
                <a:solidFill>
                  <a:schemeClr val="accent1"/>
                </a:solidFill>
                <a:latin typeface="Arial"/>
                <a:ea typeface="Arial"/>
                <a:cs typeface="Arial"/>
                <a:sym typeface="Arial"/>
              </a:rPr>
              <a:t>46%</a:t>
            </a:r>
            <a:endParaRPr sz="2200">
              <a:solidFill>
                <a:schemeClr val="dk1"/>
              </a:solidFill>
              <a:latin typeface="Calibri"/>
              <a:ea typeface="Calibri"/>
              <a:cs typeface="Calibri"/>
              <a:sym typeface="Calibri"/>
            </a:endParaRPr>
          </a:p>
        </p:txBody>
      </p:sp>
      <p:sp>
        <p:nvSpPr>
          <p:cNvPr id="175" name="Google Shape;175;p9"/>
          <p:cNvSpPr txBox="1"/>
          <p:nvPr/>
        </p:nvSpPr>
        <p:spPr>
          <a:xfrm>
            <a:off x="1920240" y="4206240"/>
            <a:ext cx="37947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C2E"/>
              </a:buClr>
              <a:buSzPts val="1200"/>
              <a:buFont typeface="Calibri"/>
              <a:buNone/>
            </a:pPr>
            <a:r>
              <a:rPr lang="en-US" sz="1200">
                <a:solidFill>
                  <a:srgbClr val="1A1C2E"/>
                </a:solidFill>
                <a:latin typeface="Calibri"/>
                <a:ea typeface="Calibri"/>
                <a:cs typeface="Calibri"/>
                <a:sym typeface="Calibri"/>
              </a:rPr>
              <a:t>of US teens are online "almost constantly," up from 24% in 2014-15, while views form </a:t>
            </a:r>
            <a:r>
              <a:rPr i="1" lang="en-US" sz="1000">
                <a:solidFill>
                  <a:srgbClr val="6C74A8"/>
                </a:solidFill>
                <a:latin typeface="Calibri"/>
                <a:ea typeface="Calibri"/>
                <a:cs typeface="Calibri"/>
                <a:sym typeface="Calibri"/>
              </a:rPr>
              <a:t>Pew Research Center, 2024 [5]</a:t>
            </a:r>
            <a:endParaRPr sz="1200">
              <a:solidFill>
                <a:schemeClr val="dk1"/>
              </a:solidFill>
              <a:latin typeface="Calibri"/>
              <a:ea typeface="Calibri"/>
              <a:cs typeface="Calibri"/>
              <a:sym typeface="Calibri"/>
            </a:endParaRPr>
          </a:p>
        </p:txBody>
      </p:sp>
      <p:sp>
        <p:nvSpPr>
          <p:cNvPr id="176" name="Google Shape;176;p9"/>
          <p:cNvSpPr txBox="1"/>
          <p:nvPr/>
        </p:nvSpPr>
        <p:spPr>
          <a:xfrm>
            <a:off x="822960" y="4828032"/>
            <a:ext cx="10515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200"/>
              <a:buFont typeface="Arial"/>
              <a:buNone/>
            </a:pPr>
            <a:r>
              <a:rPr b="1" lang="en-US" sz="2200">
                <a:solidFill>
                  <a:schemeClr val="accent1"/>
                </a:solidFill>
                <a:latin typeface="Arial"/>
                <a:ea typeface="Arial"/>
                <a:cs typeface="Arial"/>
                <a:sym typeface="Arial"/>
              </a:rPr>
              <a:t>40%</a:t>
            </a:r>
            <a:endParaRPr sz="2200">
              <a:solidFill>
                <a:schemeClr val="dk1"/>
              </a:solidFill>
              <a:latin typeface="Calibri"/>
              <a:ea typeface="Calibri"/>
              <a:cs typeface="Calibri"/>
              <a:sym typeface="Calibri"/>
            </a:endParaRPr>
          </a:p>
        </p:txBody>
      </p:sp>
      <p:sp>
        <p:nvSpPr>
          <p:cNvPr id="177" name="Google Shape;177;p9"/>
          <p:cNvSpPr txBox="1"/>
          <p:nvPr/>
        </p:nvSpPr>
        <p:spPr>
          <a:xfrm>
            <a:off x="1920240" y="4828032"/>
            <a:ext cx="37947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C2E"/>
              </a:buClr>
              <a:buSzPts val="1200"/>
              <a:buFont typeface="Calibri"/>
              <a:buNone/>
            </a:pPr>
            <a:r>
              <a:rPr lang="en-US" sz="1200">
                <a:solidFill>
                  <a:srgbClr val="1A1C2E"/>
                </a:solidFill>
                <a:latin typeface="Calibri"/>
                <a:ea typeface="Calibri"/>
                <a:cs typeface="Calibri"/>
                <a:sym typeface="Calibri"/>
              </a:rPr>
              <a:t>of people sometimes or often avoid the news, up from 29% in 2017 </a:t>
            </a:r>
            <a:r>
              <a:rPr i="1" lang="en-US" sz="1000">
                <a:solidFill>
                  <a:srgbClr val="6C74A8"/>
                </a:solidFill>
                <a:latin typeface="Calibri"/>
                <a:ea typeface="Calibri"/>
                <a:cs typeface="Calibri"/>
                <a:sym typeface="Calibri"/>
              </a:rPr>
              <a:t>Reuters Institute DNR 2025 [2]</a:t>
            </a:r>
            <a:endParaRPr sz="1200">
              <a:solidFill>
                <a:schemeClr val="dk1"/>
              </a:solidFill>
              <a:latin typeface="Calibri"/>
              <a:ea typeface="Calibri"/>
              <a:cs typeface="Calibri"/>
              <a:sym typeface="Calibri"/>
            </a:endParaRPr>
          </a:p>
        </p:txBody>
      </p:sp>
      <p:sp>
        <p:nvSpPr>
          <p:cNvPr id="178" name="Google Shape;178;p9"/>
          <p:cNvSpPr/>
          <p:nvPr/>
        </p:nvSpPr>
        <p:spPr>
          <a:xfrm>
            <a:off x="685800" y="5486400"/>
            <a:ext cx="5166360" cy="594360"/>
          </a:xfrm>
          <a:prstGeom prst="roundRect">
            <a:avLst>
              <a:gd fmla="val 12308" name="adj"/>
            </a:avLst>
          </a:prstGeom>
          <a:solidFill>
            <a:schemeClr val="lt1"/>
          </a:solidFill>
          <a:ln cap="flat" cmpd="sng" w="1270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9" name="Google Shape;179;p9"/>
          <p:cNvSpPr txBox="1"/>
          <p:nvPr/>
        </p:nvSpPr>
        <p:spPr>
          <a:xfrm>
            <a:off x="868680" y="5486400"/>
            <a:ext cx="4800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5A36"/>
              </a:buClr>
              <a:buSzPts val="1100"/>
              <a:buFont typeface="Calibri"/>
              <a:buNone/>
            </a:pPr>
            <a:r>
              <a:rPr b="1" lang="en-US" spc="200" sz="1100">
                <a:solidFill>
                  <a:srgbClr val="FF5A36"/>
                </a:solidFill>
                <a:latin typeface="Calibri"/>
                <a:ea typeface="Calibri"/>
                <a:cs typeface="Calibri"/>
                <a:sym typeface="Calibri"/>
              </a:rPr>
              <a:t>BEING DESTROYED  </a:t>
            </a:r>
            <a:r>
              <a:rPr b="1" lang="en-US" sz="1400">
                <a:solidFill>
                  <a:srgbClr val="22264B"/>
                </a:solidFill>
                <a:latin typeface="Calibri"/>
                <a:ea typeface="Calibri"/>
                <a:cs typeface="Calibri"/>
                <a:sym typeface="Calibri"/>
              </a:rPr>
              <a:t>Shared common sources, and deep, focused conversation</a:t>
            </a:r>
            <a:endParaRPr sz="1100">
              <a:solidFill>
                <a:schemeClr val="dk1"/>
              </a:solidFill>
              <a:latin typeface="Calibri"/>
              <a:ea typeface="Calibri"/>
              <a:cs typeface="Calibri"/>
              <a:sym typeface="Calibri"/>
            </a:endParaRPr>
          </a:p>
        </p:txBody>
      </p:sp>
      <p:sp>
        <p:nvSpPr>
          <p:cNvPr id="180" name="Google Shape;180;p9"/>
          <p:cNvSpPr/>
          <p:nvPr/>
        </p:nvSpPr>
        <p:spPr>
          <a:xfrm>
            <a:off x="6199632" y="1371600"/>
            <a:ext cx="5440680" cy="4846320"/>
          </a:xfrm>
          <a:prstGeom prst="roundRect">
            <a:avLst>
              <a:gd fmla="val 2264" name="adj"/>
            </a:avLst>
          </a:prstGeom>
          <a:solidFill>
            <a:schemeClr val="lt2"/>
          </a:solidFill>
          <a:ln cap="flat" cmpd="sng" w="12700">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1" name="Google Shape;181;p9"/>
          <p:cNvSpPr/>
          <p:nvPr/>
        </p:nvSpPr>
        <p:spPr>
          <a:xfrm>
            <a:off x="6473952" y="1600200"/>
            <a:ext cx="502920" cy="502920"/>
          </a:xfrm>
          <a:prstGeom prst="ellipse">
            <a:avLst/>
          </a:prstGeom>
          <a:solidFill>
            <a:schemeClr val="dk2"/>
          </a:solidFill>
          <a:ln cap="flat" cmpd="sng" w="12700">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2" name="Google Shape;182;p9"/>
          <p:cNvSpPr txBox="1"/>
          <p:nvPr/>
        </p:nvSpPr>
        <p:spPr>
          <a:xfrm>
            <a:off x="6473952" y="160020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800"/>
              <a:buFont typeface="Calibri"/>
              <a:buNone/>
            </a:pPr>
            <a:r>
              <a:rPr b="1" lang="en-US" sz="1800">
                <a:solidFill>
                  <a:schemeClr val="lt1"/>
                </a:solidFill>
                <a:latin typeface="Calibri"/>
                <a:ea typeface="Calibri"/>
                <a:cs typeface="Calibri"/>
                <a:sym typeface="Calibri"/>
              </a:rPr>
              <a:t>T</a:t>
            </a:r>
            <a:endParaRPr sz="1800">
              <a:solidFill>
                <a:schemeClr val="dk1"/>
              </a:solidFill>
              <a:latin typeface="Calibri"/>
              <a:ea typeface="Calibri"/>
              <a:cs typeface="Calibri"/>
              <a:sym typeface="Calibri"/>
            </a:endParaRPr>
          </a:p>
        </p:txBody>
      </p:sp>
      <p:sp>
        <p:nvSpPr>
          <p:cNvPr id="183" name="Google Shape;183;p9"/>
          <p:cNvSpPr txBox="1"/>
          <p:nvPr/>
        </p:nvSpPr>
        <p:spPr>
          <a:xfrm>
            <a:off x="7114032" y="1600200"/>
            <a:ext cx="2743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2000"/>
              <a:buFont typeface="Calibri"/>
              <a:buNone/>
            </a:pPr>
            <a:r>
              <a:rPr b="1" lang="en-US" sz="2000">
                <a:solidFill>
                  <a:schemeClr val="dk2"/>
                </a:solidFill>
                <a:latin typeface="Calibri"/>
                <a:ea typeface="Calibri"/>
                <a:cs typeface="Calibri"/>
                <a:sym typeface="Calibri"/>
              </a:rPr>
              <a:t>Technological</a:t>
            </a:r>
            <a:endParaRPr sz="2000">
              <a:solidFill>
                <a:schemeClr val="dk1"/>
              </a:solidFill>
              <a:latin typeface="Calibri"/>
              <a:ea typeface="Calibri"/>
              <a:cs typeface="Calibri"/>
              <a:sym typeface="Calibri"/>
            </a:endParaRPr>
          </a:p>
        </p:txBody>
      </p:sp>
      <p:sp>
        <p:nvSpPr>
          <p:cNvPr id="184" name="Google Shape;184;p9"/>
          <p:cNvSpPr txBox="1"/>
          <p:nvPr/>
        </p:nvSpPr>
        <p:spPr>
          <a:xfrm>
            <a:off x="6473952" y="2267712"/>
            <a:ext cx="48920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1100"/>
              <a:buFont typeface="Calibri"/>
              <a:buNone/>
            </a:pPr>
            <a:r>
              <a:rPr b="1" lang="en-US" spc="200" sz="1100">
                <a:solidFill>
                  <a:schemeClr val="accent2"/>
                </a:solidFill>
                <a:latin typeface="Calibri"/>
                <a:ea typeface="Calibri"/>
                <a:cs typeface="Calibri"/>
                <a:sym typeface="Calibri"/>
              </a:rPr>
              <a:t>WHAT IS CHANGING</a:t>
            </a:r>
            <a:endParaRPr sz="1100">
              <a:solidFill>
                <a:schemeClr val="dk1"/>
              </a:solidFill>
              <a:latin typeface="Calibri"/>
              <a:ea typeface="Calibri"/>
              <a:cs typeface="Calibri"/>
              <a:sym typeface="Calibri"/>
            </a:endParaRPr>
          </a:p>
        </p:txBody>
      </p:sp>
      <p:sp>
        <p:nvSpPr>
          <p:cNvPr id="185" name="Google Shape;185;p9"/>
          <p:cNvSpPr txBox="1"/>
          <p:nvPr/>
        </p:nvSpPr>
        <p:spPr>
          <a:xfrm>
            <a:off x="6473952" y="2514600"/>
            <a:ext cx="489204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lang="en-US" sz="1400">
                <a:solidFill>
                  <a:schemeClr val="dk1"/>
                </a:solidFill>
                <a:latin typeface="Calibri"/>
                <a:ea typeface="Calibri"/>
                <a:cs typeface="Calibri"/>
                <a:sym typeface="Calibri"/>
              </a:rPr>
              <a:t>Personalized algorithms now decide which messages reach you, ranked for engagement. Short video and AI chatbots add new layers between people and sources.</a:t>
            </a:r>
            <a:endParaRPr sz="1400">
              <a:solidFill>
                <a:schemeClr val="dk1"/>
              </a:solidFill>
              <a:latin typeface="Calibri"/>
              <a:ea typeface="Calibri"/>
              <a:cs typeface="Calibri"/>
              <a:sym typeface="Calibri"/>
            </a:endParaRPr>
          </a:p>
        </p:txBody>
      </p:sp>
      <p:sp>
        <p:nvSpPr>
          <p:cNvPr id="186" name="Google Shape;186;p9"/>
          <p:cNvSpPr txBox="1"/>
          <p:nvPr/>
        </p:nvSpPr>
        <p:spPr>
          <a:xfrm>
            <a:off x="6473952" y="3310128"/>
            <a:ext cx="48920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1100"/>
              <a:buFont typeface="Calibri"/>
              <a:buNone/>
            </a:pPr>
            <a:r>
              <a:rPr b="1" lang="en-US" spc="200" sz="1100">
                <a:solidFill>
                  <a:schemeClr val="accent2"/>
                </a:solidFill>
                <a:latin typeface="Calibri"/>
                <a:ea typeface="Calibri"/>
                <a:cs typeface="Calibri"/>
                <a:sym typeface="Calibri"/>
              </a:rPr>
              <a:t>DATA</a:t>
            </a:r>
            <a:endParaRPr sz="1100">
              <a:solidFill>
                <a:schemeClr val="dk1"/>
              </a:solidFill>
              <a:latin typeface="Calibri"/>
              <a:ea typeface="Calibri"/>
              <a:cs typeface="Calibri"/>
              <a:sym typeface="Calibri"/>
            </a:endParaRPr>
          </a:p>
        </p:txBody>
      </p:sp>
      <p:sp>
        <p:nvSpPr>
          <p:cNvPr id="187" name="Google Shape;187;p9"/>
          <p:cNvSpPr txBox="1"/>
          <p:nvPr/>
        </p:nvSpPr>
        <p:spPr>
          <a:xfrm>
            <a:off x="6473952" y="3584448"/>
            <a:ext cx="10515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200"/>
              <a:buFont typeface="Arial"/>
              <a:buNone/>
            </a:pPr>
            <a:r>
              <a:rPr b="1" lang="en-US" sz="2200">
                <a:solidFill>
                  <a:schemeClr val="accent1"/>
                </a:solidFill>
                <a:latin typeface="Arial"/>
                <a:ea typeface="Arial"/>
                <a:cs typeface="Arial"/>
                <a:sym typeface="Arial"/>
              </a:rPr>
              <a:t>65%</a:t>
            </a:r>
            <a:endParaRPr sz="2200">
              <a:solidFill>
                <a:schemeClr val="dk1"/>
              </a:solidFill>
              <a:latin typeface="Calibri"/>
              <a:ea typeface="Calibri"/>
              <a:cs typeface="Calibri"/>
              <a:sym typeface="Calibri"/>
            </a:endParaRPr>
          </a:p>
        </p:txBody>
      </p:sp>
      <p:sp>
        <p:nvSpPr>
          <p:cNvPr id="188" name="Google Shape;188;p9"/>
          <p:cNvSpPr txBox="1"/>
          <p:nvPr/>
        </p:nvSpPr>
        <p:spPr>
          <a:xfrm>
            <a:off x="7571232" y="3584448"/>
            <a:ext cx="37947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C2E"/>
              </a:buClr>
              <a:buSzPts val="1200"/>
              <a:buFont typeface="Calibri"/>
              <a:buNone/>
            </a:pPr>
            <a:r>
              <a:rPr lang="en-US" sz="1200">
                <a:solidFill>
                  <a:srgbClr val="1A1C2E"/>
                </a:solidFill>
                <a:latin typeface="Calibri"/>
                <a:ea typeface="Calibri"/>
                <a:cs typeface="Calibri"/>
                <a:sym typeface="Calibri"/>
              </a:rPr>
              <a:t>of people consume social video news weekly, up from 52% in 2020 </a:t>
            </a:r>
            <a:r>
              <a:rPr i="1" lang="en-US" sz="1000">
                <a:solidFill>
                  <a:srgbClr val="6C74A8"/>
                </a:solidFill>
                <a:latin typeface="Calibri"/>
                <a:ea typeface="Calibri"/>
                <a:cs typeface="Calibri"/>
                <a:sym typeface="Calibri"/>
              </a:rPr>
              <a:t>Reuters Institute DNR 2025 [2]</a:t>
            </a:r>
            <a:endParaRPr sz="1200">
              <a:solidFill>
                <a:schemeClr val="dk1"/>
              </a:solidFill>
              <a:latin typeface="Calibri"/>
              <a:ea typeface="Calibri"/>
              <a:cs typeface="Calibri"/>
              <a:sym typeface="Calibri"/>
            </a:endParaRPr>
          </a:p>
        </p:txBody>
      </p:sp>
      <p:sp>
        <p:nvSpPr>
          <p:cNvPr id="189" name="Google Shape;189;p9"/>
          <p:cNvSpPr txBox="1"/>
          <p:nvPr/>
        </p:nvSpPr>
        <p:spPr>
          <a:xfrm>
            <a:off x="6473952" y="4206240"/>
            <a:ext cx="10515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200"/>
              <a:buFont typeface="Arial"/>
              <a:buNone/>
            </a:pPr>
            <a:r>
              <a:rPr b="1" lang="en-US" sz="2200">
                <a:solidFill>
                  <a:schemeClr val="accent1"/>
                </a:solidFill>
                <a:latin typeface="Arial"/>
                <a:ea typeface="Arial"/>
                <a:cs typeface="Arial"/>
                <a:sym typeface="Arial"/>
              </a:rPr>
              <a:t>73%</a:t>
            </a:r>
            <a:endParaRPr sz="2200">
              <a:solidFill>
                <a:schemeClr val="dk1"/>
              </a:solidFill>
              <a:latin typeface="Calibri"/>
              <a:ea typeface="Calibri"/>
              <a:cs typeface="Calibri"/>
              <a:sym typeface="Calibri"/>
            </a:endParaRPr>
          </a:p>
        </p:txBody>
      </p:sp>
      <p:sp>
        <p:nvSpPr>
          <p:cNvPr id="190" name="Google Shape;190;p9"/>
          <p:cNvSpPr txBox="1"/>
          <p:nvPr/>
        </p:nvSpPr>
        <p:spPr>
          <a:xfrm>
            <a:off x="7571232" y="4206240"/>
            <a:ext cx="37947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C2E"/>
              </a:buClr>
              <a:buSzPts val="1200"/>
              <a:buFont typeface="Calibri"/>
              <a:buNone/>
            </a:pPr>
            <a:r>
              <a:rPr lang="en-US" sz="1200">
                <a:solidFill>
                  <a:srgbClr val="1A1C2E"/>
                </a:solidFill>
                <a:latin typeface="Calibri"/>
                <a:ea typeface="Calibri"/>
                <a:cs typeface="Calibri"/>
                <a:sym typeface="Calibri"/>
              </a:rPr>
              <a:t>of Americans worry about telling what is real from fake online (58% globally) </a:t>
            </a:r>
            <a:r>
              <a:rPr i="1" lang="en-US" sz="1000">
                <a:solidFill>
                  <a:srgbClr val="6C74A8"/>
                </a:solidFill>
                <a:latin typeface="Calibri"/>
                <a:ea typeface="Calibri"/>
                <a:cs typeface="Calibri"/>
                <a:sym typeface="Calibri"/>
              </a:rPr>
              <a:t>Reuters Institute DNR 2025 [2]</a:t>
            </a:r>
            <a:endParaRPr sz="1200">
              <a:solidFill>
                <a:schemeClr val="dk1"/>
              </a:solidFill>
              <a:latin typeface="Calibri"/>
              <a:ea typeface="Calibri"/>
              <a:cs typeface="Calibri"/>
              <a:sym typeface="Calibri"/>
            </a:endParaRPr>
          </a:p>
        </p:txBody>
      </p:sp>
      <p:sp>
        <p:nvSpPr>
          <p:cNvPr id="191" name="Google Shape;191;p9"/>
          <p:cNvSpPr txBox="1"/>
          <p:nvPr/>
        </p:nvSpPr>
        <p:spPr>
          <a:xfrm>
            <a:off x="6473952" y="4828032"/>
            <a:ext cx="10515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200"/>
              <a:buFont typeface="Arial"/>
              <a:buNone/>
            </a:pPr>
            <a:r>
              <a:rPr b="1" lang="en-US" sz="2200">
                <a:solidFill>
                  <a:schemeClr val="accent1"/>
                </a:solidFill>
                <a:latin typeface="Arial"/>
                <a:ea typeface="Arial"/>
                <a:cs typeface="Arial"/>
                <a:sym typeface="Arial"/>
              </a:rPr>
              <a:t>15%</a:t>
            </a:r>
            <a:endParaRPr sz="2200">
              <a:solidFill>
                <a:schemeClr val="dk1"/>
              </a:solidFill>
              <a:latin typeface="Calibri"/>
              <a:ea typeface="Calibri"/>
              <a:cs typeface="Calibri"/>
              <a:sym typeface="Calibri"/>
            </a:endParaRPr>
          </a:p>
        </p:txBody>
      </p:sp>
      <p:sp>
        <p:nvSpPr>
          <p:cNvPr id="192" name="Google Shape;192;p9"/>
          <p:cNvSpPr txBox="1"/>
          <p:nvPr/>
        </p:nvSpPr>
        <p:spPr>
          <a:xfrm>
            <a:off x="7571232" y="4828032"/>
            <a:ext cx="37947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C2E"/>
              </a:buClr>
              <a:buSzPts val="1200"/>
              <a:buFont typeface="Calibri"/>
              <a:buNone/>
            </a:pPr>
            <a:r>
              <a:rPr lang="en-US" sz="1200">
                <a:solidFill>
                  <a:srgbClr val="1A1C2E"/>
                </a:solidFill>
                <a:latin typeface="Calibri"/>
                <a:ea typeface="Calibri"/>
                <a:cs typeface="Calibri"/>
                <a:sym typeface="Calibri"/>
              </a:rPr>
              <a:t>of under-25s used an AI chatbot for news in the past week (7% of all adults) </a:t>
            </a:r>
            <a:r>
              <a:rPr i="1" lang="en-US" sz="1000">
                <a:solidFill>
                  <a:srgbClr val="6C74A8"/>
                </a:solidFill>
                <a:latin typeface="Calibri"/>
                <a:ea typeface="Calibri"/>
                <a:cs typeface="Calibri"/>
                <a:sym typeface="Calibri"/>
              </a:rPr>
              <a:t>Reuters Institute DNR 2025 [2]</a:t>
            </a:r>
            <a:endParaRPr sz="1200">
              <a:solidFill>
                <a:schemeClr val="dk1"/>
              </a:solidFill>
              <a:latin typeface="Calibri"/>
              <a:ea typeface="Calibri"/>
              <a:cs typeface="Calibri"/>
              <a:sym typeface="Calibri"/>
            </a:endParaRPr>
          </a:p>
        </p:txBody>
      </p:sp>
      <p:sp>
        <p:nvSpPr>
          <p:cNvPr id="193" name="Google Shape;193;p9"/>
          <p:cNvSpPr/>
          <p:nvPr/>
        </p:nvSpPr>
        <p:spPr>
          <a:xfrm>
            <a:off x="6336792" y="5486400"/>
            <a:ext cx="5166360" cy="594360"/>
          </a:xfrm>
          <a:prstGeom prst="roundRect">
            <a:avLst>
              <a:gd fmla="val 12308" name="adj"/>
            </a:avLst>
          </a:prstGeom>
          <a:solidFill>
            <a:schemeClr val="lt1"/>
          </a:solidFill>
          <a:ln cap="flat" cmpd="sng" w="1270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4" name="Google Shape;194;p9"/>
          <p:cNvSpPr txBox="1"/>
          <p:nvPr/>
        </p:nvSpPr>
        <p:spPr>
          <a:xfrm>
            <a:off x="6519672" y="5486400"/>
            <a:ext cx="4800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5A36"/>
              </a:buClr>
              <a:buSzPts val="1100"/>
              <a:buFont typeface="Calibri"/>
              <a:buNone/>
            </a:pPr>
            <a:r>
              <a:rPr b="1" lang="en-US" spc="200" sz="1100">
                <a:solidFill>
                  <a:srgbClr val="FF5A36"/>
                </a:solidFill>
                <a:latin typeface="Calibri"/>
                <a:ea typeface="Calibri"/>
                <a:cs typeface="Calibri"/>
                <a:sym typeface="Calibri"/>
              </a:rPr>
              <a:t>BEING DESTROYED  </a:t>
            </a:r>
            <a:r>
              <a:rPr b="1" lang="en-US" sz="1400">
                <a:solidFill>
                  <a:srgbClr val="22264B"/>
                </a:solidFill>
                <a:latin typeface="Calibri"/>
                <a:ea typeface="Calibri"/>
                <a:cs typeface="Calibri"/>
                <a:sym typeface="Calibri"/>
              </a:rPr>
              <a:t>Seeing or setting what your feed is optimizing for</a:t>
            </a:r>
            <a:endParaRPr sz="1100">
              <a:solidFill>
                <a:schemeClr val="dk1"/>
              </a:solidFill>
              <a:latin typeface="Calibri"/>
              <a:ea typeface="Calibri"/>
              <a:cs typeface="Calibri"/>
              <a:sym typeface="Calibri"/>
            </a:endParaRPr>
          </a:p>
        </p:txBody>
      </p:sp>
      <p:sp>
        <p:nvSpPr>
          <p:cNvPr id="195" name="Google Shape;195;p9"/>
          <p:cNvSpPr txBox="1"/>
          <p:nvPr>
            <p:ph idx="4294967295" type="sldNum"/>
          </p:nvPr>
        </p:nvSpPr>
        <p:spPr>
          <a:xfrm>
            <a:off x="11155680" y="6400800"/>
            <a:ext cx="48463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000">
                <a:solidFill>
                  <a:schemeClr val="accent5"/>
                </a:solidFill>
                <a:latin typeface="Calibri"/>
                <a:ea typeface="Calibri"/>
                <a:cs typeface="Calibri"/>
                <a:sym typeface="Calibri"/>
              </a:rPr>
              <a:t>‹#›</a:t>
            </a:fld>
            <a:endParaRPr sz="1000">
              <a:solidFill>
                <a:schemeClr val="accent5"/>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0"/>
          <p:cNvSpPr txBox="1"/>
          <p:nvPr>
            <p:ph type="title"/>
          </p:nvPr>
        </p:nvSpPr>
        <p:spPr>
          <a:xfrm>
            <a:off x="548640" y="365760"/>
            <a:ext cx="11091672" cy="8229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000"/>
              <a:buFont typeface="Arial"/>
              <a:buNone/>
            </a:pPr>
            <a:r>
              <a:rPr b="1" lang="en-US" sz="3000">
                <a:solidFill>
                  <a:schemeClr val="dk2"/>
                </a:solidFill>
                <a:latin typeface="Arial"/>
                <a:ea typeface="Arial"/>
                <a:cs typeface="Arial"/>
                <a:sym typeface="Arial"/>
              </a:rPr>
              <a:t>Systems diagram: the forces meet at an invisible gate</a:t>
            </a:r>
            <a:endParaRPr sz="3000"/>
          </a:p>
        </p:txBody>
      </p:sp>
      <p:cxnSp>
        <p:nvCxnSpPr>
          <p:cNvPr id="202" name="Google Shape;202;p10"/>
          <p:cNvCxnSpPr/>
          <p:nvPr/>
        </p:nvCxnSpPr>
        <p:spPr>
          <a:xfrm>
            <a:off x="2651760" y="2468880"/>
            <a:ext cx="960120" cy="822960"/>
          </a:xfrm>
          <a:prstGeom prst="straightConnector1">
            <a:avLst/>
          </a:prstGeom>
          <a:noFill/>
          <a:ln cap="flat" cmpd="sng" w="15875">
            <a:solidFill>
              <a:srgbClr val="8A8FA8"/>
            </a:solidFill>
            <a:prstDash val="dash"/>
            <a:round/>
            <a:headEnd len="sm" w="sm" type="none"/>
            <a:tailEnd len="med" w="med" type="triangle"/>
          </a:ln>
        </p:spPr>
      </p:cxnSp>
      <p:cxnSp>
        <p:nvCxnSpPr>
          <p:cNvPr id="203" name="Google Shape;203;p10"/>
          <p:cNvCxnSpPr/>
          <p:nvPr/>
        </p:nvCxnSpPr>
        <p:spPr>
          <a:xfrm flipH="1">
            <a:off x="5166360" y="2468880"/>
            <a:ext cx="960120" cy="822960"/>
          </a:xfrm>
          <a:prstGeom prst="straightConnector1">
            <a:avLst/>
          </a:prstGeom>
          <a:noFill/>
          <a:ln cap="flat" cmpd="sng" w="15875">
            <a:solidFill>
              <a:srgbClr val="8A8FA8"/>
            </a:solidFill>
            <a:prstDash val="dash"/>
            <a:round/>
            <a:headEnd len="sm" w="sm" type="none"/>
            <a:tailEnd len="med" w="med" type="triangle"/>
          </a:ln>
        </p:spPr>
      </p:cxnSp>
      <p:cxnSp>
        <p:nvCxnSpPr>
          <p:cNvPr id="204" name="Google Shape;204;p10"/>
          <p:cNvCxnSpPr/>
          <p:nvPr/>
        </p:nvCxnSpPr>
        <p:spPr>
          <a:xfrm rot="10800000">
            <a:off x="5166360" y="4297680"/>
            <a:ext cx="960120" cy="822960"/>
          </a:xfrm>
          <a:prstGeom prst="straightConnector1">
            <a:avLst/>
          </a:prstGeom>
          <a:noFill/>
          <a:ln cap="flat" cmpd="sng" w="15875">
            <a:solidFill>
              <a:srgbClr val="8A8FA8"/>
            </a:solidFill>
            <a:prstDash val="dash"/>
            <a:round/>
            <a:headEnd len="sm" w="sm" type="none"/>
            <a:tailEnd len="med" w="med" type="triangle"/>
          </a:ln>
        </p:spPr>
      </p:cxnSp>
      <p:cxnSp>
        <p:nvCxnSpPr>
          <p:cNvPr id="205" name="Google Shape;205;p10"/>
          <p:cNvCxnSpPr/>
          <p:nvPr/>
        </p:nvCxnSpPr>
        <p:spPr>
          <a:xfrm flipH="1" rot="10800000">
            <a:off x="2651760" y="4297680"/>
            <a:ext cx="960120" cy="822960"/>
          </a:xfrm>
          <a:prstGeom prst="straightConnector1">
            <a:avLst/>
          </a:prstGeom>
          <a:noFill/>
          <a:ln cap="flat" cmpd="sng" w="15875">
            <a:solidFill>
              <a:srgbClr val="8A8FA8"/>
            </a:solidFill>
            <a:prstDash val="dash"/>
            <a:round/>
            <a:headEnd len="sm" w="sm" type="none"/>
            <a:tailEnd len="med" w="med" type="triangle"/>
          </a:ln>
        </p:spPr>
      </p:cxnSp>
      <p:sp>
        <p:nvSpPr>
          <p:cNvPr id="206" name="Google Shape;206;p10"/>
          <p:cNvSpPr/>
          <p:nvPr/>
        </p:nvSpPr>
        <p:spPr>
          <a:xfrm>
            <a:off x="3291840" y="3154680"/>
            <a:ext cx="2194560" cy="128016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7" name="Google Shape;207;p10"/>
          <p:cNvSpPr txBox="1"/>
          <p:nvPr/>
        </p:nvSpPr>
        <p:spPr>
          <a:xfrm>
            <a:off x="3291840" y="3154680"/>
            <a:ext cx="2194560" cy="12801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600"/>
              <a:buFont typeface="Calibri"/>
              <a:buNone/>
            </a:pPr>
            <a:r>
              <a:rPr b="1" lang="en-US" sz="1600">
                <a:solidFill>
                  <a:schemeClr val="lt1"/>
                </a:solidFill>
                <a:latin typeface="Calibri"/>
                <a:ea typeface="Calibri"/>
                <a:cs typeface="Calibri"/>
                <a:sym typeface="Calibri"/>
              </a:rPr>
              <a:t>The gate</a:t>
            </a:r>
            <a:endParaRPr sz="1600">
              <a:solidFill>
                <a:schemeClr val="dk1"/>
              </a:solidFill>
              <a:latin typeface="Calibri"/>
              <a:ea typeface="Calibri"/>
              <a:cs typeface="Calibri"/>
              <a:sym typeface="Calibri"/>
            </a:endParaRPr>
          </a:p>
          <a:p>
            <a:pPr indent="0" lvl="0" marL="0" marR="0" rtl="0" algn="ctr">
              <a:spcBef>
                <a:spcPts val="0"/>
              </a:spcBef>
              <a:spcAft>
                <a:spcPts val="0"/>
              </a:spcAft>
              <a:buClr>
                <a:schemeClr val="lt1"/>
              </a:buClr>
              <a:buSzPts val="1200"/>
              <a:buFont typeface="Calibri"/>
              <a:buNone/>
            </a:pPr>
            <a:r>
              <a:rPr lang="en-US" sz="1200">
                <a:solidFill>
                  <a:schemeClr val="lt1"/>
                </a:solidFill>
                <a:latin typeface="Calibri"/>
                <a:ea typeface="Calibri"/>
                <a:cs typeface="Calibri"/>
                <a:sym typeface="Calibri"/>
              </a:rPr>
              <a:t>between every sender and you</a:t>
            </a:r>
            <a:endParaRPr sz="1600">
              <a:solidFill>
                <a:schemeClr val="dk1"/>
              </a:solidFill>
              <a:latin typeface="Calibri"/>
              <a:ea typeface="Calibri"/>
              <a:cs typeface="Calibri"/>
              <a:sym typeface="Calibri"/>
            </a:endParaRPr>
          </a:p>
        </p:txBody>
      </p:sp>
      <p:sp>
        <p:nvSpPr>
          <p:cNvPr id="208" name="Google Shape;208;p10"/>
          <p:cNvSpPr/>
          <p:nvPr/>
        </p:nvSpPr>
        <p:spPr>
          <a:xfrm>
            <a:off x="548640" y="1554480"/>
            <a:ext cx="2103120" cy="914400"/>
          </a:xfrm>
          <a:prstGeom prst="roundRect">
            <a:avLst>
              <a:gd fmla="val 10000" name="adj"/>
            </a:avLst>
          </a:prstGeom>
          <a:solidFill>
            <a:schemeClr val="dk2"/>
          </a:solidFill>
          <a:ln cap="flat" cmpd="sng" w="12700">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9" name="Google Shape;209;p10"/>
          <p:cNvSpPr txBox="1"/>
          <p:nvPr/>
        </p:nvSpPr>
        <p:spPr>
          <a:xfrm>
            <a:off x="658368" y="1554480"/>
            <a:ext cx="1883664"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500"/>
              <a:buFont typeface="Calibri"/>
              <a:buNone/>
            </a:pPr>
            <a:r>
              <a:rPr b="1" lang="en-US" sz="1500">
                <a:solidFill>
                  <a:schemeClr val="lt1"/>
                </a:solidFill>
                <a:latin typeface="Calibri"/>
                <a:ea typeface="Calibri"/>
                <a:cs typeface="Calibri"/>
                <a:sym typeface="Calibri"/>
              </a:rPr>
              <a:t>Technological</a:t>
            </a:r>
            <a:endParaRPr sz="1500">
              <a:solidFill>
                <a:schemeClr val="dk1"/>
              </a:solidFill>
              <a:latin typeface="Calibri"/>
              <a:ea typeface="Calibri"/>
              <a:cs typeface="Calibri"/>
              <a:sym typeface="Calibri"/>
            </a:endParaRPr>
          </a:p>
          <a:p>
            <a:pPr indent="0" lvl="0" marL="0" marR="0" rtl="0" algn="ctr">
              <a:spcBef>
                <a:spcPts val="0"/>
              </a:spcBef>
              <a:spcAft>
                <a:spcPts val="0"/>
              </a:spcAft>
              <a:buClr>
                <a:srgbClr val="D5D8EA"/>
              </a:buClr>
              <a:buSzPts val="1100"/>
              <a:buFont typeface="Calibri"/>
              <a:buNone/>
            </a:pPr>
            <a:r>
              <a:rPr lang="en-US" sz="1100">
                <a:solidFill>
                  <a:srgbClr val="D5D8EA"/>
                </a:solidFill>
                <a:latin typeface="Calibri"/>
                <a:ea typeface="Calibri"/>
                <a:cs typeface="Calibri"/>
                <a:sym typeface="Calibri"/>
              </a:rPr>
              <a:t>Personalized algorithms</a:t>
            </a:r>
            <a:endParaRPr sz="1500">
              <a:solidFill>
                <a:schemeClr val="dk1"/>
              </a:solidFill>
              <a:latin typeface="Calibri"/>
              <a:ea typeface="Calibri"/>
              <a:cs typeface="Calibri"/>
              <a:sym typeface="Calibri"/>
            </a:endParaRPr>
          </a:p>
        </p:txBody>
      </p:sp>
      <p:sp>
        <p:nvSpPr>
          <p:cNvPr id="210" name="Google Shape;210;p10"/>
          <p:cNvSpPr/>
          <p:nvPr/>
        </p:nvSpPr>
        <p:spPr>
          <a:xfrm>
            <a:off x="6126480" y="1554480"/>
            <a:ext cx="2103120" cy="914400"/>
          </a:xfrm>
          <a:prstGeom prst="roundRect">
            <a:avLst>
              <a:gd fmla="val 10000" name="adj"/>
            </a:avLst>
          </a:prstGeom>
          <a:solidFill>
            <a:schemeClr val="dk2"/>
          </a:solidFill>
          <a:ln cap="flat" cmpd="sng" w="12700">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1" name="Google Shape;211;p10"/>
          <p:cNvSpPr txBox="1"/>
          <p:nvPr/>
        </p:nvSpPr>
        <p:spPr>
          <a:xfrm>
            <a:off x="6236208" y="1554480"/>
            <a:ext cx="1883664"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500"/>
              <a:buFont typeface="Calibri"/>
              <a:buNone/>
            </a:pPr>
            <a:r>
              <a:rPr b="1" lang="en-US" sz="1500">
                <a:solidFill>
                  <a:schemeClr val="lt1"/>
                </a:solidFill>
                <a:latin typeface="Calibri"/>
                <a:ea typeface="Calibri"/>
                <a:cs typeface="Calibri"/>
                <a:sym typeface="Calibri"/>
              </a:rPr>
              <a:t>Social</a:t>
            </a:r>
            <a:endParaRPr sz="1500">
              <a:solidFill>
                <a:schemeClr val="dk1"/>
              </a:solidFill>
              <a:latin typeface="Calibri"/>
              <a:ea typeface="Calibri"/>
              <a:cs typeface="Calibri"/>
              <a:sym typeface="Calibri"/>
            </a:endParaRPr>
          </a:p>
          <a:p>
            <a:pPr indent="0" lvl="0" marL="0" marR="0" rtl="0" algn="ctr">
              <a:spcBef>
                <a:spcPts val="0"/>
              </a:spcBef>
              <a:spcAft>
                <a:spcPts val="0"/>
              </a:spcAft>
              <a:buClr>
                <a:srgbClr val="D5D8EA"/>
              </a:buClr>
              <a:buSzPts val="1100"/>
              <a:buFont typeface="Calibri"/>
              <a:buNone/>
            </a:pPr>
            <a:r>
              <a:rPr lang="en-US" sz="1100">
                <a:solidFill>
                  <a:srgbClr val="D5D8EA"/>
                </a:solidFill>
                <a:latin typeface="Calibri"/>
                <a:ea typeface="Calibri"/>
                <a:cs typeface="Calibri"/>
                <a:sym typeface="Calibri"/>
              </a:rPr>
              <a:t>Shorter attention, trust in individuals</a:t>
            </a:r>
            <a:endParaRPr sz="1500">
              <a:solidFill>
                <a:schemeClr val="dk1"/>
              </a:solidFill>
              <a:latin typeface="Calibri"/>
              <a:ea typeface="Calibri"/>
              <a:cs typeface="Calibri"/>
              <a:sym typeface="Calibri"/>
            </a:endParaRPr>
          </a:p>
        </p:txBody>
      </p:sp>
      <p:sp>
        <p:nvSpPr>
          <p:cNvPr id="212" name="Google Shape;212;p10"/>
          <p:cNvSpPr/>
          <p:nvPr/>
        </p:nvSpPr>
        <p:spPr>
          <a:xfrm>
            <a:off x="6126480" y="5120640"/>
            <a:ext cx="2103120" cy="914400"/>
          </a:xfrm>
          <a:prstGeom prst="roundRect">
            <a:avLst>
              <a:gd fmla="val 10000" name="adj"/>
            </a:avLst>
          </a:prstGeom>
          <a:solidFill>
            <a:schemeClr val="dk2"/>
          </a:solidFill>
          <a:ln cap="flat" cmpd="sng" w="12700">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3" name="Google Shape;213;p10"/>
          <p:cNvSpPr txBox="1"/>
          <p:nvPr/>
        </p:nvSpPr>
        <p:spPr>
          <a:xfrm>
            <a:off x="6236208" y="5120640"/>
            <a:ext cx="1883664"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500"/>
              <a:buFont typeface="Calibri"/>
              <a:buNone/>
            </a:pPr>
            <a:r>
              <a:rPr b="1" lang="en-US" sz="1500">
                <a:solidFill>
                  <a:schemeClr val="lt1"/>
                </a:solidFill>
                <a:latin typeface="Calibri"/>
                <a:ea typeface="Calibri"/>
                <a:cs typeface="Calibri"/>
                <a:sym typeface="Calibri"/>
              </a:rPr>
              <a:t>Economic</a:t>
            </a:r>
            <a:endParaRPr sz="1500">
              <a:solidFill>
                <a:schemeClr val="dk1"/>
              </a:solidFill>
              <a:latin typeface="Calibri"/>
              <a:ea typeface="Calibri"/>
              <a:cs typeface="Calibri"/>
              <a:sym typeface="Calibri"/>
            </a:endParaRPr>
          </a:p>
          <a:p>
            <a:pPr indent="0" lvl="0" marL="0" marR="0" rtl="0" algn="ctr">
              <a:spcBef>
                <a:spcPts val="0"/>
              </a:spcBef>
              <a:spcAft>
                <a:spcPts val="0"/>
              </a:spcAft>
              <a:buClr>
                <a:srgbClr val="D5D8EA"/>
              </a:buClr>
              <a:buSzPts val="1100"/>
              <a:buFont typeface="Calibri"/>
              <a:buNone/>
            </a:pPr>
            <a:r>
              <a:rPr lang="en-US" sz="1100">
                <a:solidFill>
                  <a:srgbClr val="D5D8EA"/>
                </a:solidFill>
                <a:latin typeface="Calibri"/>
                <a:ea typeface="Calibri"/>
                <a:cs typeface="Calibri"/>
                <a:sym typeface="Calibri"/>
              </a:rPr>
              <a:t>Attention is the product</a:t>
            </a:r>
            <a:endParaRPr sz="1500">
              <a:solidFill>
                <a:schemeClr val="dk1"/>
              </a:solidFill>
              <a:latin typeface="Calibri"/>
              <a:ea typeface="Calibri"/>
              <a:cs typeface="Calibri"/>
              <a:sym typeface="Calibri"/>
            </a:endParaRPr>
          </a:p>
        </p:txBody>
      </p:sp>
      <p:sp>
        <p:nvSpPr>
          <p:cNvPr id="214" name="Google Shape;214;p10"/>
          <p:cNvSpPr/>
          <p:nvPr/>
        </p:nvSpPr>
        <p:spPr>
          <a:xfrm>
            <a:off x="548640" y="5120640"/>
            <a:ext cx="2103120" cy="914400"/>
          </a:xfrm>
          <a:prstGeom prst="roundRect">
            <a:avLst>
              <a:gd fmla="val 10000" name="adj"/>
            </a:avLst>
          </a:prstGeom>
          <a:solidFill>
            <a:schemeClr val="dk2"/>
          </a:solidFill>
          <a:ln cap="flat" cmpd="sng" w="12700">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5" name="Google Shape;215;p10"/>
          <p:cNvSpPr txBox="1"/>
          <p:nvPr/>
        </p:nvSpPr>
        <p:spPr>
          <a:xfrm>
            <a:off x="658368" y="5120640"/>
            <a:ext cx="1883664"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500"/>
              <a:buFont typeface="Calibri"/>
              <a:buNone/>
            </a:pPr>
            <a:r>
              <a:rPr b="1" lang="en-US" sz="1500">
                <a:solidFill>
                  <a:schemeClr val="lt1"/>
                </a:solidFill>
                <a:latin typeface="Calibri"/>
                <a:ea typeface="Calibri"/>
                <a:cs typeface="Calibri"/>
                <a:sym typeface="Calibri"/>
              </a:rPr>
              <a:t>Political</a:t>
            </a:r>
            <a:endParaRPr sz="1500">
              <a:solidFill>
                <a:schemeClr val="dk1"/>
              </a:solidFill>
              <a:latin typeface="Calibri"/>
              <a:ea typeface="Calibri"/>
              <a:cs typeface="Calibri"/>
              <a:sym typeface="Calibri"/>
            </a:endParaRPr>
          </a:p>
          <a:p>
            <a:pPr indent="0" lvl="0" marL="0" marR="0" rtl="0" algn="ctr">
              <a:spcBef>
                <a:spcPts val="0"/>
              </a:spcBef>
              <a:spcAft>
                <a:spcPts val="0"/>
              </a:spcAft>
              <a:buClr>
                <a:srgbClr val="D5D8EA"/>
              </a:buClr>
              <a:buSzPts val="1100"/>
              <a:buFont typeface="Calibri"/>
              <a:buNone/>
            </a:pPr>
            <a:r>
              <a:rPr lang="en-US" sz="1100">
                <a:solidFill>
                  <a:srgbClr val="D5D8EA"/>
                </a:solidFill>
                <a:latin typeface="Calibri"/>
                <a:ea typeface="Calibri"/>
                <a:cs typeface="Calibri"/>
                <a:sym typeface="Calibri"/>
              </a:rPr>
              <a:t>Falling confidence, polarization</a:t>
            </a:r>
            <a:endParaRPr sz="1500">
              <a:solidFill>
                <a:schemeClr val="dk1"/>
              </a:solidFill>
              <a:latin typeface="Calibri"/>
              <a:ea typeface="Calibri"/>
              <a:cs typeface="Calibri"/>
              <a:sym typeface="Calibri"/>
            </a:endParaRPr>
          </a:p>
        </p:txBody>
      </p:sp>
      <p:cxnSp>
        <p:nvCxnSpPr>
          <p:cNvPr id="216" name="Google Shape;216;p10"/>
          <p:cNvCxnSpPr/>
          <p:nvPr/>
        </p:nvCxnSpPr>
        <p:spPr>
          <a:xfrm>
            <a:off x="2697480" y="2011680"/>
            <a:ext cx="3383280" cy="0"/>
          </a:xfrm>
          <a:prstGeom prst="straightConnector1">
            <a:avLst/>
          </a:prstGeom>
          <a:noFill/>
          <a:ln cap="flat" cmpd="sng" w="28575">
            <a:solidFill>
              <a:srgbClr val="FF5A36"/>
            </a:solidFill>
            <a:prstDash val="solid"/>
            <a:round/>
            <a:headEnd len="sm" w="sm" type="none"/>
            <a:tailEnd len="med" w="med" type="triangle"/>
          </a:ln>
        </p:spPr>
      </p:cxnSp>
      <p:sp>
        <p:nvSpPr>
          <p:cNvPr id="217" name="Google Shape;217;p10"/>
          <p:cNvSpPr txBox="1"/>
          <p:nvPr/>
        </p:nvSpPr>
        <p:spPr>
          <a:xfrm>
            <a:off x="2788920" y="1417320"/>
            <a:ext cx="320040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Algorithms feed you more of what you already click</a:t>
            </a:r>
            <a:endParaRPr sz="1200">
              <a:solidFill>
                <a:schemeClr val="dk1"/>
              </a:solidFill>
              <a:latin typeface="Calibri"/>
              <a:ea typeface="Calibri"/>
              <a:cs typeface="Calibri"/>
              <a:sym typeface="Calibri"/>
            </a:endParaRPr>
          </a:p>
        </p:txBody>
      </p:sp>
      <p:cxnSp>
        <p:nvCxnSpPr>
          <p:cNvPr id="218" name="Google Shape;218;p10"/>
          <p:cNvCxnSpPr/>
          <p:nvPr/>
        </p:nvCxnSpPr>
        <p:spPr>
          <a:xfrm>
            <a:off x="7178040" y="2514600"/>
            <a:ext cx="0" cy="2560320"/>
          </a:xfrm>
          <a:prstGeom prst="straightConnector1">
            <a:avLst/>
          </a:prstGeom>
          <a:noFill/>
          <a:ln cap="flat" cmpd="sng" w="28575">
            <a:solidFill>
              <a:srgbClr val="FF5A36"/>
            </a:solidFill>
            <a:prstDash val="solid"/>
            <a:round/>
            <a:headEnd len="sm" w="sm" type="none"/>
            <a:tailEnd len="med" w="med" type="triangle"/>
          </a:ln>
        </p:spPr>
      </p:cxnSp>
      <p:sp>
        <p:nvSpPr>
          <p:cNvPr id="219" name="Google Shape;219;p10"/>
          <p:cNvSpPr txBox="1"/>
          <p:nvPr/>
        </p:nvSpPr>
        <p:spPr>
          <a:xfrm>
            <a:off x="5623560" y="3246120"/>
            <a:ext cx="1463040" cy="10972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Scarce attention becomes the thing being sold</a:t>
            </a:r>
            <a:endParaRPr sz="1200">
              <a:solidFill>
                <a:schemeClr val="dk1"/>
              </a:solidFill>
              <a:latin typeface="Calibri"/>
              <a:ea typeface="Calibri"/>
              <a:cs typeface="Calibri"/>
              <a:sym typeface="Calibri"/>
            </a:endParaRPr>
          </a:p>
        </p:txBody>
      </p:sp>
      <p:cxnSp>
        <p:nvCxnSpPr>
          <p:cNvPr id="220" name="Google Shape;220;p10"/>
          <p:cNvCxnSpPr/>
          <p:nvPr/>
        </p:nvCxnSpPr>
        <p:spPr>
          <a:xfrm>
            <a:off x="2697480" y="5577840"/>
            <a:ext cx="3383280" cy="0"/>
          </a:xfrm>
          <a:prstGeom prst="straightConnector1">
            <a:avLst/>
          </a:prstGeom>
          <a:noFill/>
          <a:ln cap="flat" cmpd="sng" w="28575">
            <a:solidFill>
              <a:srgbClr val="FF5A36"/>
            </a:solidFill>
            <a:prstDash val="solid"/>
            <a:round/>
            <a:headEnd len="med" w="med" type="triangle"/>
            <a:tailEnd len="sm" w="sm" type="none"/>
          </a:ln>
        </p:spPr>
      </p:cxnSp>
      <p:sp>
        <p:nvSpPr>
          <p:cNvPr id="221" name="Google Shape;221;p10"/>
          <p:cNvSpPr txBox="1"/>
          <p:nvPr/>
        </p:nvSpPr>
        <p:spPr>
          <a:xfrm>
            <a:off x="2788920" y="5669280"/>
            <a:ext cx="320040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Outrage and conflict drive engagement</a:t>
            </a:r>
            <a:endParaRPr sz="1200">
              <a:solidFill>
                <a:schemeClr val="dk1"/>
              </a:solidFill>
              <a:latin typeface="Calibri"/>
              <a:ea typeface="Calibri"/>
              <a:cs typeface="Calibri"/>
              <a:sym typeface="Calibri"/>
            </a:endParaRPr>
          </a:p>
        </p:txBody>
      </p:sp>
      <p:cxnSp>
        <p:nvCxnSpPr>
          <p:cNvPr id="222" name="Google Shape;222;p10"/>
          <p:cNvCxnSpPr/>
          <p:nvPr/>
        </p:nvCxnSpPr>
        <p:spPr>
          <a:xfrm>
            <a:off x="1600200" y="2514600"/>
            <a:ext cx="0" cy="2560320"/>
          </a:xfrm>
          <a:prstGeom prst="straightConnector1">
            <a:avLst/>
          </a:prstGeom>
          <a:noFill/>
          <a:ln cap="flat" cmpd="sng" w="28575">
            <a:solidFill>
              <a:srgbClr val="6C74A8"/>
            </a:solidFill>
            <a:prstDash val="dash"/>
            <a:round/>
            <a:headEnd len="med" w="med" type="triangle"/>
            <a:tailEnd len="med" w="med" type="triangle"/>
          </a:ln>
        </p:spPr>
      </p:cxnSp>
      <p:sp>
        <p:nvSpPr>
          <p:cNvPr id="223" name="Google Shape;223;p10"/>
          <p:cNvSpPr txBox="1"/>
          <p:nvPr/>
        </p:nvSpPr>
        <p:spPr>
          <a:xfrm>
            <a:off x="1737360" y="3246120"/>
            <a:ext cx="146304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Campaigns rely on targeting, while EU rules now require a non-profiled feed option [13]</a:t>
            </a:r>
            <a:endParaRPr sz="1200">
              <a:solidFill>
                <a:schemeClr val="dk1"/>
              </a:solidFill>
              <a:latin typeface="Calibri"/>
              <a:ea typeface="Calibri"/>
              <a:cs typeface="Calibri"/>
              <a:sym typeface="Calibri"/>
            </a:endParaRPr>
          </a:p>
        </p:txBody>
      </p:sp>
      <p:sp>
        <p:nvSpPr>
          <p:cNvPr id="224" name="Google Shape;224;p10"/>
          <p:cNvSpPr/>
          <p:nvPr/>
        </p:nvSpPr>
        <p:spPr>
          <a:xfrm>
            <a:off x="8595360" y="1554480"/>
            <a:ext cx="3044952" cy="4480560"/>
          </a:xfrm>
          <a:prstGeom prst="roundRect">
            <a:avLst>
              <a:gd fmla="val 3604" name="adj"/>
            </a:avLst>
          </a:prstGeom>
          <a:solidFill>
            <a:schemeClr val="lt2"/>
          </a:solidFill>
          <a:ln cap="flat" cmpd="sng" w="12700">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5" name="Google Shape;225;p10"/>
          <p:cNvSpPr txBox="1"/>
          <p:nvPr/>
        </p:nvSpPr>
        <p:spPr>
          <a:xfrm>
            <a:off x="8823960" y="1719072"/>
            <a:ext cx="26517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100"/>
              <a:buFont typeface="Calibri"/>
              <a:buNone/>
            </a:pPr>
            <a:r>
              <a:rPr b="1" lang="en-US" spc="200" sz="1100">
                <a:solidFill>
                  <a:schemeClr val="accent1"/>
                </a:solidFill>
                <a:latin typeface="Calibri"/>
                <a:ea typeface="Calibri"/>
                <a:cs typeface="Calibri"/>
                <a:sym typeface="Calibri"/>
              </a:rPr>
              <a:t>WHERE FORCES CONVERGE</a:t>
            </a:r>
            <a:endParaRPr sz="1100">
              <a:solidFill>
                <a:schemeClr val="dk1"/>
              </a:solidFill>
              <a:latin typeface="Calibri"/>
              <a:ea typeface="Calibri"/>
              <a:cs typeface="Calibri"/>
              <a:sym typeface="Calibri"/>
            </a:endParaRPr>
          </a:p>
        </p:txBody>
      </p:sp>
      <p:sp>
        <p:nvSpPr>
          <p:cNvPr id="226" name="Google Shape;226;p10"/>
          <p:cNvSpPr txBox="1"/>
          <p:nvPr/>
        </p:nvSpPr>
        <p:spPr>
          <a:xfrm>
            <a:off x="8823960" y="1993392"/>
            <a:ext cx="260604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lang="en-US" sz="1300">
                <a:solidFill>
                  <a:schemeClr val="dk1"/>
                </a:solidFill>
                <a:latin typeface="Calibri"/>
                <a:ea typeface="Calibri"/>
                <a:cs typeface="Calibri"/>
                <a:sym typeface="Calibri"/>
              </a:rPr>
              <a:t>In the channel: algorithms decide which voices reach each person, ranked for engagement, not for that person.</a:t>
            </a:r>
            <a:endParaRPr sz="1300">
              <a:solidFill>
                <a:schemeClr val="dk1"/>
              </a:solidFill>
              <a:latin typeface="Calibri"/>
              <a:ea typeface="Calibri"/>
              <a:cs typeface="Calibri"/>
              <a:sym typeface="Calibri"/>
            </a:endParaRPr>
          </a:p>
        </p:txBody>
      </p:sp>
      <p:sp>
        <p:nvSpPr>
          <p:cNvPr id="227" name="Google Shape;227;p10"/>
          <p:cNvSpPr txBox="1"/>
          <p:nvPr/>
        </p:nvSpPr>
        <p:spPr>
          <a:xfrm>
            <a:off x="8823960" y="2999232"/>
            <a:ext cx="26517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1100"/>
              <a:buFont typeface="Calibri"/>
              <a:buNone/>
            </a:pPr>
            <a:r>
              <a:rPr b="1" lang="en-US" spc="200" sz="1100">
                <a:solidFill>
                  <a:schemeClr val="accent2"/>
                </a:solidFill>
                <a:latin typeface="Calibri"/>
                <a:ea typeface="Calibri"/>
                <a:cs typeface="Calibri"/>
                <a:sym typeface="Calibri"/>
              </a:rPr>
              <a:t>EVIDENCE FOR THE LOOP</a:t>
            </a:r>
            <a:endParaRPr sz="1100">
              <a:solidFill>
                <a:schemeClr val="dk1"/>
              </a:solidFill>
              <a:latin typeface="Calibri"/>
              <a:ea typeface="Calibri"/>
              <a:cs typeface="Calibri"/>
              <a:sym typeface="Calibri"/>
            </a:endParaRPr>
          </a:p>
        </p:txBody>
      </p:sp>
      <p:sp>
        <p:nvSpPr>
          <p:cNvPr id="228" name="Google Shape;228;p10"/>
          <p:cNvSpPr txBox="1"/>
          <p:nvPr/>
        </p:nvSpPr>
        <p:spPr>
          <a:xfrm>
            <a:off x="8823960" y="3273552"/>
            <a:ext cx="2606040" cy="13258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chemeClr val="dk1"/>
              </a:buClr>
              <a:buSzPts val="1100"/>
              <a:buFont typeface="Calibri"/>
              <a:buChar char="•"/>
            </a:pPr>
            <a:r>
              <a:rPr lang="en-US" sz="1100">
                <a:solidFill>
                  <a:schemeClr val="dk1"/>
                </a:solidFill>
                <a:latin typeface="Calibri"/>
                <a:ea typeface="Calibri"/>
                <a:cs typeface="Calibri"/>
                <a:sym typeface="Calibri"/>
              </a:rPr>
              <a:t>T→S: ranked feeds keep people on the platform longer than chronological ones [12]</a:t>
            </a:r>
            <a:endParaRPr sz="1100">
              <a:solidFill>
                <a:schemeClr val="dk1"/>
              </a:solidFill>
              <a:latin typeface="Calibri"/>
              <a:ea typeface="Calibri"/>
              <a:cs typeface="Calibri"/>
              <a:sym typeface="Calibri"/>
            </a:endParaRPr>
          </a:p>
          <a:p>
            <a:pPr indent="-342900" lvl="0" marL="342900" marR="0" rtl="0" algn="l">
              <a:spcBef>
                <a:spcPts val="300"/>
              </a:spcBef>
              <a:spcAft>
                <a:spcPts val="0"/>
              </a:spcAft>
              <a:buClr>
                <a:schemeClr val="dk1"/>
              </a:buClr>
              <a:buSzPts val="1100"/>
              <a:buFont typeface="Calibri"/>
              <a:buChar char="•"/>
            </a:pPr>
            <a:r>
              <a:rPr lang="en-US" sz="1100">
                <a:solidFill>
                  <a:schemeClr val="dk1"/>
                </a:solidFill>
                <a:latin typeface="Calibri"/>
                <a:ea typeface="Calibri"/>
                <a:cs typeface="Calibri"/>
                <a:sym typeface="Calibri"/>
              </a:rPr>
              <a:t>S→E: digital takes 73% of global ad revenue [9]</a:t>
            </a:r>
            <a:endParaRPr sz="1100">
              <a:solidFill>
                <a:schemeClr val="dk1"/>
              </a:solidFill>
              <a:latin typeface="Calibri"/>
              <a:ea typeface="Calibri"/>
              <a:cs typeface="Calibri"/>
              <a:sym typeface="Calibri"/>
            </a:endParaRPr>
          </a:p>
          <a:p>
            <a:pPr indent="-342900" lvl="0" marL="342900" marR="0" rtl="0" algn="l">
              <a:spcBef>
                <a:spcPts val="300"/>
              </a:spcBef>
              <a:spcAft>
                <a:spcPts val="0"/>
              </a:spcAft>
              <a:buClr>
                <a:schemeClr val="dk1"/>
              </a:buClr>
              <a:buSzPts val="1100"/>
              <a:buFont typeface="Calibri"/>
              <a:buChar char="•"/>
            </a:pPr>
            <a:r>
              <a:rPr lang="en-US" sz="1100">
                <a:solidFill>
                  <a:schemeClr val="dk1"/>
                </a:solidFill>
                <a:latin typeface="Calibri"/>
                <a:ea typeface="Calibri"/>
                <a:cs typeface="Calibri"/>
                <a:sym typeface="Calibri"/>
              </a:rPr>
              <a:t>E→P: broadcast fell below half of political ad spend [8]</a:t>
            </a:r>
            <a:endParaRPr sz="1100">
              <a:solidFill>
                <a:schemeClr val="dk1"/>
              </a:solidFill>
              <a:latin typeface="Calibri"/>
              <a:ea typeface="Calibri"/>
              <a:cs typeface="Calibri"/>
              <a:sym typeface="Calibri"/>
            </a:endParaRPr>
          </a:p>
        </p:txBody>
      </p:sp>
      <p:cxnSp>
        <p:nvCxnSpPr>
          <p:cNvPr id="229" name="Google Shape;229;p10"/>
          <p:cNvCxnSpPr/>
          <p:nvPr/>
        </p:nvCxnSpPr>
        <p:spPr>
          <a:xfrm>
            <a:off x="8823960" y="4846320"/>
            <a:ext cx="548640" cy="0"/>
          </a:xfrm>
          <a:prstGeom prst="straightConnector1">
            <a:avLst/>
          </a:prstGeom>
          <a:noFill/>
          <a:ln cap="flat" cmpd="sng" w="28575">
            <a:solidFill>
              <a:srgbClr val="FF5A36"/>
            </a:solidFill>
            <a:prstDash val="solid"/>
            <a:round/>
            <a:headEnd len="sm" w="sm" type="none"/>
            <a:tailEnd len="med" w="med" type="triangle"/>
          </a:ln>
        </p:spPr>
      </p:cxnSp>
      <p:sp>
        <p:nvSpPr>
          <p:cNvPr id="230" name="Google Shape;230;p10"/>
          <p:cNvSpPr txBox="1"/>
          <p:nvPr/>
        </p:nvSpPr>
        <p:spPr>
          <a:xfrm>
            <a:off x="9509760" y="4709160"/>
            <a:ext cx="2011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Reinforces</a:t>
            </a:r>
            <a:endParaRPr sz="1200">
              <a:solidFill>
                <a:schemeClr val="dk1"/>
              </a:solidFill>
              <a:latin typeface="Calibri"/>
              <a:ea typeface="Calibri"/>
              <a:cs typeface="Calibri"/>
              <a:sym typeface="Calibri"/>
            </a:endParaRPr>
          </a:p>
        </p:txBody>
      </p:sp>
      <p:cxnSp>
        <p:nvCxnSpPr>
          <p:cNvPr id="231" name="Google Shape;231;p10"/>
          <p:cNvCxnSpPr/>
          <p:nvPr/>
        </p:nvCxnSpPr>
        <p:spPr>
          <a:xfrm>
            <a:off x="8823960" y="5230368"/>
            <a:ext cx="548640" cy="0"/>
          </a:xfrm>
          <a:prstGeom prst="straightConnector1">
            <a:avLst/>
          </a:prstGeom>
          <a:noFill/>
          <a:ln cap="flat" cmpd="sng" w="28575">
            <a:solidFill>
              <a:srgbClr val="6C74A8"/>
            </a:solidFill>
            <a:prstDash val="dash"/>
            <a:round/>
            <a:headEnd len="med" w="med" type="triangle"/>
            <a:tailEnd len="med" w="med" type="triangle"/>
          </a:ln>
        </p:spPr>
      </p:cxnSp>
      <p:sp>
        <p:nvSpPr>
          <p:cNvPr id="232" name="Google Shape;232;p10"/>
          <p:cNvSpPr txBox="1"/>
          <p:nvPr/>
        </p:nvSpPr>
        <p:spPr>
          <a:xfrm>
            <a:off x="9509760" y="5093208"/>
            <a:ext cx="2011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Creates tension</a:t>
            </a:r>
            <a:endParaRPr sz="1200">
              <a:solidFill>
                <a:schemeClr val="dk1"/>
              </a:solidFill>
              <a:latin typeface="Calibri"/>
              <a:ea typeface="Calibri"/>
              <a:cs typeface="Calibri"/>
              <a:sym typeface="Calibri"/>
            </a:endParaRPr>
          </a:p>
        </p:txBody>
      </p:sp>
      <p:cxnSp>
        <p:nvCxnSpPr>
          <p:cNvPr id="233" name="Google Shape;233;p10"/>
          <p:cNvCxnSpPr/>
          <p:nvPr/>
        </p:nvCxnSpPr>
        <p:spPr>
          <a:xfrm>
            <a:off x="8823960" y="5614416"/>
            <a:ext cx="548640" cy="0"/>
          </a:xfrm>
          <a:prstGeom prst="straightConnector1">
            <a:avLst/>
          </a:prstGeom>
          <a:noFill/>
          <a:ln cap="flat" cmpd="sng" w="15875">
            <a:solidFill>
              <a:srgbClr val="8A8FA8"/>
            </a:solidFill>
            <a:prstDash val="dash"/>
            <a:round/>
            <a:headEnd len="sm" w="sm" type="none"/>
            <a:tailEnd len="med" w="med" type="triangle"/>
          </a:ln>
        </p:spPr>
      </p:cxnSp>
      <p:sp>
        <p:nvSpPr>
          <p:cNvPr id="234" name="Google Shape;234;p10"/>
          <p:cNvSpPr txBox="1"/>
          <p:nvPr/>
        </p:nvSpPr>
        <p:spPr>
          <a:xfrm>
            <a:off x="9509760" y="5477256"/>
            <a:ext cx="2011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Pressure on the gate</a:t>
            </a:r>
            <a:endParaRPr sz="1200">
              <a:solidFill>
                <a:schemeClr val="dk1"/>
              </a:solidFill>
              <a:latin typeface="Calibri"/>
              <a:ea typeface="Calibri"/>
              <a:cs typeface="Calibri"/>
              <a:sym typeface="Calibri"/>
            </a:endParaRPr>
          </a:p>
        </p:txBody>
      </p:sp>
      <p:sp>
        <p:nvSpPr>
          <p:cNvPr id="235" name="Google Shape;235;p10"/>
          <p:cNvSpPr txBox="1"/>
          <p:nvPr>
            <p:ph idx="4294967295" type="sldNum"/>
          </p:nvPr>
        </p:nvSpPr>
        <p:spPr>
          <a:xfrm>
            <a:off x="11155680" y="6400800"/>
            <a:ext cx="48463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000">
                <a:solidFill>
                  <a:schemeClr val="accent5"/>
                </a:solidFill>
                <a:latin typeface="Calibri"/>
                <a:ea typeface="Calibri"/>
                <a:cs typeface="Calibri"/>
                <a:sym typeface="Calibri"/>
              </a:rPr>
              <a:t>‹#›</a:t>
            </a:fld>
            <a:endParaRPr sz="1000">
              <a:solidFill>
                <a:schemeClr val="accent5"/>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11"/>
          <p:cNvSpPr txBox="1"/>
          <p:nvPr>
            <p:ph type="title"/>
          </p:nvPr>
        </p:nvSpPr>
        <p:spPr>
          <a:xfrm>
            <a:off x="548640" y="365760"/>
            <a:ext cx="11091672" cy="8229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000"/>
              <a:buFont typeface="Arial"/>
              <a:buNone/>
            </a:pPr>
            <a:r>
              <a:rPr b="1" lang="en-US" sz="3000">
                <a:solidFill>
                  <a:schemeClr val="dk2"/>
                </a:solidFill>
                <a:latin typeface="Arial"/>
                <a:ea typeface="Arial"/>
                <a:cs typeface="Arial"/>
                <a:sym typeface="Arial"/>
              </a:rPr>
              <a:t>What the evidence does and doesn't show</a:t>
            </a:r>
            <a:endParaRPr sz="3000"/>
          </a:p>
        </p:txBody>
      </p:sp>
      <p:sp>
        <p:nvSpPr>
          <p:cNvPr id="242" name="Google Shape;242;p11"/>
          <p:cNvSpPr/>
          <p:nvPr/>
        </p:nvSpPr>
        <p:spPr>
          <a:xfrm>
            <a:off x="548640" y="1371600"/>
            <a:ext cx="5440680" cy="4846320"/>
          </a:xfrm>
          <a:prstGeom prst="roundRect">
            <a:avLst>
              <a:gd fmla="val 2264" name="adj"/>
            </a:avLst>
          </a:prstGeom>
          <a:solidFill>
            <a:schemeClr val="lt2"/>
          </a:solidFill>
          <a:ln cap="flat" cmpd="sng" w="12700">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3" name="Google Shape;243;p11"/>
          <p:cNvSpPr/>
          <p:nvPr/>
        </p:nvSpPr>
        <p:spPr>
          <a:xfrm>
            <a:off x="822960" y="1600200"/>
            <a:ext cx="502920" cy="502920"/>
          </a:xfrm>
          <a:prstGeom prst="ellipse">
            <a:avLst/>
          </a:prstGeom>
          <a:solidFill>
            <a:schemeClr val="dk2"/>
          </a:solidFill>
          <a:ln cap="flat" cmpd="sng" w="12700">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4" name="Google Shape;244;p11"/>
          <p:cNvSpPr txBox="1"/>
          <p:nvPr/>
        </p:nvSpPr>
        <p:spPr>
          <a:xfrm>
            <a:off x="822960" y="160020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800"/>
              <a:buFont typeface="Calibri"/>
              <a:buNone/>
            </a:pPr>
            <a:r>
              <a:rPr b="1" lang="en-US" sz="1800">
                <a:solidFill>
                  <a:schemeClr val="lt1"/>
                </a:solidFill>
                <a:latin typeface="Calibri"/>
                <a:ea typeface="Calibri"/>
                <a:cs typeface="Calibri"/>
                <a:sym typeface="Calibri"/>
              </a:rPr>
              <a:t>✓</a:t>
            </a:r>
            <a:endParaRPr sz="1800">
              <a:solidFill>
                <a:schemeClr val="dk1"/>
              </a:solidFill>
              <a:latin typeface="Calibri"/>
              <a:ea typeface="Calibri"/>
              <a:cs typeface="Calibri"/>
              <a:sym typeface="Calibri"/>
            </a:endParaRPr>
          </a:p>
        </p:txBody>
      </p:sp>
      <p:sp>
        <p:nvSpPr>
          <p:cNvPr id="245" name="Google Shape;245;p11"/>
          <p:cNvSpPr txBox="1"/>
          <p:nvPr/>
        </p:nvSpPr>
        <p:spPr>
          <a:xfrm>
            <a:off x="1463040" y="1600200"/>
            <a:ext cx="2743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2000"/>
              <a:buFont typeface="Calibri"/>
              <a:buNone/>
            </a:pPr>
            <a:r>
              <a:rPr b="1" lang="en-US" sz="2000">
                <a:solidFill>
                  <a:schemeClr val="dk2"/>
                </a:solidFill>
                <a:latin typeface="Calibri"/>
                <a:ea typeface="Calibri"/>
                <a:cs typeface="Calibri"/>
                <a:sym typeface="Calibri"/>
              </a:rPr>
              <a:t>What it found</a:t>
            </a:r>
            <a:endParaRPr sz="2000">
              <a:solidFill>
                <a:schemeClr val="dk1"/>
              </a:solidFill>
              <a:latin typeface="Calibri"/>
              <a:ea typeface="Calibri"/>
              <a:cs typeface="Calibri"/>
              <a:sym typeface="Calibri"/>
            </a:endParaRPr>
          </a:p>
        </p:txBody>
      </p:sp>
      <p:sp>
        <p:nvSpPr>
          <p:cNvPr id="246" name="Google Shape;246;p11"/>
          <p:cNvSpPr txBox="1"/>
          <p:nvPr/>
        </p:nvSpPr>
        <p:spPr>
          <a:xfrm>
            <a:off x="822960" y="2267712"/>
            <a:ext cx="48920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1100"/>
              <a:buFont typeface="Calibri"/>
              <a:buNone/>
            </a:pPr>
            <a:r>
              <a:rPr b="1" lang="en-US" spc="200" sz="1100">
                <a:solidFill>
                  <a:schemeClr val="accent2"/>
                </a:solidFill>
                <a:latin typeface="Calibri"/>
                <a:ea typeface="Calibri"/>
                <a:cs typeface="Calibri"/>
                <a:sym typeface="Calibri"/>
              </a:rPr>
              <a:t>THE STUDY</a:t>
            </a:r>
            <a:endParaRPr sz="1100">
              <a:solidFill>
                <a:schemeClr val="dk1"/>
              </a:solidFill>
              <a:latin typeface="Calibri"/>
              <a:ea typeface="Calibri"/>
              <a:cs typeface="Calibri"/>
              <a:sym typeface="Calibri"/>
            </a:endParaRPr>
          </a:p>
        </p:txBody>
      </p:sp>
      <p:sp>
        <p:nvSpPr>
          <p:cNvPr id="247" name="Google Shape;247;p11"/>
          <p:cNvSpPr txBox="1"/>
          <p:nvPr/>
        </p:nvSpPr>
        <p:spPr>
          <a:xfrm>
            <a:off x="822960" y="2514600"/>
            <a:ext cx="489204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lang="en-US" sz="1400">
                <a:solidFill>
                  <a:schemeClr val="dk1"/>
                </a:solidFill>
                <a:latin typeface="Calibri"/>
                <a:ea typeface="Calibri"/>
                <a:cs typeface="Calibri"/>
                <a:sym typeface="Calibri"/>
              </a:rPr>
              <a:t>Guess et al. (Science, 2023) moved tens of thousands of US adults on Facebook and Instagram to a chronological feed for 3 months around the 2020 election.</a:t>
            </a:r>
            <a:endParaRPr sz="1400">
              <a:solidFill>
                <a:schemeClr val="dk1"/>
              </a:solidFill>
              <a:latin typeface="Calibri"/>
              <a:ea typeface="Calibri"/>
              <a:cs typeface="Calibri"/>
              <a:sym typeface="Calibri"/>
            </a:endParaRPr>
          </a:p>
        </p:txBody>
      </p:sp>
      <p:sp>
        <p:nvSpPr>
          <p:cNvPr id="248" name="Google Shape;248;p11"/>
          <p:cNvSpPr txBox="1"/>
          <p:nvPr/>
        </p:nvSpPr>
        <p:spPr>
          <a:xfrm>
            <a:off x="822960" y="3310128"/>
            <a:ext cx="48920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1100"/>
              <a:buFont typeface="Calibri"/>
              <a:buNone/>
            </a:pPr>
            <a:r>
              <a:rPr b="1" lang="en-US" spc="200" sz="1100">
                <a:solidFill>
                  <a:schemeClr val="accent2"/>
                </a:solidFill>
                <a:latin typeface="Calibri"/>
                <a:ea typeface="Calibri"/>
                <a:cs typeface="Calibri"/>
                <a:sym typeface="Calibri"/>
              </a:rPr>
              <a:t>RESULTS</a:t>
            </a:r>
            <a:endParaRPr sz="1100">
              <a:solidFill>
                <a:schemeClr val="dk1"/>
              </a:solidFill>
              <a:latin typeface="Calibri"/>
              <a:ea typeface="Calibri"/>
              <a:cs typeface="Calibri"/>
              <a:sym typeface="Calibri"/>
            </a:endParaRPr>
          </a:p>
        </p:txBody>
      </p:sp>
      <p:sp>
        <p:nvSpPr>
          <p:cNvPr id="249" name="Google Shape;249;p11"/>
          <p:cNvSpPr txBox="1"/>
          <p:nvPr/>
        </p:nvSpPr>
        <p:spPr>
          <a:xfrm>
            <a:off x="822960" y="3584448"/>
            <a:ext cx="10515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200"/>
              <a:buFont typeface="Arial"/>
              <a:buNone/>
            </a:pPr>
            <a:r>
              <a:rPr b="1" lang="en-US" sz="2200">
                <a:solidFill>
                  <a:schemeClr val="accent1"/>
                </a:solidFill>
                <a:latin typeface="Arial"/>
                <a:ea typeface="Arial"/>
                <a:cs typeface="Arial"/>
                <a:sym typeface="Arial"/>
              </a:rPr>
              <a:t>Less</a:t>
            </a:r>
            <a:endParaRPr sz="2200">
              <a:solidFill>
                <a:schemeClr val="dk1"/>
              </a:solidFill>
              <a:latin typeface="Calibri"/>
              <a:ea typeface="Calibri"/>
              <a:cs typeface="Calibri"/>
              <a:sym typeface="Calibri"/>
            </a:endParaRPr>
          </a:p>
        </p:txBody>
      </p:sp>
      <p:sp>
        <p:nvSpPr>
          <p:cNvPr id="250" name="Google Shape;250;p11"/>
          <p:cNvSpPr txBox="1"/>
          <p:nvPr/>
        </p:nvSpPr>
        <p:spPr>
          <a:xfrm>
            <a:off x="1920240" y="3584448"/>
            <a:ext cx="37947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C2E"/>
              </a:buClr>
              <a:buSzPts val="1200"/>
              <a:buFont typeface="Calibri"/>
              <a:buNone/>
            </a:pPr>
            <a:r>
              <a:rPr lang="en-US" sz="1200">
                <a:solidFill>
                  <a:srgbClr val="1A1C2E"/>
                </a:solidFill>
                <a:latin typeface="Calibri"/>
                <a:ea typeface="Calibri"/>
                <a:cs typeface="Calibri"/>
                <a:sym typeface="Calibri"/>
              </a:rPr>
              <a:t>time spent on the platform with a chronological feed </a:t>
            </a:r>
            <a:r>
              <a:rPr i="1" lang="en-US" sz="1000">
                <a:solidFill>
                  <a:srgbClr val="6C74A8"/>
                </a:solidFill>
                <a:latin typeface="Calibri"/>
                <a:ea typeface="Calibri"/>
                <a:cs typeface="Calibri"/>
                <a:sym typeface="Calibri"/>
              </a:rPr>
              <a:t>Guess et al. 2023 [12]</a:t>
            </a:r>
            <a:endParaRPr sz="1200">
              <a:solidFill>
                <a:schemeClr val="dk1"/>
              </a:solidFill>
              <a:latin typeface="Calibri"/>
              <a:ea typeface="Calibri"/>
              <a:cs typeface="Calibri"/>
              <a:sym typeface="Calibri"/>
            </a:endParaRPr>
          </a:p>
        </p:txBody>
      </p:sp>
      <p:sp>
        <p:nvSpPr>
          <p:cNvPr id="251" name="Google Shape;251;p11"/>
          <p:cNvSpPr txBox="1"/>
          <p:nvPr/>
        </p:nvSpPr>
        <p:spPr>
          <a:xfrm>
            <a:off x="822960" y="4206240"/>
            <a:ext cx="10515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200"/>
              <a:buFont typeface="Arial"/>
              <a:buNone/>
            </a:pPr>
            <a:r>
              <a:rPr b="1" lang="en-US" sz="2200">
                <a:solidFill>
                  <a:schemeClr val="accent1"/>
                </a:solidFill>
                <a:latin typeface="Arial"/>
                <a:ea typeface="Arial"/>
                <a:cs typeface="Arial"/>
                <a:sym typeface="Arial"/>
              </a:rPr>
              <a:t>More</a:t>
            </a:r>
            <a:endParaRPr sz="2200">
              <a:solidFill>
                <a:schemeClr val="dk1"/>
              </a:solidFill>
              <a:latin typeface="Calibri"/>
              <a:ea typeface="Calibri"/>
              <a:cs typeface="Calibri"/>
              <a:sym typeface="Calibri"/>
            </a:endParaRPr>
          </a:p>
        </p:txBody>
      </p:sp>
      <p:sp>
        <p:nvSpPr>
          <p:cNvPr id="252" name="Google Shape;252;p11"/>
          <p:cNvSpPr txBox="1"/>
          <p:nvPr/>
        </p:nvSpPr>
        <p:spPr>
          <a:xfrm>
            <a:off x="1920240" y="4206240"/>
            <a:ext cx="37947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C2E"/>
              </a:buClr>
              <a:buSzPts val="1200"/>
              <a:buFont typeface="Calibri"/>
              <a:buNone/>
            </a:pPr>
            <a:r>
              <a:rPr lang="en-US" sz="1200">
                <a:solidFill>
                  <a:srgbClr val="1A1C2E"/>
                </a:solidFill>
                <a:latin typeface="Calibri"/>
                <a:ea typeface="Calibri"/>
                <a:cs typeface="Calibri"/>
                <a:sym typeface="Calibri"/>
              </a:rPr>
              <a:t>political content, and more content from untrustworthy sources, in the chronological feed </a:t>
            </a:r>
            <a:r>
              <a:rPr i="1" lang="en-US" sz="1000">
                <a:solidFill>
                  <a:srgbClr val="6C74A8"/>
                </a:solidFill>
                <a:latin typeface="Calibri"/>
                <a:ea typeface="Calibri"/>
                <a:cs typeface="Calibri"/>
                <a:sym typeface="Calibri"/>
              </a:rPr>
              <a:t>Guess et al. 2023 [12]</a:t>
            </a:r>
            <a:endParaRPr sz="1200">
              <a:solidFill>
                <a:schemeClr val="dk1"/>
              </a:solidFill>
              <a:latin typeface="Calibri"/>
              <a:ea typeface="Calibri"/>
              <a:cs typeface="Calibri"/>
              <a:sym typeface="Calibri"/>
            </a:endParaRPr>
          </a:p>
        </p:txBody>
      </p:sp>
      <p:sp>
        <p:nvSpPr>
          <p:cNvPr id="253" name="Google Shape;253;p11"/>
          <p:cNvSpPr txBox="1"/>
          <p:nvPr/>
        </p:nvSpPr>
        <p:spPr>
          <a:xfrm>
            <a:off x="822960" y="4828032"/>
            <a:ext cx="10515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200"/>
              <a:buFont typeface="Arial"/>
              <a:buNone/>
            </a:pPr>
            <a:r>
              <a:rPr b="1" lang="en-US" sz="2200">
                <a:solidFill>
                  <a:schemeClr val="accent1"/>
                </a:solidFill>
                <a:latin typeface="Arial"/>
                <a:ea typeface="Arial"/>
                <a:cs typeface="Arial"/>
                <a:sym typeface="Arial"/>
              </a:rPr>
              <a:t>None</a:t>
            </a:r>
            <a:endParaRPr sz="2200">
              <a:solidFill>
                <a:schemeClr val="dk1"/>
              </a:solidFill>
              <a:latin typeface="Calibri"/>
              <a:ea typeface="Calibri"/>
              <a:cs typeface="Calibri"/>
              <a:sym typeface="Calibri"/>
            </a:endParaRPr>
          </a:p>
        </p:txBody>
      </p:sp>
      <p:sp>
        <p:nvSpPr>
          <p:cNvPr id="254" name="Google Shape;254;p11"/>
          <p:cNvSpPr txBox="1"/>
          <p:nvPr/>
        </p:nvSpPr>
        <p:spPr>
          <a:xfrm>
            <a:off x="1920240" y="4828032"/>
            <a:ext cx="37947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C2E"/>
              </a:buClr>
              <a:buSzPts val="1200"/>
              <a:buFont typeface="Calibri"/>
              <a:buNone/>
            </a:pPr>
            <a:r>
              <a:rPr lang="en-US" sz="1200">
                <a:solidFill>
                  <a:srgbClr val="1A1C2E"/>
                </a:solidFill>
                <a:latin typeface="Calibri"/>
                <a:ea typeface="Calibri"/>
                <a:cs typeface="Calibri"/>
                <a:sym typeface="Calibri"/>
              </a:rPr>
              <a:t>measurable change in polarization or political attitudes over 3 months </a:t>
            </a:r>
            <a:r>
              <a:rPr i="1" lang="en-US" sz="1000">
                <a:solidFill>
                  <a:srgbClr val="6C74A8"/>
                </a:solidFill>
                <a:latin typeface="Calibri"/>
                <a:ea typeface="Calibri"/>
                <a:cs typeface="Calibri"/>
                <a:sym typeface="Calibri"/>
              </a:rPr>
              <a:t>Guess et al. 2023 [12]</a:t>
            </a:r>
            <a:endParaRPr sz="1200">
              <a:solidFill>
                <a:schemeClr val="dk1"/>
              </a:solidFill>
              <a:latin typeface="Calibri"/>
              <a:ea typeface="Calibri"/>
              <a:cs typeface="Calibri"/>
              <a:sym typeface="Calibri"/>
            </a:endParaRPr>
          </a:p>
        </p:txBody>
      </p:sp>
      <p:sp>
        <p:nvSpPr>
          <p:cNvPr id="255" name="Google Shape;255;p11"/>
          <p:cNvSpPr/>
          <p:nvPr/>
        </p:nvSpPr>
        <p:spPr>
          <a:xfrm>
            <a:off x="685800" y="5486400"/>
            <a:ext cx="5166360" cy="594360"/>
          </a:xfrm>
          <a:prstGeom prst="roundRect">
            <a:avLst>
              <a:gd fmla="val 12308" name="adj"/>
            </a:avLst>
          </a:prstGeom>
          <a:solidFill>
            <a:schemeClr val="lt1"/>
          </a:solidFill>
          <a:ln cap="flat" cmpd="sng" w="1270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6" name="Google Shape;256;p11"/>
          <p:cNvSpPr txBox="1"/>
          <p:nvPr/>
        </p:nvSpPr>
        <p:spPr>
          <a:xfrm>
            <a:off x="868680" y="5486400"/>
            <a:ext cx="4800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5A36"/>
              </a:buClr>
              <a:buSzPts val="1100"/>
              <a:buFont typeface="Calibri"/>
              <a:buNone/>
            </a:pPr>
            <a:r>
              <a:rPr b="1" lang="en-US" spc="200" sz="1100">
                <a:solidFill>
                  <a:srgbClr val="FF5A36"/>
                </a:solidFill>
                <a:latin typeface="Calibri"/>
                <a:ea typeface="Calibri"/>
                <a:cs typeface="Calibri"/>
                <a:sym typeface="Calibri"/>
              </a:rPr>
              <a:t>SO WHAT  </a:t>
            </a:r>
            <a:r>
              <a:rPr b="1" lang="en-US" sz="1400">
                <a:solidFill>
                  <a:srgbClr val="22264B"/>
                </a:solidFill>
                <a:latin typeface="Calibri"/>
                <a:ea typeface="Calibri"/>
                <a:cs typeface="Calibri"/>
                <a:sym typeface="Calibri"/>
              </a:rPr>
              <a:t>The gatekeeper clearly changes what reaches people</a:t>
            </a:r>
            <a:endParaRPr sz="1100">
              <a:solidFill>
                <a:schemeClr val="dk1"/>
              </a:solidFill>
              <a:latin typeface="Calibri"/>
              <a:ea typeface="Calibri"/>
              <a:cs typeface="Calibri"/>
              <a:sym typeface="Calibri"/>
            </a:endParaRPr>
          </a:p>
        </p:txBody>
      </p:sp>
      <p:sp>
        <p:nvSpPr>
          <p:cNvPr id="257" name="Google Shape;257;p11"/>
          <p:cNvSpPr/>
          <p:nvPr/>
        </p:nvSpPr>
        <p:spPr>
          <a:xfrm>
            <a:off x="6199632" y="1371600"/>
            <a:ext cx="5440680" cy="4846320"/>
          </a:xfrm>
          <a:prstGeom prst="roundRect">
            <a:avLst>
              <a:gd fmla="val 2264" name="adj"/>
            </a:avLst>
          </a:prstGeom>
          <a:solidFill>
            <a:schemeClr val="lt2"/>
          </a:solidFill>
          <a:ln cap="flat" cmpd="sng" w="12700">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8" name="Google Shape;258;p11"/>
          <p:cNvSpPr/>
          <p:nvPr/>
        </p:nvSpPr>
        <p:spPr>
          <a:xfrm>
            <a:off x="6473952" y="1600200"/>
            <a:ext cx="502920" cy="502920"/>
          </a:xfrm>
          <a:prstGeom prst="ellipse">
            <a:avLst/>
          </a:prstGeom>
          <a:solidFill>
            <a:schemeClr val="dk2"/>
          </a:solidFill>
          <a:ln cap="flat" cmpd="sng" w="12700">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9" name="Google Shape;259;p11"/>
          <p:cNvSpPr txBox="1"/>
          <p:nvPr/>
        </p:nvSpPr>
        <p:spPr>
          <a:xfrm>
            <a:off x="6473952" y="160020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800"/>
              <a:buFont typeface="Calibri"/>
              <a:buNone/>
            </a:pPr>
            <a:r>
              <a:rPr b="1" lang="en-US" sz="1800">
                <a:solidFill>
                  <a:schemeClr val="lt1"/>
                </a:solidFill>
                <a:latin typeface="Calibri"/>
                <a:ea typeface="Calibri"/>
                <a:cs typeface="Calibri"/>
                <a:sym typeface="Calibri"/>
              </a:rPr>
              <a:t>?</a:t>
            </a:r>
            <a:endParaRPr sz="1800">
              <a:solidFill>
                <a:schemeClr val="dk1"/>
              </a:solidFill>
              <a:latin typeface="Calibri"/>
              <a:ea typeface="Calibri"/>
              <a:cs typeface="Calibri"/>
              <a:sym typeface="Calibri"/>
            </a:endParaRPr>
          </a:p>
        </p:txBody>
      </p:sp>
      <p:sp>
        <p:nvSpPr>
          <p:cNvPr id="260" name="Google Shape;260;p11"/>
          <p:cNvSpPr txBox="1"/>
          <p:nvPr/>
        </p:nvSpPr>
        <p:spPr>
          <a:xfrm>
            <a:off x="7114032" y="1600200"/>
            <a:ext cx="2743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2000"/>
              <a:buFont typeface="Calibri"/>
              <a:buNone/>
            </a:pPr>
            <a:r>
              <a:rPr b="1" lang="en-US" sz="2000">
                <a:solidFill>
                  <a:schemeClr val="dk2"/>
                </a:solidFill>
                <a:latin typeface="Calibri"/>
                <a:ea typeface="Calibri"/>
                <a:cs typeface="Calibri"/>
                <a:sym typeface="Calibri"/>
              </a:rPr>
              <a:t>What it can't tell us</a:t>
            </a:r>
            <a:endParaRPr sz="2000">
              <a:solidFill>
                <a:schemeClr val="dk1"/>
              </a:solidFill>
              <a:latin typeface="Calibri"/>
              <a:ea typeface="Calibri"/>
              <a:cs typeface="Calibri"/>
              <a:sym typeface="Calibri"/>
            </a:endParaRPr>
          </a:p>
        </p:txBody>
      </p:sp>
      <p:sp>
        <p:nvSpPr>
          <p:cNvPr id="261" name="Google Shape;261;p11"/>
          <p:cNvSpPr txBox="1"/>
          <p:nvPr/>
        </p:nvSpPr>
        <p:spPr>
          <a:xfrm>
            <a:off x="6473952" y="2267712"/>
            <a:ext cx="48920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1100"/>
              <a:buFont typeface="Calibri"/>
              <a:buNone/>
            </a:pPr>
            <a:r>
              <a:rPr b="1" lang="en-US" spc="200" sz="1100">
                <a:solidFill>
                  <a:schemeClr val="accent2"/>
                </a:solidFill>
                <a:latin typeface="Calibri"/>
                <a:ea typeface="Calibri"/>
                <a:cs typeface="Calibri"/>
                <a:sym typeface="Calibri"/>
              </a:rPr>
              <a:t>THE GAPS</a:t>
            </a:r>
            <a:endParaRPr sz="1100">
              <a:solidFill>
                <a:schemeClr val="dk1"/>
              </a:solidFill>
              <a:latin typeface="Calibri"/>
              <a:ea typeface="Calibri"/>
              <a:cs typeface="Calibri"/>
              <a:sym typeface="Calibri"/>
            </a:endParaRPr>
          </a:p>
        </p:txBody>
      </p:sp>
      <p:sp>
        <p:nvSpPr>
          <p:cNvPr id="262" name="Google Shape;262;p11"/>
          <p:cNvSpPr txBox="1"/>
          <p:nvPr/>
        </p:nvSpPr>
        <p:spPr>
          <a:xfrm>
            <a:off x="6473952" y="2514600"/>
            <a:ext cx="489204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lang="en-US" sz="1400">
                <a:solidFill>
                  <a:schemeClr val="dk1"/>
                </a:solidFill>
                <a:latin typeface="Calibri"/>
                <a:ea typeface="Calibri"/>
                <a:cs typeface="Calibri"/>
                <a:sym typeface="Calibri"/>
              </a:rPr>
              <a:t>It tested whether adult views change, not how views form. Attitudes are most open to change in late adolescence and early adulthood [14].</a:t>
            </a:r>
            <a:endParaRPr sz="1400">
              <a:solidFill>
                <a:schemeClr val="dk1"/>
              </a:solidFill>
              <a:latin typeface="Calibri"/>
              <a:ea typeface="Calibri"/>
              <a:cs typeface="Calibri"/>
              <a:sym typeface="Calibri"/>
            </a:endParaRPr>
          </a:p>
        </p:txBody>
      </p:sp>
      <p:sp>
        <p:nvSpPr>
          <p:cNvPr id="263" name="Google Shape;263;p11"/>
          <p:cNvSpPr txBox="1"/>
          <p:nvPr/>
        </p:nvSpPr>
        <p:spPr>
          <a:xfrm>
            <a:off x="6473952" y="3310128"/>
            <a:ext cx="48920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1100"/>
              <a:buFont typeface="Calibri"/>
              <a:buNone/>
            </a:pPr>
            <a:r>
              <a:rPr b="1" lang="en-US" spc="200" sz="1100">
                <a:solidFill>
                  <a:schemeClr val="accent2"/>
                </a:solidFill>
                <a:latin typeface="Calibri"/>
                <a:ea typeface="Calibri"/>
                <a:cs typeface="Calibri"/>
                <a:sym typeface="Calibri"/>
              </a:rPr>
              <a:t>LIMITS</a:t>
            </a:r>
            <a:endParaRPr sz="1100">
              <a:solidFill>
                <a:schemeClr val="dk1"/>
              </a:solidFill>
              <a:latin typeface="Calibri"/>
              <a:ea typeface="Calibri"/>
              <a:cs typeface="Calibri"/>
              <a:sym typeface="Calibri"/>
            </a:endParaRPr>
          </a:p>
        </p:txBody>
      </p:sp>
      <p:sp>
        <p:nvSpPr>
          <p:cNvPr id="264" name="Google Shape;264;p11"/>
          <p:cNvSpPr txBox="1"/>
          <p:nvPr/>
        </p:nvSpPr>
        <p:spPr>
          <a:xfrm>
            <a:off x="6473952" y="3584448"/>
            <a:ext cx="10515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200"/>
              <a:buFont typeface="Arial"/>
              <a:buNone/>
            </a:pPr>
            <a:r>
              <a:rPr b="1" lang="en-US" sz="2200">
                <a:solidFill>
                  <a:schemeClr val="accent1"/>
                </a:solidFill>
                <a:latin typeface="Arial"/>
                <a:ea typeface="Arial"/>
                <a:cs typeface="Arial"/>
                <a:sym typeface="Arial"/>
              </a:rPr>
              <a:t>18+</a:t>
            </a:r>
            <a:endParaRPr sz="2200">
              <a:solidFill>
                <a:schemeClr val="dk1"/>
              </a:solidFill>
              <a:latin typeface="Calibri"/>
              <a:ea typeface="Calibri"/>
              <a:cs typeface="Calibri"/>
              <a:sym typeface="Calibri"/>
            </a:endParaRPr>
          </a:p>
        </p:txBody>
      </p:sp>
      <p:sp>
        <p:nvSpPr>
          <p:cNvPr id="265" name="Google Shape;265;p11"/>
          <p:cNvSpPr txBox="1"/>
          <p:nvPr/>
        </p:nvSpPr>
        <p:spPr>
          <a:xfrm>
            <a:off x="7571232" y="3584448"/>
            <a:ext cx="37947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C2E"/>
              </a:buClr>
              <a:buSzPts val="1200"/>
              <a:buFont typeface="Calibri"/>
              <a:buNone/>
            </a:pPr>
            <a:r>
              <a:rPr lang="en-US" sz="1200">
                <a:solidFill>
                  <a:srgbClr val="1A1C2E"/>
                </a:solidFill>
                <a:latin typeface="Calibri"/>
                <a:ea typeface="Calibri"/>
                <a:cs typeface="Calibri"/>
                <a:sym typeface="Calibri"/>
              </a:rPr>
              <a:t>adults only: teens, whose views are still forming, were not studied </a:t>
            </a:r>
            <a:r>
              <a:rPr i="1" lang="en-US" sz="1000">
                <a:solidFill>
                  <a:srgbClr val="6C74A8"/>
                </a:solidFill>
                <a:latin typeface="Calibri"/>
                <a:ea typeface="Calibri"/>
                <a:cs typeface="Calibri"/>
                <a:sym typeface="Calibri"/>
              </a:rPr>
              <a:t>Krosnick &amp; Alwin 1989 [14]</a:t>
            </a:r>
            <a:endParaRPr sz="1200">
              <a:solidFill>
                <a:schemeClr val="dk1"/>
              </a:solidFill>
              <a:latin typeface="Calibri"/>
              <a:ea typeface="Calibri"/>
              <a:cs typeface="Calibri"/>
              <a:sym typeface="Calibri"/>
            </a:endParaRPr>
          </a:p>
        </p:txBody>
      </p:sp>
      <p:sp>
        <p:nvSpPr>
          <p:cNvPr id="266" name="Google Shape;266;p11"/>
          <p:cNvSpPr txBox="1"/>
          <p:nvPr/>
        </p:nvSpPr>
        <p:spPr>
          <a:xfrm>
            <a:off x="6473952" y="4206240"/>
            <a:ext cx="10515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200"/>
              <a:buFont typeface="Arial"/>
              <a:buNone/>
            </a:pPr>
            <a:r>
              <a:rPr b="1" lang="en-US" sz="2200">
                <a:solidFill>
                  <a:schemeClr val="accent1"/>
                </a:solidFill>
                <a:latin typeface="Arial"/>
                <a:ea typeface="Arial"/>
                <a:cs typeface="Arial"/>
                <a:sym typeface="Arial"/>
              </a:rPr>
              <a:t>3 mo</a:t>
            </a:r>
            <a:endParaRPr sz="2200">
              <a:solidFill>
                <a:schemeClr val="dk1"/>
              </a:solidFill>
              <a:latin typeface="Calibri"/>
              <a:ea typeface="Calibri"/>
              <a:cs typeface="Calibri"/>
              <a:sym typeface="Calibri"/>
            </a:endParaRPr>
          </a:p>
        </p:txBody>
      </p:sp>
      <p:sp>
        <p:nvSpPr>
          <p:cNvPr id="267" name="Google Shape;267;p11"/>
          <p:cNvSpPr txBox="1"/>
          <p:nvPr/>
        </p:nvSpPr>
        <p:spPr>
          <a:xfrm>
            <a:off x="7571232" y="4206240"/>
            <a:ext cx="37947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C2E"/>
              </a:buClr>
              <a:buSzPts val="1200"/>
              <a:buFont typeface="Calibri"/>
              <a:buNone/>
            </a:pPr>
            <a:r>
              <a:rPr lang="en-US" sz="1200">
                <a:solidFill>
                  <a:srgbClr val="1A1C2E"/>
                </a:solidFill>
                <a:latin typeface="Calibri"/>
                <a:ea typeface="Calibri"/>
                <a:cs typeface="Calibri"/>
                <a:sym typeface="Calibri"/>
              </a:rPr>
              <a:t>during a presidential election, when views are most fixed; who people follow was already shaped by years of ranked feeds </a:t>
            </a:r>
            <a:r>
              <a:rPr i="1" lang="en-US" sz="1000">
                <a:solidFill>
                  <a:srgbClr val="6C74A8"/>
                </a:solidFill>
                <a:latin typeface="Calibri"/>
                <a:ea typeface="Calibri"/>
                <a:cs typeface="Calibri"/>
                <a:sym typeface="Calibri"/>
              </a:rPr>
              <a:t>Guess et al. 2023 [12]</a:t>
            </a:r>
            <a:endParaRPr sz="1200">
              <a:solidFill>
                <a:schemeClr val="dk1"/>
              </a:solidFill>
              <a:latin typeface="Calibri"/>
              <a:ea typeface="Calibri"/>
              <a:cs typeface="Calibri"/>
              <a:sym typeface="Calibri"/>
            </a:endParaRPr>
          </a:p>
        </p:txBody>
      </p:sp>
      <p:sp>
        <p:nvSpPr>
          <p:cNvPr id="268" name="Google Shape;268;p11"/>
          <p:cNvSpPr txBox="1"/>
          <p:nvPr/>
        </p:nvSpPr>
        <p:spPr>
          <a:xfrm>
            <a:off x="6473952" y="4828032"/>
            <a:ext cx="10515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200"/>
              <a:buFont typeface="Arial"/>
              <a:buNone/>
            </a:pPr>
            <a:r>
              <a:rPr b="1" lang="en-US" sz="2200">
                <a:solidFill>
                  <a:schemeClr val="accent1"/>
                </a:solidFill>
                <a:latin typeface="Arial"/>
                <a:ea typeface="Arial"/>
                <a:cs typeface="Arial"/>
                <a:sym typeface="Arial"/>
              </a:rPr>
              <a:t>1 feed</a:t>
            </a:r>
            <a:endParaRPr sz="2200">
              <a:solidFill>
                <a:schemeClr val="dk1"/>
              </a:solidFill>
              <a:latin typeface="Calibri"/>
              <a:ea typeface="Calibri"/>
              <a:cs typeface="Calibri"/>
              <a:sym typeface="Calibri"/>
            </a:endParaRPr>
          </a:p>
        </p:txBody>
      </p:sp>
      <p:sp>
        <p:nvSpPr>
          <p:cNvPr id="269" name="Google Shape;269;p11"/>
          <p:cNvSpPr txBox="1"/>
          <p:nvPr/>
        </p:nvSpPr>
        <p:spPr>
          <a:xfrm>
            <a:off x="7571232" y="4828032"/>
            <a:ext cx="37947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C2E"/>
              </a:buClr>
              <a:buSzPts val="1200"/>
              <a:buFont typeface="Calibri"/>
              <a:buNone/>
            </a:pPr>
            <a:r>
              <a:rPr lang="en-US" sz="1200">
                <a:solidFill>
                  <a:srgbClr val="1A1C2E"/>
                </a:solidFill>
                <a:latin typeface="Calibri"/>
                <a:ea typeface="Calibri"/>
                <a:cs typeface="Calibri"/>
                <a:sym typeface="Calibri"/>
              </a:rPr>
              <a:t>switched per person; friends, creators and media still ran on the algorithm </a:t>
            </a:r>
            <a:r>
              <a:rPr i="1" lang="en-US" sz="1000">
                <a:solidFill>
                  <a:srgbClr val="6C74A8"/>
                </a:solidFill>
                <a:latin typeface="Calibri"/>
                <a:ea typeface="Calibri"/>
                <a:cs typeface="Calibri"/>
                <a:sym typeface="Calibri"/>
              </a:rPr>
              <a:t>Guess et al. 2023 [12]</a:t>
            </a:r>
            <a:endParaRPr sz="1200">
              <a:solidFill>
                <a:schemeClr val="dk1"/>
              </a:solidFill>
              <a:latin typeface="Calibri"/>
              <a:ea typeface="Calibri"/>
              <a:cs typeface="Calibri"/>
              <a:sym typeface="Calibri"/>
            </a:endParaRPr>
          </a:p>
        </p:txBody>
      </p:sp>
      <p:sp>
        <p:nvSpPr>
          <p:cNvPr id="270" name="Google Shape;270;p11"/>
          <p:cNvSpPr/>
          <p:nvPr/>
        </p:nvSpPr>
        <p:spPr>
          <a:xfrm>
            <a:off x="6336792" y="5486400"/>
            <a:ext cx="5166360" cy="594360"/>
          </a:xfrm>
          <a:prstGeom prst="roundRect">
            <a:avLst>
              <a:gd fmla="val 12308" name="adj"/>
            </a:avLst>
          </a:prstGeom>
          <a:solidFill>
            <a:schemeClr val="lt1"/>
          </a:solidFill>
          <a:ln cap="flat" cmpd="sng" w="1270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1" name="Google Shape;271;p11"/>
          <p:cNvSpPr txBox="1"/>
          <p:nvPr/>
        </p:nvSpPr>
        <p:spPr>
          <a:xfrm>
            <a:off x="6519672" y="5486400"/>
            <a:ext cx="4800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5A36"/>
              </a:buClr>
              <a:buSzPts val="1100"/>
              <a:buFont typeface="Calibri"/>
              <a:buNone/>
            </a:pPr>
            <a:r>
              <a:rPr b="1" lang="en-US" spc="200" sz="1100">
                <a:solidFill>
                  <a:srgbClr val="FF5A36"/>
                </a:solidFill>
                <a:latin typeface="Calibri"/>
                <a:ea typeface="Calibri"/>
                <a:cs typeface="Calibri"/>
                <a:sym typeface="Calibri"/>
              </a:rPr>
              <a:t>SO WHAT  </a:t>
            </a:r>
            <a:r>
              <a:rPr b="1" lang="en-US" sz="1400">
                <a:solidFill>
                  <a:srgbClr val="22264B"/>
                </a:solidFill>
                <a:latin typeface="Calibri"/>
                <a:ea typeface="Calibri"/>
                <a:cs typeface="Calibri"/>
                <a:sym typeface="Calibri"/>
              </a:rPr>
              <a:t>How it shapes views while they form is still untested</a:t>
            </a:r>
            <a:endParaRPr sz="1100">
              <a:solidFill>
                <a:schemeClr val="dk1"/>
              </a:solidFill>
              <a:latin typeface="Calibri"/>
              <a:ea typeface="Calibri"/>
              <a:cs typeface="Calibri"/>
              <a:sym typeface="Calibri"/>
            </a:endParaRPr>
          </a:p>
        </p:txBody>
      </p:sp>
      <p:sp>
        <p:nvSpPr>
          <p:cNvPr id="272" name="Google Shape;272;p11"/>
          <p:cNvSpPr txBox="1"/>
          <p:nvPr>
            <p:ph idx="4294967295" type="sldNum"/>
          </p:nvPr>
        </p:nvSpPr>
        <p:spPr>
          <a:xfrm>
            <a:off x="11155680" y="6400800"/>
            <a:ext cx="48463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000">
                <a:solidFill>
                  <a:schemeClr val="accent5"/>
                </a:solidFill>
                <a:latin typeface="Calibri"/>
                <a:ea typeface="Calibri"/>
                <a:cs typeface="Calibri"/>
                <a:sym typeface="Calibri"/>
              </a:rPr>
              <a:t>‹#›</a:t>
            </a:fld>
            <a:endParaRPr sz="1000">
              <a:solidFill>
                <a:schemeClr val="accent5"/>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12"/>
          <p:cNvSpPr txBox="1"/>
          <p:nvPr>
            <p:ph type="title"/>
          </p:nvPr>
        </p:nvSpPr>
        <p:spPr>
          <a:xfrm>
            <a:off x="548640" y="365760"/>
            <a:ext cx="11091672" cy="8229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000"/>
              <a:buFont typeface="Arial"/>
              <a:buNone/>
            </a:pPr>
            <a:r>
              <a:rPr b="1" lang="en-US" sz="3000">
                <a:solidFill>
                  <a:schemeClr val="dk2"/>
                </a:solidFill>
                <a:latin typeface="Arial"/>
                <a:ea typeface="Arial"/>
                <a:cs typeface="Arial"/>
                <a:sym typeface="Arial"/>
              </a:rPr>
              <a:t>Opportunities: </a:t>
            </a:r>
            <a:r>
              <a:rPr lang="en-US"/>
              <a:t>three problems worth solving</a:t>
            </a:r>
            <a:endParaRPr/>
          </a:p>
        </p:txBody>
      </p:sp>
      <p:sp>
        <p:nvSpPr>
          <p:cNvPr id="279" name="Google Shape;279;p12"/>
          <p:cNvSpPr/>
          <p:nvPr/>
        </p:nvSpPr>
        <p:spPr>
          <a:xfrm>
            <a:off x="548640" y="1371600"/>
            <a:ext cx="3529584" cy="4846320"/>
          </a:xfrm>
          <a:prstGeom prst="roundRect">
            <a:avLst>
              <a:gd fmla="val 3109" name="adj"/>
            </a:avLst>
          </a:prstGeom>
          <a:solidFill>
            <a:schemeClr val="lt2"/>
          </a:solidFill>
          <a:ln cap="flat" cmpd="sng" w="12700">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0" name="Google Shape;280;p12"/>
          <p:cNvSpPr/>
          <p:nvPr/>
        </p:nvSpPr>
        <p:spPr>
          <a:xfrm>
            <a:off x="822960" y="1627632"/>
            <a:ext cx="566928" cy="566928"/>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81" name="Google Shape;281;p12"/>
          <p:cNvPicPr preferRelativeResize="0"/>
          <p:nvPr/>
        </p:nvPicPr>
        <p:blipFill rotWithShape="1">
          <a:blip r:embed="rId3">
            <a:alphaModFix/>
          </a:blip>
          <a:srcRect b="0" l="0" r="0" t="0"/>
          <a:stretch/>
        </p:blipFill>
        <p:spPr>
          <a:xfrm>
            <a:off x="960120" y="1764792"/>
            <a:ext cx="292608" cy="292608"/>
          </a:xfrm>
          <a:prstGeom prst="rect">
            <a:avLst/>
          </a:prstGeom>
          <a:noFill/>
          <a:ln>
            <a:noFill/>
          </a:ln>
        </p:spPr>
      </p:pic>
      <p:sp>
        <p:nvSpPr>
          <p:cNvPr id="282" name="Google Shape;282;p12"/>
          <p:cNvSpPr txBox="1"/>
          <p:nvPr/>
        </p:nvSpPr>
        <p:spPr>
          <a:xfrm>
            <a:off x="1508760" y="1627632"/>
            <a:ext cx="174650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700"/>
              <a:buFont typeface="Calibri"/>
              <a:buNone/>
            </a:pPr>
            <a:r>
              <a:rPr b="1" lang="en-US" sz="1700">
                <a:solidFill>
                  <a:schemeClr val="dk2"/>
                </a:solidFill>
                <a:latin typeface="Calibri"/>
                <a:ea typeface="Calibri"/>
                <a:cs typeface="Calibri"/>
                <a:sym typeface="Calibri"/>
              </a:rPr>
              <a:t>The feed decides for you</a:t>
            </a:r>
            <a:endParaRPr sz="1700">
              <a:solidFill>
                <a:schemeClr val="dk1"/>
              </a:solidFill>
              <a:latin typeface="Calibri"/>
              <a:ea typeface="Calibri"/>
              <a:cs typeface="Calibri"/>
              <a:sym typeface="Calibri"/>
            </a:endParaRPr>
          </a:p>
        </p:txBody>
      </p:sp>
      <p:sp>
        <p:nvSpPr>
          <p:cNvPr id="283" name="Google Shape;283;p12"/>
          <p:cNvSpPr txBox="1"/>
          <p:nvPr/>
        </p:nvSpPr>
        <p:spPr>
          <a:xfrm>
            <a:off x="3209544" y="1627632"/>
            <a:ext cx="594360" cy="56692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chemeClr val="accent6"/>
              </a:buClr>
              <a:buSzPts val="2400"/>
              <a:buFont typeface="Calibri"/>
              <a:buNone/>
            </a:pPr>
            <a:r>
              <a:rPr b="1" lang="en-US" sz="2400">
                <a:solidFill>
                  <a:schemeClr val="accent6"/>
                </a:solidFill>
                <a:latin typeface="Calibri"/>
                <a:ea typeface="Calibri"/>
                <a:cs typeface="Calibri"/>
                <a:sym typeface="Calibri"/>
              </a:rPr>
              <a:t>01</a:t>
            </a:r>
            <a:endParaRPr sz="2400">
              <a:solidFill>
                <a:schemeClr val="dk1"/>
              </a:solidFill>
              <a:latin typeface="Calibri"/>
              <a:ea typeface="Calibri"/>
              <a:cs typeface="Calibri"/>
              <a:sym typeface="Calibri"/>
            </a:endParaRPr>
          </a:p>
        </p:txBody>
      </p:sp>
      <p:sp>
        <p:nvSpPr>
          <p:cNvPr id="284" name="Google Shape;284;p12"/>
          <p:cNvSpPr/>
          <p:nvPr/>
        </p:nvSpPr>
        <p:spPr>
          <a:xfrm>
            <a:off x="685800" y="2359152"/>
            <a:ext cx="3255264" cy="1325880"/>
          </a:xfrm>
          <a:prstGeom prst="roundRect">
            <a:avLst>
              <a:gd fmla="val 5517" name="adj"/>
            </a:avLst>
          </a:prstGeom>
          <a:solidFill>
            <a:schemeClr val="dk2"/>
          </a:solidFill>
          <a:ln cap="flat" cmpd="sng" w="12700">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5" name="Google Shape;285;p12"/>
          <p:cNvSpPr txBox="1"/>
          <p:nvPr/>
        </p:nvSpPr>
        <p:spPr>
          <a:xfrm>
            <a:off x="841248" y="2432304"/>
            <a:ext cx="2944368"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5D8EA"/>
              </a:buClr>
              <a:buSzPts val="1000"/>
              <a:buFont typeface="Calibri"/>
              <a:buNone/>
            </a:pPr>
            <a:r>
              <a:rPr b="1" lang="en-US" spc="200" sz="1000">
                <a:solidFill>
                  <a:srgbClr val="D5D8EA"/>
                </a:solidFill>
                <a:latin typeface="Calibri"/>
                <a:ea typeface="Calibri"/>
                <a:cs typeface="Calibri"/>
                <a:sym typeface="Calibri"/>
              </a:rPr>
              <a:t>THE PROBLEM</a:t>
            </a:r>
            <a:endParaRPr sz="1000">
              <a:solidFill>
                <a:schemeClr val="dk1"/>
              </a:solidFill>
              <a:latin typeface="Calibri"/>
              <a:ea typeface="Calibri"/>
              <a:cs typeface="Calibri"/>
              <a:sym typeface="Calibri"/>
            </a:endParaRPr>
          </a:p>
          <a:p>
            <a:pPr indent="0" lvl="0" marL="0" marR="0" rtl="0" algn="l">
              <a:spcBef>
                <a:spcPts val="300"/>
              </a:spcBef>
              <a:spcAft>
                <a:spcPts val="0"/>
              </a:spcAft>
              <a:buClr>
                <a:srgbClr val="FFFFFF"/>
              </a:buClr>
              <a:buSzPts val="1300"/>
              <a:buFont typeface="Calibri"/>
              <a:buNone/>
            </a:pPr>
            <a:r>
              <a:rPr lang="en-US" sz="1300">
                <a:solidFill>
                  <a:srgbClr val="FFFFFF"/>
                </a:solidFill>
                <a:latin typeface="Calibri"/>
                <a:ea typeface="Calibri"/>
                <a:cs typeface="Calibri"/>
                <a:sym typeface="Calibri"/>
              </a:rPr>
              <a:t>People can't see or set what their feed optimizes for. It ranks for engagement, not for their own goals.</a:t>
            </a:r>
            <a:endParaRPr sz="1000">
              <a:solidFill>
                <a:schemeClr val="dk1"/>
              </a:solidFill>
              <a:latin typeface="Calibri"/>
              <a:ea typeface="Calibri"/>
              <a:cs typeface="Calibri"/>
              <a:sym typeface="Calibri"/>
            </a:endParaRPr>
          </a:p>
        </p:txBody>
      </p:sp>
      <p:sp>
        <p:nvSpPr>
          <p:cNvPr id="286" name="Google Shape;286;p12"/>
          <p:cNvSpPr txBox="1"/>
          <p:nvPr/>
        </p:nvSpPr>
        <p:spPr>
          <a:xfrm>
            <a:off x="822960" y="3767328"/>
            <a:ext cx="2980944" cy="7132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C74A8"/>
              </a:buClr>
              <a:buSzPts val="1000"/>
              <a:buFont typeface="Calibri"/>
              <a:buNone/>
            </a:pPr>
            <a:r>
              <a:rPr b="1" lang="en-US" spc="200" sz="1000">
                <a:solidFill>
                  <a:srgbClr val="6C74A8"/>
                </a:solidFill>
                <a:latin typeface="Calibri"/>
                <a:ea typeface="Calibri"/>
                <a:cs typeface="Calibri"/>
                <a:sym typeface="Calibri"/>
              </a:rPr>
              <a:t>WHO HAS IT</a:t>
            </a:r>
            <a:endParaRPr sz="1000">
              <a:solidFill>
                <a:schemeClr val="dk1"/>
              </a:solidFill>
              <a:latin typeface="Calibri"/>
              <a:ea typeface="Calibri"/>
              <a:cs typeface="Calibri"/>
              <a:sym typeface="Calibri"/>
            </a:endParaRPr>
          </a:p>
          <a:p>
            <a:pPr indent="0" lvl="0" marL="0" marR="0" rtl="0" algn="l">
              <a:spcBef>
                <a:spcPts val="200"/>
              </a:spcBef>
              <a:spcAft>
                <a:spcPts val="0"/>
              </a:spcAft>
              <a:buClr>
                <a:srgbClr val="1A1C2E"/>
              </a:buClr>
              <a:buSzPts val="1200"/>
              <a:buFont typeface="Calibri"/>
              <a:buNone/>
            </a:pPr>
            <a:r>
              <a:rPr lang="en-US" sz="1200">
                <a:solidFill>
                  <a:srgbClr val="1A1C2E"/>
                </a:solidFill>
                <a:latin typeface="Calibri"/>
                <a:ea typeface="Calibri"/>
                <a:cs typeface="Calibri"/>
                <a:sym typeface="Calibri"/>
              </a:rPr>
              <a:t>Teens and young adults, in the years their views form; parents and educators</a:t>
            </a:r>
            <a:endParaRPr sz="1000">
              <a:solidFill>
                <a:schemeClr val="dk1"/>
              </a:solidFill>
              <a:latin typeface="Calibri"/>
              <a:ea typeface="Calibri"/>
              <a:cs typeface="Calibri"/>
              <a:sym typeface="Calibri"/>
            </a:endParaRPr>
          </a:p>
        </p:txBody>
      </p:sp>
      <p:sp>
        <p:nvSpPr>
          <p:cNvPr id="287" name="Google Shape;287;p12"/>
          <p:cNvSpPr txBox="1"/>
          <p:nvPr/>
        </p:nvSpPr>
        <p:spPr>
          <a:xfrm>
            <a:off x="822960" y="4498848"/>
            <a:ext cx="2980944" cy="7132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C74A8"/>
              </a:buClr>
              <a:buSzPts val="1000"/>
              <a:buFont typeface="Calibri"/>
              <a:buNone/>
            </a:pPr>
            <a:r>
              <a:rPr b="1" lang="en-US" spc="200" sz="1000">
                <a:solidFill>
                  <a:srgbClr val="6C74A8"/>
                </a:solidFill>
                <a:latin typeface="Calibri"/>
                <a:ea typeface="Calibri"/>
                <a:cs typeface="Calibri"/>
                <a:sym typeface="Calibri"/>
              </a:rPr>
              <a:t>WHAT IS BEING DESTROYED</a:t>
            </a:r>
            <a:endParaRPr sz="1000">
              <a:solidFill>
                <a:schemeClr val="dk1"/>
              </a:solidFill>
              <a:latin typeface="Calibri"/>
              <a:ea typeface="Calibri"/>
              <a:cs typeface="Calibri"/>
              <a:sym typeface="Calibri"/>
            </a:endParaRPr>
          </a:p>
          <a:p>
            <a:pPr indent="0" lvl="0" marL="0" marR="0" rtl="0" algn="l">
              <a:spcBef>
                <a:spcPts val="200"/>
              </a:spcBef>
              <a:spcAft>
                <a:spcPts val="0"/>
              </a:spcAft>
              <a:buClr>
                <a:srgbClr val="1A1C2E"/>
              </a:buClr>
              <a:buSzPts val="1200"/>
              <a:buFont typeface="Calibri"/>
              <a:buNone/>
            </a:pPr>
            <a:r>
              <a:rPr lang="en-US" sz="1200">
                <a:solidFill>
                  <a:srgbClr val="1A1C2E"/>
                </a:solidFill>
                <a:latin typeface="Calibri"/>
                <a:ea typeface="Calibri"/>
                <a:cs typeface="Calibri"/>
                <a:sym typeface="Calibri"/>
              </a:rPr>
              <a:t>Informed consent over who decides what you see</a:t>
            </a:r>
            <a:endParaRPr sz="1000">
              <a:solidFill>
                <a:schemeClr val="dk1"/>
              </a:solidFill>
              <a:latin typeface="Calibri"/>
              <a:ea typeface="Calibri"/>
              <a:cs typeface="Calibri"/>
              <a:sym typeface="Calibri"/>
            </a:endParaRPr>
          </a:p>
        </p:txBody>
      </p:sp>
      <p:sp>
        <p:nvSpPr>
          <p:cNvPr id="288" name="Google Shape;288;p12"/>
          <p:cNvSpPr txBox="1"/>
          <p:nvPr/>
        </p:nvSpPr>
        <p:spPr>
          <a:xfrm>
            <a:off x="822960" y="5230368"/>
            <a:ext cx="2980944" cy="7132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C74A8"/>
              </a:buClr>
              <a:buSzPts val="1000"/>
              <a:buFont typeface="Calibri"/>
              <a:buNone/>
            </a:pPr>
            <a:r>
              <a:rPr b="1" lang="en-US" spc="200" sz="1000">
                <a:solidFill>
                  <a:srgbClr val="6C74A8"/>
                </a:solidFill>
                <a:latin typeface="Calibri"/>
                <a:ea typeface="Calibri"/>
                <a:cs typeface="Calibri"/>
                <a:sym typeface="Calibri"/>
              </a:rPr>
              <a:t>WHERE IS THE DISCONTINUITY</a:t>
            </a:r>
            <a:endParaRPr sz="1000">
              <a:solidFill>
                <a:schemeClr val="dk1"/>
              </a:solidFill>
              <a:latin typeface="Calibri"/>
              <a:ea typeface="Calibri"/>
              <a:cs typeface="Calibri"/>
              <a:sym typeface="Calibri"/>
            </a:endParaRPr>
          </a:p>
          <a:p>
            <a:pPr indent="0" lvl="0" marL="0" marR="0" rtl="0" algn="l">
              <a:spcBef>
                <a:spcPts val="200"/>
              </a:spcBef>
              <a:spcAft>
                <a:spcPts val="0"/>
              </a:spcAft>
              <a:buClr>
                <a:srgbClr val="1A1C2E"/>
              </a:buClr>
              <a:buSzPts val="1200"/>
              <a:buFont typeface="Calibri"/>
              <a:buNone/>
            </a:pPr>
            <a:r>
              <a:rPr lang="en-US" sz="1200">
                <a:solidFill>
                  <a:srgbClr val="1A1C2E"/>
                </a:solidFill>
                <a:latin typeface="Calibri"/>
                <a:ea typeface="Calibri"/>
                <a:cs typeface="Calibri"/>
                <a:sym typeface="Calibri"/>
              </a:rPr>
              <a:t>Feeds offer two settings, engagement-ranked or plain chronological; nothing lets users choose what the feed optimizes for</a:t>
            </a:r>
            <a:endParaRPr sz="1000">
              <a:solidFill>
                <a:schemeClr val="dk1"/>
              </a:solidFill>
              <a:latin typeface="Calibri"/>
              <a:ea typeface="Calibri"/>
              <a:cs typeface="Calibri"/>
              <a:sym typeface="Calibri"/>
            </a:endParaRPr>
          </a:p>
        </p:txBody>
      </p:sp>
      <p:sp>
        <p:nvSpPr>
          <p:cNvPr id="289" name="Google Shape;289;p12"/>
          <p:cNvSpPr/>
          <p:nvPr/>
        </p:nvSpPr>
        <p:spPr>
          <a:xfrm>
            <a:off x="4325112" y="1371600"/>
            <a:ext cx="3529584" cy="4846320"/>
          </a:xfrm>
          <a:prstGeom prst="roundRect">
            <a:avLst>
              <a:gd fmla="val 3109" name="adj"/>
            </a:avLst>
          </a:prstGeom>
          <a:solidFill>
            <a:schemeClr val="lt2"/>
          </a:solidFill>
          <a:ln cap="flat" cmpd="sng" w="12700">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0" name="Google Shape;290;p12"/>
          <p:cNvSpPr/>
          <p:nvPr/>
        </p:nvSpPr>
        <p:spPr>
          <a:xfrm>
            <a:off x="4599432" y="1627632"/>
            <a:ext cx="566928" cy="566928"/>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91" name="Google Shape;291;p12"/>
          <p:cNvPicPr preferRelativeResize="0"/>
          <p:nvPr/>
        </p:nvPicPr>
        <p:blipFill rotWithShape="1">
          <a:blip r:embed="rId4">
            <a:alphaModFix/>
          </a:blip>
          <a:srcRect b="0" l="0" r="0" t="0"/>
          <a:stretch/>
        </p:blipFill>
        <p:spPr>
          <a:xfrm>
            <a:off x="4736592" y="1764792"/>
            <a:ext cx="292608" cy="292608"/>
          </a:xfrm>
          <a:prstGeom prst="rect">
            <a:avLst/>
          </a:prstGeom>
          <a:noFill/>
          <a:ln>
            <a:noFill/>
          </a:ln>
        </p:spPr>
      </p:pic>
      <p:sp>
        <p:nvSpPr>
          <p:cNvPr id="292" name="Google Shape;292;p12"/>
          <p:cNvSpPr txBox="1"/>
          <p:nvPr/>
        </p:nvSpPr>
        <p:spPr>
          <a:xfrm>
            <a:off x="5285232" y="1627632"/>
            <a:ext cx="174650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700"/>
              <a:buFont typeface="Calibri"/>
              <a:buNone/>
            </a:pPr>
            <a:r>
              <a:rPr b="1" lang="en-US" sz="1700">
                <a:solidFill>
                  <a:schemeClr val="dk2"/>
                </a:solidFill>
                <a:latin typeface="Calibri"/>
                <a:ea typeface="Calibri"/>
                <a:cs typeface="Calibri"/>
                <a:sym typeface="Calibri"/>
              </a:rPr>
              <a:t>What matters gets lost</a:t>
            </a:r>
            <a:endParaRPr sz="1700">
              <a:solidFill>
                <a:schemeClr val="dk1"/>
              </a:solidFill>
              <a:latin typeface="Calibri"/>
              <a:ea typeface="Calibri"/>
              <a:cs typeface="Calibri"/>
              <a:sym typeface="Calibri"/>
            </a:endParaRPr>
          </a:p>
        </p:txBody>
      </p:sp>
      <p:sp>
        <p:nvSpPr>
          <p:cNvPr id="293" name="Google Shape;293;p12"/>
          <p:cNvSpPr txBox="1"/>
          <p:nvPr/>
        </p:nvSpPr>
        <p:spPr>
          <a:xfrm>
            <a:off x="6986016" y="1627632"/>
            <a:ext cx="594360" cy="56692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chemeClr val="accent6"/>
              </a:buClr>
              <a:buSzPts val="2400"/>
              <a:buFont typeface="Calibri"/>
              <a:buNone/>
            </a:pPr>
            <a:r>
              <a:rPr b="1" lang="en-US" sz="2400">
                <a:solidFill>
                  <a:schemeClr val="accent6"/>
                </a:solidFill>
                <a:latin typeface="Calibri"/>
                <a:ea typeface="Calibri"/>
                <a:cs typeface="Calibri"/>
                <a:sym typeface="Calibri"/>
              </a:rPr>
              <a:t>02</a:t>
            </a:r>
            <a:endParaRPr sz="2400">
              <a:solidFill>
                <a:schemeClr val="dk1"/>
              </a:solidFill>
              <a:latin typeface="Calibri"/>
              <a:ea typeface="Calibri"/>
              <a:cs typeface="Calibri"/>
              <a:sym typeface="Calibri"/>
            </a:endParaRPr>
          </a:p>
        </p:txBody>
      </p:sp>
      <p:sp>
        <p:nvSpPr>
          <p:cNvPr id="294" name="Google Shape;294;p12"/>
          <p:cNvSpPr/>
          <p:nvPr/>
        </p:nvSpPr>
        <p:spPr>
          <a:xfrm>
            <a:off x="4462272" y="2359152"/>
            <a:ext cx="3255264" cy="1325880"/>
          </a:xfrm>
          <a:prstGeom prst="roundRect">
            <a:avLst>
              <a:gd fmla="val 5517" name="adj"/>
            </a:avLst>
          </a:prstGeom>
          <a:solidFill>
            <a:schemeClr val="dk2"/>
          </a:solidFill>
          <a:ln cap="flat" cmpd="sng" w="12700">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5" name="Google Shape;295;p12"/>
          <p:cNvSpPr txBox="1"/>
          <p:nvPr/>
        </p:nvSpPr>
        <p:spPr>
          <a:xfrm>
            <a:off x="4617720" y="2432304"/>
            <a:ext cx="2944368"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5D8EA"/>
              </a:buClr>
              <a:buSzPts val="1000"/>
              <a:buFont typeface="Calibri"/>
              <a:buNone/>
            </a:pPr>
            <a:r>
              <a:rPr b="1" lang="en-US" spc="200" sz="1000">
                <a:solidFill>
                  <a:srgbClr val="D5D8EA"/>
                </a:solidFill>
                <a:latin typeface="Calibri"/>
                <a:ea typeface="Calibri"/>
                <a:cs typeface="Calibri"/>
                <a:sym typeface="Calibri"/>
              </a:rPr>
              <a:t>THE PROBLEM</a:t>
            </a:r>
            <a:endParaRPr sz="1000">
              <a:solidFill>
                <a:schemeClr val="dk1"/>
              </a:solidFill>
              <a:latin typeface="Calibri"/>
              <a:ea typeface="Calibri"/>
              <a:cs typeface="Calibri"/>
              <a:sym typeface="Calibri"/>
            </a:endParaRPr>
          </a:p>
          <a:p>
            <a:pPr indent="0" lvl="0" marL="0" marR="0" rtl="0" algn="l">
              <a:spcBef>
                <a:spcPts val="300"/>
              </a:spcBef>
              <a:spcAft>
                <a:spcPts val="0"/>
              </a:spcAft>
              <a:buClr>
                <a:srgbClr val="FFFFFF"/>
              </a:buClr>
              <a:buSzPts val="1300"/>
              <a:buFont typeface="Calibri"/>
              <a:buNone/>
            </a:pPr>
            <a:r>
              <a:rPr lang="en-US" sz="1300">
                <a:solidFill>
                  <a:srgbClr val="FFFFFF"/>
                </a:solidFill>
                <a:latin typeface="Calibri"/>
                <a:ea typeface="Calibri"/>
                <a:cs typeface="Calibri"/>
                <a:sym typeface="Calibri"/>
              </a:rPr>
              <a:t>Messages that matter, from family, teachers, doctors or employers, compete with endless content; senders can't tell if they landed.</a:t>
            </a:r>
            <a:endParaRPr sz="1000">
              <a:solidFill>
                <a:schemeClr val="dk1"/>
              </a:solidFill>
              <a:latin typeface="Calibri"/>
              <a:ea typeface="Calibri"/>
              <a:cs typeface="Calibri"/>
              <a:sym typeface="Calibri"/>
            </a:endParaRPr>
          </a:p>
        </p:txBody>
      </p:sp>
      <p:sp>
        <p:nvSpPr>
          <p:cNvPr id="296" name="Google Shape;296;p12"/>
          <p:cNvSpPr txBox="1"/>
          <p:nvPr/>
        </p:nvSpPr>
        <p:spPr>
          <a:xfrm>
            <a:off x="4599432" y="3767328"/>
            <a:ext cx="2980944" cy="7132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C74A8"/>
              </a:buClr>
              <a:buSzPts val="1000"/>
              <a:buFont typeface="Calibri"/>
              <a:buNone/>
            </a:pPr>
            <a:r>
              <a:rPr b="1" lang="en-US" spc="200" sz="1000">
                <a:solidFill>
                  <a:srgbClr val="6C74A8"/>
                </a:solidFill>
                <a:latin typeface="Calibri"/>
                <a:ea typeface="Calibri"/>
                <a:cs typeface="Calibri"/>
                <a:sym typeface="Calibri"/>
              </a:rPr>
              <a:t>WHO HAS IT</a:t>
            </a:r>
            <a:endParaRPr sz="1000">
              <a:solidFill>
                <a:schemeClr val="dk1"/>
              </a:solidFill>
              <a:latin typeface="Calibri"/>
              <a:ea typeface="Calibri"/>
              <a:cs typeface="Calibri"/>
              <a:sym typeface="Calibri"/>
            </a:endParaRPr>
          </a:p>
          <a:p>
            <a:pPr indent="0" lvl="0" marL="0" marR="0" rtl="0" algn="l">
              <a:spcBef>
                <a:spcPts val="200"/>
              </a:spcBef>
              <a:spcAft>
                <a:spcPts val="0"/>
              </a:spcAft>
              <a:buClr>
                <a:srgbClr val="1A1C2E"/>
              </a:buClr>
              <a:buSzPts val="1200"/>
              <a:buFont typeface="Calibri"/>
              <a:buNone/>
            </a:pPr>
            <a:r>
              <a:rPr lang="en-US" sz="1200">
                <a:solidFill>
                  <a:srgbClr val="1A1C2E"/>
                </a:solidFill>
                <a:latin typeface="Calibri"/>
                <a:ea typeface="Calibri"/>
                <a:cs typeface="Calibri"/>
                <a:sym typeface="Calibri"/>
              </a:rPr>
              <a:t>Senders who need to be heard: schools, clinics, employers, families</a:t>
            </a:r>
            <a:endParaRPr sz="1000">
              <a:solidFill>
                <a:schemeClr val="dk1"/>
              </a:solidFill>
              <a:latin typeface="Calibri"/>
              <a:ea typeface="Calibri"/>
              <a:cs typeface="Calibri"/>
              <a:sym typeface="Calibri"/>
            </a:endParaRPr>
          </a:p>
        </p:txBody>
      </p:sp>
      <p:sp>
        <p:nvSpPr>
          <p:cNvPr id="297" name="Google Shape;297;p12"/>
          <p:cNvSpPr txBox="1"/>
          <p:nvPr/>
        </p:nvSpPr>
        <p:spPr>
          <a:xfrm>
            <a:off x="4599432" y="4498848"/>
            <a:ext cx="2980944" cy="7132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C74A8"/>
              </a:buClr>
              <a:buSzPts val="1000"/>
              <a:buFont typeface="Calibri"/>
              <a:buNone/>
            </a:pPr>
            <a:r>
              <a:rPr b="1" lang="en-US" spc="200" sz="1000">
                <a:solidFill>
                  <a:srgbClr val="6C74A8"/>
                </a:solidFill>
                <a:latin typeface="Calibri"/>
                <a:ea typeface="Calibri"/>
                <a:cs typeface="Calibri"/>
                <a:sym typeface="Calibri"/>
              </a:rPr>
              <a:t>WHAT IS BEING DESTROYED</a:t>
            </a:r>
            <a:endParaRPr sz="1000">
              <a:solidFill>
                <a:schemeClr val="dk1"/>
              </a:solidFill>
              <a:latin typeface="Calibri"/>
              <a:ea typeface="Calibri"/>
              <a:cs typeface="Calibri"/>
              <a:sym typeface="Calibri"/>
            </a:endParaRPr>
          </a:p>
          <a:p>
            <a:pPr indent="0" lvl="0" marL="0" marR="0" rtl="0" algn="l">
              <a:spcBef>
                <a:spcPts val="200"/>
              </a:spcBef>
              <a:spcAft>
                <a:spcPts val="0"/>
              </a:spcAft>
              <a:buClr>
                <a:srgbClr val="1A1C2E"/>
              </a:buClr>
              <a:buSzPts val="1200"/>
              <a:buFont typeface="Calibri"/>
              <a:buNone/>
            </a:pPr>
            <a:r>
              <a:rPr lang="en-US" sz="1200">
                <a:solidFill>
                  <a:srgbClr val="1A1C2E"/>
                </a:solidFill>
                <a:latin typeface="Calibri"/>
                <a:ea typeface="Calibri"/>
                <a:cs typeface="Calibri"/>
                <a:sym typeface="Calibri"/>
              </a:rPr>
              <a:t>Focused attention, and the priority a one-to-one message used to have</a:t>
            </a:r>
            <a:endParaRPr sz="1000">
              <a:solidFill>
                <a:schemeClr val="dk1"/>
              </a:solidFill>
              <a:latin typeface="Calibri"/>
              <a:ea typeface="Calibri"/>
              <a:cs typeface="Calibri"/>
              <a:sym typeface="Calibri"/>
            </a:endParaRPr>
          </a:p>
        </p:txBody>
      </p:sp>
      <p:sp>
        <p:nvSpPr>
          <p:cNvPr id="298" name="Google Shape;298;p12"/>
          <p:cNvSpPr txBox="1"/>
          <p:nvPr/>
        </p:nvSpPr>
        <p:spPr>
          <a:xfrm>
            <a:off x="4599432" y="5230368"/>
            <a:ext cx="2980944" cy="7132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C74A8"/>
              </a:buClr>
              <a:buSzPts val="1000"/>
              <a:buFont typeface="Calibri"/>
              <a:buNone/>
            </a:pPr>
            <a:r>
              <a:rPr b="1" lang="en-US" spc="200" sz="1000">
                <a:solidFill>
                  <a:srgbClr val="6C74A8"/>
                </a:solidFill>
                <a:latin typeface="Calibri"/>
                <a:ea typeface="Calibri"/>
                <a:cs typeface="Calibri"/>
                <a:sym typeface="Calibri"/>
              </a:rPr>
              <a:t>WHERE IS THE DISCONTINUITY</a:t>
            </a:r>
            <a:endParaRPr sz="1000">
              <a:solidFill>
                <a:schemeClr val="dk1"/>
              </a:solidFill>
              <a:latin typeface="Calibri"/>
              <a:ea typeface="Calibri"/>
              <a:cs typeface="Calibri"/>
              <a:sym typeface="Calibri"/>
            </a:endParaRPr>
          </a:p>
          <a:p>
            <a:pPr indent="0" lvl="0" marL="0" marR="0" rtl="0" algn="l">
              <a:spcBef>
                <a:spcPts val="200"/>
              </a:spcBef>
              <a:spcAft>
                <a:spcPts val="0"/>
              </a:spcAft>
              <a:buClr>
                <a:srgbClr val="1A1C2E"/>
              </a:buClr>
              <a:buSzPts val="1200"/>
              <a:buFont typeface="Calibri"/>
              <a:buNone/>
            </a:pPr>
            <a:r>
              <a:rPr lang="en-US" sz="1200">
                <a:solidFill>
                  <a:srgbClr val="1A1C2E"/>
                </a:solidFill>
                <a:latin typeface="Calibri"/>
                <a:ea typeface="Calibri"/>
                <a:cs typeface="Calibri"/>
                <a:sym typeface="Calibri"/>
              </a:rPr>
              <a:t>Incoming information keeps growing while attention doesn't, so each message gets less of it</a:t>
            </a:r>
            <a:endParaRPr sz="1000">
              <a:solidFill>
                <a:schemeClr val="dk1"/>
              </a:solidFill>
              <a:latin typeface="Calibri"/>
              <a:ea typeface="Calibri"/>
              <a:cs typeface="Calibri"/>
              <a:sym typeface="Calibri"/>
            </a:endParaRPr>
          </a:p>
        </p:txBody>
      </p:sp>
      <p:sp>
        <p:nvSpPr>
          <p:cNvPr id="299" name="Google Shape;299;p12"/>
          <p:cNvSpPr/>
          <p:nvPr/>
        </p:nvSpPr>
        <p:spPr>
          <a:xfrm>
            <a:off x="8101584" y="1371600"/>
            <a:ext cx="3529584" cy="4846320"/>
          </a:xfrm>
          <a:prstGeom prst="roundRect">
            <a:avLst>
              <a:gd fmla="val 3109" name="adj"/>
            </a:avLst>
          </a:prstGeom>
          <a:solidFill>
            <a:schemeClr val="lt2"/>
          </a:solidFill>
          <a:ln cap="flat" cmpd="sng" w="12700">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0" name="Google Shape;300;p12"/>
          <p:cNvSpPr/>
          <p:nvPr/>
        </p:nvSpPr>
        <p:spPr>
          <a:xfrm>
            <a:off x="8375904" y="1627632"/>
            <a:ext cx="566928" cy="566928"/>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301" name="Google Shape;301;p12"/>
          <p:cNvPicPr preferRelativeResize="0"/>
          <p:nvPr/>
        </p:nvPicPr>
        <p:blipFill rotWithShape="1">
          <a:blip r:embed="rId5">
            <a:alphaModFix/>
          </a:blip>
          <a:srcRect b="0" l="0" r="0" t="0"/>
          <a:stretch/>
        </p:blipFill>
        <p:spPr>
          <a:xfrm>
            <a:off x="8513064" y="1764792"/>
            <a:ext cx="292608" cy="292608"/>
          </a:xfrm>
          <a:prstGeom prst="rect">
            <a:avLst/>
          </a:prstGeom>
          <a:noFill/>
          <a:ln>
            <a:noFill/>
          </a:ln>
        </p:spPr>
      </p:pic>
      <p:sp>
        <p:nvSpPr>
          <p:cNvPr id="302" name="Google Shape;302;p12"/>
          <p:cNvSpPr txBox="1"/>
          <p:nvPr/>
        </p:nvSpPr>
        <p:spPr>
          <a:xfrm>
            <a:off x="9061704" y="1627632"/>
            <a:ext cx="174650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700"/>
              <a:buFont typeface="Calibri"/>
              <a:buNone/>
            </a:pPr>
            <a:r>
              <a:rPr b="1" lang="en-US" sz="1700">
                <a:solidFill>
                  <a:schemeClr val="dk2"/>
                </a:solidFill>
                <a:latin typeface="Calibri"/>
                <a:ea typeface="Calibri"/>
                <a:cs typeface="Calibri"/>
                <a:sym typeface="Calibri"/>
              </a:rPr>
              <a:t>Can't tell what to trust</a:t>
            </a:r>
            <a:endParaRPr sz="1700">
              <a:solidFill>
                <a:schemeClr val="dk1"/>
              </a:solidFill>
              <a:latin typeface="Calibri"/>
              <a:ea typeface="Calibri"/>
              <a:cs typeface="Calibri"/>
              <a:sym typeface="Calibri"/>
            </a:endParaRPr>
          </a:p>
        </p:txBody>
      </p:sp>
      <p:sp>
        <p:nvSpPr>
          <p:cNvPr id="303" name="Google Shape;303;p12"/>
          <p:cNvSpPr txBox="1"/>
          <p:nvPr/>
        </p:nvSpPr>
        <p:spPr>
          <a:xfrm>
            <a:off x="10762488" y="1627632"/>
            <a:ext cx="594360" cy="56692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chemeClr val="accent6"/>
              </a:buClr>
              <a:buSzPts val="2400"/>
              <a:buFont typeface="Calibri"/>
              <a:buNone/>
            </a:pPr>
            <a:r>
              <a:rPr b="1" lang="en-US" sz="2400">
                <a:solidFill>
                  <a:schemeClr val="accent6"/>
                </a:solidFill>
                <a:latin typeface="Calibri"/>
                <a:ea typeface="Calibri"/>
                <a:cs typeface="Calibri"/>
                <a:sym typeface="Calibri"/>
              </a:rPr>
              <a:t>03</a:t>
            </a:r>
            <a:endParaRPr sz="2400">
              <a:solidFill>
                <a:schemeClr val="dk1"/>
              </a:solidFill>
              <a:latin typeface="Calibri"/>
              <a:ea typeface="Calibri"/>
              <a:cs typeface="Calibri"/>
              <a:sym typeface="Calibri"/>
            </a:endParaRPr>
          </a:p>
        </p:txBody>
      </p:sp>
      <p:sp>
        <p:nvSpPr>
          <p:cNvPr id="304" name="Google Shape;304;p12"/>
          <p:cNvSpPr/>
          <p:nvPr/>
        </p:nvSpPr>
        <p:spPr>
          <a:xfrm>
            <a:off x="8238744" y="2359152"/>
            <a:ext cx="3255264" cy="1325880"/>
          </a:xfrm>
          <a:prstGeom prst="roundRect">
            <a:avLst>
              <a:gd fmla="val 5517" name="adj"/>
            </a:avLst>
          </a:prstGeom>
          <a:solidFill>
            <a:schemeClr val="dk2"/>
          </a:solidFill>
          <a:ln cap="flat" cmpd="sng" w="12700">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5" name="Google Shape;305;p12"/>
          <p:cNvSpPr txBox="1"/>
          <p:nvPr/>
        </p:nvSpPr>
        <p:spPr>
          <a:xfrm>
            <a:off x="8394192" y="2432304"/>
            <a:ext cx="2944368"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5D8EA"/>
              </a:buClr>
              <a:buSzPts val="1000"/>
              <a:buFont typeface="Calibri"/>
              <a:buNone/>
            </a:pPr>
            <a:r>
              <a:rPr b="1" lang="en-US" spc="200" sz="1000">
                <a:solidFill>
                  <a:srgbClr val="D5D8EA"/>
                </a:solidFill>
                <a:latin typeface="Calibri"/>
                <a:ea typeface="Calibri"/>
                <a:cs typeface="Calibri"/>
                <a:sym typeface="Calibri"/>
              </a:rPr>
              <a:t>THE PROBLEM</a:t>
            </a:r>
            <a:endParaRPr sz="1000">
              <a:solidFill>
                <a:schemeClr val="dk1"/>
              </a:solidFill>
              <a:latin typeface="Calibri"/>
              <a:ea typeface="Calibri"/>
              <a:cs typeface="Calibri"/>
              <a:sym typeface="Calibri"/>
            </a:endParaRPr>
          </a:p>
          <a:p>
            <a:pPr indent="0" lvl="0" marL="0" marR="0" rtl="0" algn="l">
              <a:spcBef>
                <a:spcPts val="300"/>
              </a:spcBef>
              <a:spcAft>
                <a:spcPts val="0"/>
              </a:spcAft>
              <a:buClr>
                <a:srgbClr val="FFFFFF"/>
              </a:buClr>
              <a:buSzPts val="1300"/>
              <a:buFont typeface="Calibri"/>
              <a:buNone/>
            </a:pPr>
            <a:r>
              <a:rPr lang="en-US" sz="1300">
                <a:solidFill>
                  <a:srgbClr val="FFFFFF"/>
                </a:solidFill>
                <a:latin typeface="Calibri"/>
                <a:ea typeface="Calibri"/>
                <a:cs typeface="Calibri"/>
                <a:sym typeface="Calibri"/>
              </a:rPr>
              <a:t>With dozens of conflicting sources, people have no quick, reliable way to judge credibility, so they default to whatever they see most.</a:t>
            </a:r>
            <a:endParaRPr sz="1000">
              <a:solidFill>
                <a:schemeClr val="dk1"/>
              </a:solidFill>
              <a:latin typeface="Calibri"/>
              <a:ea typeface="Calibri"/>
              <a:cs typeface="Calibri"/>
              <a:sym typeface="Calibri"/>
            </a:endParaRPr>
          </a:p>
        </p:txBody>
      </p:sp>
      <p:sp>
        <p:nvSpPr>
          <p:cNvPr id="306" name="Google Shape;306;p12"/>
          <p:cNvSpPr txBox="1"/>
          <p:nvPr/>
        </p:nvSpPr>
        <p:spPr>
          <a:xfrm>
            <a:off x="8375904" y="3767328"/>
            <a:ext cx="2980944" cy="7132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C74A8"/>
              </a:buClr>
              <a:buSzPts val="1000"/>
              <a:buFont typeface="Calibri"/>
              <a:buNone/>
            </a:pPr>
            <a:r>
              <a:rPr b="1" lang="en-US" spc="200" sz="1000">
                <a:solidFill>
                  <a:srgbClr val="6C74A8"/>
                </a:solidFill>
                <a:latin typeface="Calibri"/>
                <a:ea typeface="Calibri"/>
                <a:cs typeface="Calibri"/>
                <a:sym typeface="Calibri"/>
              </a:rPr>
              <a:t>WHO HAS IT</a:t>
            </a:r>
            <a:endParaRPr sz="1000">
              <a:solidFill>
                <a:schemeClr val="dk1"/>
              </a:solidFill>
              <a:latin typeface="Calibri"/>
              <a:ea typeface="Calibri"/>
              <a:cs typeface="Calibri"/>
              <a:sym typeface="Calibri"/>
            </a:endParaRPr>
          </a:p>
          <a:p>
            <a:pPr indent="0" lvl="0" marL="0" marR="0" rtl="0" algn="l">
              <a:spcBef>
                <a:spcPts val="200"/>
              </a:spcBef>
              <a:spcAft>
                <a:spcPts val="0"/>
              </a:spcAft>
              <a:buClr>
                <a:srgbClr val="1A1C2E"/>
              </a:buClr>
              <a:buSzPts val="1200"/>
              <a:buFont typeface="Calibri"/>
              <a:buNone/>
            </a:pPr>
            <a:r>
              <a:rPr lang="en-US" sz="1200">
                <a:solidFill>
                  <a:srgbClr val="1A1C2E"/>
                </a:solidFill>
                <a:latin typeface="Calibri"/>
                <a:ea typeface="Calibri"/>
                <a:cs typeface="Calibri"/>
                <a:sym typeface="Calibri"/>
              </a:rPr>
              <a:t>First-time voters and young adults who get news from social feeds</a:t>
            </a:r>
            <a:endParaRPr sz="1000">
              <a:solidFill>
                <a:schemeClr val="dk1"/>
              </a:solidFill>
              <a:latin typeface="Calibri"/>
              <a:ea typeface="Calibri"/>
              <a:cs typeface="Calibri"/>
              <a:sym typeface="Calibri"/>
            </a:endParaRPr>
          </a:p>
        </p:txBody>
      </p:sp>
      <p:sp>
        <p:nvSpPr>
          <p:cNvPr id="307" name="Google Shape;307;p12"/>
          <p:cNvSpPr txBox="1"/>
          <p:nvPr/>
        </p:nvSpPr>
        <p:spPr>
          <a:xfrm>
            <a:off x="8375904" y="4498848"/>
            <a:ext cx="2980944" cy="7132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C74A8"/>
              </a:buClr>
              <a:buSzPts val="1000"/>
              <a:buFont typeface="Calibri"/>
              <a:buNone/>
            </a:pPr>
            <a:r>
              <a:rPr b="1" lang="en-US" spc="200" sz="1000">
                <a:solidFill>
                  <a:srgbClr val="6C74A8"/>
                </a:solidFill>
                <a:latin typeface="Calibri"/>
                <a:ea typeface="Calibri"/>
                <a:cs typeface="Calibri"/>
                <a:sym typeface="Calibri"/>
              </a:rPr>
              <a:t>WHAT IS BEING DESTROYED</a:t>
            </a:r>
            <a:endParaRPr sz="1000">
              <a:solidFill>
                <a:schemeClr val="dk1"/>
              </a:solidFill>
              <a:latin typeface="Calibri"/>
              <a:ea typeface="Calibri"/>
              <a:cs typeface="Calibri"/>
              <a:sym typeface="Calibri"/>
            </a:endParaRPr>
          </a:p>
          <a:p>
            <a:pPr indent="0" lvl="0" marL="0" marR="0" rtl="0" algn="l">
              <a:spcBef>
                <a:spcPts val="200"/>
              </a:spcBef>
              <a:spcAft>
                <a:spcPts val="0"/>
              </a:spcAft>
              <a:buClr>
                <a:srgbClr val="1A1C2E"/>
              </a:buClr>
              <a:buSzPts val="1200"/>
              <a:buFont typeface="Calibri"/>
              <a:buNone/>
            </a:pPr>
            <a:r>
              <a:rPr lang="en-US" sz="1200">
                <a:solidFill>
                  <a:srgbClr val="1A1C2E"/>
                </a:solidFill>
                <a:latin typeface="Calibri"/>
                <a:ea typeface="Calibri"/>
                <a:cs typeface="Calibri"/>
                <a:sym typeface="Calibri"/>
              </a:rPr>
              <a:t>Confidence in political communication; personal judgment</a:t>
            </a:r>
            <a:endParaRPr sz="1000">
              <a:solidFill>
                <a:schemeClr val="dk1"/>
              </a:solidFill>
              <a:latin typeface="Calibri"/>
              <a:ea typeface="Calibri"/>
              <a:cs typeface="Calibri"/>
              <a:sym typeface="Calibri"/>
            </a:endParaRPr>
          </a:p>
        </p:txBody>
      </p:sp>
      <p:sp>
        <p:nvSpPr>
          <p:cNvPr id="308" name="Google Shape;308;p12"/>
          <p:cNvSpPr txBox="1"/>
          <p:nvPr/>
        </p:nvSpPr>
        <p:spPr>
          <a:xfrm>
            <a:off x="8375904" y="5230368"/>
            <a:ext cx="2980944" cy="7132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C74A8"/>
              </a:buClr>
              <a:buSzPts val="1000"/>
              <a:buFont typeface="Calibri"/>
              <a:buNone/>
            </a:pPr>
            <a:r>
              <a:rPr b="1" lang="en-US" spc="200" sz="1000">
                <a:solidFill>
                  <a:srgbClr val="6C74A8"/>
                </a:solidFill>
                <a:latin typeface="Calibri"/>
                <a:ea typeface="Calibri"/>
                <a:cs typeface="Calibri"/>
                <a:sym typeface="Calibri"/>
              </a:rPr>
              <a:t>WHERE IS THE DISCONTINUITY</a:t>
            </a:r>
            <a:endParaRPr sz="1000">
              <a:solidFill>
                <a:schemeClr val="dk1"/>
              </a:solidFill>
              <a:latin typeface="Calibri"/>
              <a:ea typeface="Calibri"/>
              <a:cs typeface="Calibri"/>
              <a:sym typeface="Calibri"/>
            </a:endParaRPr>
          </a:p>
          <a:p>
            <a:pPr indent="0" lvl="0" marL="0" marR="0" rtl="0" algn="l">
              <a:spcBef>
                <a:spcPts val="200"/>
              </a:spcBef>
              <a:spcAft>
                <a:spcPts val="0"/>
              </a:spcAft>
              <a:buClr>
                <a:srgbClr val="1A1C2E"/>
              </a:buClr>
              <a:buSzPts val="1200"/>
              <a:buFont typeface="Calibri"/>
              <a:buNone/>
            </a:pPr>
            <a:r>
              <a:rPr lang="en-US" sz="1200">
                <a:solidFill>
                  <a:srgbClr val="1A1C2E"/>
                </a:solidFill>
                <a:latin typeface="Calibri"/>
                <a:ea typeface="Calibri"/>
                <a:cs typeface="Calibri"/>
                <a:sym typeface="Calibri"/>
              </a:rPr>
              <a:t>Trust moved from gatekeepers to individuals (21% follow news influencers), but the new trust signals are unverified</a:t>
            </a:r>
            <a:endParaRPr sz="1000">
              <a:solidFill>
                <a:schemeClr val="dk1"/>
              </a:solidFill>
              <a:latin typeface="Calibri"/>
              <a:ea typeface="Calibri"/>
              <a:cs typeface="Calibri"/>
              <a:sym typeface="Calibri"/>
            </a:endParaRPr>
          </a:p>
        </p:txBody>
      </p:sp>
      <p:sp>
        <p:nvSpPr>
          <p:cNvPr id="309" name="Google Shape;309;p12"/>
          <p:cNvSpPr txBox="1"/>
          <p:nvPr>
            <p:ph idx="4294967295" type="sldNum"/>
          </p:nvPr>
        </p:nvSpPr>
        <p:spPr>
          <a:xfrm>
            <a:off x="11155680" y="6400800"/>
            <a:ext cx="48463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000">
                <a:solidFill>
                  <a:schemeClr val="accent5"/>
                </a:solidFill>
                <a:latin typeface="Calibri"/>
                <a:ea typeface="Calibri"/>
                <a:cs typeface="Calibri"/>
                <a:sym typeface="Calibri"/>
              </a:rPr>
              <a:t>‹#›</a:t>
            </a:fld>
            <a:endParaRPr sz="1000">
              <a:solidFill>
                <a:schemeClr val="accent5"/>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13"/>
          <p:cNvSpPr txBox="1"/>
          <p:nvPr>
            <p:ph type="title"/>
          </p:nvPr>
        </p:nvSpPr>
        <p:spPr>
          <a:xfrm>
            <a:off x="548640" y="365760"/>
            <a:ext cx="11091672" cy="8229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000"/>
              <a:buFont typeface="Arial"/>
              <a:buNone/>
            </a:pPr>
            <a:r>
              <a:rPr b="1" lang="en-US" sz="3000">
                <a:solidFill>
                  <a:schemeClr val="dk2"/>
                </a:solidFill>
                <a:latin typeface="Arial"/>
                <a:ea typeface="Arial"/>
                <a:cs typeface="Arial"/>
                <a:sym typeface="Arial"/>
              </a:rPr>
              <a:t>Sources</a:t>
            </a:r>
            <a:endParaRPr sz="3000"/>
          </a:p>
        </p:txBody>
      </p:sp>
      <p:sp>
        <p:nvSpPr>
          <p:cNvPr id="316" name="Google Shape;316;p13"/>
          <p:cNvSpPr txBox="1"/>
          <p:nvPr/>
        </p:nvSpPr>
        <p:spPr>
          <a:xfrm>
            <a:off x="548640" y="1371600"/>
            <a:ext cx="5394960" cy="4846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C2E"/>
              </a:buClr>
              <a:buSzPts val="1200"/>
              <a:buFont typeface="Calibri"/>
              <a:buNone/>
            </a:pPr>
            <a:r>
              <a:rPr lang="en-US" sz="1200">
                <a:solidFill>
                  <a:srgbClr val="1A1C2E"/>
                </a:solidFill>
                <a:latin typeface="Calibri"/>
                <a:ea typeface="Calibri"/>
                <a:cs typeface="Calibri"/>
                <a:sym typeface="Calibri"/>
              </a:rPr>
              <a:t>[1] Kepios / DataReportal (2025). Digital 2025: Global Overview Report. </a:t>
            </a:r>
            <a:r>
              <a:rPr lang="en-US" sz="1200" u="sng">
                <a:solidFill>
                  <a:schemeClr val="hlink"/>
                </a:solidFill>
                <a:latin typeface="Calibri"/>
                <a:ea typeface="Calibri"/>
                <a:cs typeface="Calibri"/>
                <a:sym typeface="Calibri"/>
                <a:hlinkClick r:id="rId3"/>
              </a:rPr>
              <a:t>Link</a:t>
            </a:r>
            <a:endParaRPr sz="1200">
              <a:solidFill>
                <a:schemeClr val="dk1"/>
              </a:solidFill>
              <a:latin typeface="Calibri"/>
              <a:ea typeface="Calibri"/>
              <a:cs typeface="Calibri"/>
              <a:sym typeface="Calibri"/>
            </a:endParaRPr>
          </a:p>
          <a:p>
            <a:pPr indent="0" lvl="0" marL="0" marR="0" rtl="0" algn="l">
              <a:spcBef>
                <a:spcPts val="800"/>
              </a:spcBef>
              <a:spcAft>
                <a:spcPts val="0"/>
              </a:spcAft>
              <a:buClr>
                <a:srgbClr val="1A1C2E"/>
              </a:buClr>
              <a:buSzPts val="1200"/>
              <a:buFont typeface="Calibri"/>
              <a:buNone/>
            </a:pPr>
            <a:r>
              <a:rPr lang="en-US" sz="1200">
                <a:solidFill>
                  <a:srgbClr val="1A1C2E"/>
                </a:solidFill>
                <a:latin typeface="Calibri"/>
                <a:ea typeface="Calibri"/>
                <a:cs typeface="Calibri"/>
                <a:sym typeface="Calibri"/>
              </a:rPr>
              <a:t>[2] Reuters Institute for the Study of Journalism (2025). Digital News Report 2025. </a:t>
            </a:r>
            <a:r>
              <a:rPr lang="en-US" sz="1200" u="sng">
                <a:solidFill>
                  <a:schemeClr val="hlink"/>
                </a:solidFill>
                <a:latin typeface="Calibri"/>
                <a:ea typeface="Calibri"/>
                <a:cs typeface="Calibri"/>
                <a:sym typeface="Calibri"/>
                <a:hlinkClick r:id="rId4"/>
              </a:rPr>
              <a:t>Link</a:t>
            </a:r>
            <a:endParaRPr sz="1200">
              <a:solidFill>
                <a:schemeClr val="dk1"/>
              </a:solidFill>
              <a:latin typeface="Calibri"/>
              <a:ea typeface="Calibri"/>
              <a:cs typeface="Calibri"/>
              <a:sym typeface="Calibri"/>
            </a:endParaRPr>
          </a:p>
          <a:p>
            <a:pPr indent="0" lvl="0" marL="0" marR="0" rtl="0" algn="l">
              <a:spcBef>
                <a:spcPts val="800"/>
              </a:spcBef>
              <a:spcAft>
                <a:spcPts val="0"/>
              </a:spcAft>
              <a:buClr>
                <a:srgbClr val="1A1C2E"/>
              </a:buClr>
              <a:buSzPts val="1200"/>
              <a:buFont typeface="Calibri"/>
              <a:buNone/>
            </a:pPr>
            <a:r>
              <a:rPr lang="en-US" sz="1200">
                <a:solidFill>
                  <a:srgbClr val="1A1C2E"/>
                </a:solidFill>
                <a:latin typeface="Calibri"/>
                <a:ea typeface="Calibri"/>
                <a:cs typeface="Calibri"/>
                <a:sym typeface="Calibri"/>
              </a:rPr>
              <a:t>[3] Gallup (Oct 2025). Americans' trust in media at new low. Reported by Axios. </a:t>
            </a:r>
            <a:r>
              <a:rPr lang="en-US" sz="1200" u="sng">
                <a:solidFill>
                  <a:schemeClr val="hlink"/>
                </a:solidFill>
                <a:latin typeface="Calibri"/>
                <a:ea typeface="Calibri"/>
                <a:cs typeface="Calibri"/>
                <a:sym typeface="Calibri"/>
                <a:hlinkClick r:id="rId5"/>
              </a:rPr>
              <a:t>Link</a:t>
            </a:r>
            <a:endParaRPr sz="1200">
              <a:solidFill>
                <a:schemeClr val="dk1"/>
              </a:solidFill>
              <a:latin typeface="Calibri"/>
              <a:ea typeface="Calibri"/>
              <a:cs typeface="Calibri"/>
              <a:sym typeface="Calibri"/>
            </a:endParaRPr>
          </a:p>
          <a:p>
            <a:pPr indent="0" lvl="0" marL="0" marR="0" rtl="0" algn="l">
              <a:spcBef>
                <a:spcPts val="800"/>
              </a:spcBef>
              <a:spcAft>
                <a:spcPts val="0"/>
              </a:spcAft>
              <a:buClr>
                <a:srgbClr val="1A1C2E"/>
              </a:buClr>
              <a:buSzPts val="1200"/>
              <a:buFont typeface="Calibri"/>
              <a:buNone/>
            </a:pPr>
            <a:r>
              <a:rPr lang="en-US" sz="1200">
                <a:solidFill>
                  <a:srgbClr val="1A1C2E"/>
                </a:solidFill>
                <a:latin typeface="Calibri"/>
                <a:ea typeface="Calibri"/>
                <a:cs typeface="Calibri"/>
                <a:sym typeface="Calibri"/>
              </a:rPr>
              <a:t>[4] Pew Research Center (2024). America's news influencers. Summarized in Trust, Summer 2025. </a:t>
            </a:r>
            <a:r>
              <a:rPr lang="en-US" sz="1200" u="sng">
                <a:solidFill>
                  <a:schemeClr val="hlink"/>
                </a:solidFill>
                <a:latin typeface="Calibri"/>
                <a:ea typeface="Calibri"/>
                <a:cs typeface="Calibri"/>
                <a:sym typeface="Calibri"/>
                <a:hlinkClick r:id="rId6"/>
              </a:rPr>
              <a:t>Link</a:t>
            </a:r>
            <a:endParaRPr sz="1200">
              <a:solidFill>
                <a:schemeClr val="dk1"/>
              </a:solidFill>
              <a:latin typeface="Calibri"/>
              <a:ea typeface="Calibri"/>
              <a:cs typeface="Calibri"/>
              <a:sym typeface="Calibri"/>
            </a:endParaRPr>
          </a:p>
          <a:p>
            <a:pPr indent="0" lvl="0" marL="0" marR="0" rtl="0" algn="l">
              <a:spcBef>
                <a:spcPts val="800"/>
              </a:spcBef>
              <a:spcAft>
                <a:spcPts val="0"/>
              </a:spcAft>
              <a:buClr>
                <a:srgbClr val="1A1C2E"/>
              </a:buClr>
              <a:buSzPts val="1200"/>
              <a:buFont typeface="Calibri"/>
              <a:buNone/>
            </a:pPr>
            <a:r>
              <a:rPr lang="en-US" sz="1200">
                <a:solidFill>
                  <a:srgbClr val="1A1C2E"/>
                </a:solidFill>
                <a:latin typeface="Calibri"/>
                <a:ea typeface="Calibri"/>
                <a:cs typeface="Calibri"/>
                <a:sym typeface="Calibri"/>
              </a:rPr>
              <a:t>[5] Pew Research Center (Dec 2024). Teens, Social Media and Technology 2024. </a:t>
            </a:r>
            <a:r>
              <a:rPr lang="en-US" sz="1200" u="sng">
                <a:solidFill>
                  <a:schemeClr val="hlink"/>
                </a:solidFill>
                <a:latin typeface="Calibri"/>
                <a:ea typeface="Calibri"/>
                <a:cs typeface="Calibri"/>
                <a:sym typeface="Calibri"/>
                <a:hlinkClick r:id="rId7"/>
              </a:rPr>
              <a:t>Link</a:t>
            </a:r>
            <a:endParaRPr sz="1200">
              <a:solidFill>
                <a:schemeClr val="dk1"/>
              </a:solidFill>
              <a:latin typeface="Calibri"/>
              <a:ea typeface="Calibri"/>
              <a:cs typeface="Calibri"/>
              <a:sym typeface="Calibri"/>
            </a:endParaRPr>
          </a:p>
          <a:p>
            <a:pPr indent="0" lvl="0" marL="0" marR="0" rtl="0" algn="l">
              <a:spcBef>
                <a:spcPts val="800"/>
              </a:spcBef>
              <a:spcAft>
                <a:spcPts val="0"/>
              </a:spcAft>
              <a:buClr>
                <a:srgbClr val="1A1C2E"/>
              </a:buClr>
              <a:buSzPts val="1200"/>
              <a:buFont typeface="Calibri"/>
              <a:buNone/>
            </a:pPr>
            <a:r>
              <a:rPr lang="en-US" sz="1200">
                <a:solidFill>
                  <a:srgbClr val="1A1C2E"/>
                </a:solidFill>
                <a:latin typeface="Calibri"/>
                <a:ea typeface="Calibri"/>
                <a:cs typeface="Calibri"/>
                <a:sym typeface="Calibri"/>
              </a:rPr>
              <a:t>[6] Pew Research Center (2020). Fast facts about the newspaper industry's financial struggles. </a:t>
            </a:r>
            <a:r>
              <a:rPr lang="en-US" sz="1200" u="sng">
                <a:solidFill>
                  <a:schemeClr val="hlink"/>
                </a:solidFill>
                <a:latin typeface="Calibri"/>
                <a:ea typeface="Calibri"/>
                <a:cs typeface="Calibri"/>
                <a:sym typeface="Calibri"/>
                <a:hlinkClick r:id="rId8"/>
              </a:rPr>
              <a:t>Link</a:t>
            </a:r>
            <a:endParaRPr sz="1200">
              <a:solidFill>
                <a:schemeClr val="dk1"/>
              </a:solidFill>
              <a:latin typeface="Calibri"/>
              <a:ea typeface="Calibri"/>
              <a:cs typeface="Calibri"/>
              <a:sym typeface="Calibri"/>
            </a:endParaRPr>
          </a:p>
        </p:txBody>
      </p:sp>
      <p:sp>
        <p:nvSpPr>
          <p:cNvPr id="317" name="Google Shape;317;p13"/>
          <p:cNvSpPr txBox="1"/>
          <p:nvPr/>
        </p:nvSpPr>
        <p:spPr>
          <a:xfrm>
            <a:off x="6245352" y="1371600"/>
            <a:ext cx="5394960" cy="4846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C2E"/>
              </a:buClr>
              <a:buSzPts val="1200"/>
              <a:buFont typeface="Calibri"/>
              <a:buNone/>
            </a:pPr>
            <a:r>
              <a:rPr lang="en-US" sz="1200">
                <a:solidFill>
                  <a:srgbClr val="1A1C2E"/>
                </a:solidFill>
                <a:latin typeface="Calibri"/>
                <a:ea typeface="Calibri"/>
                <a:cs typeface="Calibri"/>
                <a:sym typeface="Calibri"/>
              </a:rPr>
              <a:t>[7] AP-NORC Center for Public Affairs Research (Dec 2024). Poll on political news fatigue. Reported by Al Jazeera. </a:t>
            </a:r>
            <a:r>
              <a:rPr lang="en-US" sz="1200" u="sng">
                <a:solidFill>
                  <a:schemeClr val="hlink"/>
                </a:solidFill>
                <a:latin typeface="Calibri"/>
                <a:ea typeface="Calibri"/>
                <a:cs typeface="Calibri"/>
                <a:sym typeface="Calibri"/>
                <a:hlinkClick r:id="rId9"/>
              </a:rPr>
              <a:t>Link</a:t>
            </a:r>
            <a:endParaRPr sz="1200">
              <a:solidFill>
                <a:schemeClr val="dk1"/>
              </a:solidFill>
              <a:latin typeface="Calibri"/>
              <a:ea typeface="Calibri"/>
              <a:cs typeface="Calibri"/>
              <a:sym typeface="Calibri"/>
            </a:endParaRPr>
          </a:p>
          <a:p>
            <a:pPr indent="0" lvl="0" marL="0" marR="0" rtl="0" algn="l">
              <a:spcBef>
                <a:spcPts val="800"/>
              </a:spcBef>
              <a:spcAft>
                <a:spcPts val="0"/>
              </a:spcAft>
              <a:buClr>
                <a:srgbClr val="1A1C2E"/>
              </a:buClr>
              <a:buSzPts val="1200"/>
              <a:buFont typeface="Calibri"/>
              <a:buNone/>
            </a:pPr>
            <a:r>
              <a:rPr lang="en-US" sz="1200">
                <a:solidFill>
                  <a:srgbClr val="1A1C2E"/>
                </a:solidFill>
                <a:latin typeface="Calibri"/>
                <a:ea typeface="Calibri"/>
                <a:cs typeface="Calibri"/>
                <a:sym typeface="Calibri"/>
              </a:rPr>
              <a:t>[8] AdImpact (2024). 2023-2024 Cycle in Review. Reported by TV Tech. </a:t>
            </a:r>
            <a:r>
              <a:rPr lang="en-US" sz="1200" u="sng">
                <a:solidFill>
                  <a:schemeClr val="hlink"/>
                </a:solidFill>
                <a:latin typeface="Calibri"/>
                <a:ea typeface="Calibri"/>
                <a:cs typeface="Calibri"/>
                <a:sym typeface="Calibri"/>
                <a:hlinkClick r:id="rId10"/>
              </a:rPr>
              <a:t>Link</a:t>
            </a:r>
            <a:endParaRPr sz="1200">
              <a:solidFill>
                <a:schemeClr val="dk1"/>
              </a:solidFill>
              <a:latin typeface="Calibri"/>
              <a:ea typeface="Calibri"/>
              <a:cs typeface="Calibri"/>
              <a:sym typeface="Calibri"/>
            </a:endParaRPr>
          </a:p>
          <a:p>
            <a:pPr indent="0" lvl="0" marL="0" marR="0" rtl="0" algn="l">
              <a:spcBef>
                <a:spcPts val="800"/>
              </a:spcBef>
              <a:spcAft>
                <a:spcPts val="0"/>
              </a:spcAft>
              <a:buClr>
                <a:srgbClr val="1A1C2E"/>
              </a:buClr>
              <a:buSzPts val="1200"/>
              <a:buFont typeface="Calibri"/>
              <a:buNone/>
            </a:pPr>
            <a:r>
              <a:rPr lang="en-US" sz="1200">
                <a:solidFill>
                  <a:srgbClr val="1A1C2E"/>
                </a:solidFill>
                <a:latin typeface="Calibri"/>
                <a:ea typeface="Calibri"/>
                <a:cs typeface="Calibri"/>
                <a:sym typeface="Calibri"/>
              </a:rPr>
              <a:t>[9] WPP Media (June 2025). This Year Next Year: midyear global advertising forecast. </a:t>
            </a:r>
            <a:r>
              <a:rPr lang="en-US" sz="1200" u="sng">
                <a:solidFill>
                  <a:schemeClr val="hlink"/>
                </a:solidFill>
                <a:latin typeface="Calibri"/>
                <a:ea typeface="Calibri"/>
                <a:cs typeface="Calibri"/>
                <a:sym typeface="Calibri"/>
                <a:hlinkClick r:id="rId11"/>
              </a:rPr>
              <a:t>Link</a:t>
            </a:r>
            <a:endParaRPr sz="1200">
              <a:solidFill>
                <a:schemeClr val="dk1"/>
              </a:solidFill>
              <a:latin typeface="Calibri"/>
              <a:ea typeface="Calibri"/>
              <a:cs typeface="Calibri"/>
              <a:sym typeface="Calibri"/>
            </a:endParaRPr>
          </a:p>
          <a:p>
            <a:pPr indent="0" lvl="0" marL="0" marR="0" rtl="0" algn="l">
              <a:spcBef>
                <a:spcPts val="800"/>
              </a:spcBef>
              <a:spcAft>
                <a:spcPts val="0"/>
              </a:spcAft>
              <a:buClr>
                <a:srgbClr val="1A1C2E"/>
              </a:buClr>
              <a:buSzPts val="1200"/>
              <a:buFont typeface="Calibri"/>
              <a:buNone/>
            </a:pPr>
            <a:r>
              <a:rPr lang="en-US" sz="1200">
                <a:solidFill>
                  <a:srgbClr val="1A1C2E"/>
                </a:solidFill>
                <a:latin typeface="Calibri"/>
                <a:ea typeface="Calibri"/>
                <a:cs typeface="Calibri"/>
                <a:sym typeface="Calibri"/>
              </a:rPr>
              <a:t>[10] Mark, G. (2023). Attention Span. Hanover Square Press. Interview, UC Newsroom (2024). </a:t>
            </a:r>
            <a:r>
              <a:rPr lang="en-US" sz="1200" u="sng">
                <a:solidFill>
                  <a:schemeClr val="hlink"/>
                </a:solidFill>
                <a:latin typeface="Calibri"/>
                <a:ea typeface="Calibri"/>
                <a:cs typeface="Calibri"/>
                <a:sym typeface="Calibri"/>
                <a:hlinkClick r:id="rId12"/>
              </a:rPr>
              <a:t>Link</a:t>
            </a:r>
            <a:endParaRPr sz="1200">
              <a:solidFill>
                <a:schemeClr val="dk1"/>
              </a:solidFill>
              <a:latin typeface="Calibri"/>
              <a:ea typeface="Calibri"/>
              <a:cs typeface="Calibri"/>
              <a:sym typeface="Calibri"/>
            </a:endParaRPr>
          </a:p>
          <a:p>
            <a:pPr indent="0" lvl="0" marL="0" marR="0" rtl="0" algn="l">
              <a:spcBef>
                <a:spcPts val="800"/>
              </a:spcBef>
              <a:spcAft>
                <a:spcPts val="0"/>
              </a:spcAft>
              <a:buClr>
                <a:srgbClr val="1A1C2E"/>
              </a:buClr>
              <a:buSzPts val="1200"/>
              <a:buFont typeface="Calibri"/>
              <a:buNone/>
            </a:pPr>
            <a:r>
              <a:rPr lang="en-US" sz="1200">
                <a:solidFill>
                  <a:srgbClr val="1A1C2E"/>
                </a:solidFill>
                <a:latin typeface="Calibri"/>
                <a:ea typeface="Calibri"/>
                <a:cs typeface="Calibri"/>
                <a:sym typeface="Calibri"/>
              </a:rPr>
              <a:t>[11] Microsoft (Apr 2025). Work Trend Index: 2025: The Year the Frontier Firm Is Born. Reported by Allwork.Space. </a:t>
            </a:r>
            <a:r>
              <a:rPr lang="en-US" sz="1200" u="sng">
                <a:solidFill>
                  <a:schemeClr val="hlink"/>
                </a:solidFill>
                <a:latin typeface="Calibri"/>
                <a:ea typeface="Calibri"/>
                <a:cs typeface="Calibri"/>
                <a:sym typeface="Calibri"/>
                <a:hlinkClick r:id="rId13"/>
              </a:rPr>
              <a:t>Link</a:t>
            </a:r>
            <a:endParaRPr sz="1200">
              <a:solidFill>
                <a:schemeClr val="dk1"/>
              </a:solidFill>
              <a:latin typeface="Calibri"/>
              <a:ea typeface="Calibri"/>
              <a:cs typeface="Calibri"/>
              <a:sym typeface="Calibri"/>
            </a:endParaRPr>
          </a:p>
          <a:p>
            <a:pPr indent="0" lvl="0" marL="0" marR="0" rtl="0" algn="l">
              <a:spcBef>
                <a:spcPts val="800"/>
              </a:spcBef>
              <a:spcAft>
                <a:spcPts val="0"/>
              </a:spcAft>
              <a:buClr>
                <a:srgbClr val="1A1C2E"/>
              </a:buClr>
              <a:buSzPts val="1200"/>
              <a:buFont typeface="Calibri"/>
              <a:buNone/>
            </a:pPr>
            <a:r>
              <a:rPr lang="en-US" sz="1200">
                <a:solidFill>
                  <a:srgbClr val="1A1C2E"/>
                </a:solidFill>
                <a:latin typeface="Calibri"/>
                <a:ea typeface="Calibri"/>
                <a:cs typeface="Calibri"/>
                <a:sym typeface="Calibri"/>
              </a:rPr>
              <a:t>[12] Guess, A. M., et al. (2023). How do social media feed algorithms affect attitudes and behavior in an election campaign? Science, 381, 398-404. </a:t>
            </a:r>
            <a:r>
              <a:rPr lang="en-US" sz="1200" u="sng">
                <a:solidFill>
                  <a:schemeClr val="hlink"/>
                </a:solidFill>
                <a:latin typeface="Calibri"/>
                <a:ea typeface="Calibri"/>
                <a:cs typeface="Calibri"/>
                <a:sym typeface="Calibri"/>
                <a:hlinkClick r:id="rId14"/>
              </a:rPr>
              <a:t>Link</a:t>
            </a:r>
            <a:endParaRPr sz="1200">
              <a:solidFill>
                <a:schemeClr val="dk1"/>
              </a:solidFill>
              <a:latin typeface="Calibri"/>
              <a:ea typeface="Calibri"/>
              <a:cs typeface="Calibri"/>
              <a:sym typeface="Calibri"/>
            </a:endParaRPr>
          </a:p>
          <a:p>
            <a:pPr indent="0" lvl="0" marL="0" marR="0" rtl="0" algn="l">
              <a:spcBef>
                <a:spcPts val="800"/>
              </a:spcBef>
              <a:spcAft>
                <a:spcPts val="0"/>
              </a:spcAft>
              <a:buClr>
                <a:srgbClr val="1A1C2E"/>
              </a:buClr>
              <a:buSzPts val="1200"/>
              <a:buFont typeface="Calibri"/>
              <a:buNone/>
            </a:pPr>
            <a:r>
              <a:rPr lang="en-US" sz="1200">
                <a:solidFill>
                  <a:srgbClr val="1A1C2E"/>
                </a:solidFill>
                <a:latin typeface="Calibri"/>
                <a:ea typeface="Calibri"/>
                <a:cs typeface="Calibri"/>
                <a:sym typeface="Calibri"/>
              </a:rPr>
              <a:t>[13] European Union (2022). Digital Services Act, Regulation (EU) 2022/2065, Article 38.</a:t>
            </a:r>
            <a:endParaRPr/>
          </a:p>
          <a:p>
            <a:pPr indent="0" lvl="0" marL="0" marR="0" rtl="0" algn="l">
              <a:spcBef>
                <a:spcPts val="800"/>
              </a:spcBef>
              <a:spcAft>
                <a:spcPts val="0"/>
              </a:spcAft>
              <a:buClr>
                <a:srgbClr val="1A1C2E"/>
              </a:buClr>
              <a:buSzPts val="1200"/>
              <a:buFont typeface="Calibri"/>
              <a:buNone/>
            </a:pPr>
            <a:r>
              <a:rPr lang="en-US" sz="1200">
                <a:solidFill>
                  <a:srgbClr val="1A1C2E"/>
                </a:solidFill>
                <a:latin typeface="Calibri"/>
                <a:ea typeface="Calibri"/>
                <a:cs typeface="Calibri"/>
                <a:sym typeface="Calibri"/>
              </a:rPr>
              <a:t>[14] Krosnick, J. A., &amp; Alwin, D. F. (1989). Aging and susceptibility to attitude change. Journal of Personality and Social Psychology, 57(3), 416-425.</a:t>
            </a:r>
            <a:endParaRPr/>
          </a:p>
          <a:p>
            <a:pPr indent="0" lvl="0" marL="0" marR="0" rtl="0" algn="l">
              <a:spcBef>
                <a:spcPts val="800"/>
              </a:spcBef>
              <a:spcAft>
                <a:spcPts val="0"/>
              </a:spcAft>
              <a:buClr>
                <a:srgbClr val="1A1C2E"/>
              </a:buClr>
              <a:buSzPts val="1200"/>
              <a:buFont typeface="Calibri"/>
              <a:buNone/>
            </a:pPr>
            <a:r>
              <a:rPr lang="en-US" sz="1200">
                <a:solidFill>
                  <a:srgbClr val="1A1C2E"/>
                </a:solidFill>
                <a:latin typeface="Calibri"/>
                <a:ea typeface="Calibri"/>
                <a:cs typeface="Calibri"/>
                <a:sym typeface="Calibri"/>
              </a:rPr>
              <a:t>[15] White, D. M. (1950). The "gate keeper": A case study in the selection of news. Journalism Quarterly, 27(4), 383-390.</a:t>
            </a:r>
            <a:endParaRPr/>
          </a:p>
        </p:txBody>
      </p:sp>
      <p:sp>
        <p:nvSpPr>
          <p:cNvPr id="318" name="Google Shape;318;p13"/>
          <p:cNvSpPr txBox="1"/>
          <p:nvPr>
            <p:ph idx="4294967295" type="sldNum"/>
          </p:nvPr>
        </p:nvSpPr>
        <p:spPr>
          <a:xfrm>
            <a:off x="11155680" y="6400800"/>
            <a:ext cx="48463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000">
                <a:solidFill>
                  <a:schemeClr val="accent5"/>
                </a:solidFill>
                <a:latin typeface="Calibri"/>
                <a:ea typeface="Calibri"/>
                <a:cs typeface="Calibri"/>
                <a:sym typeface="Calibri"/>
              </a:rPr>
              <a:t>‹#›</a:t>
            </a:fld>
            <a:endParaRPr sz="1000">
              <a:solidFill>
                <a:schemeClr val="accent5"/>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ny-to-One">
  <a:themeElements>
    <a:clrScheme name="Many-to-One">
      <a:dk1>
        <a:srgbClr val="1A1C2E"/>
      </a:dk1>
      <a:lt1>
        <a:srgbClr val="FFFFFF"/>
      </a:lt1>
      <a:dk2>
        <a:srgbClr val="22264B"/>
      </a:dk2>
      <a:lt2>
        <a:srgbClr val="F1F2F8"/>
      </a:lt2>
      <a:accent1>
        <a:srgbClr val="FF5A36"/>
      </a:accent1>
      <a:accent2>
        <a:srgbClr val="6C74A8"/>
      </a:accent2>
      <a:accent3>
        <a:srgbClr val="2BB3A3"/>
      </a:accent3>
      <a:accent4>
        <a:srgbClr val="F2B134"/>
      </a:accent4>
      <a:accent5>
        <a:srgbClr val="8A8FA8"/>
      </a:accent5>
      <a:accent6>
        <a:srgbClr val="D5D8EA"/>
      </a:accent6>
      <a:hlink>
        <a:srgbClr val="FF5A36"/>
      </a:hlink>
      <a:folHlink>
        <a:srgbClr val="6C74A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