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42608515-4707-25bd-19ba-c7dc319c1f6d}">
          <p14:sldIdLst>
            <p14:sldId id="256"/>
          </p14:sldIdLst>
        </p14:section>
        <p14:section name="Background" id="{c5eda147-64b5-9d29-dd1e-d51a2e2a10d7}">
          <p14:sldIdLst>
            <p14:sldId id="257"/>
          </p14:sldIdLst>
        </p14:section>
        <p14:section name="Analysis" id="{46b4f370-374e-f29b-6750-6c06e2390e6d}">
          <p14:sldIdLst>
            <p14:sldId id="258"/>
          </p14:sldIdLst>
        </p14:section>
        <p14:section name="Opportunities" id="{11ca63bf-9555-85e7-97d2-d394f6e8c9c8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C9CCD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adults</c:v>
                  </c:pt>
                  <c:pt idx="1">
                    <c:v>Under 30</c:v>
                  </c:pt>
                  <c:pt idx="2">
                    <c:v>TikTok users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9</c:v>
                </c:pt>
                <c:pt idx="2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493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adults</c:v>
                  </c:pt>
                  <c:pt idx="1">
                    <c:v>Under 30</c:v>
                  </c:pt>
                  <c:pt idx="2">
                    <c:v>TikTok users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43</c:v>
                </c:pt>
                <c:pt idx="2">
                  <c:v>55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1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chemeClr val="tx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5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Team 2  |  Communication: the feed is the newsroom  |  Week 4, 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WEEK 4 DOMAIN PRESENTATION  |  ILL-DEFINED PROBLEMS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The feed is the newsroom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546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Short-form video now carries political news to one in five U.S. adults and to 43% of adults under 30. We traced what that shift is destroying, and where the problems worth solving open up.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92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Team 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2852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Domain: communication  |  Trend: short-form political content  |  October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49640" y="685800"/>
            <a:ext cx="2880360" cy="5486400"/>
          </a:xfrm>
          <a:prstGeom prst="roundRect">
            <a:avLst>
              <a:gd name="adj" fmla="val 11111"/>
            </a:avLst>
          </a:prstGeom>
          <a:solidFill>
            <a:schemeClr val="bg1">
              <a:alpha val="8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78340" y="850392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9" name="Shape 7"/>
          <p:cNvSpPr/>
          <p:nvPr/>
        </p:nvSpPr>
        <p:spPr>
          <a:xfrm>
            <a:off x="8732520" y="1188720"/>
            <a:ext cx="2514600" cy="1463040"/>
          </a:xfrm>
          <a:prstGeom prst="roundRect">
            <a:avLst>
              <a:gd name="adj" fmla="val 7500"/>
            </a:avLst>
          </a:prstGeom>
          <a:solidFill>
            <a:schemeClr val="accent3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8933688" y="1463040"/>
            <a:ext cx="292608" cy="256032"/>
          </a:xfrm>
          <a:prstGeom prst="triangle">
            <a:avLst/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72600" y="13716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Senator SLAMS reporter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97112" y="2176272"/>
            <a:ext cx="105156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897112" y="21762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NO SOURCE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469880" y="2176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0:38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32520" y="2816352"/>
            <a:ext cx="2514600" cy="1463040"/>
          </a:xfrm>
          <a:prstGeom prst="roundRect">
            <a:avLst>
              <a:gd name="adj" fmla="val 7500"/>
            </a:avLst>
          </a:prstGeom>
          <a:solidFill>
            <a:schemeClr val="accent3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8933688" y="3090672"/>
            <a:ext cx="292608" cy="256032"/>
          </a:xfrm>
          <a:prstGeom prst="triangle">
            <a:avLst/>
          </a:prstGeom>
          <a:solidFill>
            <a:schemeClr val="bg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72600" y="29992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What the bill really says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97112" y="3803904"/>
            <a:ext cx="105156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897112" y="38039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NO DATE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469880" y="38039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0:52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32520" y="4443984"/>
            <a:ext cx="2514600" cy="1463040"/>
          </a:xfrm>
          <a:prstGeom prst="roundRect">
            <a:avLst>
              <a:gd name="adj" fmla="val 7500"/>
            </a:avLst>
          </a:prstGeom>
          <a:solidFill>
            <a:schemeClr val="accent3"/>
          </a:solidFill>
          <a:ln/>
        </p:spPr>
      </p:sp>
      <p:sp>
        <p:nvSpPr>
          <p:cNvPr id="22" name="Shape 20"/>
          <p:cNvSpPr/>
          <p:nvPr/>
        </p:nvSpPr>
        <p:spPr>
          <a:xfrm rot="5400000">
            <a:off x="8933688" y="4718304"/>
            <a:ext cx="292608" cy="256032"/>
          </a:xfrm>
          <a:prstGeom prst="triangle">
            <a:avLst/>
          </a:prstGeom>
          <a:solidFill>
            <a:schemeClr val="bg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72600" y="46268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They don't want you to see this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97112" y="5431536"/>
            <a:ext cx="1051560" cy="25603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897112" y="54315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AI-MADE?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469880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0:19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01  |  BACKGROUND AND DATA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In five years, short-form video became a main channel for political news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Sources: Rosenfeld et al., How Couples Meet and Stay Together 2017 (Stanford); Google, Agent2Agent, Apr. 2025; Reuters Institute, Digital News Report 2025; Pew Research Center, America's News Influencers, Nov. 2024, and TikTok news use, Sept. 25, 2025; Gallup, Sept. 2025; Medill, State of Local News 2025.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3619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Domain: communication.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a message reaches the person who needs it, and how that person decides to believe it.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128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tx2"/>
                </a:solidFill>
              </a:rPr>
              <a:t>FIVE MACRO TRENDS FROM OUR WORKSHEET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542032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Partners meet through apps.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39% of U.S. couples formed in 2017 met online (Stanford HCMST).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347472" cy="34747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209544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Machines talk to machines.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Google's Agent2Agent protocol lets AI agents message each other (2025).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877056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Political talk moves into feeds.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More Americans now get news from social and video (54%) than TV (50%) (Reuters 2025).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62856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62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544568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News influencers replace institutions.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21% of adults regularly get news from them (Pew 2024).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30368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230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212080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Short-form video takes over.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Our selected trend, where the old checks on accuracy are most exposed.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315200" y="1536192"/>
            <a:ext cx="4327855" cy="2852928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16368" y="1664208"/>
            <a:ext cx="39255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</a:rPr>
              <a:t>WHO REGULARLY GETS NEWS ON TIKTOK (PEW)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7406640" y="1920240"/>
          <a:ext cx="4144975" cy="23957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7315200" y="4553712"/>
            <a:ext cx="2049628" cy="1298448"/>
          </a:xfrm>
          <a:prstGeom prst="roundRect">
            <a:avLst>
              <a:gd name="adj" fmla="val 56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79792" y="4645152"/>
            <a:ext cx="1720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28%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7479792" y="5102352"/>
            <a:ext cx="1720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of Americans trust the mass media, a record low (Gallup 2025).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593428" y="4553712"/>
            <a:ext cx="2049628" cy="1298448"/>
          </a:xfrm>
          <a:prstGeom prst="roundRect">
            <a:avLst>
              <a:gd name="adj" fmla="val 56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58020" y="4645152"/>
            <a:ext cx="1720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213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9758020" y="5102352"/>
            <a:ext cx="1720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U.S. counties have no local news source (Medill 2025).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02  |  ANALYSIS: MACRO CHANGES (PEST) AND ILL-DEFINED FRAMING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Short-form video is destroying the checks that told people a message was true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Tools: Macro Changes (PEST) worksheet, steps 1-2; "what is being destroyed" (Gibson, The Four Lenses of Innovation, 2015); constraining the space (Weisberg, Creativity, 2006), from S_04 Ill-Defined Problems. Data: White House, Jan. 2025; Goldman Sachs Research, 2023; Cambridge Dictionary, 2025; Adobe Express, 2026; Guess et al. and González-Bailón et al., Science, July 2023.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3611880" cy="2084832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73352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6733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Political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130552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accent3"/>
                </a:solidFill>
              </a:rPr>
              <a:t>Changing.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Politicians reach younger audiences directly, with more polarizing messages.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Destroyed.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Traditional news as gatekeeper. Less incentive to be unbiased.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218688"/>
            <a:ext cx="3282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White House "new media" seat drew 7,400 requests in a day (2025).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536192"/>
            <a:ext cx="3611880" cy="2084832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53712" y="1673352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53712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92624" y="16733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Economic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2130552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accent3"/>
                </a:solidFill>
              </a:rPr>
              <a:t>Changing.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Creators make a living from news. It becomes a source of income.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Destroyed.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Integrity. Creators are paid by engagement, so bias pays.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53712" y="3218688"/>
            <a:ext cx="3282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Creator economy heads to $480B by 2027 (Goldman Sachs).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3611880" cy="2084832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3941064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3941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" y="394106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Social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4398264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accent3"/>
                </a:solidFill>
              </a:rPr>
              <a:t>Changing.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Parasocial relationships. Viewers trust creators they feel they know.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Destroyed.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Real relationships, and a shared local paper.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5486400"/>
            <a:ext cx="3282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"Parasocial" was Cambridge's 2025 word of the year.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3803904"/>
            <a:ext cx="3611880" cy="2084832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53712" y="3941064"/>
            <a:ext cx="347472" cy="34747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53712" y="3941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992624" y="394106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Technological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53712" y="4398264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accent3"/>
                </a:solidFill>
              </a:rPr>
              <a:t>Changing.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Feeds pick what you see. AI now makes the video too.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Destroyed.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Traditional search and third-party fact-checking.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5486400"/>
            <a:ext cx="3282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49% have used TikTok as a search engine (Adobe 2026).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75320" y="1536192"/>
            <a:ext cx="3367735" cy="822960"/>
          </a:xfrm>
          <a:prstGeom prst="roundRect">
            <a:avLst>
              <a:gd name="adj" fmla="val 8889"/>
            </a:avLst>
          </a:prstGeom>
          <a:solidFill>
            <a:schemeClr val="tx2">
              <a:alpha val="13000"/>
            </a:schemeClr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0" y="1627632"/>
            <a:ext cx="1234440" cy="25603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0" y="1627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UN-DEFINED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1920240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What is the future of communication?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75320" y="2468880"/>
            <a:ext cx="3367735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13000"/>
            </a:schemeClr>
          </a:solidFill>
          <a:ln/>
        </p:spPr>
      </p:sp>
      <p:sp>
        <p:nvSpPr>
          <p:cNvPr id="34" name="Shape 32"/>
          <p:cNvSpPr/>
          <p:nvPr/>
        </p:nvSpPr>
        <p:spPr>
          <a:xfrm>
            <a:off x="8412480" y="2560320"/>
            <a:ext cx="123444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12480" y="25603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ILL-DEFINED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412480" y="2852928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How do people learn what is true when the feed is the newsroom?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275320" y="3401568"/>
            <a:ext cx="3367735" cy="822960"/>
          </a:xfrm>
          <a:prstGeom prst="roundRect">
            <a:avLst>
              <a:gd name="adj" fmla="val 8889"/>
            </a:avLst>
          </a:prstGeom>
          <a:solidFill>
            <a:schemeClr val="accent2">
              <a:alpha val="13000"/>
            </a:schemeClr>
          </a:solidFill>
          <a:ln/>
        </p:spPr>
      </p:sp>
      <p:sp>
        <p:nvSpPr>
          <p:cNvPr id="38" name="Shape 36"/>
          <p:cNvSpPr/>
          <p:nvPr/>
        </p:nvSpPr>
        <p:spPr>
          <a:xfrm>
            <a:off x="8412480" y="3493008"/>
            <a:ext cx="123444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412480" y="3493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CONSTRAINED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3785616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How can adults under 30 tell if a political clip is accurate and complete?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275320" y="4389120"/>
            <a:ext cx="3367735" cy="1499616"/>
          </a:xfrm>
          <a:prstGeom prst="roundRect">
            <a:avLst>
              <a:gd name="adj" fmla="val 4878"/>
            </a:avLst>
          </a:prstGeom>
          <a:solidFill>
            <a:schemeClr val="tx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439912" y="4498848"/>
            <a:ext cx="3038551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What is really destroyed is context.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Clips lose their source, date and corrections. Meta's 2020 feed experiments barely moved polarization (Science 2023), so echo chambers are not the core loss.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03  |  OPPORTUNITIES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Three opportunities rebuild what the feed destroyed, inside the feed itself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Screen from S_04: is it real, is it important, is it addressable. Sources: Content Authenticity Initiative, TikTok joins C2PA, May 2024; The Washington Post, test of AI video labels on 8 platforms, 2025; Reuters Institute, Digital News Report 2025; Pew Research Center, America's News Influencers, Nov. 2024; Medill, State of Local News 2025.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3545738" cy="434340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19072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682496"/>
            <a:ext cx="26313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receipts layer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86000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REBUILDS THE SOURCE LINK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56032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tap on any political clip opens the full original video or document at the exact moment quoted.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" y="3383280"/>
            <a:ext cx="13258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383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REAL?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685032"/>
            <a:ext cx="314340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Yes. A provenance standard (C2PA) exists, but platforms strip its data on upload.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" y="4191000"/>
            <a:ext cx="13258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1910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IMPORTANT?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492752"/>
            <a:ext cx="314340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73% of Americans worry about telling real from fake news online (Reuters).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998720"/>
            <a:ext cx="13258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4998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ADDRESSABLE?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5300472"/>
            <a:ext cx="314340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Yes, with no platform permission. Start as a creator tool that adds a badge.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905658" y="2286000"/>
            <a:ext cx="100584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05658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OUR PICK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22978" y="1536192"/>
            <a:ext cx="3545738" cy="434340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/>
        </p:spPr>
      </p:sp>
      <p:sp>
        <p:nvSpPr>
          <p:cNvPr id="23" name="Shape 21"/>
          <p:cNvSpPr/>
          <p:nvPr/>
        </p:nvSpPr>
        <p:spPr>
          <a:xfrm>
            <a:off x="4524146" y="1719072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24146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072786" y="1682496"/>
            <a:ext cx="26313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wire service for creators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24146" y="2286000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3"/>
                </a:solidFill>
              </a:rPr>
              <a:t>REBUILDS GATEKEEPING AND INTEGRITY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24146" y="256032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Newsrooms sell verified clip kits (footage, transcripts, fact sheets) to news influencers.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24146" y="3383280"/>
            <a:ext cx="13258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24146" y="3383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REAL?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24146" y="3685032"/>
            <a:ext cx="314340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Partly. 77% of top news influencers never worked in a newsroom (Pew).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24146" y="4191000"/>
            <a:ext cx="13258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24146" y="41910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IMPORTANT?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24146" y="4492752"/>
            <a:ext cx="314340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Checking moves to where the audience is, and newsrooms gain a new customer.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24146" y="4998720"/>
            <a:ext cx="13258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24146" y="4998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ADDRESSABLE?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524146" y="5300472"/>
            <a:ext cx="314340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Yes. A subscription one newsroom could pilot with 50 creators.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97317" y="1536192"/>
            <a:ext cx="3545738" cy="434340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/>
        </p:spPr>
      </p:sp>
      <p:sp>
        <p:nvSpPr>
          <p:cNvPr id="38" name="Shape 36"/>
          <p:cNvSpPr/>
          <p:nvPr/>
        </p:nvSpPr>
        <p:spPr>
          <a:xfrm>
            <a:off x="8298485" y="1719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98485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847125" y="1682496"/>
            <a:ext cx="26313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Local civic creators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8298485" y="2286000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REBUILDS THE LOCAL PAPER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298485" y="256032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Fund one trained short-form reporter per news-desert county to cover school boards and councils.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298485" y="3383280"/>
            <a:ext cx="13258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298485" y="3383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REAL?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8298485" y="3685032"/>
            <a:ext cx="314340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Yes. 300+ local news startups opened in five years, 80% digital-only (Medill).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298485" y="4191000"/>
            <a:ext cx="13258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298485" y="41910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IMPORTANT?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8298485" y="4492752"/>
            <a:ext cx="314340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About 50 million Americans have little or no local news (Medill).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298485" y="4998720"/>
            <a:ext cx="13258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298485" y="4998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ADDRESSABLE?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8298485" y="5300472"/>
            <a:ext cx="314340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Yes. Foundations and states already fund local news.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ed Newsroom">
  <a:themeElements>
    <a:clrScheme name="Feed Newsroom">
      <a:dk1>
        <a:srgbClr val="15182B"/>
      </a:dk1>
      <a:lt1>
        <a:srgbClr val="FFFFFF"/>
      </a:lt1>
      <a:dk2>
        <a:srgbClr val="565B73"/>
      </a:dk2>
      <a:lt2>
        <a:srgbClr val="F2F3F7"/>
      </a:lt2>
      <a:accent1>
        <a:srgbClr val="D64933"/>
      </a:accent1>
      <a:accent2>
        <a:srgbClr val="0F8B8D"/>
      </a:accent2>
      <a:accent3>
        <a:srgbClr val="2B3A67"/>
      </a:accent3>
      <a:accent4>
        <a:srgbClr val="E8A33D"/>
      </a:accent4>
      <a:accent5>
        <a:srgbClr val="C9CCD8"/>
      </a:accent5>
      <a:accent6>
        <a:srgbClr val="7A5BA6"/>
      </a:accent6>
      <a:hlink>
        <a:srgbClr val="0F8B8D"/>
      </a:hlink>
      <a:folHlink>
        <a:srgbClr val="565B73"/>
      </a:folHlink>
    </a:clrScheme>
    <a:fontScheme name="Feed Newsroo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feed is the newsroom</dc:title>
  <dc:subject>Week 4 domain presentation: communication, ill-defined problems</dc:subject>
  <dc:creator>Team 2</dc:creator>
  <cp:lastModifiedBy>Team 2</cp:lastModifiedBy>
  <cp:revision>1</cp:revision>
  <dcterms:created xsi:type="dcterms:W3CDTF">2026-10-11T21:48:47Z</dcterms:created>
  <dcterms:modified xsi:type="dcterms:W3CDTF">2026-10-11T21:48:47Z</dcterms:modified>
</cp:coreProperties>
</file>